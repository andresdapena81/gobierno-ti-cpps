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Taller práctico de la Sesión 1. El objetivo no es 'inventar una empresa bonita', sino ACOTAR bien un alcance con el que se pueda trabajar todo el semestre. Se apoya en un ejemplo trabajado.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corazón del taller es la sección del ejemplo: verán una empresa ficticia con un alcance tan acotado que cabe en una frase.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Objetivos concretos y verificables. El más importante y el más difícil es ACOTAR.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Recalcar: es UNA empresa para todo el semestre. Elegir mal o acotar mal se paga durante 16 semanas.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Hoy plantamos la semilla. Todo lo demás se construye ENCIMA de la empresa que definan hoy. Por eso importa acotar bien.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Motivar: la decisión de hoy determina qué tan fluido será el resto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mensaje central del taller. Profundidad sobre una línea, no amplitud sobre todo. Repetirlo.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Aclarar expectativas antes de que elijan. El error típico: elegir una empresa gigante y genérica sin foco.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 concreta: que puedan describir su alcance en una frase, p. ej. 'la línea de envasado de yogurt bebible de la planta de Rionegro'.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embudo es, informalmente, la jerarquía de ISA-95 (S07). Aquí solo lo usamos para acotar: bajen del nivel 1 al 5 hasta que quepa en una frase.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tres criterios son la herramienta de decisión. Un proceso sin dolor no motiva el proyecto; sin datos, no se puede gobernar; muy grande, no se termina.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Contraste clave. Los estudiantes tienden al alcance amplio por 'querer abarcar'. Empújenlos a acotar.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Escribir explícitamente lo que queda FUERA es tan importante como lo que queda dentro. Esta tabla es parte del entregable.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Advertencia central de la sección. Vale la pena insistir: un alcance pequeño y bien trabajado siempre gana.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 la prueba de la frase como criterio de salida de esta sección. Es memorable y práctica.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8 campos son el esqueleto del entregable. Recorreremos cada uno con el ejemplo.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Guiar hacia lo verosímil y regional. Una pyme es más fácil de acotar y más cercana a su realidad profesional.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Introducir IT/OT de forma tangible con ejemplos. No hace falta que la empresa lo tenga todo; sí que identifiquen qué hay y qué falta.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campo más importante después del alcance. El dolor justifica el caso de negocio (S16) y prioriza las decisiones de gobierno.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una pyme, varios roles pueden recaer en la misma persona. Identificarlos prepara la matriz de derechos de decisión de S01.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cinco puntos son la plantilla del argumento CPPS del entregable. Si el proceso los cumple, es (o puede ser) un CPPS.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Empresa ficticia pero totalmente verosímil y regional. Fíjense: aún NO hemos acotado; esto es solo la identidad.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Cifras que hacen creíble a la empresa. La ambición de negocio (nuevo cliente) conecta con el dolor de trazabilidad.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Bajamos del nivel empresa al nivel línea. El foco es la LÍNEA 2 de yogurt bebible, no toda la planta ni toda la empresa.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Modelo de una frase de alcance bien acotada. Que los estudiantes copien esta estructura para la suya.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queda fuera es explícito: NO gobernamos la fermentación ni las otras líneas. Solo el envasado de la Línea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pasos concretos y observables. Este nivel de detalle es el que permite diagramarlo en ISA-95 (S07) más adelante.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detalle de activos hace el CPPS tangible. La brecha (MES = Excel, sin historiador) es justo lo que el proyecto va a gobernar y mejorar.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Dolor doble, concreto y cuantificable. Justifica gobernar, medir OEE (S13), asegurar trazabilidad y hacer el caso de negocio (S16).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Esboza la matriz de derechos de decisión de S01. En una pyme, TI es una sola persona: dato realista importante.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argumento CPPS completo y aterrizado. La Línea 2 cumple los cinco puntos: es un CPPS de estudio ideal.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meta del entregable de cada equipo: una ficha así de clara y acotada. Es su plantilla.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secuencia de trabajo. Empiecen por el equipo y el sector; lo más difícil (y valioso) es el paso 3, el embudo.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Plantilla lista para copiar. Sugerir que la llenen primero a lápiz y luego la pulan. Es literalmente el entregable.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Repasar los errores antes de que trabajen. El más común es el alcance enorme; el más grave es elegir algo sin proceso físico.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Checklist de salida del taller. Si marcan los cinco, su empresa está lista para arrancar el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entregable es la ficha de su propia empresa, con el ejemplo de La Pradera como plantilla de calidad.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criterio de mayor peso es acotar bien: es la competencia central del taller y la base de todo el semestre.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mostrando que el trabajo de hoy no se pierde: es el cimiento de todo. Motiva a hacerlo bien.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ideas para llevarse. Cerrar reforzando la prueba de la frase y la regla de acotar.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Recordar traer la ficha lista para la S02. La empresa ya existe; ahora empezamos a gobernarla.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20040"/>
            <a:ext cx="11185855" cy="274320"/>
          </a:xfrm>
          <a:prstGeom prst="rect">
            <a:avLst/>
          </a:prstGeom>
          <a:noFill/>
          <a:ln/>
        </p:spPr>
        <p:txBody>
          <a:bodyPr wrap="square" lIns="0" tIns="0" rIns="0" bIns="0" rtlCol="0" anchor="ctr"/>
          <a:lstStyle/>
          <a:p>
            <a:pPr algn="l" indent="0" marL="0">
              <a:buNone/>
            </a:pPr>
            <a:r>
              <a:rPr lang="en-US" sz="950" dirty="0">
                <a:solidFill>
                  <a:srgbClr val="333333"/>
                </a:solidFill>
                <a:latin typeface="Courier New" pitchFamily="34" charset="0"/>
                <a:ea typeface="Courier New" pitchFamily="34" charset="-122"/>
                <a:cs typeface="Courier New" pitchFamily="34" charset="-120"/>
              </a:rPr>
              <a:t>01000111 01001111 01000010 01001001 01000101 01010010 01001110 01001111  01000100 01000101  01010100 01001001</a:t>
            </a:r>
            <a:endParaRPr lang="en-US" sz="950" dirty="0"/>
          </a:p>
        </p:txBody>
      </p:sp>
      <p:sp>
        <p:nvSpPr>
          <p:cNvPr id="3" name="Text 1"/>
          <p:cNvSpPr/>
          <p:nvPr/>
        </p:nvSpPr>
        <p:spPr>
          <a:xfrm>
            <a:off x="502920" y="1051560"/>
            <a:ext cx="7315200" cy="320040"/>
          </a:xfrm>
          <a:prstGeom prst="rect">
            <a:avLst/>
          </a:prstGeom>
          <a:noFill/>
          <a:ln/>
        </p:spPr>
        <p:txBody>
          <a:bodyPr wrap="square" lIns="0" tIns="0" rIns="0" bIns="0" rtlCol="0" anchor="ctr"/>
          <a:lstStyle/>
          <a:p>
            <a:pPr indent="0" marL="0">
              <a:buNone/>
            </a:pPr>
            <a:r>
              <a:rPr lang="en-US" sz="1200" b="1" spc="200" kern="0" dirty="0">
                <a:solidFill>
                  <a:srgbClr val="C6FF00"/>
                </a:solidFill>
                <a:latin typeface="Courier New" pitchFamily="34" charset="0"/>
                <a:ea typeface="Courier New" pitchFamily="34" charset="-122"/>
                <a:cs typeface="Courier New" pitchFamily="34" charset="-120"/>
              </a:rPr>
              <a:t>8 50155-3M · TALLER PRÁCTICO</a:t>
            </a:r>
            <a:endParaRPr lang="en-US" sz="1200" dirty="0"/>
          </a:p>
        </p:txBody>
      </p:sp>
      <p:sp>
        <p:nvSpPr>
          <p:cNvPr id="4" name="Text 2"/>
          <p:cNvSpPr/>
          <p:nvPr/>
        </p:nvSpPr>
        <p:spPr>
          <a:xfrm>
            <a:off x="7116775" y="1051560"/>
            <a:ext cx="4572000" cy="320040"/>
          </a:xfrm>
          <a:prstGeom prst="rect">
            <a:avLst/>
          </a:prstGeom>
          <a:noFill/>
          <a:ln/>
        </p:spPr>
        <p:txBody>
          <a:bodyPr wrap="square" lIns="0" tIns="0" rIns="0" bIns="0" rtlCol="0" anchor="ctr"/>
          <a:lstStyle/>
          <a:p>
            <a:pPr algn="r" indent="0" marL="0">
              <a:buNone/>
            </a:pPr>
            <a:r>
              <a:rPr lang="en-US" sz="1200" spc="100" kern="0" dirty="0">
                <a:solidFill>
                  <a:srgbClr val="8C8C8C"/>
                </a:solidFill>
                <a:latin typeface="Courier New" pitchFamily="34" charset="0"/>
                <a:ea typeface="Courier New" pitchFamily="34" charset="-122"/>
                <a:cs typeface="Courier New" pitchFamily="34" charset="-120"/>
              </a:rPr>
              <a:t>TALLER · SESIÓN 01</a:t>
            </a:r>
            <a:endParaRPr lang="en-US" sz="1200" dirty="0"/>
          </a:p>
        </p:txBody>
      </p:sp>
      <p:sp>
        <p:nvSpPr>
          <p:cNvPr id="5" name="Text 3"/>
          <p:cNvSpPr/>
          <p:nvPr/>
        </p:nvSpPr>
        <p:spPr>
          <a:xfrm>
            <a:off x="502920" y="1783080"/>
            <a:ext cx="11185855" cy="2011680"/>
          </a:xfrm>
          <a:prstGeom prst="rect">
            <a:avLst/>
          </a:prstGeom>
          <a:noFill/>
          <a:ln/>
        </p:spPr>
        <p:txBody>
          <a:bodyPr wrap="square" lIns="0" tIns="0" rIns="0" bIns="0" rtlCol="0" anchor="t"/>
          <a:lstStyle/>
          <a:p>
            <a:pPr algn="l" indent="0" marL="0">
              <a:lnSpc>
                <a:spcPct val="92000"/>
              </a:lnSpc>
              <a:buNone/>
            </a:pPr>
            <a:r>
              <a:rPr lang="en-US" sz="5200" dirty="0">
                <a:solidFill>
                  <a:srgbClr val="F4F4F4"/>
                </a:solidFill>
                <a:latin typeface="Arial Black" pitchFamily="34" charset="0"/>
                <a:ea typeface="Arial Black" pitchFamily="34" charset="-122"/>
                <a:cs typeface="Arial Black" pitchFamily="34" charset="-120"/>
              </a:rPr>
              <a:t>CONSTRUYE TU</a:t>
            </a:r>
            <a:endParaRPr lang="en-US" sz="5200" dirty="0"/>
          </a:p>
          <a:p>
            <a:pPr algn="l" indent="0" marL="0">
              <a:lnSpc>
                <a:spcPct val="92000"/>
              </a:lnSpc>
              <a:buNone/>
            </a:pPr>
            <a:r>
              <a:rPr lang="en-US" sz="5200" dirty="0">
                <a:solidFill>
                  <a:srgbClr val="F4F4F4"/>
                </a:solidFill>
                <a:latin typeface="Arial Black" pitchFamily="34" charset="0"/>
                <a:ea typeface="Arial Black" pitchFamily="34" charset="-122"/>
                <a:cs typeface="Arial Black" pitchFamily="34" charset="-120"/>
              </a:rPr>
              <a:t>EMPRESA</a:t>
            </a:r>
            <a:endParaRPr lang="en-US" sz="5200" dirty="0"/>
          </a:p>
        </p:txBody>
      </p:sp>
      <p:sp>
        <p:nvSpPr>
          <p:cNvPr id="6" name="Text 4"/>
          <p:cNvSpPr/>
          <p:nvPr/>
        </p:nvSpPr>
        <p:spPr>
          <a:xfrm>
            <a:off x="502920" y="3977640"/>
            <a:ext cx="11185855" cy="731520"/>
          </a:xfrm>
          <a:prstGeom prst="rect">
            <a:avLst/>
          </a:prstGeom>
          <a:noFill/>
          <a:ln/>
        </p:spPr>
        <p:txBody>
          <a:bodyPr wrap="square" lIns="0" tIns="0" rIns="0" bIns="0" rtlCol="0" anchor="t"/>
          <a:lstStyle/>
          <a:p>
            <a:pPr indent="0" marL="0">
              <a:lnSpc>
                <a:spcPct val="105000"/>
              </a:lnSpc>
              <a:buNone/>
            </a:pPr>
            <a:r>
              <a:rPr lang="en-US" sz="1500" b="1" dirty="0">
                <a:solidFill>
                  <a:srgbClr val="C6FF00"/>
                </a:solidFill>
                <a:latin typeface="Courier New" pitchFamily="34" charset="0"/>
                <a:ea typeface="Courier New" pitchFamily="34" charset="-122"/>
                <a:cs typeface="Courier New" pitchFamily="34" charset="-120"/>
              </a:rPr>
              <a:t>&gt; </a:t>
            </a:r>
            <a:pPr indent="0" marL="0">
              <a:lnSpc>
                <a:spcPct val="105000"/>
              </a:lnSpc>
              <a:buNone/>
            </a:pPr>
            <a:r>
              <a:rPr lang="en-US" sz="1500" dirty="0">
                <a:solidFill>
                  <a:srgbClr val="F4F4F4"/>
                </a:solidFill>
                <a:latin typeface="Courier New" pitchFamily="34" charset="0"/>
                <a:ea typeface="Courier New" pitchFamily="34" charset="-122"/>
                <a:cs typeface="Courier New" pitchFamily="34" charset="-120"/>
              </a:rPr>
              <a:t>Define el alcance de tu empresa ficticia y sienta la base del proyecto integrador</a:t>
            </a:r>
            <a:endParaRPr lang="en-US" sz="1500" dirty="0"/>
          </a:p>
        </p:txBody>
      </p:sp>
      <p:sp>
        <p:nvSpPr>
          <p:cNvPr id="7" name="Shape 5"/>
          <p:cNvSpPr/>
          <p:nvPr/>
        </p:nvSpPr>
        <p:spPr>
          <a:xfrm>
            <a:off x="502920" y="5074920"/>
            <a:ext cx="11185855" cy="0"/>
          </a:xfrm>
          <a:prstGeom prst="line">
            <a:avLst/>
          </a:prstGeom>
          <a:noFill/>
          <a:ln w="12700">
            <a:solidFill>
              <a:srgbClr val="333333"/>
            </a:solidFill>
            <a:prstDash val="solid"/>
          </a:ln>
        </p:spPr>
      </p:sp>
      <p:sp>
        <p:nvSpPr>
          <p:cNvPr id="8" name="Text 6"/>
          <p:cNvSpPr/>
          <p:nvPr/>
        </p:nvSpPr>
        <p:spPr>
          <a:xfrm>
            <a:off x="502920" y="5257800"/>
            <a:ext cx="1920240" cy="292608"/>
          </a:xfrm>
          <a:prstGeom prst="rect">
            <a:avLst/>
          </a:prstGeom>
          <a:noFill/>
          <a:ln/>
        </p:spPr>
        <p:txBody>
          <a:bodyPr wrap="square" lIns="0" tIns="0" rIns="0" bIns="0" rtlCol="0" anchor="ctr"/>
          <a:lstStyle/>
          <a:p>
            <a:pPr indent="0" marL="0">
              <a:buNone/>
            </a:pPr>
            <a:r>
              <a:rPr lang="en-US" sz="1000" b="1" dirty="0">
                <a:solidFill>
                  <a:srgbClr val="C6FF00"/>
                </a:solidFill>
                <a:latin typeface="Courier New" pitchFamily="34" charset="0"/>
                <a:ea typeface="Courier New" pitchFamily="34" charset="-122"/>
                <a:cs typeface="Courier New" pitchFamily="34" charset="-120"/>
              </a:rPr>
              <a:t>DOCENTE</a:t>
            </a:r>
            <a:endParaRPr lang="en-US" sz="1000" dirty="0"/>
          </a:p>
        </p:txBody>
      </p:sp>
      <p:sp>
        <p:nvSpPr>
          <p:cNvPr id="9" name="Text 7"/>
          <p:cNvSpPr/>
          <p:nvPr/>
        </p:nvSpPr>
        <p:spPr>
          <a:xfrm>
            <a:off x="2468880" y="5257800"/>
            <a:ext cx="9219895" cy="29260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Jorge Andrés Dapena — MSc.</a:t>
            </a:r>
            <a:endParaRPr lang="en-US" sz="1200" dirty="0"/>
          </a:p>
        </p:txBody>
      </p:sp>
      <p:sp>
        <p:nvSpPr>
          <p:cNvPr id="10" name="Text 8"/>
          <p:cNvSpPr/>
          <p:nvPr/>
        </p:nvSpPr>
        <p:spPr>
          <a:xfrm>
            <a:off x="502920" y="5641848"/>
            <a:ext cx="1920240" cy="292608"/>
          </a:xfrm>
          <a:prstGeom prst="rect">
            <a:avLst/>
          </a:prstGeom>
          <a:noFill/>
          <a:ln/>
        </p:spPr>
        <p:txBody>
          <a:bodyPr wrap="square" lIns="0" tIns="0" rIns="0" bIns="0" rtlCol="0" anchor="ctr"/>
          <a:lstStyle/>
          <a:p>
            <a:pPr indent="0" marL="0">
              <a:buNone/>
            </a:pPr>
            <a:r>
              <a:rPr lang="en-US" sz="1000" b="1" dirty="0">
                <a:solidFill>
                  <a:srgbClr val="C6FF00"/>
                </a:solidFill>
                <a:latin typeface="Courier New" pitchFamily="34" charset="0"/>
                <a:ea typeface="Courier New" pitchFamily="34" charset="-122"/>
                <a:cs typeface="Courier New" pitchFamily="34" charset="-120"/>
              </a:rPr>
              <a:t>UNIDAD</a:t>
            </a:r>
            <a:endParaRPr lang="en-US" sz="1000" dirty="0"/>
          </a:p>
        </p:txBody>
      </p:sp>
      <p:sp>
        <p:nvSpPr>
          <p:cNvPr id="11" name="Text 9"/>
          <p:cNvSpPr/>
          <p:nvPr/>
        </p:nvSpPr>
        <p:spPr>
          <a:xfrm>
            <a:off x="2468880" y="5641848"/>
            <a:ext cx="9219895" cy="29260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U1 · Proyecto integrador    ·    SEMANA 1</a:t>
            </a:r>
            <a:endParaRPr lang="en-US" sz="1200" dirty="0"/>
          </a:p>
        </p:txBody>
      </p:sp>
      <p:sp>
        <p:nvSpPr>
          <p:cNvPr id="12" name="Text 10"/>
          <p:cNvSpPr/>
          <p:nvPr/>
        </p:nvSpPr>
        <p:spPr>
          <a:xfrm>
            <a:off x="502920" y="6025896"/>
            <a:ext cx="1920240" cy="292608"/>
          </a:xfrm>
          <a:prstGeom prst="rect">
            <a:avLst/>
          </a:prstGeom>
          <a:noFill/>
          <a:ln/>
        </p:spPr>
        <p:txBody>
          <a:bodyPr wrap="square" lIns="0" tIns="0" rIns="0" bIns="0" rtlCol="0" anchor="ctr"/>
          <a:lstStyle/>
          <a:p>
            <a:pPr indent="0" marL="0">
              <a:buNone/>
            </a:pPr>
            <a:r>
              <a:rPr lang="en-US" sz="1000" b="1" dirty="0">
                <a:solidFill>
                  <a:srgbClr val="C6FF00"/>
                </a:solidFill>
                <a:latin typeface="Courier New" pitchFamily="34" charset="0"/>
                <a:ea typeface="Courier New" pitchFamily="34" charset="-122"/>
                <a:cs typeface="Courier New" pitchFamily="34" charset="-120"/>
              </a:rPr>
              <a:t>INSTITUCIÓN</a:t>
            </a:r>
            <a:endParaRPr lang="en-US" sz="1000" dirty="0"/>
          </a:p>
        </p:txBody>
      </p:sp>
      <p:sp>
        <p:nvSpPr>
          <p:cNvPr id="13" name="Text 11"/>
          <p:cNvSpPr/>
          <p:nvPr/>
        </p:nvSpPr>
        <p:spPr>
          <a:xfrm>
            <a:off x="2468880" y="6025896"/>
            <a:ext cx="9219895" cy="29260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Universidad de San Buenaventura — Medellín (Bello)</a:t>
            </a:r>
            <a:endParaRPr lang="en-US" sz="1200" dirty="0"/>
          </a:p>
        </p:txBody>
      </p:sp>
      <p:sp>
        <p:nvSpPr>
          <p:cNvPr id="14" name="Text 12"/>
          <p:cNvSpPr/>
          <p:nvPr/>
        </p:nvSpPr>
        <p:spPr>
          <a:xfrm>
            <a:off x="502920" y="6382512"/>
            <a:ext cx="11185855"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Y SISTEMAS CIBER-FÍSICOS DE PRODUCCIÓN · 2026-2</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01  INICIO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AGENDA DE LA SESIÓN</a:t>
            </a:r>
            <a:endParaRPr lang="en-US" sz="3300" dirty="0"/>
          </a:p>
        </p:txBody>
      </p:sp>
      <p:sp>
        <p:nvSpPr>
          <p:cNvPr id="4" name="Shape 2"/>
          <p:cNvSpPr/>
          <p:nvPr/>
        </p:nvSpPr>
        <p:spPr>
          <a:xfrm>
            <a:off x="502920" y="1828800"/>
            <a:ext cx="5364328" cy="1298448"/>
          </a:xfrm>
          <a:prstGeom prst="roundRect">
            <a:avLst>
              <a:gd name="adj" fmla="val 4225"/>
            </a:avLst>
          </a:prstGeom>
          <a:solidFill>
            <a:srgbClr val="151515"/>
          </a:solidFill>
          <a:ln w="12700">
            <a:solidFill>
              <a:srgbClr val="333333"/>
            </a:solidFill>
            <a:prstDash val="solid"/>
          </a:ln>
        </p:spPr>
      </p:sp>
      <p:sp>
        <p:nvSpPr>
          <p:cNvPr id="5" name="Text 3"/>
          <p:cNvSpPr/>
          <p:nvPr/>
        </p:nvSpPr>
        <p:spPr>
          <a:xfrm>
            <a:off x="667512" y="1993392"/>
            <a:ext cx="640080" cy="640080"/>
          </a:xfrm>
          <a:prstGeom prst="rect">
            <a:avLst/>
          </a:prstGeom>
          <a:noFill/>
          <a:ln/>
        </p:spPr>
        <p:txBody>
          <a:bodyPr wrap="square" lIns="0" tIns="0" rIns="0" bIns="0" rtlCol="0" anchor="t"/>
          <a:lstStyle/>
          <a:p>
            <a:pPr algn="l" indent="0" marL="0">
              <a:buNone/>
            </a:pPr>
            <a:r>
              <a:rPr lang="en-US" sz="2600" dirty="0">
                <a:solidFill>
                  <a:srgbClr val="C6FF00"/>
                </a:solidFill>
                <a:latin typeface="Arial Black" pitchFamily="34" charset="0"/>
                <a:ea typeface="Arial Black" pitchFamily="34" charset="-122"/>
                <a:cs typeface="Arial Black" pitchFamily="34" charset="-120"/>
              </a:rPr>
              <a:t>A</a:t>
            </a:r>
            <a:endParaRPr lang="en-US" sz="2600" dirty="0"/>
          </a:p>
        </p:txBody>
      </p:sp>
      <p:sp>
        <p:nvSpPr>
          <p:cNvPr id="6" name="Text 4"/>
          <p:cNvSpPr/>
          <p:nvPr/>
        </p:nvSpPr>
        <p:spPr>
          <a:xfrm>
            <a:off x="1417320" y="2029968"/>
            <a:ext cx="4267048" cy="457200"/>
          </a:xfrm>
          <a:prstGeom prst="rect">
            <a:avLst/>
          </a:prstGeom>
          <a:noFill/>
          <a:ln/>
        </p:spPr>
        <p:txBody>
          <a:bodyPr wrap="square" lIns="0" tIns="0" rIns="0" bIns="0" rtlCol="0" anchor="t"/>
          <a:lstStyle/>
          <a:p>
            <a:pPr indent="0" marL="0">
              <a:buNone/>
            </a:pPr>
            <a:r>
              <a:rPr lang="en-US" sz="1450" b="1" dirty="0">
                <a:solidFill>
                  <a:srgbClr val="F4F4F4"/>
                </a:solidFill>
                <a:latin typeface="Arial" pitchFamily="34" charset="0"/>
                <a:ea typeface="Arial" pitchFamily="34" charset="-122"/>
                <a:cs typeface="Arial" pitchFamily="34" charset="-120"/>
              </a:rPr>
              <a:t>El proyecto integrador</a:t>
            </a:r>
            <a:endParaRPr lang="en-US" sz="1450" dirty="0"/>
          </a:p>
        </p:txBody>
      </p:sp>
      <p:sp>
        <p:nvSpPr>
          <p:cNvPr id="7" name="Text 5"/>
          <p:cNvSpPr/>
          <p:nvPr/>
        </p:nvSpPr>
        <p:spPr>
          <a:xfrm>
            <a:off x="1417320" y="2487168"/>
            <a:ext cx="4267048" cy="50292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Qué construiremos durante todo el semestre</a:t>
            </a:r>
            <a:endParaRPr lang="en-US" sz="1050" dirty="0"/>
          </a:p>
        </p:txBody>
      </p:sp>
      <p:sp>
        <p:nvSpPr>
          <p:cNvPr id="8" name="Shape 6"/>
          <p:cNvSpPr/>
          <p:nvPr/>
        </p:nvSpPr>
        <p:spPr>
          <a:xfrm>
            <a:off x="6324448" y="1828800"/>
            <a:ext cx="5364328" cy="1298448"/>
          </a:xfrm>
          <a:prstGeom prst="roundRect">
            <a:avLst>
              <a:gd name="adj" fmla="val 4225"/>
            </a:avLst>
          </a:prstGeom>
          <a:solidFill>
            <a:srgbClr val="151515"/>
          </a:solidFill>
          <a:ln w="12700">
            <a:solidFill>
              <a:srgbClr val="333333"/>
            </a:solidFill>
            <a:prstDash val="solid"/>
          </a:ln>
        </p:spPr>
      </p:sp>
      <p:sp>
        <p:nvSpPr>
          <p:cNvPr id="9" name="Text 7"/>
          <p:cNvSpPr/>
          <p:nvPr/>
        </p:nvSpPr>
        <p:spPr>
          <a:xfrm>
            <a:off x="6489040" y="1993392"/>
            <a:ext cx="640080" cy="640080"/>
          </a:xfrm>
          <a:prstGeom prst="rect">
            <a:avLst/>
          </a:prstGeom>
          <a:noFill/>
          <a:ln/>
        </p:spPr>
        <p:txBody>
          <a:bodyPr wrap="square" lIns="0" tIns="0" rIns="0" bIns="0" rtlCol="0" anchor="t"/>
          <a:lstStyle/>
          <a:p>
            <a:pPr algn="l" indent="0" marL="0">
              <a:buNone/>
            </a:pPr>
            <a:r>
              <a:rPr lang="en-US" sz="2600" dirty="0">
                <a:solidFill>
                  <a:srgbClr val="C6FF00"/>
                </a:solidFill>
                <a:latin typeface="Arial Black" pitchFamily="34" charset="0"/>
                <a:ea typeface="Arial Black" pitchFamily="34" charset="-122"/>
                <a:cs typeface="Arial Black" pitchFamily="34" charset="-120"/>
              </a:rPr>
              <a:t>B</a:t>
            </a:r>
            <a:endParaRPr lang="en-US" sz="2600" dirty="0"/>
          </a:p>
        </p:txBody>
      </p:sp>
      <p:sp>
        <p:nvSpPr>
          <p:cNvPr id="10" name="Text 8"/>
          <p:cNvSpPr/>
          <p:nvPr/>
        </p:nvSpPr>
        <p:spPr>
          <a:xfrm>
            <a:off x="7238848" y="2029968"/>
            <a:ext cx="4267048" cy="457200"/>
          </a:xfrm>
          <a:prstGeom prst="rect">
            <a:avLst/>
          </a:prstGeom>
          <a:noFill/>
          <a:ln/>
        </p:spPr>
        <p:txBody>
          <a:bodyPr wrap="square" lIns="0" tIns="0" rIns="0" bIns="0" rtlCol="0" anchor="t"/>
          <a:lstStyle/>
          <a:p>
            <a:pPr indent="0" marL="0">
              <a:buNone/>
            </a:pPr>
            <a:r>
              <a:rPr lang="en-US" sz="1450" b="1" dirty="0">
                <a:solidFill>
                  <a:srgbClr val="F4F4F4"/>
                </a:solidFill>
                <a:latin typeface="Arial" pitchFamily="34" charset="0"/>
                <a:ea typeface="Arial" pitchFamily="34" charset="-122"/>
                <a:cs typeface="Arial" pitchFamily="34" charset="-120"/>
              </a:rPr>
              <a:t>Acotar el alcance</a:t>
            </a:r>
            <a:endParaRPr lang="en-US" sz="1450" dirty="0"/>
          </a:p>
        </p:txBody>
      </p:sp>
      <p:sp>
        <p:nvSpPr>
          <p:cNvPr id="11" name="Text 9"/>
          <p:cNvSpPr/>
          <p:nvPr/>
        </p:nvSpPr>
        <p:spPr>
          <a:xfrm>
            <a:off x="7238848" y="2487168"/>
            <a:ext cx="4267048" cy="50292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El arte de decir qué SÍ y qué NO entra</a:t>
            </a:r>
            <a:endParaRPr lang="en-US" sz="1050" dirty="0"/>
          </a:p>
        </p:txBody>
      </p:sp>
      <p:sp>
        <p:nvSpPr>
          <p:cNvPr id="12" name="Shape 10"/>
          <p:cNvSpPr/>
          <p:nvPr/>
        </p:nvSpPr>
        <p:spPr>
          <a:xfrm>
            <a:off x="502920" y="3383280"/>
            <a:ext cx="5364328" cy="1298448"/>
          </a:xfrm>
          <a:prstGeom prst="roundRect">
            <a:avLst>
              <a:gd name="adj" fmla="val 4225"/>
            </a:avLst>
          </a:prstGeom>
          <a:solidFill>
            <a:srgbClr val="151515"/>
          </a:solidFill>
          <a:ln w="12700">
            <a:solidFill>
              <a:srgbClr val="333333"/>
            </a:solidFill>
            <a:prstDash val="solid"/>
          </a:ln>
        </p:spPr>
      </p:sp>
      <p:sp>
        <p:nvSpPr>
          <p:cNvPr id="13" name="Text 11"/>
          <p:cNvSpPr/>
          <p:nvPr/>
        </p:nvSpPr>
        <p:spPr>
          <a:xfrm>
            <a:off x="667512" y="3547872"/>
            <a:ext cx="640080" cy="640080"/>
          </a:xfrm>
          <a:prstGeom prst="rect">
            <a:avLst/>
          </a:prstGeom>
          <a:noFill/>
          <a:ln/>
        </p:spPr>
        <p:txBody>
          <a:bodyPr wrap="square" lIns="0" tIns="0" rIns="0" bIns="0" rtlCol="0" anchor="t"/>
          <a:lstStyle/>
          <a:p>
            <a:pPr algn="l" indent="0" marL="0">
              <a:buNone/>
            </a:pPr>
            <a:r>
              <a:rPr lang="en-US" sz="2600" dirty="0">
                <a:solidFill>
                  <a:srgbClr val="C6FF00"/>
                </a:solidFill>
                <a:latin typeface="Arial Black" pitchFamily="34" charset="0"/>
                <a:ea typeface="Arial Black" pitchFamily="34" charset="-122"/>
                <a:cs typeface="Arial Black" pitchFamily="34" charset="-120"/>
              </a:rPr>
              <a:t>C</a:t>
            </a:r>
            <a:endParaRPr lang="en-US" sz="2600" dirty="0"/>
          </a:p>
        </p:txBody>
      </p:sp>
      <p:sp>
        <p:nvSpPr>
          <p:cNvPr id="14" name="Text 12"/>
          <p:cNvSpPr/>
          <p:nvPr/>
        </p:nvSpPr>
        <p:spPr>
          <a:xfrm>
            <a:off x="1417320" y="3584448"/>
            <a:ext cx="4267048" cy="457200"/>
          </a:xfrm>
          <a:prstGeom prst="rect">
            <a:avLst/>
          </a:prstGeom>
          <a:noFill/>
          <a:ln/>
        </p:spPr>
        <p:txBody>
          <a:bodyPr wrap="square" lIns="0" tIns="0" rIns="0" bIns="0" rtlCol="0" anchor="t"/>
          <a:lstStyle/>
          <a:p>
            <a:pPr indent="0" marL="0">
              <a:buNone/>
            </a:pPr>
            <a:r>
              <a:rPr lang="en-US" sz="1450" b="1" dirty="0">
                <a:solidFill>
                  <a:srgbClr val="F4F4F4"/>
                </a:solidFill>
                <a:latin typeface="Arial" pitchFamily="34" charset="0"/>
                <a:ea typeface="Arial" pitchFamily="34" charset="-122"/>
                <a:cs typeface="Arial" pitchFamily="34" charset="-120"/>
              </a:rPr>
              <a:t>Anatomía de la empresa</a:t>
            </a:r>
            <a:endParaRPr lang="en-US" sz="1450" dirty="0"/>
          </a:p>
        </p:txBody>
      </p:sp>
      <p:sp>
        <p:nvSpPr>
          <p:cNvPr id="15" name="Text 13"/>
          <p:cNvSpPr/>
          <p:nvPr/>
        </p:nvSpPr>
        <p:spPr>
          <a:xfrm>
            <a:off x="1417320" y="4041648"/>
            <a:ext cx="4267048" cy="50292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Los campos que hay que definir</a:t>
            </a:r>
            <a:endParaRPr lang="en-US" sz="1050" dirty="0"/>
          </a:p>
        </p:txBody>
      </p:sp>
      <p:sp>
        <p:nvSpPr>
          <p:cNvPr id="16" name="Shape 14"/>
          <p:cNvSpPr/>
          <p:nvPr/>
        </p:nvSpPr>
        <p:spPr>
          <a:xfrm>
            <a:off x="6324448" y="3383280"/>
            <a:ext cx="5364328" cy="1298448"/>
          </a:xfrm>
          <a:prstGeom prst="roundRect">
            <a:avLst>
              <a:gd name="adj" fmla="val 4225"/>
            </a:avLst>
          </a:prstGeom>
          <a:solidFill>
            <a:srgbClr val="151515"/>
          </a:solidFill>
          <a:ln w="12700">
            <a:solidFill>
              <a:srgbClr val="333333"/>
            </a:solidFill>
            <a:prstDash val="solid"/>
          </a:ln>
        </p:spPr>
      </p:sp>
      <p:sp>
        <p:nvSpPr>
          <p:cNvPr id="17" name="Text 15"/>
          <p:cNvSpPr/>
          <p:nvPr/>
        </p:nvSpPr>
        <p:spPr>
          <a:xfrm>
            <a:off x="6489040" y="3547872"/>
            <a:ext cx="640080" cy="640080"/>
          </a:xfrm>
          <a:prstGeom prst="rect">
            <a:avLst/>
          </a:prstGeom>
          <a:noFill/>
          <a:ln/>
        </p:spPr>
        <p:txBody>
          <a:bodyPr wrap="square" lIns="0" tIns="0" rIns="0" bIns="0" rtlCol="0" anchor="t"/>
          <a:lstStyle/>
          <a:p>
            <a:pPr algn="l" indent="0" marL="0">
              <a:buNone/>
            </a:pPr>
            <a:r>
              <a:rPr lang="en-US" sz="2600" dirty="0">
                <a:solidFill>
                  <a:srgbClr val="C6FF00"/>
                </a:solidFill>
                <a:latin typeface="Arial Black" pitchFamily="34" charset="0"/>
                <a:ea typeface="Arial Black" pitchFamily="34" charset="-122"/>
                <a:cs typeface="Arial Black" pitchFamily="34" charset="-120"/>
              </a:rPr>
              <a:t>D</a:t>
            </a:r>
            <a:endParaRPr lang="en-US" sz="2600" dirty="0"/>
          </a:p>
        </p:txBody>
      </p:sp>
      <p:sp>
        <p:nvSpPr>
          <p:cNvPr id="18" name="Text 16"/>
          <p:cNvSpPr/>
          <p:nvPr/>
        </p:nvSpPr>
        <p:spPr>
          <a:xfrm>
            <a:off x="7238848" y="3584448"/>
            <a:ext cx="4267048" cy="457200"/>
          </a:xfrm>
          <a:prstGeom prst="rect">
            <a:avLst/>
          </a:prstGeom>
          <a:noFill/>
          <a:ln/>
        </p:spPr>
        <p:txBody>
          <a:bodyPr wrap="square" lIns="0" tIns="0" rIns="0" bIns="0" rtlCol="0" anchor="t"/>
          <a:lstStyle/>
          <a:p>
            <a:pPr indent="0" marL="0">
              <a:buNone/>
            </a:pPr>
            <a:r>
              <a:rPr lang="en-US" sz="1450" b="1" dirty="0">
                <a:solidFill>
                  <a:srgbClr val="F4F4F4"/>
                </a:solidFill>
                <a:latin typeface="Arial" pitchFamily="34" charset="0"/>
                <a:ea typeface="Arial" pitchFamily="34" charset="-122"/>
                <a:cs typeface="Arial" pitchFamily="34" charset="-120"/>
              </a:rPr>
              <a:t>Ejemplo trabajado</a:t>
            </a:r>
            <a:endParaRPr lang="en-US" sz="1450" dirty="0"/>
          </a:p>
        </p:txBody>
      </p:sp>
      <p:sp>
        <p:nvSpPr>
          <p:cNvPr id="19" name="Text 17"/>
          <p:cNvSpPr/>
          <p:nvPr/>
        </p:nvSpPr>
        <p:spPr>
          <a:xfrm>
            <a:off x="7238848" y="4041648"/>
            <a:ext cx="4267048" cy="50292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Lácteos La Pradera, una empresa bien acotada</a:t>
            </a:r>
            <a:endParaRPr lang="en-US" sz="1050" dirty="0"/>
          </a:p>
        </p:txBody>
      </p:sp>
      <p:sp>
        <p:nvSpPr>
          <p:cNvPr id="20" name="Shape 18"/>
          <p:cNvSpPr/>
          <p:nvPr/>
        </p:nvSpPr>
        <p:spPr>
          <a:xfrm>
            <a:off x="502920" y="4937760"/>
            <a:ext cx="5364328" cy="1298448"/>
          </a:xfrm>
          <a:prstGeom prst="roundRect">
            <a:avLst>
              <a:gd name="adj" fmla="val 4225"/>
            </a:avLst>
          </a:prstGeom>
          <a:solidFill>
            <a:srgbClr val="151515"/>
          </a:solidFill>
          <a:ln w="12700">
            <a:solidFill>
              <a:srgbClr val="333333"/>
            </a:solidFill>
            <a:prstDash val="solid"/>
          </a:ln>
        </p:spPr>
      </p:sp>
      <p:sp>
        <p:nvSpPr>
          <p:cNvPr id="21" name="Text 19"/>
          <p:cNvSpPr/>
          <p:nvPr/>
        </p:nvSpPr>
        <p:spPr>
          <a:xfrm>
            <a:off x="667512" y="5102352"/>
            <a:ext cx="640080" cy="640080"/>
          </a:xfrm>
          <a:prstGeom prst="rect">
            <a:avLst/>
          </a:prstGeom>
          <a:noFill/>
          <a:ln/>
        </p:spPr>
        <p:txBody>
          <a:bodyPr wrap="square" lIns="0" tIns="0" rIns="0" bIns="0" rtlCol="0" anchor="t"/>
          <a:lstStyle/>
          <a:p>
            <a:pPr algn="l" indent="0" marL="0">
              <a:buNone/>
            </a:pPr>
            <a:r>
              <a:rPr lang="en-US" sz="2600" dirty="0">
                <a:solidFill>
                  <a:srgbClr val="C6FF00"/>
                </a:solidFill>
                <a:latin typeface="Arial Black" pitchFamily="34" charset="0"/>
                <a:ea typeface="Arial Black" pitchFamily="34" charset="-122"/>
                <a:cs typeface="Arial Black" pitchFamily="34" charset="-120"/>
              </a:rPr>
              <a:t>E</a:t>
            </a:r>
            <a:endParaRPr lang="en-US" sz="2600" dirty="0"/>
          </a:p>
        </p:txBody>
      </p:sp>
      <p:sp>
        <p:nvSpPr>
          <p:cNvPr id="22" name="Text 20"/>
          <p:cNvSpPr/>
          <p:nvPr/>
        </p:nvSpPr>
        <p:spPr>
          <a:xfrm>
            <a:off x="1417320" y="5138928"/>
            <a:ext cx="4267048" cy="457200"/>
          </a:xfrm>
          <a:prstGeom prst="rect">
            <a:avLst/>
          </a:prstGeom>
          <a:noFill/>
          <a:ln/>
        </p:spPr>
        <p:txBody>
          <a:bodyPr wrap="square" lIns="0" tIns="0" rIns="0" bIns="0" rtlCol="0" anchor="t"/>
          <a:lstStyle/>
          <a:p>
            <a:pPr indent="0" marL="0">
              <a:buNone/>
            </a:pPr>
            <a:r>
              <a:rPr lang="en-US" sz="1450" b="1" dirty="0">
                <a:solidFill>
                  <a:srgbClr val="F4F4F4"/>
                </a:solidFill>
                <a:latin typeface="Arial" pitchFamily="34" charset="0"/>
                <a:ea typeface="Arial" pitchFamily="34" charset="-122"/>
                <a:cs typeface="Arial" pitchFamily="34" charset="-120"/>
              </a:rPr>
              <a:t>Ahora ustedes</a:t>
            </a:r>
            <a:endParaRPr lang="en-US" sz="1450" dirty="0"/>
          </a:p>
        </p:txBody>
      </p:sp>
      <p:sp>
        <p:nvSpPr>
          <p:cNvPr id="23" name="Text 21"/>
          <p:cNvSpPr/>
          <p:nvPr/>
        </p:nvSpPr>
        <p:spPr>
          <a:xfrm>
            <a:off x="1417320" y="5596128"/>
            <a:ext cx="4267048" cy="50292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Plantilla, pasos y errores a evitar</a:t>
            </a:r>
            <a:endParaRPr lang="en-US" sz="1050" dirty="0"/>
          </a:p>
        </p:txBody>
      </p:sp>
      <p:sp>
        <p:nvSpPr>
          <p:cNvPr id="24" name="Shape 22"/>
          <p:cNvSpPr/>
          <p:nvPr/>
        </p:nvSpPr>
        <p:spPr>
          <a:xfrm>
            <a:off x="6324448" y="4937760"/>
            <a:ext cx="5364328" cy="1298448"/>
          </a:xfrm>
          <a:prstGeom prst="roundRect">
            <a:avLst>
              <a:gd name="adj" fmla="val 4225"/>
            </a:avLst>
          </a:prstGeom>
          <a:solidFill>
            <a:srgbClr val="151515"/>
          </a:solidFill>
          <a:ln w="12700">
            <a:solidFill>
              <a:srgbClr val="333333"/>
            </a:solidFill>
            <a:prstDash val="solid"/>
          </a:ln>
        </p:spPr>
      </p:sp>
      <p:sp>
        <p:nvSpPr>
          <p:cNvPr id="25" name="Text 23"/>
          <p:cNvSpPr/>
          <p:nvPr/>
        </p:nvSpPr>
        <p:spPr>
          <a:xfrm>
            <a:off x="6489040" y="5102352"/>
            <a:ext cx="640080" cy="640080"/>
          </a:xfrm>
          <a:prstGeom prst="rect">
            <a:avLst/>
          </a:prstGeom>
          <a:noFill/>
          <a:ln/>
        </p:spPr>
        <p:txBody>
          <a:bodyPr wrap="square" lIns="0" tIns="0" rIns="0" bIns="0" rtlCol="0" anchor="t"/>
          <a:lstStyle/>
          <a:p>
            <a:pPr algn="l" indent="0" marL="0">
              <a:buNone/>
            </a:pPr>
            <a:r>
              <a:rPr lang="en-US" sz="2600" dirty="0">
                <a:solidFill>
                  <a:srgbClr val="C6FF00"/>
                </a:solidFill>
                <a:latin typeface="Arial Black" pitchFamily="34" charset="0"/>
                <a:ea typeface="Arial Black" pitchFamily="34" charset="-122"/>
                <a:cs typeface="Arial Black" pitchFamily="34" charset="-120"/>
              </a:rPr>
              <a:t>F</a:t>
            </a:r>
            <a:endParaRPr lang="en-US" sz="2600" dirty="0"/>
          </a:p>
        </p:txBody>
      </p:sp>
      <p:sp>
        <p:nvSpPr>
          <p:cNvPr id="26" name="Text 24"/>
          <p:cNvSpPr/>
          <p:nvPr/>
        </p:nvSpPr>
        <p:spPr>
          <a:xfrm>
            <a:off x="7238848" y="5138928"/>
            <a:ext cx="4267048" cy="457200"/>
          </a:xfrm>
          <a:prstGeom prst="rect">
            <a:avLst/>
          </a:prstGeom>
          <a:noFill/>
          <a:ln/>
        </p:spPr>
        <p:txBody>
          <a:bodyPr wrap="square" lIns="0" tIns="0" rIns="0" bIns="0" rtlCol="0" anchor="t"/>
          <a:lstStyle/>
          <a:p>
            <a:pPr indent="0" marL="0">
              <a:buNone/>
            </a:pPr>
            <a:r>
              <a:rPr lang="en-US" sz="1450" b="1" dirty="0">
                <a:solidFill>
                  <a:srgbClr val="F4F4F4"/>
                </a:solidFill>
                <a:latin typeface="Arial" pitchFamily="34" charset="0"/>
                <a:ea typeface="Arial" pitchFamily="34" charset="-122"/>
                <a:cs typeface="Arial" pitchFamily="34" charset="-120"/>
              </a:rPr>
              <a:t>Entregable y cierre</a:t>
            </a:r>
            <a:endParaRPr lang="en-US" sz="1450" dirty="0"/>
          </a:p>
        </p:txBody>
      </p:sp>
      <p:sp>
        <p:nvSpPr>
          <p:cNvPr id="27" name="Text 25"/>
          <p:cNvSpPr/>
          <p:nvPr/>
        </p:nvSpPr>
        <p:spPr>
          <a:xfrm>
            <a:off x="7238848" y="5596128"/>
            <a:ext cx="4267048" cy="50292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Qué entregar y cómo se evalúa</a:t>
            </a:r>
            <a:endParaRPr lang="en-US" sz="1050" dirty="0"/>
          </a:p>
        </p:txBody>
      </p:sp>
      <p:sp>
        <p:nvSpPr>
          <p:cNvPr id="28" name="Text 26"/>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9" name="Text 27"/>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30" name="Text 28"/>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02 / 47</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02  META</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AL FINAL DE ESTE TALLER PODRÁS…</a:t>
            </a:r>
            <a:endParaRPr lang="en-US" sz="3300" dirty="0"/>
          </a:p>
        </p:txBody>
      </p:sp>
      <p:sp>
        <p:nvSpPr>
          <p:cNvPr id="4" name="Shape 2"/>
          <p:cNvSpPr/>
          <p:nvPr/>
        </p:nvSpPr>
        <p:spPr>
          <a:xfrm>
            <a:off x="502920" y="1783080"/>
            <a:ext cx="11185855" cy="766267"/>
          </a:xfrm>
          <a:prstGeom prst="roundRect">
            <a:avLst>
              <a:gd name="adj" fmla="val 5967"/>
            </a:avLst>
          </a:prstGeom>
          <a:solidFill>
            <a:srgbClr val="151515"/>
          </a:solidFill>
          <a:ln w="12700">
            <a:solidFill>
              <a:srgbClr val="333333"/>
            </a:solidFill>
            <a:prstDash val="solid"/>
          </a:ln>
        </p:spPr>
      </p:sp>
      <p:sp>
        <p:nvSpPr>
          <p:cNvPr id="5" name="Text 3"/>
          <p:cNvSpPr/>
          <p:nvPr/>
        </p:nvSpPr>
        <p:spPr>
          <a:xfrm>
            <a:off x="685800" y="1783080"/>
            <a:ext cx="914400" cy="766267"/>
          </a:xfrm>
          <a:prstGeom prst="rect">
            <a:avLst/>
          </a:prstGeom>
          <a:noFill/>
          <a:ln/>
        </p:spPr>
        <p:txBody>
          <a:bodyPr wrap="square" lIns="0" tIns="0" rIns="0" bIns="0" rtlCol="0" anchor="ctr"/>
          <a:lstStyle/>
          <a:p>
            <a:pPr algn="l" indent="0" marL="0">
              <a:buNone/>
            </a:pPr>
            <a:r>
              <a:rPr lang="en-US" sz="2600" dirty="0">
                <a:solidFill>
                  <a:srgbClr val="C6FF00"/>
                </a:solidFill>
                <a:latin typeface="Arial Black" pitchFamily="34" charset="0"/>
                <a:ea typeface="Arial Black" pitchFamily="34" charset="-122"/>
                <a:cs typeface="Arial Black" pitchFamily="34" charset="-120"/>
              </a:rPr>
              <a:t>01</a:t>
            </a:r>
            <a:endParaRPr lang="en-US" sz="2600" dirty="0"/>
          </a:p>
        </p:txBody>
      </p:sp>
      <p:sp>
        <p:nvSpPr>
          <p:cNvPr id="6" name="Text 4"/>
          <p:cNvSpPr/>
          <p:nvPr/>
        </p:nvSpPr>
        <p:spPr>
          <a:xfrm>
            <a:off x="1691640" y="1783080"/>
            <a:ext cx="9722815" cy="766267"/>
          </a:xfrm>
          <a:prstGeom prst="rect">
            <a:avLst/>
          </a:prstGeom>
          <a:noFill/>
          <a:ln/>
        </p:spPr>
        <p:txBody>
          <a:bodyPr wrap="square" lIns="0" tIns="0" rIns="0" bIns="0" rtlCol="0" anchor="ctr"/>
          <a:lstStyle/>
          <a:p>
            <a:pPr indent="0" marL="0">
              <a:buNone/>
            </a:pPr>
            <a:r>
              <a:rPr lang="en-US" sz="1350" b="1" dirty="0">
                <a:solidFill>
                  <a:srgbClr val="F4F4F4"/>
                </a:solidFill>
                <a:latin typeface="Arial" pitchFamily="34" charset="0"/>
                <a:ea typeface="Arial" pitchFamily="34" charset="-122"/>
                <a:cs typeface="Arial" pitchFamily="34" charset="-120"/>
              </a:rPr>
              <a:t>Elegir  </a:t>
            </a:r>
            <a:pPr indent="0" marL="0">
              <a:buNone/>
            </a:pPr>
            <a:r>
              <a:rPr lang="en-US" sz="1350" dirty="0">
                <a:solidFill>
                  <a:srgbClr val="F4F4F4"/>
                </a:solidFill>
                <a:latin typeface="Arial" pitchFamily="34" charset="0"/>
                <a:ea typeface="Arial" pitchFamily="34" charset="-122"/>
                <a:cs typeface="Arial" pitchFamily="34" charset="-120"/>
              </a:rPr>
              <a:t>una empresa manufacturera ficticia (o real) con un dolor de negocio claro.</a:t>
            </a:r>
            <a:endParaRPr lang="en-US" sz="1350" dirty="0"/>
          </a:p>
        </p:txBody>
      </p:sp>
      <p:sp>
        <p:nvSpPr>
          <p:cNvPr id="7" name="Shape 5"/>
          <p:cNvSpPr/>
          <p:nvPr/>
        </p:nvSpPr>
        <p:spPr>
          <a:xfrm>
            <a:off x="502920" y="2713939"/>
            <a:ext cx="11185855" cy="766267"/>
          </a:xfrm>
          <a:prstGeom prst="roundRect">
            <a:avLst>
              <a:gd name="adj" fmla="val 5967"/>
            </a:avLst>
          </a:prstGeom>
          <a:solidFill>
            <a:srgbClr val="151515"/>
          </a:solidFill>
          <a:ln w="12700">
            <a:solidFill>
              <a:srgbClr val="333333"/>
            </a:solidFill>
            <a:prstDash val="solid"/>
          </a:ln>
        </p:spPr>
      </p:sp>
      <p:sp>
        <p:nvSpPr>
          <p:cNvPr id="8" name="Text 6"/>
          <p:cNvSpPr/>
          <p:nvPr/>
        </p:nvSpPr>
        <p:spPr>
          <a:xfrm>
            <a:off x="685800" y="2713939"/>
            <a:ext cx="914400" cy="766267"/>
          </a:xfrm>
          <a:prstGeom prst="rect">
            <a:avLst/>
          </a:prstGeom>
          <a:noFill/>
          <a:ln/>
        </p:spPr>
        <p:txBody>
          <a:bodyPr wrap="square" lIns="0" tIns="0" rIns="0" bIns="0" rtlCol="0" anchor="ctr"/>
          <a:lstStyle/>
          <a:p>
            <a:pPr algn="l" indent="0" marL="0">
              <a:buNone/>
            </a:pPr>
            <a:r>
              <a:rPr lang="en-US" sz="2600" dirty="0">
                <a:solidFill>
                  <a:srgbClr val="C6FF00"/>
                </a:solidFill>
                <a:latin typeface="Arial Black" pitchFamily="34" charset="0"/>
                <a:ea typeface="Arial Black" pitchFamily="34" charset="-122"/>
                <a:cs typeface="Arial Black" pitchFamily="34" charset="-120"/>
              </a:rPr>
              <a:t>02</a:t>
            </a:r>
            <a:endParaRPr lang="en-US" sz="2600" dirty="0"/>
          </a:p>
        </p:txBody>
      </p:sp>
      <p:sp>
        <p:nvSpPr>
          <p:cNvPr id="9" name="Text 7"/>
          <p:cNvSpPr/>
          <p:nvPr/>
        </p:nvSpPr>
        <p:spPr>
          <a:xfrm>
            <a:off x="1691640" y="2713939"/>
            <a:ext cx="9722815" cy="766267"/>
          </a:xfrm>
          <a:prstGeom prst="rect">
            <a:avLst/>
          </a:prstGeom>
          <a:noFill/>
          <a:ln/>
        </p:spPr>
        <p:txBody>
          <a:bodyPr wrap="square" lIns="0" tIns="0" rIns="0" bIns="0" rtlCol="0" anchor="ctr"/>
          <a:lstStyle/>
          <a:p>
            <a:pPr indent="0" marL="0">
              <a:buNone/>
            </a:pPr>
            <a:r>
              <a:rPr lang="en-US" sz="1350" b="1" dirty="0">
                <a:solidFill>
                  <a:srgbClr val="F4F4F4"/>
                </a:solidFill>
                <a:latin typeface="Arial" pitchFamily="34" charset="0"/>
                <a:ea typeface="Arial" pitchFamily="34" charset="-122"/>
                <a:cs typeface="Arial" pitchFamily="34" charset="-120"/>
              </a:rPr>
              <a:t>Acotar  </a:t>
            </a:r>
            <a:pPr indent="0" marL="0">
              <a:buNone/>
            </a:pPr>
            <a:r>
              <a:rPr lang="en-US" sz="1350" dirty="0">
                <a:solidFill>
                  <a:srgbClr val="F4F4F4"/>
                </a:solidFill>
                <a:latin typeface="Arial" pitchFamily="34" charset="0"/>
                <a:ea typeface="Arial" pitchFamily="34" charset="-122"/>
                <a:cs typeface="Arial" pitchFamily="34" charset="-120"/>
              </a:rPr>
              <a:t>el alcance a un proceso o línea específica: qué entra y qué NO.</a:t>
            </a:r>
            <a:endParaRPr lang="en-US" sz="1350" dirty="0"/>
          </a:p>
        </p:txBody>
      </p:sp>
      <p:sp>
        <p:nvSpPr>
          <p:cNvPr id="10" name="Shape 8"/>
          <p:cNvSpPr/>
          <p:nvPr/>
        </p:nvSpPr>
        <p:spPr>
          <a:xfrm>
            <a:off x="502920" y="3644798"/>
            <a:ext cx="11185855" cy="766267"/>
          </a:xfrm>
          <a:prstGeom prst="roundRect">
            <a:avLst>
              <a:gd name="adj" fmla="val 5967"/>
            </a:avLst>
          </a:prstGeom>
          <a:solidFill>
            <a:srgbClr val="151515"/>
          </a:solidFill>
          <a:ln w="12700">
            <a:solidFill>
              <a:srgbClr val="333333"/>
            </a:solidFill>
            <a:prstDash val="solid"/>
          </a:ln>
        </p:spPr>
      </p:sp>
      <p:sp>
        <p:nvSpPr>
          <p:cNvPr id="11" name="Text 9"/>
          <p:cNvSpPr/>
          <p:nvPr/>
        </p:nvSpPr>
        <p:spPr>
          <a:xfrm>
            <a:off x="685800" y="3644798"/>
            <a:ext cx="914400" cy="766267"/>
          </a:xfrm>
          <a:prstGeom prst="rect">
            <a:avLst/>
          </a:prstGeom>
          <a:noFill/>
          <a:ln/>
        </p:spPr>
        <p:txBody>
          <a:bodyPr wrap="square" lIns="0" tIns="0" rIns="0" bIns="0" rtlCol="0" anchor="ctr"/>
          <a:lstStyle/>
          <a:p>
            <a:pPr algn="l" indent="0" marL="0">
              <a:buNone/>
            </a:pPr>
            <a:r>
              <a:rPr lang="en-US" sz="2600" dirty="0">
                <a:solidFill>
                  <a:srgbClr val="C6FF00"/>
                </a:solidFill>
                <a:latin typeface="Arial Black" pitchFamily="34" charset="0"/>
                <a:ea typeface="Arial Black" pitchFamily="34" charset="-122"/>
                <a:cs typeface="Arial Black" pitchFamily="34" charset="-120"/>
              </a:rPr>
              <a:t>03</a:t>
            </a:r>
            <a:endParaRPr lang="en-US" sz="2600" dirty="0"/>
          </a:p>
        </p:txBody>
      </p:sp>
      <p:sp>
        <p:nvSpPr>
          <p:cNvPr id="12" name="Text 10"/>
          <p:cNvSpPr/>
          <p:nvPr/>
        </p:nvSpPr>
        <p:spPr>
          <a:xfrm>
            <a:off x="1691640" y="3644798"/>
            <a:ext cx="9722815" cy="766267"/>
          </a:xfrm>
          <a:prstGeom prst="rect">
            <a:avLst/>
          </a:prstGeom>
          <a:noFill/>
          <a:ln/>
        </p:spPr>
        <p:txBody>
          <a:bodyPr wrap="square" lIns="0" tIns="0" rIns="0" bIns="0" rtlCol="0" anchor="ctr"/>
          <a:lstStyle/>
          <a:p>
            <a:pPr indent="0" marL="0">
              <a:buNone/>
            </a:pPr>
            <a:r>
              <a:rPr lang="en-US" sz="1350" b="1" dirty="0">
                <a:solidFill>
                  <a:srgbClr val="F4F4F4"/>
                </a:solidFill>
                <a:latin typeface="Arial" pitchFamily="34" charset="0"/>
                <a:ea typeface="Arial" pitchFamily="34" charset="-122"/>
                <a:cs typeface="Arial" pitchFamily="34" charset="-120"/>
              </a:rPr>
              <a:t>Definir  </a:t>
            </a:r>
            <a:pPr indent="0" marL="0">
              <a:buNone/>
            </a:pPr>
            <a:r>
              <a:rPr lang="en-US" sz="1350" dirty="0">
                <a:solidFill>
                  <a:srgbClr val="F4F4F4"/>
                </a:solidFill>
                <a:latin typeface="Arial" pitchFamily="34" charset="0"/>
                <a:ea typeface="Arial" pitchFamily="34" charset="-122"/>
                <a:cs typeface="Arial" pitchFamily="34" charset="-120"/>
              </a:rPr>
              <a:t>la ficha de la empresa: identidad, proceso, activos, IT/OT y partes interesadas.</a:t>
            </a:r>
            <a:endParaRPr lang="en-US" sz="1350" dirty="0"/>
          </a:p>
        </p:txBody>
      </p:sp>
      <p:sp>
        <p:nvSpPr>
          <p:cNvPr id="13" name="Shape 11"/>
          <p:cNvSpPr/>
          <p:nvPr/>
        </p:nvSpPr>
        <p:spPr>
          <a:xfrm>
            <a:off x="502920" y="4575658"/>
            <a:ext cx="11185855" cy="766267"/>
          </a:xfrm>
          <a:prstGeom prst="roundRect">
            <a:avLst>
              <a:gd name="adj" fmla="val 5967"/>
            </a:avLst>
          </a:prstGeom>
          <a:solidFill>
            <a:srgbClr val="151515"/>
          </a:solidFill>
          <a:ln w="12700">
            <a:solidFill>
              <a:srgbClr val="333333"/>
            </a:solidFill>
            <a:prstDash val="solid"/>
          </a:ln>
        </p:spPr>
      </p:sp>
      <p:sp>
        <p:nvSpPr>
          <p:cNvPr id="14" name="Text 12"/>
          <p:cNvSpPr/>
          <p:nvPr/>
        </p:nvSpPr>
        <p:spPr>
          <a:xfrm>
            <a:off x="685800" y="4575658"/>
            <a:ext cx="914400" cy="766267"/>
          </a:xfrm>
          <a:prstGeom prst="rect">
            <a:avLst/>
          </a:prstGeom>
          <a:noFill/>
          <a:ln/>
        </p:spPr>
        <p:txBody>
          <a:bodyPr wrap="square" lIns="0" tIns="0" rIns="0" bIns="0" rtlCol="0" anchor="ctr"/>
          <a:lstStyle/>
          <a:p>
            <a:pPr algn="l" indent="0" marL="0">
              <a:buNone/>
            </a:pPr>
            <a:r>
              <a:rPr lang="en-US" sz="2600" dirty="0">
                <a:solidFill>
                  <a:srgbClr val="C6FF00"/>
                </a:solidFill>
                <a:latin typeface="Arial Black" pitchFamily="34" charset="0"/>
                <a:ea typeface="Arial Black" pitchFamily="34" charset="-122"/>
                <a:cs typeface="Arial Black" pitchFamily="34" charset="-120"/>
              </a:rPr>
              <a:t>04</a:t>
            </a:r>
            <a:endParaRPr lang="en-US" sz="2600" dirty="0"/>
          </a:p>
        </p:txBody>
      </p:sp>
      <p:sp>
        <p:nvSpPr>
          <p:cNvPr id="15" name="Text 13"/>
          <p:cNvSpPr/>
          <p:nvPr/>
        </p:nvSpPr>
        <p:spPr>
          <a:xfrm>
            <a:off x="1691640" y="4575658"/>
            <a:ext cx="9722815" cy="766267"/>
          </a:xfrm>
          <a:prstGeom prst="rect">
            <a:avLst/>
          </a:prstGeom>
          <a:noFill/>
          <a:ln/>
        </p:spPr>
        <p:txBody>
          <a:bodyPr wrap="square" lIns="0" tIns="0" rIns="0" bIns="0" rtlCol="0" anchor="ctr"/>
          <a:lstStyle/>
          <a:p>
            <a:pPr indent="0" marL="0">
              <a:buNone/>
            </a:pPr>
            <a:r>
              <a:rPr lang="en-US" sz="1350" b="1" dirty="0">
                <a:solidFill>
                  <a:srgbClr val="F4F4F4"/>
                </a:solidFill>
                <a:latin typeface="Arial" pitchFamily="34" charset="0"/>
                <a:ea typeface="Arial" pitchFamily="34" charset="-122"/>
                <a:cs typeface="Arial" pitchFamily="34" charset="-120"/>
              </a:rPr>
              <a:t>Argumentar  </a:t>
            </a:r>
            <a:pPr indent="0" marL="0">
              <a:buNone/>
            </a:pPr>
            <a:r>
              <a:rPr lang="en-US" sz="1350" dirty="0">
                <a:solidFill>
                  <a:srgbClr val="F4F4F4"/>
                </a:solidFill>
                <a:latin typeface="Arial" pitchFamily="34" charset="0"/>
                <a:ea typeface="Arial" pitchFamily="34" charset="-122"/>
                <a:cs typeface="Arial" pitchFamily="34" charset="-120"/>
              </a:rPr>
              <a:t>por qué esa operación es un sistema ciber-físico de producción (CPPS).</a:t>
            </a:r>
            <a:endParaRPr lang="en-US" sz="1350" dirty="0"/>
          </a:p>
        </p:txBody>
      </p:sp>
      <p:sp>
        <p:nvSpPr>
          <p:cNvPr id="16" name="Shape 14"/>
          <p:cNvSpPr/>
          <p:nvPr/>
        </p:nvSpPr>
        <p:spPr>
          <a:xfrm>
            <a:off x="502920" y="5506517"/>
            <a:ext cx="11185855" cy="766267"/>
          </a:xfrm>
          <a:prstGeom prst="roundRect">
            <a:avLst>
              <a:gd name="adj" fmla="val 5967"/>
            </a:avLst>
          </a:prstGeom>
          <a:solidFill>
            <a:srgbClr val="151515"/>
          </a:solidFill>
          <a:ln w="12700">
            <a:solidFill>
              <a:srgbClr val="333333"/>
            </a:solidFill>
            <a:prstDash val="solid"/>
          </a:ln>
        </p:spPr>
      </p:sp>
      <p:sp>
        <p:nvSpPr>
          <p:cNvPr id="17" name="Text 15"/>
          <p:cNvSpPr/>
          <p:nvPr/>
        </p:nvSpPr>
        <p:spPr>
          <a:xfrm>
            <a:off x="685800" y="5506517"/>
            <a:ext cx="914400" cy="766267"/>
          </a:xfrm>
          <a:prstGeom prst="rect">
            <a:avLst/>
          </a:prstGeom>
          <a:noFill/>
          <a:ln/>
        </p:spPr>
        <p:txBody>
          <a:bodyPr wrap="square" lIns="0" tIns="0" rIns="0" bIns="0" rtlCol="0" anchor="ctr"/>
          <a:lstStyle/>
          <a:p>
            <a:pPr algn="l" indent="0" marL="0">
              <a:buNone/>
            </a:pPr>
            <a:r>
              <a:rPr lang="en-US" sz="2600" dirty="0">
                <a:solidFill>
                  <a:srgbClr val="C6FF00"/>
                </a:solidFill>
                <a:latin typeface="Arial Black" pitchFamily="34" charset="0"/>
                <a:ea typeface="Arial Black" pitchFamily="34" charset="-122"/>
                <a:cs typeface="Arial Black" pitchFamily="34" charset="-120"/>
              </a:rPr>
              <a:t>05</a:t>
            </a:r>
            <a:endParaRPr lang="en-US" sz="2600" dirty="0"/>
          </a:p>
        </p:txBody>
      </p:sp>
      <p:sp>
        <p:nvSpPr>
          <p:cNvPr id="18" name="Text 16"/>
          <p:cNvSpPr/>
          <p:nvPr/>
        </p:nvSpPr>
        <p:spPr>
          <a:xfrm>
            <a:off x="1691640" y="5506517"/>
            <a:ext cx="9722815" cy="766267"/>
          </a:xfrm>
          <a:prstGeom prst="rect">
            <a:avLst/>
          </a:prstGeom>
          <a:noFill/>
          <a:ln/>
        </p:spPr>
        <p:txBody>
          <a:bodyPr wrap="square" lIns="0" tIns="0" rIns="0" bIns="0" rtlCol="0" anchor="ctr"/>
          <a:lstStyle/>
          <a:p>
            <a:pPr indent="0" marL="0">
              <a:buNone/>
            </a:pPr>
            <a:r>
              <a:rPr lang="en-US" sz="1350" b="1" dirty="0">
                <a:solidFill>
                  <a:srgbClr val="F4F4F4"/>
                </a:solidFill>
                <a:latin typeface="Arial" pitchFamily="34" charset="0"/>
                <a:ea typeface="Arial" pitchFamily="34" charset="-122"/>
                <a:cs typeface="Arial" pitchFamily="34" charset="-120"/>
              </a:rPr>
              <a:t>Entregar  </a:t>
            </a:r>
            <a:pPr indent="0" marL="0">
              <a:buNone/>
            </a:pPr>
            <a:r>
              <a:rPr lang="en-US" sz="1350" dirty="0">
                <a:solidFill>
                  <a:srgbClr val="F4F4F4"/>
                </a:solidFill>
                <a:latin typeface="Arial" pitchFamily="34" charset="0"/>
                <a:ea typeface="Arial" pitchFamily="34" charset="-122"/>
                <a:cs typeface="Arial" pitchFamily="34" charset="-120"/>
              </a:rPr>
              <a:t>la base del proyecto integrador que crecerá durante 16 semanas.</a:t>
            </a:r>
            <a:endParaRPr lang="en-US" sz="1350" dirty="0"/>
          </a:p>
        </p:txBody>
      </p:sp>
      <p:sp>
        <p:nvSpPr>
          <p:cNvPr id="19" name="Text 1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0" name="Text 1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21" name="Text 1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03 / 47</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01010"/>
        </a:solidFill>
      </p:bgPr>
    </p:bg>
    <p:spTree>
      <p:nvGrpSpPr>
        <p:cNvPr id="1" name=""/>
        <p:cNvGrpSpPr/>
        <p:nvPr/>
      </p:nvGrpSpPr>
      <p:grpSpPr>
        <a:xfrm>
          <a:off x="0" y="0"/>
          <a:ext cx="0" cy="0"/>
          <a:chOff x="0" y="0"/>
          <a:chExt cx="0" cy="0"/>
        </a:xfrm>
      </p:grpSpPr>
      <p:sp>
        <p:nvSpPr>
          <p:cNvPr id="2" name="Text 0"/>
          <p:cNvSpPr/>
          <p:nvPr/>
        </p:nvSpPr>
        <p:spPr>
          <a:xfrm>
            <a:off x="5029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C6FF00"/>
                </a:solidFill>
                <a:latin typeface="Courier New" pitchFamily="34" charset="0"/>
                <a:ea typeface="Courier New" pitchFamily="34" charset="-122"/>
                <a:cs typeface="Courier New" pitchFamily="34" charset="-120"/>
              </a:rPr>
              <a:t>SECCIÓN</a:t>
            </a:r>
            <a:endParaRPr lang="en-US" sz="1400" dirty="0"/>
          </a:p>
        </p:txBody>
      </p:sp>
      <p:sp>
        <p:nvSpPr>
          <p:cNvPr id="3" name="Text 1"/>
          <p:cNvSpPr/>
          <p:nvPr/>
        </p:nvSpPr>
        <p:spPr>
          <a:xfrm>
            <a:off x="7848295" y="1097280"/>
            <a:ext cx="3840480" cy="3840480"/>
          </a:xfrm>
          <a:prstGeom prst="rect">
            <a:avLst/>
          </a:prstGeom>
          <a:noFill/>
          <a:ln/>
        </p:spPr>
        <p:txBody>
          <a:bodyPr wrap="square" lIns="0" tIns="0" rIns="0" bIns="0" rtlCol="0" anchor="ctr"/>
          <a:lstStyle/>
          <a:p>
            <a:pPr algn="r" indent="0" marL="0">
              <a:buNone/>
            </a:pPr>
            <a:r>
              <a:rPr lang="en-US" sz="20000" dirty="0">
                <a:solidFill>
                  <a:srgbClr val="151515"/>
                </a:solidFill>
                <a:latin typeface="Arial Black" pitchFamily="34" charset="0"/>
                <a:ea typeface="Arial Black" pitchFamily="34" charset="-122"/>
                <a:cs typeface="Arial Black" pitchFamily="34" charset="-120"/>
              </a:rPr>
              <a:t>01</a:t>
            </a:r>
            <a:endParaRPr lang="en-US" sz="20000" dirty="0"/>
          </a:p>
        </p:txBody>
      </p:sp>
      <p:sp>
        <p:nvSpPr>
          <p:cNvPr id="4" name="Text 2"/>
          <p:cNvSpPr/>
          <p:nvPr/>
        </p:nvSpPr>
        <p:spPr>
          <a:xfrm>
            <a:off x="502920" y="2423160"/>
            <a:ext cx="10271455" cy="1737360"/>
          </a:xfrm>
          <a:prstGeom prst="rect">
            <a:avLst/>
          </a:prstGeom>
          <a:noFill/>
          <a:ln/>
        </p:spPr>
        <p:txBody>
          <a:bodyPr wrap="square" lIns="0" tIns="0" rIns="0" bIns="0" rtlCol="0" anchor="t"/>
          <a:lstStyle/>
          <a:p>
            <a:pPr indent="0" marL="0">
              <a:lnSpc>
                <a:spcPct val="96000"/>
              </a:lnSpc>
              <a:buNone/>
            </a:pPr>
            <a:r>
              <a:rPr lang="en-US" sz="4000" dirty="0">
                <a:solidFill>
                  <a:srgbClr val="F4F4F4"/>
                </a:solidFill>
                <a:latin typeface="Arial Black" pitchFamily="34" charset="0"/>
                <a:ea typeface="Arial Black" pitchFamily="34" charset="-122"/>
                <a:cs typeface="Arial Black" pitchFamily="34" charset="-120"/>
              </a:rPr>
              <a:t>EL PROYECTO INTEGRADOR</a:t>
            </a:r>
            <a:endParaRPr lang="en-US" sz="4000" dirty="0"/>
          </a:p>
        </p:txBody>
      </p:sp>
      <p:sp>
        <p:nvSpPr>
          <p:cNvPr id="5" name="Text 3"/>
          <p:cNvSpPr/>
          <p:nvPr/>
        </p:nvSpPr>
        <p:spPr>
          <a:xfrm>
            <a:off x="502920" y="4343400"/>
            <a:ext cx="11185855" cy="548640"/>
          </a:xfrm>
          <a:prstGeom prst="rect">
            <a:avLst/>
          </a:prstGeom>
          <a:noFill/>
          <a:ln/>
        </p:spPr>
        <p:txBody>
          <a:bodyPr wrap="square" lIns="0" tIns="0" rIns="0" bIns="0" rtlCol="0" anchor="t"/>
          <a:lstStyle/>
          <a:p>
            <a:pPr indent="0" marL="0">
              <a:buNone/>
            </a:pPr>
            <a:r>
              <a:rPr lang="en-US" sz="1300" b="1" dirty="0">
                <a:solidFill>
                  <a:srgbClr val="C6FF00"/>
                </a:solidFill>
                <a:latin typeface="Courier New" pitchFamily="34" charset="0"/>
                <a:ea typeface="Courier New" pitchFamily="34" charset="-122"/>
                <a:cs typeface="Courier New" pitchFamily="34" charset="-120"/>
              </a:rPr>
              <a:t>&gt; </a:t>
            </a:r>
            <a:pPr indent="0" marL="0">
              <a:buNone/>
            </a:pPr>
            <a:r>
              <a:rPr lang="en-US" sz="1300" dirty="0">
                <a:solidFill>
                  <a:srgbClr val="8C8C8C"/>
                </a:solidFill>
                <a:latin typeface="Courier New" pitchFamily="34" charset="0"/>
                <a:ea typeface="Courier New" pitchFamily="34" charset="-122"/>
                <a:cs typeface="Courier New" pitchFamily="34" charset="-120"/>
              </a:rPr>
              <a:t>Una empresa, todo el semestre</a:t>
            </a:r>
            <a:endParaRPr lang="en-US" sz="1300" dirty="0"/>
          </a:p>
        </p:txBody>
      </p:sp>
      <p:sp>
        <p:nvSpPr>
          <p:cNvPr id="6" name="Text 4"/>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7" name="Text 5"/>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8" name="Text 6"/>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04 / 47</a:t>
            </a:r>
            <a:endParaRPr lang="en-US" sz="800" dirty="0"/>
          </a:p>
        </p:txBody>
      </p:sp>
      <p:sp>
        <p:nvSpPr>
          <p:cNvPr id="9" name="Text 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0" name="Text 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11" name="Text 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04 / 47</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03  PROYECTO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QUÉ ES EL PROYECTO INTEGRADOR</a:t>
            </a:r>
            <a:endParaRPr lang="en-US" sz="3300" dirty="0"/>
          </a:p>
        </p:txBody>
      </p:sp>
      <p:sp>
        <p:nvSpPr>
          <p:cNvPr id="4" name="Shape 2"/>
          <p:cNvSpPr/>
          <p:nvPr/>
        </p:nvSpPr>
        <p:spPr>
          <a:xfrm>
            <a:off x="502920" y="1783080"/>
            <a:ext cx="3545738" cy="1828800"/>
          </a:xfrm>
          <a:prstGeom prst="roundRect">
            <a:avLst>
              <a:gd name="adj" fmla="val 3000"/>
            </a:avLst>
          </a:prstGeom>
          <a:solidFill>
            <a:srgbClr val="151515"/>
          </a:solidFill>
          <a:ln w="12700">
            <a:solidFill>
              <a:srgbClr val="333333"/>
            </a:solidFill>
            <a:prstDash val="solid"/>
          </a:ln>
        </p:spPr>
      </p:sp>
      <p:sp>
        <p:nvSpPr>
          <p:cNvPr id="5" name="Text 3"/>
          <p:cNvSpPr/>
          <p:nvPr/>
        </p:nvSpPr>
        <p:spPr>
          <a:xfrm>
            <a:off x="640080" y="1965960"/>
            <a:ext cx="3271418" cy="868680"/>
          </a:xfrm>
          <a:prstGeom prst="rect">
            <a:avLst/>
          </a:prstGeom>
          <a:noFill/>
          <a:ln/>
        </p:spPr>
        <p:txBody>
          <a:bodyPr wrap="square" lIns="0" tIns="0" rIns="0" bIns="0" rtlCol="0" anchor="ctr"/>
          <a:lstStyle/>
          <a:p>
            <a:pPr algn="ctr" indent="0" marL="0">
              <a:buNone/>
            </a:pPr>
            <a:r>
              <a:rPr lang="en-US" sz="3800" dirty="0">
                <a:solidFill>
                  <a:srgbClr val="C6FF00"/>
                </a:solidFill>
                <a:latin typeface="Arial Black" pitchFamily="34" charset="0"/>
                <a:ea typeface="Arial Black" pitchFamily="34" charset="-122"/>
                <a:cs typeface="Arial Black" pitchFamily="34" charset="-120"/>
              </a:rPr>
              <a:t>25 %</a:t>
            </a:r>
            <a:endParaRPr lang="en-US" sz="3800" dirty="0"/>
          </a:p>
        </p:txBody>
      </p:sp>
      <p:sp>
        <p:nvSpPr>
          <p:cNvPr id="6" name="Text 4"/>
          <p:cNvSpPr/>
          <p:nvPr/>
        </p:nvSpPr>
        <p:spPr>
          <a:xfrm>
            <a:off x="685800"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de la nota final: el proyecto es la columna vertebral del curso</a:t>
            </a:r>
            <a:endParaRPr lang="en-US" sz="1100" dirty="0"/>
          </a:p>
        </p:txBody>
      </p:sp>
      <p:sp>
        <p:nvSpPr>
          <p:cNvPr id="7" name="Shape 5"/>
          <p:cNvSpPr/>
          <p:nvPr/>
        </p:nvSpPr>
        <p:spPr>
          <a:xfrm>
            <a:off x="4322978" y="1783080"/>
            <a:ext cx="3545738" cy="1828800"/>
          </a:xfrm>
          <a:prstGeom prst="roundRect">
            <a:avLst>
              <a:gd name="adj" fmla="val 3000"/>
            </a:avLst>
          </a:prstGeom>
          <a:solidFill>
            <a:srgbClr val="151515"/>
          </a:solidFill>
          <a:ln w="12700">
            <a:solidFill>
              <a:srgbClr val="333333"/>
            </a:solidFill>
            <a:prstDash val="solid"/>
          </a:ln>
        </p:spPr>
      </p:sp>
      <p:sp>
        <p:nvSpPr>
          <p:cNvPr id="8" name="Text 6"/>
          <p:cNvSpPr/>
          <p:nvPr/>
        </p:nvSpPr>
        <p:spPr>
          <a:xfrm>
            <a:off x="4460138" y="1965960"/>
            <a:ext cx="3271418" cy="868680"/>
          </a:xfrm>
          <a:prstGeom prst="rect">
            <a:avLst/>
          </a:prstGeom>
          <a:noFill/>
          <a:ln/>
        </p:spPr>
        <p:txBody>
          <a:bodyPr wrap="square" lIns="0" tIns="0" rIns="0" bIns="0" rtlCol="0" anchor="ctr"/>
          <a:lstStyle/>
          <a:p>
            <a:pPr algn="ctr" indent="0" marL="0">
              <a:buNone/>
            </a:pPr>
            <a:r>
              <a:rPr lang="en-US" sz="3800" dirty="0">
                <a:solidFill>
                  <a:srgbClr val="27E5E5"/>
                </a:solidFill>
                <a:latin typeface="Arial Black" pitchFamily="34" charset="0"/>
                <a:ea typeface="Arial Black" pitchFamily="34" charset="-122"/>
                <a:cs typeface="Arial Black" pitchFamily="34" charset="-120"/>
              </a:rPr>
              <a:t>1</a:t>
            </a:r>
            <a:endParaRPr lang="en-US" sz="3800" dirty="0"/>
          </a:p>
        </p:txBody>
      </p:sp>
      <p:sp>
        <p:nvSpPr>
          <p:cNvPr id="9" name="Text 7"/>
          <p:cNvSpPr/>
          <p:nvPr/>
        </p:nvSpPr>
        <p:spPr>
          <a:xfrm>
            <a:off x="4505858"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empresa: la misma se desarrolla desde la semana 1 hasta la sustentación</a:t>
            </a:r>
            <a:endParaRPr lang="en-US" sz="1100" dirty="0"/>
          </a:p>
        </p:txBody>
      </p:sp>
      <p:sp>
        <p:nvSpPr>
          <p:cNvPr id="10" name="Shape 8"/>
          <p:cNvSpPr/>
          <p:nvPr/>
        </p:nvSpPr>
        <p:spPr>
          <a:xfrm>
            <a:off x="8143037" y="1783080"/>
            <a:ext cx="3545738" cy="1828800"/>
          </a:xfrm>
          <a:prstGeom prst="roundRect">
            <a:avLst>
              <a:gd name="adj" fmla="val 3000"/>
            </a:avLst>
          </a:prstGeom>
          <a:solidFill>
            <a:srgbClr val="151515"/>
          </a:solidFill>
          <a:ln w="12700">
            <a:solidFill>
              <a:srgbClr val="333333"/>
            </a:solidFill>
            <a:prstDash val="solid"/>
          </a:ln>
        </p:spPr>
      </p:sp>
      <p:sp>
        <p:nvSpPr>
          <p:cNvPr id="11" name="Text 9"/>
          <p:cNvSpPr/>
          <p:nvPr/>
        </p:nvSpPr>
        <p:spPr>
          <a:xfrm>
            <a:off x="8280197" y="1965960"/>
            <a:ext cx="3271418" cy="868680"/>
          </a:xfrm>
          <a:prstGeom prst="rect">
            <a:avLst/>
          </a:prstGeom>
          <a:noFill/>
          <a:ln/>
        </p:spPr>
        <p:txBody>
          <a:bodyPr wrap="square" lIns="0" tIns="0" rIns="0" bIns="0" rtlCol="0" anchor="ctr"/>
          <a:lstStyle/>
          <a:p>
            <a:pPr algn="ctr" indent="0" marL="0">
              <a:buNone/>
            </a:pPr>
            <a:r>
              <a:rPr lang="en-US" sz="3800" dirty="0">
                <a:solidFill>
                  <a:srgbClr val="FFB000"/>
                </a:solidFill>
                <a:latin typeface="Arial Black" pitchFamily="34" charset="0"/>
                <a:ea typeface="Arial Black" pitchFamily="34" charset="-122"/>
                <a:cs typeface="Arial Black" pitchFamily="34" charset="-120"/>
              </a:rPr>
              <a:t>3</a:t>
            </a:r>
            <a:endParaRPr lang="en-US" sz="3800" dirty="0"/>
          </a:p>
        </p:txBody>
      </p:sp>
      <p:sp>
        <p:nvSpPr>
          <p:cNvPr id="12" name="Text 10"/>
          <p:cNvSpPr/>
          <p:nvPr/>
        </p:nvSpPr>
        <p:spPr>
          <a:xfrm>
            <a:off x="8325917"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grandes entregas acumulativas: E1 (sem 5), E2 (sem 13) y documento final</a:t>
            </a:r>
            <a:endParaRPr lang="en-US" sz="1100" dirty="0"/>
          </a:p>
        </p:txBody>
      </p:sp>
      <p:sp>
        <p:nvSpPr>
          <p:cNvPr id="13" name="Text 11"/>
          <p:cNvSpPr/>
          <p:nvPr/>
        </p:nvSpPr>
        <p:spPr>
          <a:xfrm>
            <a:off x="502920" y="388620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LECTURA CLAVE</a:t>
            </a:r>
            <a:endParaRPr lang="en-US" sz="1100" dirty="0"/>
          </a:p>
        </p:txBody>
      </p:sp>
      <p:sp>
        <p:nvSpPr>
          <p:cNvPr id="14" name="Text 12"/>
          <p:cNvSpPr/>
          <p:nvPr/>
        </p:nvSpPr>
        <p:spPr>
          <a:xfrm>
            <a:off x="502920" y="4270248"/>
            <a:ext cx="11185855" cy="1463040"/>
          </a:xfrm>
          <a:prstGeom prst="rect">
            <a:avLst/>
          </a:prstGeom>
          <a:noFill/>
          <a:ln/>
        </p:spPr>
        <p:txBody>
          <a:bodyPr wrap="square" lIns="0" tIns="0" rIns="0" bIns="0" rtlCol="0" anchor="t"/>
          <a:lstStyle/>
          <a:p>
            <a:pPr indent="0" marL="0">
              <a:lnSpc>
                <a:spcPct val="110000"/>
              </a:lnSpc>
              <a:buNone/>
            </a:pPr>
            <a:r>
              <a:rPr lang="en-US" sz="1300" dirty="0">
                <a:solidFill>
                  <a:srgbClr val="F4F4F4"/>
                </a:solidFill>
                <a:latin typeface="Arial" pitchFamily="34" charset="0"/>
                <a:ea typeface="Arial" pitchFamily="34" charset="-122"/>
                <a:cs typeface="Arial" pitchFamily="34" charset="-120"/>
              </a:rPr>
              <a:t>En equipos de 3–4, eligen UNA organización manufacturera y la desarrollan de forma acumulativa: cada sesión añade una capa (gobierno, arquitectura, integración, seguridad, caso de negocio). No es un trabajo desechable por corte: es un solo proyecto que crece.</a:t>
            </a:r>
            <a:endParaRPr lang="en-US" sz="13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05 / 47</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04  PROYECTO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000" dirty="0">
                <a:solidFill>
                  <a:srgbClr val="F4F4F4"/>
                </a:solidFill>
                <a:latin typeface="Arial Black" pitchFamily="34" charset="0"/>
                <a:ea typeface="Arial Black" pitchFamily="34" charset="-122"/>
                <a:cs typeface="Arial Black" pitchFamily="34" charset="-120"/>
              </a:rPr>
              <a:t>CÓMO CRECE TU EMPRESA, SESIÓN A SESIÓN</a:t>
            </a:r>
            <a:endParaRPr lang="en-US" sz="3000" dirty="0"/>
          </a:p>
        </p:txBody>
      </p:sp>
      <p:sp>
        <p:nvSpPr>
          <p:cNvPr id="4" name="Shape 2"/>
          <p:cNvSpPr/>
          <p:nvPr/>
        </p:nvSpPr>
        <p:spPr>
          <a:xfrm>
            <a:off x="502920" y="1783080"/>
            <a:ext cx="2625014" cy="1554480"/>
          </a:xfrm>
          <a:prstGeom prst="roundRect">
            <a:avLst>
              <a:gd name="adj" fmla="val 3529"/>
            </a:avLst>
          </a:prstGeom>
          <a:solidFill>
            <a:srgbClr val="151515"/>
          </a:solidFill>
          <a:ln w="12700">
            <a:solidFill>
              <a:srgbClr val="333333"/>
            </a:solidFill>
            <a:prstDash val="solid"/>
          </a:ln>
        </p:spPr>
      </p:sp>
      <p:sp>
        <p:nvSpPr>
          <p:cNvPr id="5" name="Text 3"/>
          <p:cNvSpPr/>
          <p:nvPr/>
        </p:nvSpPr>
        <p:spPr>
          <a:xfrm>
            <a:off x="649224" y="1892808"/>
            <a:ext cx="914400" cy="502920"/>
          </a:xfrm>
          <a:prstGeom prst="rect">
            <a:avLst/>
          </a:prstGeom>
          <a:noFill/>
          <a:ln/>
        </p:spPr>
        <p:txBody>
          <a:bodyPr wrap="square" lIns="0" tIns="0" rIns="0" bIns="0" rtlCol="0" anchor="t"/>
          <a:lstStyle/>
          <a:p>
            <a:pPr indent="0" marL="0">
              <a:buNone/>
            </a:pPr>
            <a:r>
              <a:rPr lang="en-US" sz="2200" dirty="0">
                <a:solidFill>
                  <a:srgbClr val="C6FF00"/>
                </a:solidFill>
                <a:latin typeface="Arial Black" pitchFamily="34" charset="0"/>
                <a:ea typeface="Arial Black" pitchFamily="34" charset="-122"/>
                <a:cs typeface="Arial Black" pitchFamily="34" charset="-120"/>
              </a:rPr>
              <a:t>HOY</a:t>
            </a:r>
            <a:endParaRPr lang="en-US" sz="2200" dirty="0"/>
          </a:p>
        </p:txBody>
      </p:sp>
      <p:sp>
        <p:nvSpPr>
          <p:cNvPr id="6" name="Text 4"/>
          <p:cNvSpPr/>
          <p:nvPr/>
        </p:nvSpPr>
        <p:spPr>
          <a:xfrm>
            <a:off x="649224" y="2386584"/>
            <a:ext cx="2332406"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LA EMPRESA</a:t>
            </a:r>
            <a:endParaRPr lang="en-US" sz="1100" dirty="0"/>
          </a:p>
        </p:txBody>
      </p:sp>
      <p:sp>
        <p:nvSpPr>
          <p:cNvPr id="7" name="Text 5"/>
          <p:cNvSpPr/>
          <p:nvPr/>
        </p:nvSpPr>
        <p:spPr>
          <a:xfrm>
            <a:off x="649224" y="2752344"/>
            <a:ext cx="2332406"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Identidad, alcance y proceso foco.</a:t>
            </a:r>
            <a:endParaRPr lang="en-US" sz="1000" dirty="0"/>
          </a:p>
        </p:txBody>
      </p:sp>
      <p:sp>
        <p:nvSpPr>
          <p:cNvPr id="8" name="Shape 6"/>
          <p:cNvSpPr/>
          <p:nvPr/>
        </p:nvSpPr>
        <p:spPr>
          <a:xfrm>
            <a:off x="3356534" y="1783080"/>
            <a:ext cx="2625014" cy="1554480"/>
          </a:xfrm>
          <a:prstGeom prst="roundRect">
            <a:avLst>
              <a:gd name="adj" fmla="val 3529"/>
            </a:avLst>
          </a:prstGeom>
          <a:solidFill>
            <a:srgbClr val="151515"/>
          </a:solidFill>
          <a:ln w="12700">
            <a:solidFill>
              <a:srgbClr val="333333"/>
            </a:solidFill>
            <a:prstDash val="solid"/>
          </a:ln>
        </p:spPr>
      </p:sp>
      <p:sp>
        <p:nvSpPr>
          <p:cNvPr id="9" name="Text 7"/>
          <p:cNvSpPr/>
          <p:nvPr/>
        </p:nvSpPr>
        <p:spPr>
          <a:xfrm>
            <a:off x="3502838" y="1892808"/>
            <a:ext cx="914400" cy="502920"/>
          </a:xfrm>
          <a:prstGeom prst="rect">
            <a:avLst/>
          </a:prstGeom>
          <a:noFill/>
          <a:ln/>
        </p:spPr>
        <p:txBody>
          <a:bodyPr wrap="square" lIns="0" tIns="0" rIns="0" bIns="0" rtlCol="0" anchor="t"/>
          <a:lstStyle/>
          <a:p>
            <a:pPr indent="0" marL="0">
              <a:buNone/>
            </a:pPr>
            <a:r>
              <a:rPr lang="en-US" sz="2200" dirty="0">
                <a:solidFill>
                  <a:srgbClr val="27E5E5"/>
                </a:solidFill>
                <a:latin typeface="Arial Black" pitchFamily="34" charset="0"/>
                <a:ea typeface="Arial Black" pitchFamily="34" charset="-122"/>
                <a:cs typeface="Arial Black" pitchFamily="34" charset="-120"/>
              </a:rPr>
              <a:t>U1</a:t>
            </a:r>
            <a:endParaRPr lang="en-US" sz="2200" dirty="0"/>
          </a:p>
        </p:txBody>
      </p:sp>
      <p:sp>
        <p:nvSpPr>
          <p:cNvPr id="10" name="Text 8"/>
          <p:cNvSpPr/>
          <p:nvPr/>
        </p:nvSpPr>
        <p:spPr>
          <a:xfrm>
            <a:off x="3502838" y="2386584"/>
            <a:ext cx="2332406"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GOBIERNO</a:t>
            </a:r>
            <a:endParaRPr lang="en-US" sz="1100" dirty="0"/>
          </a:p>
        </p:txBody>
      </p:sp>
      <p:sp>
        <p:nvSpPr>
          <p:cNvPr id="11" name="Text 9"/>
          <p:cNvSpPr/>
          <p:nvPr/>
        </p:nvSpPr>
        <p:spPr>
          <a:xfrm>
            <a:off x="3502838" y="2752344"/>
            <a:ext cx="2332406"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Cascada, diseño a medida → E1.</a:t>
            </a:r>
            <a:endParaRPr lang="en-US" sz="1000" dirty="0"/>
          </a:p>
        </p:txBody>
      </p:sp>
      <p:sp>
        <p:nvSpPr>
          <p:cNvPr id="12" name="Shape 10"/>
          <p:cNvSpPr/>
          <p:nvPr/>
        </p:nvSpPr>
        <p:spPr>
          <a:xfrm>
            <a:off x="6210148" y="1783080"/>
            <a:ext cx="2625014" cy="1554480"/>
          </a:xfrm>
          <a:prstGeom prst="roundRect">
            <a:avLst>
              <a:gd name="adj" fmla="val 3529"/>
            </a:avLst>
          </a:prstGeom>
          <a:solidFill>
            <a:srgbClr val="151515"/>
          </a:solidFill>
          <a:ln w="12700">
            <a:solidFill>
              <a:srgbClr val="333333"/>
            </a:solidFill>
            <a:prstDash val="solid"/>
          </a:ln>
        </p:spPr>
      </p:sp>
      <p:sp>
        <p:nvSpPr>
          <p:cNvPr id="13" name="Text 11"/>
          <p:cNvSpPr/>
          <p:nvPr/>
        </p:nvSpPr>
        <p:spPr>
          <a:xfrm>
            <a:off x="6356452" y="1892808"/>
            <a:ext cx="914400" cy="502920"/>
          </a:xfrm>
          <a:prstGeom prst="rect">
            <a:avLst/>
          </a:prstGeom>
          <a:noFill/>
          <a:ln/>
        </p:spPr>
        <p:txBody>
          <a:bodyPr wrap="square" lIns="0" tIns="0" rIns="0" bIns="0" rtlCol="0" anchor="t"/>
          <a:lstStyle/>
          <a:p>
            <a:pPr indent="0" marL="0">
              <a:buNone/>
            </a:pPr>
            <a:r>
              <a:rPr lang="en-US" sz="2200" dirty="0">
                <a:solidFill>
                  <a:srgbClr val="FFB000"/>
                </a:solidFill>
                <a:latin typeface="Arial Black" pitchFamily="34" charset="0"/>
                <a:ea typeface="Arial Black" pitchFamily="34" charset="-122"/>
                <a:cs typeface="Arial Black" pitchFamily="34" charset="-120"/>
              </a:rPr>
              <a:t>U2–3</a:t>
            </a:r>
            <a:endParaRPr lang="en-US" sz="2200" dirty="0"/>
          </a:p>
        </p:txBody>
      </p:sp>
      <p:sp>
        <p:nvSpPr>
          <p:cNvPr id="14" name="Text 12"/>
          <p:cNvSpPr/>
          <p:nvPr/>
        </p:nvSpPr>
        <p:spPr>
          <a:xfrm>
            <a:off x="6356452" y="2386584"/>
            <a:ext cx="2332406"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ARQUITECTURA</a:t>
            </a:r>
            <a:endParaRPr lang="en-US" sz="1100" dirty="0"/>
          </a:p>
        </p:txBody>
      </p:sp>
      <p:sp>
        <p:nvSpPr>
          <p:cNvPr id="15" name="Text 13"/>
          <p:cNvSpPr/>
          <p:nvPr/>
        </p:nvSpPr>
        <p:spPr>
          <a:xfrm>
            <a:off x="6356452" y="2752344"/>
            <a:ext cx="2332406"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ISA-95, IIoT, datos → E2.</a:t>
            </a:r>
            <a:endParaRPr lang="en-US" sz="1000" dirty="0"/>
          </a:p>
        </p:txBody>
      </p:sp>
      <p:sp>
        <p:nvSpPr>
          <p:cNvPr id="16" name="Shape 14"/>
          <p:cNvSpPr/>
          <p:nvPr/>
        </p:nvSpPr>
        <p:spPr>
          <a:xfrm>
            <a:off x="9063761" y="1783080"/>
            <a:ext cx="2625014" cy="1554480"/>
          </a:xfrm>
          <a:prstGeom prst="roundRect">
            <a:avLst>
              <a:gd name="adj" fmla="val 3529"/>
            </a:avLst>
          </a:prstGeom>
          <a:solidFill>
            <a:srgbClr val="151515"/>
          </a:solidFill>
          <a:ln w="12700">
            <a:solidFill>
              <a:srgbClr val="333333"/>
            </a:solidFill>
            <a:prstDash val="solid"/>
          </a:ln>
        </p:spPr>
      </p:sp>
      <p:sp>
        <p:nvSpPr>
          <p:cNvPr id="17" name="Text 15"/>
          <p:cNvSpPr/>
          <p:nvPr/>
        </p:nvSpPr>
        <p:spPr>
          <a:xfrm>
            <a:off x="9210065" y="1892808"/>
            <a:ext cx="914400" cy="502920"/>
          </a:xfrm>
          <a:prstGeom prst="rect">
            <a:avLst/>
          </a:prstGeom>
          <a:noFill/>
          <a:ln/>
        </p:spPr>
        <p:txBody>
          <a:bodyPr wrap="square" lIns="0" tIns="0" rIns="0" bIns="0" rtlCol="0" anchor="t"/>
          <a:lstStyle/>
          <a:p>
            <a:pPr indent="0" marL="0">
              <a:buNone/>
            </a:pPr>
            <a:r>
              <a:rPr lang="en-US" sz="2200" dirty="0">
                <a:solidFill>
                  <a:srgbClr val="FF3B30"/>
                </a:solidFill>
                <a:latin typeface="Arial Black" pitchFamily="34" charset="0"/>
                <a:ea typeface="Arial Black" pitchFamily="34" charset="-122"/>
                <a:cs typeface="Arial Black" pitchFamily="34" charset="-120"/>
              </a:rPr>
              <a:t>U4</a:t>
            </a:r>
            <a:endParaRPr lang="en-US" sz="2200" dirty="0"/>
          </a:p>
        </p:txBody>
      </p:sp>
      <p:sp>
        <p:nvSpPr>
          <p:cNvPr id="18" name="Text 16"/>
          <p:cNvSpPr/>
          <p:nvPr/>
        </p:nvSpPr>
        <p:spPr>
          <a:xfrm>
            <a:off x="9210065" y="2386584"/>
            <a:ext cx="2332406"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RIESGO + CASO</a:t>
            </a:r>
            <a:endParaRPr lang="en-US" sz="1100" dirty="0"/>
          </a:p>
        </p:txBody>
      </p:sp>
      <p:sp>
        <p:nvSpPr>
          <p:cNvPr id="19" name="Text 17"/>
          <p:cNvSpPr/>
          <p:nvPr/>
        </p:nvSpPr>
        <p:spPr>
          <a:xfrm>
            <a:off x="9210065" y="2752344"/>
            <a:ext cx="2332406"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Seguridad y negocio → Final.</a:t>
            </a:r>
            <a:endParaRPr lang="en-US" sz="1000" dirty="0"/>
          </a:p>
        </p:txBody>
      </p:sp>
      <p:sp>
        <p:nvSpPr>
          <p:cNvPr id="20" name="Text 18"/>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1" name="Text 19"/>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22" name="Text 20"/>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06 / 47</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05  PROYECTO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000" dirty="0">
                <a:solidFill>
                  <a:srgbClr val="F4F4F4"/>
                </a:solidFill>
                <a:latin typeface="Arial Black" pitchFamily="34" charset="0"/>
                <a:ea typeface="Arial Black" pitchFamily="34" charset="-122"/>
                <a:cs typeface="Arial Black" pitchFamily="34" charset="-120"/>
              </a:rPr>
              <a:t>POR QUÉ TRABAJAMOS SOBRE UNA EMPRESA</a:t>
            </a:r>
            <a:endParaRPr lang="en-US" sz="30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El proyecto no es un ejercicio abstracto: es un caso que se sostiene todo el curso.</a:t>
            </a:r>
            <a:endParaRPr lang="en-US" sz="1250" dirty="0"/>
          </a:p>
        </p:txBody>
      </p:sp>
      <p:sp>
        <p:nvSpPr>
          <p:cNvPr id="5" name="Shape 3"/>
          <p:cNvSpPr/>
          <p:nvPr/>
        </p:nvSpPr>
        <p:spPr>
          <a:xfrm>
            <a:off x="502920"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5099152" cy="411480"/>
          </a:xfrm>
          <a:prstGeom prst="rect">
            <a:avLst/>
          </a:prstGeom>
          <a:noFill/>
          <a:ln/>
        </p:spPr>
        <p:txBody>
          <a:bodyPr wrap="square" lIns="0" tIns="0" rIns="0" bIns="0" rtlCol="0" anchor="t"/>
          <a:lstStyle/>
          <a:p>
            <a:pPr indent="0" marL="0">
              <a:buNone/>
            </a:pPr>
            <a:r>
              <a:rPr lang="en-US" sz="1300" dirty="0">
                <a:solidFill>
                  <a:srgbClr val="C6FF00"/>
                </a:solidFill>
                <a:latin typeface="Arial Black" pitchFamily="34" charset="0"/>
                <a:ea typeface="Arial Black" pitchFamily="34" charset="-122"/>
                <a:cs typeface="Arial Black" pitchFamily="34" charset="-120"/>
              </a:rPr>
              <a:t>APRENDER HACIENDO</a:t>
            </a:r>
            <a:endParaRPr lang="en-US" sz="1300" dirty="0"/>
          </a:p>
        </p:txBody>
      </p:sp>
      <p:sp>
        <p:nvSpPr>
          <p:cNvPr id="7" name="Text 5"/>
          <p:cNvSpPr/>
          <p:nvPr/>
        </p:nvSpPr>
        <p:spPr>
          <a:xfrm>
            <a:off x="685800"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Los marcos (COBIT, ISA-95, IEC 62443) se entienden aplicándolos a algo concreto, no memorizándolos.</a:t>
            </a:r>
            <a:endParaRPr lang="en-US" sz="1100" dirty="0"/>
          </a:p>
        </p:txBody>
      </p:sp>
      <p:sp>
        <p:nvSpPr>
          <p:cNvPr id="8" name="Shape 6"/>
          <p:cNvSpPr/>
          <p:nvPr/>
        </p:nvSpPr>
        <p:spPr>
          <a:xfrm>
            <a:off x="6223864"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6406744" y="2066544"/>
            <a:ext cx="5099152" cy="411480"/>
          </a:xfrm>
          <a:prstGeom prst="rect">
            <a:avLst/>
          </a:prstGeom>
          <a:noFill/>
          <a:ln/>
        </p:spPr>
        <p:txBody>
          <a:bodyPr wrap="square" lIns="0" tIns="0" rIns="0" bIns="0" rtlCol="0" anchor="t"/>
          <a:lstStyle/>
          <a:p>
            <a:pPr indent="0" marL="0">
              <a:buNone/>
            </a:pPr>
            <a:r>
              <a:rPr lang="en-US" sz="1600" dirty="0">
                <a:solidFill>
                  <a:srgbClr val="27E5E5"/>
                </a:solidFill>
                <a:latin typeface="Arial Black" pitchFamily="34" charset="0"/>
                <a:ea typeface="Arial Black" pitchFamily="34" charset="-122"/>
                <a:cs typeface="Arial Black" pitchFamily="34" charset="-120"/>
              </a:rPr>
              <a:t>COHERENCIA</a:t>
            </a:r>
            <a:endParaRPr lang="en-US" sz="1600" dirty="0"/>
          </a:p>
        </p:txBody>
      </p:sp>
      <p:sp>
        <p:nvSpPr>
          <p:cNvPr id="10" name="Text 8"/>
          <p:cNvSpPr/>
          <p:nvPr/>
        </p:nvSpPr>
        <p:spPr>
          <a:xfrm>
            <a:off x="6406744"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Una sola empresa obliga a que gobierno, arquitectura y seguridad encajen entre sí.</a:t>
            </a:r>
            <a:endParaRPr lang="en-US" sz="1100" dirty="0"/>
          </a:p>
        </p:txBody>
      </p:sp>
      <p:sp>
        <p:nvSpPr>
          <p:cNvPr id="11" name="Shape 9"/>
          <p:cNvSpPr/>
          <p:nvPr/>
        </p:nvSpPr>
        <p:spPr>
          <a:xfrm>
            <a:off x="502920"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685800" y="3895344"/>
            <a:ext cx="5099152" cy="411480"/>
          </a:xfrm>
          <a:prstGeom prst="rect">
            <a:avLst/>
          </a:prstGeom>
          <a:noFill/>
          <a:ln/>
        </p:spPr>
        <p:txBody>
          <a:bodyPr wrap="square" lIns="0" tIns="0" rIns="0" bIns="0" rtlCol="0" anchor="t"/>
          <a:lstStyle/>
          <a:p>
            <a:pPr indent="0" marL="0">
              <a:buNone/>
            </a:pPr>
            <a:r>
              <a:rPr lang="en-US" sz="1600" dirty="0">
                <a:solidFill>
                  <a:srgbClr val="FFB000"/>
                </a:solidFill>
                <a:latin typeface="Arial Black" pitchFamily="34" charset="0"/>
                <a:ea typeface="Arial Black" pitchFamily="34" charset="-122"/>
                <a:cs typeface="Arial Black" pitchFamily="34" charset="-120"/>
              </a:rPr>
              <a:t>PROGRESIÓN</a:t>
            </a:r>
            <a:endParaRPr lang="en-US" sz="1600" dirty="0"/>
          </a:p>
        </p:txBody>
      </p:sp>
      <p:sp>
        <p:nvSpPr>
          <p:cNvPr id="13" name="Text 11"/>
          <p:cNvSpPr/>
          <p:nvPr/>
        </p:nvSpPr>
        <p:spPr>
          <a:xfrm>
            <a:off x="685800"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Cada entrega reutiliza la anterior: no se empieza de cero cada corte.</a:t>
            </a:r>
            <a:endParaRPr lang="en-US" sz="1100" dirty="0"/>
          </a:p>
        </p:txBody>
      </p:sp>
      <p:sp>
        <p:nvSpPr>
          <p:cNvPr id="14" name="Shape 12"/>
          <p:cNvSpPr/>
          <p:nvPr/>
        </p:nvSpPr>
        <p:spPr>
          <a:xfrm>
            <a:off x="6223864"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6406744" y="3895344"/>
            <a:ext cx="5099152" cy="411480"/>
          </a:xfrm>
          <a:prstGeom prst="rect">
            <a:avLst/>
          </a:prstGeom>
          <a:noFill/>
          <a:ln/>
        </p:spPr>
        <p:txBody>
          <a:bodyPr wrap="square" lIns="0" tIns="0" rIns="0" bIns="0" rtlCol="0" anchor="t"/>
          <a:lstStyle/>
          <a:p>
            <a:pPr indent="0" marL="0">
              <a:buNone/>
            </a:pPr>
            <a:r>
              <a:rPr lang="en-US" sz="1600" dirty="0">
                <a:solidFill>
                  <a:srgbClr val="22E06B"/>
                </a:solidFill>
                <a:latin typeface="Arial Black" pitchFamily="34" charset="0"/>
                <a:ea typeface="Arial Black" pitchFamily="34" charset="-122"/>
                <a:cs typeface="Arial Black" pitchFamily="34" charset="-120"/>
              </a:rPr>
              <a:t>SUSTENTACIÓN</a:t>
            </a:r>
            <a:endParaRPr lang="en-US" sz="1600" dirty="0"/>
          </a:p>
        </p:txBody>
      </p:sp>
      <p:sp>
        <p:nvSpPr>
          <p:cNvPr id="16" name="Text 14"/>
          <p:cNvSpPr/>
          <p:nvPr/>
        </p:nvSpPr>
        <p:spPr>
          <a:xfrm>
            <a:off x="6406744"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Al final defienden una propuesta completa y creíble ante 'la junta directiva'.</a:t>
            </a:r>
            <a:endParaRPr lang="en-US" sz="1100" dirty="0"/>
          </a:p>
        </p:txBody>
      </p:sp>
      <p:sp>
        <p:nvSpPr>
          <p:cNvPr id="17" name="Text 1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8" name="Text 1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19" name="Text 1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07 / 47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06  PROYECTO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LA REGLA DE ORO</a:t>
            </a:r>
            <a:endParaRPr lang="en-US" sz="3300" dirty="0"/>
          </a:p>
        </p:txBody>
      </p:sp>
      <p:sp>
        <p:nvSpPr>
          <p:cNvPr id="4" name="Shape 2"/>
          <p:cNvSpPr/>
          <p:nvPr/>
        </p:nvSpPr>
        <p:spPr>
          <a:xfrm>
            <a:off x="502920" y="1783080"/>
            <a:ext cx="11185855" cy="1280160"/>
          </a:xfrm>
          <a:prstGeom prst="roundRect">
            <a:avLst>
              <a:gd name="adj" fmla="val 4286"/>
            </a:avLst>
          </a:prstGeom>
          <a:solidFill>
            <a:srgbClr val="1E1E1E"/>
          </a:solidFill>
          <a:ln w="12700">
            <a:solidFill>
              <a:srgbClr val="333333"/>
            </a:solidFill>
            <a:prstDash val="solid"/>
          </a:ln>
        </p:spPr>
      </p:sp>
      <p:sp>
        <p:nvSpPr>
          <p:cNvPr id="5" name="Text 3"/>
          <p:cNvSpPr/>
          <p:nvPr/>
        </p:nvSpPr>
        <p:spPr>
          <a:xfrm>
            <a:off x="731520" y="1965960"/>
            <a:ext cx="2743200" cy="365760"/>
          </a:xfrm>
          <a:prstGeom prst="rect">
            <a:avLst/>
          </a:prstGeom>
          <a:noFill/>
          <a:ln/>
        </p:spPr>
        <p:txBody>
          <a:bodyPr wrap="square" lIns="0" tIns="0" rIns="0" bIns="0" rtlCol="0" anchor="t"/>
          <a:lstStyle/>
          <a:p>
            <a:pPr indent="0" marL="0">
              <a:buNone/>
            </a:pPr>
            <a:r>
              <a:rPr lang="en-US" sz="1200" b="1" dirty="0">
                <a:solidFill>
                  <a:srgbClr val="C6FF00"/>
                </a:solidFill>
                <a:latin typeface="Courier New" pitchFamily="34" charset="0"/>
                <a:ea typeface="Courier New" pitchFamily="34" charset="-122"/>
                <a:cs typeface="Courier New" pitchFamily="34" charset="-120"/>
              </a:rPr>
              <a:t>PRINCIPIO</a:t>
            </a:r>
            <a:endParaRPr lang="en-US" sz="1200" dirty="0"/>
          </a:p>
        </p:txBody>
      </p:sp>
      <p:sp>
        <p:nvSpPr>
          <p:cNvPr id="6" name="Text 4"/>
          <p:cNvSpPr/>
          <p:nvPr/>
        </p:nvSpPr>
        <p:spPr>
          <a:xfrm>
            <a:off x="731520" y="2286000"/>
            <a:ext cx="10728655" cy="731520"/>
          </a:xfrm>
          <a:prstGeom prst="rect">
            <a:avLst/>
          </a:prstGeom>
          <a:noFill/>
          <a:ln/>
        </p:spPr>
        <p:txBody>
          <a:bodyPr wrap="square" lIns="0" tIns="0" rIns="0" bIns="0" rtlCol="0" anchor="t"/>
          <a:lstStyle/>
          <a:p>
            <a:pPr indent="0" marL="0">
              <a:buNone/>
            </a:pPr>
            <a:r>
              <a:rPr lang="en-US" sz="2600" dirty="0">
                <a:solidFill>
                  <a:srgbClr val="F4F4F4"/>
                </a:solidFill>
                <a:latin typeface="Arial Black" pitchFamily="34" charset="0"/>
                <a:ea typeface="Arial Black" pitchFamily="34" charset="-122"/>
                <a:cs typeface="Arial Black" pitchFamily="34" charset="-120"/>
              </a:rPr>
              <a:t>UNA EMPRESA, UN PROCESO, TODO EL SEMESTRE</a:t>
            </a:r>
            <a:endParaRPr lang="en-US" sz="2600" dirty="0"/>
          </a:p>
        </p:txBody>
      </p:sp>
      <p:sp>
        <p:nvSpPr>
          <p:cNvPr id="7" name="Text 5"/>
          <p:cNvSpPr/>
          <p:nvPr/>
        </p:nvSpPr>
        <p:spPr>
          <a:xfrm>
            <a:off x="502920" y="329184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QUÉ SE HACE</a:t>
            </a:r>
            <a:endParaRPr lang="en-US" sz="1100" dirty="0"/>
          </a:p>
        </p:txBody>
      </p:sp>
      <p:sp>
        <p:nvSpPr>
          <p:cNvPr id="8" name="Text 6"/>
          <p:cNvSpPr/>
          <p:nvPr/>
        </p:nvSpPr>
        <p:spPr>
          <a:xfrm>
            <a:off x="502920" y="3657600"/>
            <a:ext cx="11185855" cy="1280160"/>
          </a:xfrm>
          <a:prstGeom prst="rect">
            <a:avLst/>
          </a:prstGeom>
          <a:noFill/>
          <a:ln/>
        </p:spPr>
        <p:txBody>
          <a:bodyPr wrap="square" lIns="0" tIns="0" rIns="0" bIns="0" rtlCol="0" anchor="t"/>
          <a:lstStyle/>
          <a:p>
            <a:pPr indent="0" marL="0">
              <a:lnSpc>
                <a:spcPct val="112000"/>
              </a:lnSpc>
              <a:buNone/>
            </a:pPr>
            <a:r>
              <a:rPr lang="en-US" sz="1300" dirty="0">
                <a:solidFill>
                  <a:srgbClr val="F4F4F4"/>
                </a:solidFill>
                <a:latin typeface="Arial" pitchFamily="34" charset="0"/>
                <a:ea typeface="Arial" pitchFamily="34" charset="-122"/>
                <a:cs typeface="Arial" pitchFamily="34" charset="-120"/>
              </a:rPr>
              <a:t>No van a gobernar 'toda una multinacional'. Van a elegir una empresa manufacturera y a enfocarse en UN proceso o línea de producción. Esa línea será su sistema ciber-físico de estudio. Todo lo que hagan —gobernar, arquitecturar, integrar, proteger, justificar— gira alrededor de ese foco acotado.</a:t>
            </a:r>
            <a:endParaRPr lang="en-US" sz="1300" dirty="0"/>
          </a:p>
        </p:txBody>
      </p:sp>
      <p:sp>
        <p:nvSpPr>
          <p:cNvPr id="9" name="Shape 7"/>
          <p:cNvSpPr/>
          <p:nvPr/>
        </p:nvSpPr>
        <p:spPr>
          <a:xfrm>
            <a:off x="502920" y="5358384"/>
            <a:ext cx="5364328" cy="914400"/>
          </a:xfrm>
          <a:prstGeom prst="roundRect">
            <a:avLst>
              <a:gd name="adj" fmla="val 5000"/>
            </a:avLst>
          </a:prstGeom>
          <a:solidFill>
            <a:srgbClr val="151515"/>
          </a:solidFill>
          <a:ln w="12700">
            <a:solidFill>
              <a:srgbClr val="333333"/>
            </a:solidFill>
            <a:prstDash val="solid"/>
          </a:ln>
        </p:spPr>
      </p:sp>
      <p:sp>
        <p:nvSpPr>
          <p:cNvPr id="10" name="Text 8"/>
          <p:cNvSpPr/>
          <p:nvPr/>
        </p:nvSpPr>
        <p:spPr>
          <a:xfrm>
            <a:off x="685800" y="5486400"/>
            <a:ext cx="4998568" cy="320040"/>
          </a:xfrm>
          <a:prstGeom prst="rect">
            <a:avLst/>
          </a:prstGeom>
          <a:noFill/>
          <a:ln/>
        </p:spPr>
        <p:txBody>
          <a:bodyPr wrap="square" lIns="0" tIns="0" rIns="0" bIns="0" rtlCol="0" anchor="ctr"/>
          <a:lstStyle/>
          <a:p>
            <a:pPr indent="0" marL="0">
              <a:buNone/>
            </a:pPr>
            <a:r>
              <a:rPr lang="en-US" sz="950" b="1" dirty="0">
                <a:solidFill>
                  <a:srgbClr val="27E5E5"/>
                </a:solidFill>
                <a:latin typeface="Courier New" pitchFamily="34" charset="0"/>
                <a:ea typeface="Courier New" pitchFamily="34" charset="-122"/>
                <a:cs typeface="Courier New" pitchFamily="34" charset="-120"/>
              </a:rPr>
              <a:t>SÍ</a:t>
            </a:r>
            <a:endParaRPr lang="en-US" sz="950" dirty="0"/>
          </a:p>
        </p:txBody>
      </p:sp>
      <p:sp>
        <p:nvSpPr>
          <p:cNvPr id="11" name="Text 9"/>
          <p:cNvSpPr/>
          <p:nvPr/>
        </p:nvSpPr>
        <p:spPr>
          <a:xfrm>
            <a:off x="685800"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Una línea / un proceso, con detalle y profundidad</a:t>
            </a:r>
            <a:endParaRPr lang="en-US" sz="1200" dirty="0"/>
          </a:p>
        </p:txBody>
      </p:sp>
      <p:sp>
        <p:nvSpPr>
          <p:cNvPr id="12" name="Shape 10"/>
          <p:cNvSpPr/>
          <p:nvPr/>
        </p:nvSpPr>
        <p:spPr>
          <a:xfrm>
            <a:off x="6324448" y="5358384"/>
            <a:ext cx="5364328" cy="914400"/>
          </a:xfrm>
          <a:prstGeom prst="roundRect">
            <a:avLst>
              <a:gd name="adj" fmla="val 5000"/>
            </a:avLst>
          </a:prstGeom>
          <a:solidFill>
            <a:srgbClr val="151515"/>
          </a:solidFill>
          <a:ln w="12700">
            <a:solidFill>
              <a:srgbClr val="333333"/>
            </a:solidFill>
            <a:prstDash val="solid"/>
          </a:ln>
        </p:spPr>
      </p:sp>
      <p:sp>
        <p:nvSpPr>
          <p:cNvPr id="13" name="Text 11"/>
          <p:cNvSpPr/>
          <p:nvPr/>
        </p:nvSpPr>
        <p:spPr>
          <a:xfrm>
            <a:off x="6507328" y="5486400"/>
            <a:ext cx="4998568" cy="320040"/>
          </a:xfrm>
          <a:prstGeom prst="rect">
            <a:avLst/>
          </a:prstGeom>
          <a:noFill/>
          <a:ln/>
        </p:spPr>
        <p:txBody>
          <a:bodyPr wrap="square" lIns="0" tIns="0" rIns="0" bIns="0" rtlCol="0" anchor="ctr"/>
          <a:lstStyle/>
          <a:p>
            <a:pPr indent="0" marL="0">
              <a:buNone/>
            </a:pPr>
            <a:r>
              <a:rPr lang="en-US" sz="950" b="1" dirty="0">
                <a:solidFill>
                  <a:srgbClr val="FFB000"/>
                </a:solidFill>
                <a:latin typeface="Courier New" pitchFamily="34" charset="0"/>
                <a:ea typeface="Courier New" pitchFamily="34" charset="-122"/>
                <a:cs typeface="Courier New" pitchFamily="34" charset="-120"/>
              </a:rPr>
              <a:t>NO</a:t>
            </a:r>
            <a:endParaRPr lang="en-US" sz="950" dirty="0"/>
          </a:p>
        </p:txBody>
      </p:sp>
      <p:sp>
        <p:nvSpPr>
          <p:cNvPr id="14" name="Text 12"/>
          <p:cNvSpPr/>
          <p:nvPr/>
        </p:nvSpPr>
        <p:spPr>
          <a:xfrm>
            <a:off x="6507328"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Toda la empresa, en superficie y sin foco</a:t>
            </a:r>
            <a:endParaRPr lang="en-US" sz="12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08 / 47</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07  PROYECTO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QUÉ NO ES ESTE EJERCICIO</a:t>
            </a:r>
            <a:endParaRPr lang="en-US" sz="3300" dirty="0"/>
          </a:p>
        </p:txBody>
      </p:sp>
      <p:sp>
        <p:nvSpPr>
          <p:cNvPr id="4" name="Shape 2"/>
          <p:cNvSpPr/>
          <p:nvPr/>
        </p:nvSpPr>
        <p:spPr>
          <a:xfrm>
            <a:off x="502920" y="1783080"/>
            <a:ext cx="11185855" cy="841248"/>
          </a:xfrm>
          <a:prstGeom prst="roundRect">
            <a:avLst>
              <a:gd name="adj" fmla="val 5435"/>
            </a:avLst>
          </a:prstGeom>
          <a:solidFill>
            <a:srgbClr val="151515"/>
          </a:solidFill>
          <a:ln w="12700">
            <a:solidFill>
              <a:srgbClr val="333333"/>
            </a:solidFill>
            <a:prstDash val="solid"/>
          </a:ln>
        </p:spPr>
      </p:sp>
      <p:sp>
        <p:nvSpPr>
          <p:cNvPr id="5" name="Text 3"/>
          <p:cNvSpPr/>
          <p:nvPr/>
        </p:nvSpPr>
        <p:spPr>
          <a:xfrm>
            <a:off x="731520" y="1783080"/>
            <a:ext cx="3474720" cy="84124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NO ES MARKETING</a:t>
            </a:r>
            <a:endParaRPr lang="en-US" sz="1200" dirty="0"/>
          </a:p>
        </p:txBody>
      </p:sp>
      <p:sp>
        <p:nvSpPr>
          <p:cNvPr id="6" name="Text 4"/>
          <p:cNvSpPr/>
          <p:nvPr/>
        </p:nvSpPr>
        <p:spPr>
          <a:xfrm>
            <a:off x="4251960" y="1783080"/>
            <a:ext cx="7208215" cy="84124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No buscamos una empresa 'impresionante', sino una con un dolor real y datos verosímiles.</a:t>
            </a:r>
            <a:endParaRPr lang="en-US" sz="1250" dirty="0"/>
          </a:p>
        </p:txBody>
      </p:sp>
      <p:sp>
        <p:nvSpPr>
          <p:cNvPr id="7" name="Shape 5"/>
          <p:cNvSpPr/>
          <p:nvPr/>
        </p:nvSpPr>
        <p:spPr>
          <a:xfrm>
            <a:off x="502920" y="2770632"/>
            <a:ext cx="11185855" cy="841248"/>
          </a:xfrm>
          <a:prstGeom prst="roundRect">
            <a:avLst>
              <a:gd name="adj" fmla="val 5435"/>
            </a:avLst>
          </a:prstGeom>
          <a:solidFill>
            <a:srgbClr val="151515"/>
          </a:solidFill>
          <a:ln w="12700">
            <a:solidFill>
              <a:srgbClr val="333333"/>
            </a:solidFill>
            <a:prstDash val="solid"/>
          </a:ln>
        </p:spPr>
      </p:sp>
      <p:sp>
        <p:nvSpPr>
          <p:cNvPr id="8" name="Text 6"/>
          <p:cNvSpPr/>
          <p:nvPr/>
        </p:nvSpPr>
        <p:spPr>
          <a:xfrm>
            <a:off x="731520" y="2770632"/>
            <a:ext cx="3474720" cy="84124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NO ES FICCIÓN LIBRE</a:t>
            </a:r>
            <a:endParaRPr lang="en-US" sz="1200" dirty="0"/>
          </a:p>
        </p:txBody>
      </p:sp>
      <p:sp>
        <p:nvSpPr>
          <p:cNvPr id="9" name="Text 7"/>
          <p:cNvSpPr/>
          <p:nvPr/>
        </p:nvSpPr>
        <p:spPr>
          <a:xfrm>
            <a:off x="4251960" y="2770632"/>
            <a:ext cx="7208215" cy="84124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Puede ser ficticia, pero todo debe ser técnicamente creíble y coherente.</a:t>
            </a:r>
            <a:endParaRPr lang="en-US" sz="1250" dirty="0"/>
          </a:p>
        </p:txBody>
      </p:sp>
      <p:sp>
        <p:nvSpPr>
          <p:cNvPr id="10" name="Shape 8"/>
          <p:cNvSpPr/>
          <p:nvPr/>
        </p:nvSpPr>
        <p:spPr>
          <a:xfrm>
            <a:off x="502920" y="3758184"/>
            <a:ext cx="11185855" cy="841248"/>
          </a:xfrm>
          <a:prstGeom prst="roundRect">
            <a:avLst>
              <a:gd name="adj" fmla="val 5435"/>
            </a:avLst>
          </a:prstGeom>
          <a:solidFill>
            <a:srgbClr val="151515"/>
          </a:solidFill>
          <a:ln w="12700">
            <a:solidFill>
              <a:srgbClr val="333333"/>
            </a:solidFill>
            <a:prstDash val="solid"/>
          </a:ln>
        </p:spPr>
      </p:sp>
      <p:sp>
        <p:nvSpPr>
          <p:cNvPr id="11" name="Text 9"/>
          <p:cNvSpPr/>
          <p:nvPr/>
        </p:nvSpPr>
        <p:spPr>
          <a:xfrm>
            <a:off x="731520" y="3758184"/>
            <a:ext cx="3474720" cy="84124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NO ES TODA LA EMPRESA</a:t>
            </a:r>
            <a:endParaRPr lang="en-US" sz="1200" dirty="0"/>
          </a:p>
        </p:txBody>
      </p:sp>
      <p:sp>
        <p:nvSpPr>
          <p:cNvPr id="12" name="Text 10"/>
          <p:cNvSpPr/>
          <p:nvPr/>
        </p:nvSpPr>
        <p:spPr>
          <a:xfrm>
            <a:off x="4251960" y="3758184"/>
            <a:ext cx="7208215" cy="84124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Es UN proceso o línea; el resto es solo contexto.</a:t>
            </a:r>
            <a:endParaRPr lang="en-US" sz="1250" dirty="0"/>
          </a:p>
        </p:txBody>
      </p:sp>
      <p:sp>
        <p:nvSpPr>
          <p:cNvPr id="13" name="Shape 11"/>
          <p:cNvSpPr/>
          <p:nvPr/>
        </p:nvSpPr>
        <p:spPr>
          <a:xfrm>
            <a:off x="502920" y="4745736"/>
            <a:ext cx="11185855" cy="841248"/>
          </a:xfrm>
          <a:prstGeom prst="roundRect">
            <a:avLst>
              <a:gd name="adj" fmla="val 5435"/>
            </a:avLst>
          </a:prstGeom>
          <a:solidFill>
            <a:srgbClr val="151515"/>
          </a:solidFill>
          <a:ln w="12700">
            <a:solidFill>
              <a:srgbClr val="333333"/>
            </a:solidFill>
            <a:prstDash val="solid"/>
          </a:ln>
        </p:spPr>
      </p:sp>
      <p:sp>
        <p:nvSpPr>
          <p:cNvPr id="14" name="Text 12"/>
          <p:cNvSpPr/>
          <p:nvPr/>
        </p:nvSpPr>
        <p:spPr>
          <a:xfrm>
            <a:off x="731520" y="4745736"/>
            <a:ext cx="3474720" cy="84124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NO ES DEFINITIVO HOY</a:t>
            </a:r>
            <a:endParaRPr lang="en-US" sz="1200" dirty="0"/>
          </a:p>
        </p:txBody>
      </p:sp>
      <p:sp>
        <p:nvSpPr>
          <p:cNvPr id="15" name="Text 13"/>
          <p:cNvSpPr/>
          <p:nvPr/>
        </p:nvSpPr>
        <p:spPr>
          <a:xfrm>
            <a:off x="4251960" y="4745736"/>
            <a:ext cx="7208215" cy="84124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Se puede ajustar, pero cuanto mejor quede hoy, menos retrabajo después.</a:t>
            </a:r>
            <a:endParaRPr lang="en-US" sz="1250" dirty="0"/>
          </a:p>
        </p:txBody>
      </p:sp>
      <p:sp>
        <p:nvSpPr>
          <p:cNvPr id="16" name="Text 14"/>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7" name="Text 15"/>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18" name="Text 16"/>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09 / 47</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01010"/>
        </a:solidFill>
      </p:bgPr>
    </p:bg>
    <p:spTree>
      <p:nvGrpSpPr>
        <p:cNvPr id="1" name=""/>
        <p:cNvGrpSpPr/>
        <p:nvPr/>
      </p:nvGrpSpPr>
      <p:grpSpPr>
        <a:xfrm>
          <a:off x="0" y="0"/>
          <a:ext cx="0" cy="0"/>
          <a:chOff x="0" y="0"/>
          <a:chExt cx="0" cy="0"/>
        </a:xfrm>
      </p:grpSpPr>
      <p:sp>
        <p:nvSpPr>
          <p:cNvPr id="2" name="Text 0"/>
          <p:cNvSpPr/>
          <p:nvPr/>
        </p:nvSpPr>
        <p:spPr>
          <a:xfrm>
            <a:off x="5029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C6FF00"/>
                </a:solidFill>
                <a:latin typeface="Courier New" pitchFamily="34" charset="0"/>
                <a:ea typeface="Courier New" pitchFamily="34" charset="-122"/>
                <a:cs typeface="Courier New" pitchFamily="34" charset="-120"/>
              </a:rPr>
              <a:t>SECCIÓN</a:t>
            </a:r>
            <a:endParaRPr lang="en-US" sz="1400" dirty="0"/>
          </a:p>
        </p:txBody>
      </p:sp>
      <p:sp>
        <p:nvSpPr>
          <p:cNvPr id="3" name="Text 1"/>
          <p:cNvSpPr/>
          <p:nvPr/>
        </p:nvSpPr>
        <p:spPr>
          <a:xfrm>
            <a:off x="7848295" y="1097280"/>
            <a:ext cx="3840480" cy="3840480"/>
          </a:xfrm>
          <a:prstGeom prst="rect">
            <a:avLst/>
          </a:prstGeom>
          <a:noFill/>
          <a:ln/>
        </p:spPr>
        <p:txBody>
          <a:bodyPr wrap="square" lIns="0" tIns="0" rIns="0" bIns="0" rtlCol="0" anchor="ctr"/>
          <a:lstStyle/>
          <a:p>
            <a:pPr algn="r" indent="0" marL="0">
              <a:buNone/>
            </a:pPr>
            <a:r>
              <a:rPr lang="en-US" sz="20000" dirty="0">
                <a:solidFill>
                  <a:srgbClr val="151515"/>
                </a:solidFill>
                <a:latin typeface="Arial Black" pitchFamily="34" charset="0"/>
                <a:ea typeface="Arial Black" pitchFamily="34" charset="-122"/>
                <a:cs typeface="Arial Black" pitchFamily="34" charset="-120"/>
              </a:rPr>
              <a:t>02</a:t>
            </a:r>
            <a:endParaRPr lang="en-US" sz="20000" dirty="0"/>
          </a:p>
        </p:txBody>
      </p:sp>
      <p:sp>
        <p:nvSpPr>
          <p:cNvPr id="4" name="Text 2"/>
          <p:cNvSpPr/>
          <p:nvPr/>
        </p:nvSpPr>
        <p:spPr>
          <a:xfrm>
            <a:off x="502920" y="2423160"/>
            <a:ext cx="10271455" cy="1737360"/>
          </a:xfrm>
          <a:prstGeom prst="rect">
            <a:avLst/>
          </a:prstGeom>
          <a:noFill/>
          <a:ln/>
        </p:spPr>
        <p:txBody>
          <a:bodyPr wrap="square" lIns="0" tIns="0" rIns="0" bIns="0" rtlCol="0" anchor="t"/>
          <a:lstStyle/>
          <a:p>
            <a:pPr indent="0" marL="0">
              <a:lnSpc>
                <a:spcPct val="96000"/>
              </a:lnSpc>
              <a:buNone/>
            </a:pPr>
            <a:r>
              <a:rPr lang="en-US" sz="4000" dirty="0">
                <a:solidFill>
                  <a:srgbClr val="F4F4F4"/>
                </a:solidFill>
                <a:latin typeface="Arial Black" pitchFamily="34" charset="0"/>
                <a:ea typeface="Arial Black" pitchFamily="34" charset="-122"/>
                <a:cs typeface="Arial Black" pitchFamily="34" charset="-120"/>
              </a:rPr>
              <a:t>EL ARTE DE ACOTAR EL ALCANCE</a:t>
            </a:r>
            <a:endParaRPr lang="en-US" sz="4000" dirty="0"/>
          </a:p>
        </p:txBody>
      </p:sp>
      <p:sp>
        <p:nvSpPr>
          <p:cNvPr id="5" name="Text 3"/>
          <p:cNvSpPr/>
          <p:nvPr/>
        </p:nvSpPr>
        <p:spPr>
          <a:xfrm>
            <a:off x="502920" y="4343400"/>
            <a:ext cx="11185855" cy="548640"/>
          </a:xfrm>
          <a:prstGeom prst="rect">
            <a:avLst/>
          </a:prstGeom>
          <a:noFill/>
          <a:ln/>
        </p:spPr>
        <p:txBody>
          <a:bodyPr wrap="square" lIns="0" tIns="0" rIns="0" bIns="0" rtlCol="0" anchor="t"/>
          <a:lstStyle/>
          <a:p>
            <a:pPr indent="0" marL="0">
              <a:buNone/>
            </a:pPr>
            <a:r>
              <a:rPr lang="en-US" sz="1300" b="1" dirty="0">
                <a:solidFill>
                  <a:srgbClr val="C6FF00"/>
                </a:solidFill>
                <a:latin typeface="Courier New" pitchFamily="34" charset="0"/>
                <a:ea typeface="Courier New" pitchFamily="34" charset="-122"/>
                <a:cs typeface="Courier New" pitchFamily="34" charset="-120"/>
              </a:rPr>
              <a:t>&gt; </a:t>
            </a:r>
            <a:pPr indent="0" marL="0">
              <a:buNone/>
            </a:pPr>
            <a:r>
              <a:rPr lang="en-US" sz="1300" dirty="0">
                <a:solidFill>
                  <a:srgbClr val="8C8C8C"/>
                </a:solidFill>
                <a:latin typeface="Courier New" pitchFamily="34" charset="0"/>
                <a:ea typeface="Courier New" pitchFamily="34" charset="-122"/>
                <a:cs typeface="Courier New" pitchFamily="34" charset="-120"/>
              </a:rPr>
              <a:t>Decir qué SÍ y, sobre todo, qué NO</a:t>
            </a:r>
            <a:endParaRPr lang="en-US" sz="1300" dirty="0"/>
          </a:p>
        </p:txBody>
      </p:sp>
      <p:sp>
        <p:nvSpPr>
          <p:cNvPr id="6" name="Text 4"/>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7" name="Text 5"/>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8" name="Text 6"/>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10 / 47</a:t>
            </a:r>
            <a:endParaRPr lang="en-US" sz="800" dirty="0"/>
          </a:p>
        </p:txBody>
      </p:sp>
      <p:sp>
        <p:nvSpPr>
          <p:cNvPr id="9" name="Text 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0" name="Text 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11" name="Text 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10 / 47</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01010"/>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08  ALCANCE</a:t>
            </a:r>
            <a:endParaRPr lang="en-US" sz="1100" dirty="0"/>
          </a:p>
        </p:txBody>
      </p:sp>
      <p:sp>
        <p:nvSpPr>
          <p:cNvPr id="3" name="Text 1"/>
          <p:cNvSpPr/>
          <p:nvPr/>
        </p:nvSpPr>
        <p:spPr>
          <a:xfrm>
            <a:off x="1005840" y="1920240"/>
            <a:ext cx="10180015" cy="2743200"/>
          </a:xfrm>
          <a:prstGeom prst="rect">
            <a:avLst/>
          </a:prstGeom>
          <a:noFill/>
          <a:ln/>
        </p:spPr>
        <p:txBody>
          <a:bodyPr wrap="square" lIns="0" tIns="0" rIns="0" bIns="0" rtlCol="0" anchor="ctr"/>
          <a:lstStyle/>
          <a:p>
            <a:pPr algn="l" indent="0" marL="0">
              <a:lnSpc>
                <a:spcPct val="105000"/>
              </a:lnSpc>
              <a:buNone/>
            </a:pPr>
            <a:r>
              <a:rPr lang="en-US" sz="2800" dirty="0">
                <a:solidFill>
                  <a:srgbClr val="C6FF00"/>
                </a:solidFill>
                <a:latin typeface="Arial Black" pitchFamily="34" charset="0"/>
                <a:ea typeface="Arial Black" pitchFamily="34" charset="-122"/>
                <a:cs typeface="Arial Black" pitchFamily="34" charset="-120"/>
              </a:rPr>
              <a:t>“</a:t>
            </a:r>
            <a:pPr algn="l" indent="0" marL="0">
              <a:lnSpc>
                <a:spcPct val="105000"/>
              </a:lnSpc>
              <a:buNone/>
            </a:pPr>
            <a:r>
              <a:rPr lang="en-US" sz="2800" dirty="0">
                <a:solidFill>
                  <a:srgbClr val="F4F4F4"/>
                </a:solidFill>
                <a:latin typeface="Arial Black" pitchFamily="34" charset="0"/>
                <a:ea typeface="Arial Black" pitchFamily="34" charset="-122"/>
                <a:cs typeface="Arial Black" pitchFamily="34" charset="-120"/>
              </a:rPr>
              <a:t>Un alcance que no cabe en una sola frase todavía no es un alcance: es un deseo.</a:t>
            </a:r>
            <a:pPr algn="l" indent="0" marL="0">
              <a:lnSpc>
                <a:spcPct val="105000"/>
              </a:lnSpc>
              <a:buNone/>
            </a:pPr>
            <a:r>
              <a:rPr lang="en-US" sz="2800" dirty="0">
                <a:solidFill>
                  <a:srgbClr val="C6FF00"/>
                </a:solidFill>
                <a:latin typeface="Arial Black" pitchFamily="34" charset="0"/>
                <a:ea typeface="Arial Black" pitchFamily="34" charset="-122"/>
                <a:cs typeface="Arial Black" pitchFamily="34" charset="-120"/>
              </a:rPr>
              <a:t>”</a:t>
            </a:r>
            <a:endParaRPr lang="en-US" sz="2800" dirty="0"/>
          </a:p>
        </p:txBody>
      </p:sp>
      <p:sp>
        <p:nvSpPr>
          <p:cNvPr id="4" name="Text 2"/>
          <p:cNvSpPr/>
          <p:nvPr/>
        </p:nvSpPr>
        <p:spPr>
          <a:xfrm>
            <a:off x="1005840" y="4846320"/>
            <a:ext cx="10180015" cy="457200"/>
          </a:xfrm>
          <a:prstGeom prst="rect">
            <a:avLst/>
          </a:prstGeom>
          <a:noFill/>
          <a:ln/>
        </p:spPr>
        <p:txBody>
          <a:bodyPr wrap="square" lIns="0" tIns="0" rIns="0" bIns="0" rtlCol="0" anchor="ctr"/>
          <a:lstStyle/>
          <a:p>
            <a:pPr indent="0" marL="0">
              <a:buNone/>
            </a:pPr>
            <a:r>
              <a:rPr lang="en-US" sz="1200" dirty="0">
                <a:solidFill>
                  <a:srgbClr val="8C8C8C"/>
                </a:solidFill>
                <a:latin typeface="Courier New" pitchFamily="34" charset="0"/>
                <a:ea typeface="Courier New" pitchFamily="34" charset="-122"/>
                <a:cs typeface="Courier New" pitchFamily="34" charset="-120"/>
              </a:rPr>
              <a:t>— Regla del taller</a:t>
            </a:r>
            <a:endParaRPr lang="en-US" sz="1200" dirty="0"/>
          </a:p>
        </p:txBody>
      </p:sp>
      <p:sp>
        <p:nvSpPr>
          <p:cNvPr id="5" name="Text 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6" name="Text 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7" name="Text 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11 / 47</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09  ALCANCE</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000" dirty="0">
                <a:solidFill>
                  <a:srgbClr val="F4F4F4"/>
                </a:solidFill>
                <a:latin typeface="Arial Black" pitchFamily="34" charset="0"/>
                <a:ea typeface="Arial Black" pitchFamily="34" charset="-122"/>
                <a:cs typeface="Arial Black" pitchFamily="34" charset="-120"/>
              </a:rPr>
              <a:t>EL EMBUDO: DE LA EMPRESA AL PROCESO</a:t>
            </a:r>
            <a:endParaRPr lang="en-US" sz="3000" dirty="0"/>
          </a:p>
        </p:txBody>
      </p:sp>
      <p:sp>
        <p:nvSpPr>
          <p:cNvPr id="4" name="Shape 2"/>
          <p:cNvSpPr/>
          <p:nvPr/>
        </p:nvSpPr>
        <p:spPr>
          <a:xfrm>
            <a:off x="502920" y="1783080"/>
            <a:ext cx="2054291" cy="1554480"/>
          </a:xfrm>
          <a:prstGeom prst="roundRect">
            <a:avLst>
              <a:gd name="adj" fmla="val 3529"/>
            </a:avLst>
          </a:prstGeom>
          <a:solidFill>
            <a:srgbClr val="151515"/>
          </a:solidFill>
          <a:ln w="12700">
            <a:solidFill>
              <a:srgbClr val="333333"/>
            </a:solidFill>
            <a:prstDash val="solid"/>
          </a:ln>
        </p:spPr>
      </p:sp>
      <p:sp>
        <p:nvSpPr>
          <p:cNvPr id="5" name="Text 3"/>
          <p:cNvSpPr/>
          <p:nvPr/>
        </p:nvSpPr>
        <p:spPr>
          <a:xfrm>
            <a:off x="649224" y="1892808"/>
            <a:ext cx="914400" cy="502920"/>
          </a:xfrm>
          <a:prstGeom prst="rect">
            <a:avLst/>
          </a:prstGeom>
          <a:noFill/>
          <a:ln/>
        </p:spPr>
        <p:txBody>
          <a:bodyPr wrap="square" lIns="0" tIns="0" rIns="0" bIns="0" rtlCol="0" anchor="t"/>
          <a:lstStyle/>
          <a:p>
            <a:pPr indent="0" marL="0">
              <a:buNone/>
            </a:pPr>
            <a:r>
              <a:rPr lang="en-US" sz="2200" dirty="0">
                <a:solidFill>
                  <a:srgbClr val="8C8C8C"/>
                </a:solidFill>
                <a:latin typeface="Arial Black" pitchFamily="34" charset="0"/>
                <a:ea typeface="Arial Black" pitchFamily="34" charset="-122"/>
                <a:cs typeface="Arial Black" pitchFamily="34" charset="-120"/>
              </a:rPr>
              <a:t>01</a:t>
            </a:r>
            <a:endParaRPr lang="en-US" sz="2200" dirty="0"/>
          </a:p>
        </p:txBody>
      </p:sp>
      <p:sp>
        <p:nvSpPr>
          <p:cNvPr id="6" name="Text 4"/>
          <p:cNvSpPr/>
          <p:nvPr/>
        </p:nvSpPr>
        <p:spPr>
          <a:xfrm>
            <a:off x="649224" y="2386584"/>
            <a:ext cx="1761683"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EMPRESA</a:t>
            </a:r>
            <a:endParaRPr lang="en-US" sz="1100" dirty="0"/>
          </a:p>
        </p:txBody>
      </p:sp>
      <p:sp>
        <p:nvSpPr>
          <p:cNvPr id="7" name="Text 5"/>
          <p:cNvSpPr/>
          <p:nvPr/>
        </p:nvSpPr>
        <p:spPr>
          <a:xfrm>
            <a:off x="649224" y="2752344"/>
            <a:ext cx="1761683"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La organización completa.</a:t>
            </a:r>
            <a:endParaRPr lang="en-US" sz="1000" dirty="0"/>
          </a:p>
        </p:txBody>
      </p:sp>
      <p:sp>
        <p:nvSpPr>
          <p:cNvPr id="8" name="Shape 6"/>
          <p:cNvSpPr/>
          <p:nvPr/>
        </p:nvSpPr>
        <p:spPr>
          <a:xfrm>
            <a:off x="2785811" y="1783080"/>
            <a:ext cx="2054291" cy="1554480"/>
          </a:xfrm>
          <a:prstGeom prst="roundRect">
            <a:avLst>
              <a:gd name="adj" fmla="val 3529"/>
            </a:avLst>
          </a:prstGeom>
          <a:solidFill>
            <a:srgbClr val="151515"/>
          </a:solidFill>
          <a:ln w="12700">
            <a:solidFill>
              <a:srgbClr val="333333"/>
            </a:solidFill>
            <a:prstDash val="solid"/>
          </a:ln>
        </p:spPr>
      </p:sp>
      <p:sp>
        <p:nvSpPr>
          <p:cNvPr id="9" name="Text 7"/>
          <p:cNvSpPr/>
          <p:nvPr/>
        </p:nvSpPr>
        <p:spPr>
          <a:xfrm>
            <a:off x="2932115" y="1892808"/>
            <a:ext cx="914400" cy="502920"/>
          </a:xfrm>
          <a:prstGeom prst="rect">
            <a:avLst/>
          </a:prstGeom>
          <a:noFill/>
          <a:ln/>
        </p:spPr>
        <p:txBody>
          <a:bodyPr wrap="square" lIns="0" tIns="0" rIns="0" bIns="0" rtlCol="0" anchor="t"/>
          <a:lstStyle/>
          <a:p>
            <a:pPr indent="0" marL="0">
              <a:buNone/>
            </a:pPr>
            <a:r>
              <a:rPr lang="en-US" sz="2200" dirty="0">
                <a:solidFill>
                  <a:srgbClr val="FF6B35"/>
                </a:solidFill>
                <a:latin typeface="Arial Black" pitchFamily="34" charset="0"/>
                <a:ea typeface="Arial Black" pitchFamily="34" charset="-122"/>
                <a:cs typeface="Arial Black" pitchFamily="34" charset="-120"/>
              </a:rPr>
              <a:t>02</a:t>
            </a:r>
            <a:endParaRPr lang="en-US" sz="2200" dirty="0"/>
          </a:p>
        </p:txBody>
      </p:sp>
      <p:sp>
        <p:nvSpPr>
          <p:cNvPr id="10" name="Text 8"/>
          <p:cNvSpPr/>
          <p:nvPr/>
        </p:nvSpPr>
        <p:spPr>
          <a:xfrm>
            <a:off x="2932115" y="2386584"/>
            <a:ext cx="1761683"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PLANTA / SITIO</a:t>
            </a:r>
            <a:endParaRPr lang="en-US" sz="1100" dirty="0"/>
          </a:p>
        </p:txBody>
      </p:sp>
      <p:sp>
        <p:nvSpPr>
          <p:cNvPr id="11" name="Text 9"/>
          <p:cNvSpPr/>
          <p:nvPr/>
        </p:nvSpPr>
        <p:spPr>
          <a:xfrm>
            <a:off x="2932115" y="2752344"/>
            <a:ext cx="1761683"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Una ubicación física.</a:t>
            </a:r>
            <a:endParaRPr lang="en-US" sz="1000" dirty="0"/>
          </a:p>
        </p:txBody>
      </p:sp>
      <p:sp>
        <p:nvSpPr>
          <p:cNvPr id="12" name="Shape 10"/>
          <p:cNvSpPr/>
          <p:nvPr/>
        </p:nvSpPr>
        <p:spPr>
          <a:xfrm>
            <a:off x="5068702" y="1783080"/>
            <a:ext cx="2054291" cy="1554480"/>
          </a:xfrm>
          <a:prstGeom prst="roundRect">
            <a:avLst>
              <a:gd name="adj" fmla="val 3529"/>
            </a:avLst>
          </a:prstGeom>
          <a:solidFill>
            <a:srgbClr val="151515"/>
          </a:solidFill>
          <a:ln w="12700">
            <a:solidFill>
              <a:srgbClr val="333333"/>
            </a:solidFill>
            <a:prstDash val="solid"/>
          </a:ln>
        </p:spPr>
      </p:sp>
      <p:sp>
        <p:nvSpPr>
          <p:cNvPr id="13" name="Text 11"/>
          <p:cNvSpPr/>
          <p:nvPr/>
        </p:nvSpPr>
        <p:spPr>
          <a:xfrm>
            <a:off x="5215006" y="1892808"/>
            <a:ext cx="914400" cy="502920"/>
          </a:xfrm>
          <a:prstGeom prst="rect">
            <a:avLst/>
          </a:prstGeom>
          <a:noFill/>
          <a:ln/>
        </p:spPr>
        <p:txBody>
          <a:bodyPr wrap="square" lIns="0" tIns="0" rIns="0" bIns="0" rtlCol="0" anchor="t"/>
          <a:lstStyle/>
          <a:p>
            <a:pPr indent="0" marL="0">
              <a:buNone/>
            </a:pPr>
            <a:r>
              <a:rPr lang="en-US" sz="2200" dirty="0">
                <a:solidFill>
                  <a:srgbClr val="FFB000"/>
                </a:solidFill>
                <a:latin typeface="Arial Black" pitchFamily="34" charset="0"/>
                <a:ea typeface="Arial Black" pitchFamily="34" charset="-122"/>
                <a:cs typeface="Arial Black" pitchFamily="34" charset="-120"/>
              </a:rPr>
              <a:t>03</a:t>
            </a:r>
            <a:endParaRPr lang="en-US" sz="2200" dirty="0"/>
          </a:p>
        </p:txBody>
      </p:sp>
      <p:sp>
        <p:nvSpPr>
          <p:cNvPr id="14" name="Text 12"/>
          <p:cNvSpPr/>
          <p:nvPr/>
        </p:nvSpPr>
        <p:spPr>
          <a:xfrm>
            <a:off x="5215006" y="2386584"/>
            <a:ext cx="1761683"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ÁREA</a:t>
            </a:r>
            <a:endParaRPr lang="en-US" sz="1100" dirty="0"/>
          </a:p>
        </p:txBody>
      </p:sp>
      <p:sp>
        <p:nvSpPr>
          <p:cNvPr id="15" name="Text 13"/>
          <p:cNvSpPr/>
          <p:nvPr/>
        </p:nvSpPr>
        <p:spPr>
          <a:xfrm>
            <a:off x="5215006" y="2752344"/>
            <a:ext cx="1761683"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Una zona funcional.</a:t>
            </a:r>
            <a:endParaRPr lang="en-US" sz="1000" dirty="0"/>
          </a:p>
        </p:txBody>
      </p:sp>
      <p:sp>
        <p:nvSpPr>
          <p:cNvPr id="16" name="Shape 14"/>
          <p:cNvSpPr/>
          <p:nvPr/>
        </p:nvSpPr>
        <p:spPr>
          <a:xfrm>
            <a:off x="7351593" y="1783080"/>
            <a:ext cx="2054291" cy="1554480"/>
          </a:xfrm>
          <a:prstGeom prst="roundRect">
            <a:avLst>
              <a:gd name="adj" fmla="val 3529"/>
            </a:avLst>
          </a:prstGeom>
          <a:solidFill>
            <a:srgbClr val="151515"/>
          </a:solidFill>
          <a:ln w="12700">
            <a:solidFill>
              <a:srgbClr val="333333"/>
            </a:solidFill>
            <a:prstDash val="solid"/>
          </a:ln>
        </p:spPr>
      </p:sp>
      <p:sp>
        <p:nvSpPr>
          <p:cNvPr id="17" name="Text 15"/>
          <p:cNvSpPr/>
          <p:nvPr/>
        </p:nvSpPr>
        <p:spPr>
          <a:xfrm>
            <a:off x="7497897" y="1892808"/>
            <a:ext cx="914400" cy="502920"/>
          </a:xfrm>
          <a:prstGeom prst="rect">
            <a:avLst/>
          </a:prstGeom>
          <a:noFill/>
          <a:ln/>
        </p:spPr>
        <p:txBody>
          <a:bodyPr wrap="square" lIns="0" tIns="0" rIns="0" bIns="0" rtlCol="0" anchor="t"/>
          <a:lstStyle/>
          <a:p>
            <a:pPr indent="0" marL="0">
              <a:buNone/>
            </a:pPr>
            <a:r>
              <a:rPr lang="en-US" sz="2200" dirty="0">
                <a:solidFill>
                  <a:srgbClr val="27E5E5"/>
                </a:solidFill>
                <a:latin typeface="Arial Black" pitchFamily="34" charset="0"/>
                <a:ea typeface="Arial Black" pitchFamily="34" charset="-122"/>
                <a:cs typeface="Arial Black" pitchFamily="34" charset="-120"/>
              </a:rPr>
              <a:t>04</a:t>
            </a:r>
            <a:endParaRPr lang="en-US" sz="2200" dirty="0"/>
          </a:p>
        </p:txBody>
      </p:sp>
      <p:sp>
        <p:nvSpPr>
          <p:cNvPr id="18" name="Text 16"/>
          <p:cNvSpPr/>
          <p:nvPr/>
        </p:nvSpPr>
        <p:spPr>
          <a:xfrm>
            <a:off x="7497897" y="2386584"/>
            <a:ext cx="1761683"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LÍNEA / CELDA</a:t>
            </a:r>
            <a:endParaRPr lang="en-US" sz="1100" dirty="0"/>
          </a:p>
        </p:txBody>
      </p:sp>
      <p:sp>
        <p:nvSpPr>
          <p:cNvPr id="19" name="Text 17"/>
          <p:cNvSpPr/>
          <p:nvPr/>
        </p:nvSpPr>
        <p:spPr>
          <a:xfrm>
            <a:off x="7497897" y="2752344"/>
            <a:ext cx="1761683"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Un conjunto de máquinas.</a:t>
            </a:r>
            <a:endParaRPr lang="en-US" sz="1000" dirty="0"/>
          </a:p>
        </p:txBody>
      </p:sp>
      <p:sp>
        <p:nvSpPr>
          <p:cNvPr id="20" name="Shape 18"/>
          <p:cNvSpPr/>
          <p:nvPr/>
        </p:nvSpPr>
        <p:spPr>
          <a:xfrm>
            <a:off x="9634484" y="1783080"/>
            <a:ext cx="2054291" cy="1554480"/>
          </a:xfrm>
          <a:prstGeom prst="roundRect">
            <a:avLst>
              <a:gd name="adj" fmla="val 3529"/>
            </a:avLst>
          </a:prstGeom>
          <a:solidFill>
            <a:srgbClr val="151515"/>
          </a:solidFill>
          <a:ln w="12700">
            <a:solidFill>
              <a:srgbClr val="333333"/>
            </a:solidFill>
            <a:prstDash val="solid"/>
          </a:ln>
        </p:spPr>
      </p:sp>
      <p:sp>
        <p:nvSpPr>
          <p:cNvPr id="21" name="Text 19"/>
          <p:cNvSpPr/>
          <p:nvPr/>
        </p:nvSpPr>
        <p:spPr>
          <a:xfrm>
            <a:off x="9780788" y="1892808"/>
            <a:ext cx="914400" cy="502920"/>
          </a:xfrm>
          <a:prstGeom prst="rect">
            <a:avLst/>
          </a:prstGeom>
          <a:noFill/>
          <a:ln/>
        </p:spPr>
        <p:txBody>
          <a:bodyPr wrap="square" lIns="0" tIns="0" rIns="0" bIns="0" rtlCol="0" anchor="t"/>
          <a:lstStyle/>
          <a:p>
            <a:pPr indent="0" marL="0">
              <a:buNone/>
            </a:pPr>
            <a:r>
              <a:rPr lang="en-US" sz="2200" dirty="0">
                <a:solidFill>
                  <a:srgbClr val="C6FF00"/>
                </a:solidFill>
                <a:latin typeface="Arial Black" pitchFamily="34" charset="0"/>
                <a:ea typeface="Arial Black" pitchFamily="34" charset="-122"/>
                <a:cs typeface="Arial Black" pitchFamily="34" charset="-120"/>
              </a:rPr>
              <a:t>05</a:t>
            </a:r>
            <a:endParaRPr lang="en-US" sz="2200" dirty="0"/>
          </a:p>
        </p:txBody>
      </p:sp>
      <p:sp>
        <p:nvSpPr>
          <p:cNvPr id="22" name="Text 20"/>
          <p:cNvSpPr/>
          <p:nvPr/>
        </p:nvSpPr>
        <p:spPr>
          <a:xfrm>
            <a:off x="9780788" y="2386584"/>
            <a:ext cx="1761683"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PROCESO FOCO</a:t>
            </a:r>
            <a:endParaRPr lang="en-US" sz="1100" dirty="0"/>
          </a:p>
        </p:txBody>
      </p:sp>
      <p:sp>
        <p:nvSpPr>
          <p:cNvPr id="23" name="Text 21"/>
          <p:cNvSpPr/>
          <p:nvPr/>
        </p:nvSpPr>
        <p:spPr>
          <a:xfrm>
            <a:off x="9780788" y="2752344"/>
            <a:ext cx="1761683"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El CPPS de estudio.</a:t>
            </a:r>
            <a:endParaRPr lang="en-US" sz="1000" dirty="0"/>
          </a:p>
        </p:txBody>
      </p:sp>
      <p:sp>
        <p:nvSpPr>
          <p:cNvPr id="24" name="Text 22"/>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5" name="Text 23"/>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26" name="Text 24"/>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12 / 47</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10  ALCANCE</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TRES CRITERIOS PARA ELEGIR EL FOCO</a:t>
            </a:r>
            <a:endParaRPr lang="en-US" sz="3300" dirty="0"/>
          </a:p>
        </p:txBody>
      </p:sp>
      <p:sp>
        <p:nvSpPr>
          <p:cNvPr id="4" name="Shape 2"/>
          <p:cNvSpPr/>
          <p:nvPr/>
        </p:nvSpPr>
        <p:spPr>
          <a:xfrm>
            <a:off x="502920" y="1783080"/>
            <a:ext cx="3545738" cy="2286000"/>
          </a:xfrm>
          <a:prstGeom prst="roundRect">
            <a:avLst>
              <a:gd name="adj" fmla="val 2400"/>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5" name="Text 3"/>
          <p:cNvSpPr/>
          <p:nvPr/>
        </p:nvSpPr>
        <p:spPr>
          <a:xfrm>
            <a:off x="685800" y="1965960"/>
            <a:ext cx="3179978" cy="457200"/>
          </a:xfrm>
          <a:prstGeom prst="rect">
            <a:avLst/>
          </a:prstGeom>
          <a:noFill/>
          <a:ln/>
        </p:spPr>
        <p:txBody>
          <a:bodyPr wrap="square" lIns="0" tIns="0" rIns="0" bIns="0" rtlCol="0" anchor="t"/>
          <a:lstStyle/>
          <a:p>
            <a:pPr indent="0" marL="0">
              <a:buNone/>
            </a:pPr>
            <a:r>
              <a:rPr lang="en-US" sz="1700" dirty="0">
                <a:solidFill>
                  <a:srgbClr val="FF3B30"/>
                </a:solidFill>
                <a:latin typeface="Arial Black" pitchFamily="34" charset="0"/>
                <a:ea typeface="Arial Black" pitchFamily="34" charset="-122"/>
                <a:cs typeface="Arial Black" pitchFamily="34" charset="-120"/>
              </a:rPr>
              <a:t>DOLOR REAL</a:t>
            </a:r>
            <a:endParaRPr lang="en-US" sz="1700" dirty="0"/>
          </a:p>
        </p:txBody>
      </p:sp>
      <p:sp>
        <p:nvSpPr>
          <p:cNvPr id="6" name="Text 4"/>
          <p:cNvSpPr/>
          <p:nvPr/>
        </p:nvSpPr>
        <p:spPr>
          <a:xfrm>
            <a:off x="685800" y="2496312"/>
            <a:ext cx="3179978" cy="1005840"/>
          </a:xfrm>
          <a:prstGeom prst="rect">
            <a:avLst/>
          </a:prstGeom>
          <a:noFill/>
          <a:ln/>
        </p:spPr>
        <p:txBody>
          <a:bodyPr wrap="square" lIns="0" tIns="0" rIns="0" bIns="0" rtlCol="0" anchor="t"/>
          <a:lstStyle/>
          <a:p>
            <a:pPr indent="0" marL="0">
              <a:lnSpc>
                <a:spcPct val="105000"/>
              </a:lnSpc>
              <a:buNone/>
            </a:pPr>
            <a:r>
              <a:rPr lang="en-US" sz="1150" dirty="0">
                <a:solidFill>
                  <a:srgbClr val="F4F4F4"/>
                </a:solidFill>
                <a:latin typeface="Arial" pitchFamily="34" charset="0"/>
                <a:ea typeface="Arial" pitchFamily="34" charset="-122"/>
                <a:cs typeface="Arial" pitchFamily="34" charset="-120"/>
              </a:rPr>
              <a:t>El proceso tiene un problema que le cuesta dinero al negocio: paradas, defectos, falta de trazabilidad.</a:t>
            </a:r>
            <a:endParaRPr lang="en-US" sz="1150" dirty="0"/>
          </a:p>
        </p:txBody>
      </p:sp>
      <p:sp>
        <p:nvSpPr>
          <p:cNvPr id="7" name="Text 5"/>
          <p:cNvSpPr/>
          <p:nvPr/>
        </p:nvSpPr>
        <p:spPr>
          <a:xfrm>
            <a:off x="685800" y="3566160"/>
            <a:ext cx="3179978" cy="457200"/>
          </a:xfrm>
          <a:prstGeom prst="rect">
            <a:avLst/>
          </a:prstGeom>
          <a:noFill/>
          <a:ln/>
        </p:spPr>
        <p:txBody>
          <a:bodyPr wrap="square" lIns="0" tIns="0" rIns="0" bIns="0" rtlCol="0" anchor="t"/>
          <a:lstStyle/>
          <a:p>
            <a:pPr indent="0" marL="0">
              <a:buNone/>
            </a:pPr>
            <a:r>
              <a:rPr lang="en-US" sz="950" dirty="0">
                <a:solidFill>
                  <a:srgbClr val="8C8C8C"/>
                </a:solidFill>
                <a:latin typeface="Courier New" pitchFamily="34" charset="0"/>
                <a:ea typeface="Courier New" pitchFamily="34" charset="-122"/>
                <a:cs typeface="Courier New" pitchFamily="34" charset="-120"/>
              </a:rPr>
              <a:t>¿Qué duele hoy?</a:t>
            </a:r>
            <a:endParaRPr lang="en-US" sz="950" dirty="0"/>
          </a:p>
        </p:txBody>
      </p:sp>
      <p:sp>
        <p:nvSpPr>
          <p:cNvPr id="8" name="Shape 6"/>
          <p:cNvSpPr/>
          <p:nvPr/>
        </p:nvSpPr>
        <p:spPr>
          <a:xfrm>
            <a:off x="4322978" y="1783080"/>
            <a:ext cx="3545738" cy="2286000"/>
          </a:xfrm>
          <a:prstGeom prst="roundRect">
            <a:avLst>
              <a:gd name="adj" fmla="val 2400"/>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4505858" y="1965960"/>
            <a:ext cx="3179978" cy="457200"/>
          </a:xfrm>
          <a:prstGeom prst="rect">
            <a:avLst/>
          </a:prstGeom>
          <a:noFill/>
          <a:ln/>
        </p:spPr>
        <p:txBody>
          <a:bodyPr wrap="square" lIns="0" tIns="0" rIns="0" bIns="0" rtlCol="0" anchor="t"/>
          <a:lstStyle/>
          <a:p>
            <a:pPr indent="0" marL="0">
              <a:buNone/>
            </a:pPr>
            <a:r>
              <a:rPr lang="en-US" sz="1700" dirty="0">
                <a:solidFill>
                  <a:srgbClr val="27E5E5"/>
                </a:solidFill>
                <a:latin typeface="Arial Black" pitchFamily="34" charset="0"/>
                <a:ea typeface="Arial Black" pitchFamily="34" charset="-122"/>
                <a:cs typeface="Arial Black" pitchFamily="34" charset="-120"/>
              </a:rPr>
              <a:t>DATOS PLAUSIBLES</a:t>
            </a:r>
            <a:endParaRPr lang="en-US" sz="1700" dirty="0"/>
          </a:p>
        </p:txBody>
      </p:sp>
      <p:sp>
        <p:nvSpPr>
          <p:cNvPr id="10" name="Text 8"/>
          <p:cNvSpPr/>
          <p:nvPr/>
        </p:nvSpPr>
        <p:spPr>
          <a:xfrm>
            <a:off x="4505858" y="2496312"/>
            <a:ext cx="3179978" cy="1005840"/>
          </a:xfrm>
          <a:prstGeom prst="rect">
            <a:avLst/>
          </a:prstGeom>
          <a:noFill/>
          <a:ln/>
        </p:spPr>
        <p:txBody>
          <a:bodyPr wrap="square" lIns="0" tIns="0" rIns="0" bIns="0" rtlCol="0" anchor="t"/>
          <a:lstStyle/>
          <a:p>
            <a:pPr indent="0" marL="0">
              <a:lnSpc>
                <a:spcPct val="105000"/>
              </a:lnSpc>
              <a:buNone/>
            </a:pPr>
            <a:r>
              <a:rPr lang="en-US" sz="1150" dirty="0">
                <a:solidFill>
                  <a:srgbClr val="F4F4F4"/>
                </a:solidFill>
                <a:latin typeface="Arial" pitchFamily="34" charset="0"/>
                <a:ea typeface="Arial" pitchFamily="34" charset="-122"/>
                <a:cs typeface="Arial" pitchFamily="34" charset="-120"/>
              </a:rPr>
              <a:t>Tiene sensores, PLC o registros: hay datos (o pueden existir) para gobernar y analizar.</a:t>
            </a:r>
            <a:endParaRPr lang="en-US" sz="1150" dirty="0"/>
          </a:p>
        </p:txBody>
      </p:sp>
      <p:sp>
        <p:nvSpPr>
          <p:cNvPr id="11" name="Text 9"/>
          <p:cNvSpPr/>
          <p:nvPr/>
        </p:nvSpPr>
        <p:spPr>
          <a:xfrm>
            <a:off x="4505858" y="3566160"/>
            <a:ext cx="3179978" cy="457200"/>
          </a:xfrm>
          <a:prstGeom prst="rect">
            <a:avLst/>
          </a:prstGeom>
          <a:noFill/>
          <a:ln/>
        </p:spPr>
        <p:txBody>
          <a:bodyPr wrap="square" lIns="0" tIns="0" rIns="0" bIns="0" rtlCol="0" anchor="t"/>
          <a:lstStyle/>
          <a:p>
            <a:pPr indent="0" marL="0">
              <a:buNone/>
            </a:pPr>
            <a:r>
              <a:rPr lang="en-US" sz="950" dirty="0">
                <a:solidFill>
                  <a:srgbClr val="8C8C8C"/>
                </a:solidFill>
                <a:latin typeface="Courier New" pitchFamily="34" charset="0"/>
                <a:ea typeface="Courier New" pitchFamily="34" charset="-122"/>
                <a:cs typeface="Courier New" pitchFamily="34" charset="-120"/>
              </a:rPr>
              <a:t>¿Hay señales?</a:t>
            </a:r>
            <a:endParaRPr lang="en-US" sz="950" dirty="0"/>
          </a:p>
        </p:txBody>
      </p:sp>
      <p:sp>
        <p:nvSpPr>
          <p:cNvPr id="12" name="Shape 10"/>
          <p:cNvSpPr/>
          <p:nvPr/>
        </p:nvSpPr>
        <p:spPr>
          <a:xfrm>
            <a:off x="8143037" y="1783080"/>
            <a:ext cx="3545738" cy="2286000"/>
          </a:xfrm>
          <a:prstGeom prst="roundRect">
            <a:avLst>
              <a:gd name="adj" fmla="val 2400"/>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3" name="Text 11"/>
          <p:cNvSpPr/>
          <p:nvPr/>
        </p:nvSpPr>
        <p:spPr>
          <a:xfrm>
            <a:off x="8325917" y="1965960"/>
            <a:ext cx="3179978" cy="457200"/>
          </a:xfrm>
          <a:prstGeom prst="rect">
            <a:avLst/>
          </a:prstGeom>
          <a:noFill/>
          <a:ln/>
        </p:spPr>
        <p:txBody>
          <a:bodyPr wrap="square" lIns="0" tIns="0" rIns="0" bIns="0" rtlCol="0" anchor="t"/>
          <a:lstStyle/>
          <a:p>
            <a:pPr indent="0" marL="0">
              <a:buNone/>
            </a:pPr>
            <a:r>
              <a:rPr lang="en-US" sz="1700" dirty="0">
                <a:solidFill>
                  <a:srgbClr val="C6FF00"/>
                </a:solidFill>
                <a:latin typeface="Arial Black" pitchFamily="34" charset="0"/>
                <a:ea typeface="Arial Black" pitchFamily="34" charset="-122"/>
                <a:cs typeface="Arial Black" pitchFamily="34" charset="-120"/>
              </a:rPr>
              <a:t>TAMAÑO MANEJABLE</a:t>
            </a:r>
            <a:endParaRPr lang="en-US" sz="1700" dirty="0"/>
          </a:p>
        </p:txBody>
      </p:sp>
      <p:sp>
        <p:nvSpPr>
          <p:cNvPr id="14" name="Text 12"/>
          <p:cNvSpPr/>
          <p:nvPr/>
        </p:nvSpPr>
        <p:spPr>
          <a:xfrm>
            <a:off x="8325917" y="2496312"/>
            <a:ext cx="3179978" cy="1005840"/>
          </a:xfrm>
          <a:prstGeom prst="rect">
            <a:avLst/>
          </a:prstGeom>
          <a:noFill/>
          <a:ln/>
        </p:spPr>
        <p:txBody>
          <a:bodyPr wrap="square" lIns="0" tIns="0" rIns="0" bIns="0" rtlCol="0" anchor="t"/>
          <a:lstStyle/>
          <a:p>
            <a:pPr indent="0" marL="0">
              <a:lnSpc>
                <a:spcPct val="105000"/>
              </a:lnSpc>
              <a:buNone/>
            </a:pPr>
            <a:r>
              <a:rPr lang="en-US" sz="1150" dirty="0">
                <a:solidFill>
                  <a:srgbClr val="F4F4F4"/>
                </a:solidFill>
                <a:latin typeface="Arial" pitchFamily="34" charset="0"/>
                <a:ea typeface="Arial" pitchFamily="34" charset="-122"/>
                <a:cs typeface="Arial" pitchFamily="34" charset="-120"/>
              </a:rPr>
              <a:t>Se puede describir, diagramar y analizar en profundidad por un equipo, en un semestre.</a:t>
            </a:r>
            <a:endParaRPr lang="en-US" sz="1150" dirty="0"/>
          </a:p>
        </p:txBody>
      </p:sp>
      <p:sp>
        <p:nvSpPr>
          <p:cNvPr id="15" name="Text 13"/>
          <p:cNvSpPr/>
          <p:nvPr/>
        </p:nvSpPr>
        <p:spPr>
          <a:xfrm>
            <a:off x="8325917" y="3566160"/>
            <a:ext cx="3179978" cy="457200"/>
          </a:xfrm>
          <a:prstGeom prst="rect">
            <a:avLst/>
          </a:prstGeom>
          <a:noFill/>
          <a:ln/>
        </p:spPr>
        <p:txBody>
          <a:bodyPr wrap="square" lIns="0" tIns="0" rIns="0" bIns="0" rtlCol="0" anchor="t"/>
          <a:lstStyle/>
          <a:p>
            <a:pPr indent="0" marL="0">
              <a:buNone/>
            </a:pPr>
            <a:r>
              <a:rPr lang="en-US" sz="950" dirty="0">
                <a:solidFill>
                  <a:srgbClr val="8C8C8C"/>
                </a:solidFill>
                <a:latin typeface="Courier New" pitchFamily="34" charset="0"/>
                <a:ea typeface="Courier New" pitchFamily="34" charset="-122"/>
                <a:cs typeface="Courier New" pitchFamily="34" charset="-120"/>
              </a:rPr>
              <a:t>¿Cabe en una línea?</a:t>
            </a:r>
            <a:endParaRPr lang="en-US" sz="950" dirty="0"/>
          </a:p>
        </p:txBody>
      </p:sp>
      <p:sp>
        <p:nvSpPr>
          <p:cNvPr id="16" name="Text 14"/>
          <p:cNvSpPr/>
          <p:nvPr/>
        </p:nvSpPr>
        <p:spPr>
          <a:xfrm>
            <a:off x="502920" y="4297680"/>
            <a:ext cx="11185855" cy="1097280"/>
          </a:xfrm>
          <a:prstGeom prst="rect">
            <a:avLst/>
          </a:prstGeom>
          <a:noFill/>
          <a:ln/>
        </p:spPr>
        <p:txBody>
          <a:bodyPr wrap="square" lIns="0" tIns="0" rIns="0" bIns="0" rtlCol="0" anchor="t"/>
          <a:lstStyle/>
          <a:p>
            <a:pPr indent="0" marL="0">
              <a:lnSpc>
                <a:spcPct val="110000"/>
              </a:lnSpc>
              <a:buNone/>
            </a:pPr>
            <a:r>
              <a:rPr lang="en-US" sz="1250" dirty="0">
                <a:solidFill>
                  <a:srgbClr val="F4F4F4"/>
                </a:solidFill>
                <a:latin typeface="Arial" pitchFamily="34" charset="0"/>
                <a:ea typeface="Arial" pitchFamily="34" charset="-122"/>
                <a:cs typeface="Arial" pitchFamily="34" charset="-120"/>
              </a:rPr>
              <a:t>El foco ideal cumple los tres: duele, tiene datos y es manejable. Si falla alguno, bajen un nivel más en el embudo o cambien de proceso.</a:t>
            </a:r>
            <a:endParaRPr lang="en-US" sz="1250" dirty="0"/>
          </a:p>
        </p:txBody>
      </p:sp>
      <p:sp>
        <p:nvSpPr>
          <p:cNvPr id="17" name="Text 1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8" name="Text 1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19" name="Text 1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13 / 47</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11  ALCANCE</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ALCANCE AMPLIO VS ALCANCE ACOTADO</a:t>
            </a:r>
            <a:endParaRPr lang="en-US" sz="3300" dirty="0"/>
          </a:p>
        </p:txBody>
      </p:sp>
      <p:sp>
        <p:nvSpPr>
          <p:cNvPr id="4" name="Shape 2"/>
          <p:cNvSpPr/>
          <p:nvPr/>
        </p:nvSpPr>
        <p:spPr>
          <a:xfrm>
            <a:off x="502920" y="1783080"/>
            <a:ext cx="5364328" cy="3986784"/>
          </a:xfrm>
          <a:prstGeom prst="roundRect">
            <a:avLst>
              <a:gd name="adj" fmla="val 1147"/>
            </a:avLst>
          </a:prstGeom>
          <a:solidFill>
            <a:srgbClr val="151515"/>
          </a:solidFill>
          <a:ln w="15875">
            <a:solidFill>
              <a:srgbClr val="FF3B30"/>
            </a:solidFill>
            <a:prstDash val="solid"/>
          </a:ln>
        </p:spPr>
      </p:sp>
      <p:sp>
        <p:nvSpPr>
          <p:cNvPr id="5" name="Text 3"/>
          <p:cNvSpPr/>
          <p:nvPr/>
        </p:nvSpPr>
        <p:spPr>
          <a:xfrm>
            <a:off x="704088" y="1947672"/>
            <a:ext cx="4961992" cy="457200"/>
          </a:xfrm>
          <a:prstGeom prst="rect">
            <a:avLst/>
          </a:prstGeom>
          <a:noFill/>
          <a:ln/>
        </p:spPr>
        <p:txBody>
          <a:bodyPr wrap="square" lIns="0" tIns="0" rIns="0" bIns="0" rtlCol="0" anchor="t"/>
          <a:lstStyle/>
          <a:p>
            <a:pPr indent="0" marL="0">
              <a:buNone/>
            </a:pPr>
            <a:r>
              <a:rPr lang="en-US" sz="1500" dirty="0">
                <a:solidFill>
                  <a:srgbClr val="FF3B30"/>
                </a:solidFill>
                <a:latin typeface="Arial Black" pitchFamily="34" charset="0"/>
                <a:ea typeface="Arial Black" pitchFamily="34" charset="-122"/>
                <a:cs typeface="Arial Black" pitchFamily="34" charset="-120"/>
              </a:rPr>
              <a:t>AMPLIO (EVÍTENLO)</a:t>
            </a:r>
            <a:endParaRPr lang="en-US" sz="1500" dirty="0"/>
          </a:p>
        </p:txBody>
      </p:sp>
      <p:sp>
        <p:nvSpPr>
          <p:cNvPr id="6" name="Text 4"/>
          <p:cNvSpPr/>
          <p:nvPr/>
        </p:nvSpPr>
        <p:spPr>
          <a:xfrm>
            <a:off x="704088" y="2496312"/>
            <a:ext cx="4961992" cy="3118104"/>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'Toda la planta de la empresa X'</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Decenas de procesos y sistemas</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Imposible de diagramar con detalle</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Diagnóstico superficial</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El equipo se dispersa y no termina</a:t>
            </a:r>
            <a:endParaRPr lang="en-US" sz="1200" dirty="0"/>
          </a:p>
        </p:txBody>
      </p:sp>
      <p:sp>
        <p:nvSpPr>
          <p:cNvPr id="7" name="Shape 5"/>
          <p:cNvSpPr/>
          <p:nvPr/>
        </p:nvSpPr>
        <p:spPr>
          <a:xfrm>
            <a:off x="6324448" y="1783080"/>
            <a:ext cx="5364328" cy="3986784"/>
          </a:xfrm>
          <a:prstGeom prst="roundRect">
            <a:avLst>
              <a:gd name="adj" fmla="val 1147"/>
            </a:avLst>
          </a:prstGeom>
          <a:solidFill>
            <a:srgbClr val="151515"/>
          </a:solidFill>
          <a:ln w="15875">
            <a:solidFill>
              <a:srgbClr val="C6FF00"/>
            </a:solidFill>
            <a:prstDash val="solid"/>
          </a:ln>
        </p:spPr>
      </p:sp>
      <p:sp>
        <p:nvSpPr>
          <p:cNvPr id="8" name="Text 6"/>
          <p:cNvSpPr/>
          <p:nvPr/>
        </p:nvSpPr>
        <p:spPr>
          <a:xfrm>
            <a:off x="6525616" y="1947672"/>
            <a:ext cx="4961992" cy="457200"/>
          </a:xfrm>
          <a:prstGeom prst="rect">
            <a:avLst/>
          </a:prstGeom>
          <a:noFill/>
          <a:ln/>
        </p:spPr>
        <p:txBody>
          <a:bodyPr wrap="square" lIns="0" tIns="0" rIns="0" bIns="0" rtlCol="0" anchor="t"/>
          <a:lstStyle/>
          <a:p>
            <a:pPr indent="0" marL="0">
              <a:buNone/>
            </a:pPr>
            <a:r>
              <a:rPr lang="en-US" sz="1500" dirty="0">
                <a:solidFill>
                  <a:srgbClr val="C6FF00"/>
                </a:solidFill>
                <a:latin typeface="Arial Black" pitchFamily="34" charset="0"/>
                <a:ea typeface="Arial Black" pitchFamily="34" charset="-122"/>
                <a:cs typeface="Arial Black" pitchFamily="34" charset="-120"/>
              </a:rPr>
              <a:t>ACOTADO (BÚSQUENLO)</a:t>
            </a:r>
            <a:endParaRPr lang="en-US" sz="1500" dirty="0"/>
          </a:p>
        </p:txBody>
      </p:sp>
      <p:sp>
        <p:nvSpPr>
          <p:cNvPr id="9" name="Text 7"/>
          <p:cNvSpPr/>
          <p:nvPr/>
        </p:nvSpPr>
        <p:spPr>
          <a:xfrm>
            <a:off x="6525616" y="2496312"/>
            <a:ext cx="4961992" cy="3118104"/>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'La línea de envasado de la planta Y'</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Un proceso, sus máquinas y sus datos</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Se diagrama en ISA-95 sin problema</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Diagnóstico profundo y creíble</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El equipo avanza parejo y a fondo</a:t>
            </a:r>
            <a:endParaRPr lang="en-US" sz="1200" dirty="0"/>
          </a:p>
        </p:txBody>
      </p:sp>
      <p:sp>
        <p:nvSpPr>
          <p:cNvPr id="10" name="Text 8"/>
          <p:cNvSpPr/>
          <p:nvPr/>
        </p:nvSpPr>
        <p:spPr>
          <a:xfrm>
            <a:off x="502920" y="5861304"/>
            <a:ext cx="11185855" cy="36576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a:t>
            </a:r>
            <a:pPr indent="0" marL="0">
              <a:buNone/>
            </a:pPr>
            <a:r>
              <a:rPr lang="en-US" sz="1100" dirty="0">
                <a:solidFill>
                  <a:srgbClr val="8C8C8C"/>
                </a:solidFill>
                <a:latin typeface="Courier New" pitchFamily="34" charset="0"/>
                <a:ea typeface="Courier New" pitchFamily="34" charset="-122"/>
                <a:cs typeface="Courier New" pitchFamily="34" charset="-120"/>
              </a:rPr>
              <a:t>La profundidad sobre un foco pequeño vale más que la superficie sobre todo. Acoten sin miedo.</a:t>
            </a:r>
            <a:endParaRPr lang="en-US" sz="1100" dirty="0"/>
          </a:p>
        </p:txBody>
      </p:sp>
      <p:sp>
        <p:nvSpPr>
          <p:cNvPr id="11" name="Text 9"/>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2" name="Text 10"/>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13" name="Text 11"/>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14 / 47</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12  ALCANCE</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2700" dirty="0">
                <a:solidFill>
                  <a:srgbClr val="F4F4F4"/>
                </a:solidFill>
                <a:latin typeface="Arial Black" pitchFamily="34" charset="0"/>
                <a:ea typeface="Arial Black" pitchFamily="34" charset="-122"/>
                <a:cs typeface="Arial Black" pitchFamily="34" charset="-120"/>
              </a:rPr>
              <a:t>LA HERRAMIENTA: DENTRO / FUERA DEL ALCANCE</a:t>
            </a:r>
            <a:endParaRPr lang="en-US" sz="2700" dirty="0"/>
          </a:p>
        </p:txBody>
      </p:sp>
      <p:sp>
        <p:nvSpPr>
          <p:cNvPr id="4" name="Shape 2"/>
          <p:cNvSpPr/>
          <p:nvPr/>
        </p:nvSpPr>
        <p:spPr>
          <a:xfrm>
            <a:off x="502920" y="1783080"/>
            <a:ext cx="5852160" cy="457200"/>
          </a:xfrm>
          <a:prstGeom prst="rect">
            <a:avLst/>
          </a:prstGeom>
          <a:solidFill>
            <a:srgbClr val="1E1E1E"/>
          </a:solidFill>
          <a:ln w="12700">
            <a:solidFill>
              <a:srgbClr val="333333"/>
            </a:solidFill>
            <a:prstDash val="solid"/>
          </a:ln>
        </p:spPr>
      </p:sp>
      <p:sp>
        <p:nvSpPr>
          <p:cNvPr id="5" name="Text 3"/>
          <p:cNvSpPr/>
          <p:nvPr/>
        </p:nvSpPr>
        <p:spPr>
          <a:xfrm>
            <a:off x="576072" y="1783080"/>
            <a:ext cx="5705856" cy="457200"/>
          </a:xfrm>
          <a:prstGeom prst="rect">
            <a:avLst/>
          </a:prstGeom>
          <a:noFill/>
          <a:ln/>
        </p:spPr>
        <p:txBody>
          <a:bodyPr wrap="square" lIns="0" tIns="0" rIns="0" bIns="0" rtlCol="0" anchor="ctr"/>
          <a:lstStyle/>
          <a:p>
            <a:pPr algn="l" indent="0" marL="0">
              <a:buNone/>
            </a:pPr>
            <a:r>
              <a:rPr lang="en-US" sz="1050" b="1" dirty="0">
                <a:solidFill>
                  <a:srgbClr val="C6FF00"/>
                </a:solidFill>
                <a:latin typeface="Courier New" pitchFamily="34" charset="0"/>
                <a:ea typeface="Courier New" pitchFamily="34" charset="-122"/>
                <a:cs typeface="Courier New" pitchFamily="34" charset="-120"/>
              </a:rPr>
              <a:t>ELEMENTO</a:t>
            </a:r>
            <a:endParaRPr lang="en-US" sz="1050" dirty="0"/>
          </a:p>
        </p:txBody>
      </p:sp>
      <p:sp>
        <p:nvSpPr>
          <p:cNvPr id="6" name="Shape 4"/>
          <p:cNvSpPr/>
          <p:nvPr/>
        </p:nvSpPr>
        <p:spPr>
          <a:xfrm>
            <a:off x="6355080" y="1783080"/>
            <a:ext cx="5333695" cy="457200"/>
          </a:xfrm>
          <a:prstGeom prst="rect">
            <a:avLst/>
          </a:prstGeom>
          <a:solidFill>
            <a:srgbClr val="1E1E1E"/>
          </a:solidFill>
          <a:ln w="12700">
            <a:solidFill>
              <a:srgbClr val="333333"/>
            </a:solidFill>
            <a:prstDash val="solid"/>
          </a:ln>
        </p:spPr>
      </p:sp>
      <p:sp>
        <p:nvSpPr>
          <p:cNvPr id="7" name="Text 5"/>
          <p:cNvSpPr/>
          <p:nvPr/>
        </p:nvSpPr>
        <p:spPr>
          <a:xfrm>
            <a:off x="6428232" y="1783080"/>
            <a:ext cx="5187391" cy="457200"/>
          </a:xfrm>
          <a:prstGeom prst="rect">
            <a:avLst/>
          </a:prstGeom>
          <a:noFill/>
          <a:ln/>
        </p:spPr>
        <p:txBody>
          <a:bodyPr wrap="square" lIns="0" tIns="0" rIns="0" bIns="0" rtlCol="0" anchor="ctr"/>
          <a:lstStyle/>
          <a:p>
            <a:pPr algn="ctr" indent="0" marL="0">
              <a:buNone/>
            </a:pPr>
            <a:r>
              <a:rPr lang="en-US" sz="1050" b="1" dirty="0">
                <a:solidFill>
                  <a:srgbClr val="C6FF00"/>
                </a:solidFill>
                <a:latin typeface="Courier New" pitchFamily="34" charset="0"/>
                <a:ea typeface="Courier New" pitchFamily="34" charset="-122"/>
                <a:cs typeface="Courier New" pitchFamily="34" charset="-120"/>
              </a:rPr>
              <a:t>¿DENTRO?</a:t>
            </a:r>
            <a:endParaRPr lang="en-US" sz="1050" dirty="0"/>
          </a:p>
        </p:txBody>
      </p:sp>
      <p:sp>
        <p:nvSpPr>
          <p:cNvPr id="8" name="Shape 6"/>
          <p:cNvSpPr/>
          <p:nvPr/>
        </p:nvSpPr>
        <p:spPr>
          <a:xfrm>
            <a:off x="502920" y="2240280"/>
            <a:ext cx="5852160" cy="566928"/>
          </a:xfrm>
          <a:prstGeom prst="rect">
            <a:avLst/>
          </a:prstGeom>
          <a:solidFill>
            <a:srgbClr val="151515"/>
          </a:solidFill>
          <a:ln w="12700">
            <a:solidFill>
              <a:srgbClr val="242424"/>
            </a:solidFill>
            <a:prstDash val="solid"/>
          </a:ln>
        </p:spPr>
      </p:sp>
      <p:sp>
        <p:nvSpPr>
          <p:cNvPr id="9" name="Text 7"/>
          <p:cNvSpPr/>
          <p:nvPr/>
        </p:nvSpPr>
        <p:spPr>
          <a:xfrm>
            <a:off x="576072" y="2240280"/>
            <a:ext cx="570585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El proceso/línea foco y sus máquinas</a:t>
            </a:r>
            <a:endParaRPr lang="en-US" sz="1150" dirty="0"/>
          </a:p>
        </p:txBody>
      </p:sp>
      <p:sp>
        <p:nvSpPr>
          <p:cNvPr id="10" name="Shape 8"/>
          <p:cNvSpPr/>
          <p:nvPr/>
        </p:nvSpPr>
        <p:spPr>
          <a:xfrm>
            <a:off x="6355080" y="2240280"/>
            <a:ext cx="5333695" cy="566928"/>
          </a:xfrm>
          <a:prstGeom prst="rect">
            <a:avLst/>
          </a:prstGeom>
          <a:solidFill>
            <a:srgbClr val="151515"/>
          </a:solidFill>
          <a:ln w="12700">
            <a:solidFill>
              <a:srgbClr val="242424"/>
            </a:solidFill>
            <a:prstDash val="solid"/>
          </a:ln>
        </p:spPr>
      </p:sp>
      <p:sp>
        <p:nvSpPr>
          <p:cNvPr id="11" name="Text 9"/>
          <p:cNvSpPr/>
          <p:nvPr/>
        </p:nvSpPr>
        <p:spPr>
          <a:xfrm>
            <a:off x="6428232" y="2240280"/>
            <a:ext cx="5187391" cy="566928"/>
          </a:xfrm>
          <a:prstGeom prst="rect">
            <a:avLst/>
          </a:prstGeom>
          <a:noFill/>
          <a:ln/>
        </p:spPr>
        <p:txBody>
          <a:bodyPr wrap="square" lIns="0" tIns="0" rIns="0" bIns="0" rtlCol="0" anchor="ctr"/>
          <a:lstStyle/>
          <a:p>
            <a:pPr algn="ctr" indent="0" marL="0">
              <a:buNone/>
            </a:pPr>
            <a:r>
              <a:rPr lang="en-US" sz="1100" dirty="0">
                <a:solidFill>
                  <a:srgbClr val="22E06B"/>
                </a:solidFill>
                <a:latin typeface="Courier New" pitchFamily="34" charset="0"/>
                <a:ea typeface="Courier New" pitchFamily="34" charset="-122"/>
                <a:cs typeface="Courier New" pitchFamily="34" charset="-120"/>
              </a:rPr>
              <a:t>DENTRO</a:t>
            </a:r>
            <a:endParaRPr lang="en-US" sz="1100" dirty="0"/>
          </a:p>
        </p:txBody>
      </p:sp>
      <p:sp>
        <p:nvSpPr>
          <p:cNvPr id="12" name="Shape 10"/>
          <p:cNvSpPr/>
          <p:nvPr/>
        </p:nvSpPr>
        <p:spPr>
          <a:xfrm>
            <a:off x="502920" y="2807208"/>
            <a:ext cx="5852160" cy="566928"/>
          </a:xfrm>
          <a:prstGeom prst="rect">
            <a:avLst/>
          </a:prstGeom>
          <a:solidFill>
            <a:srgbClr val="0B0B0B"/>
          </a:solidFill>
          <a:ln w="12700">
            <a:solidFill>
              <a:srgbClr val="242424"/>
            </a:solidFill>
            <a:prstDash val="solid"/>
          </a:ln>
        </p:spPr>
      </p:sp>
      <p:sp>
        <p:nvSpPr>
          <p:cNvPr id="13" name="Text 11"/>
          <p:cNvSpPr/>
          <p:nvPr/>
        </p:nvSpPr>
        <p:spPr>
          <a:xfrm>
            <a:off x="576072" y="2807208"/>
            <a:ext cx="570585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Los datos y señales de ese proceso</a:t>
            </a:r>
            <a:endParaRPr lang="en-US" sz="1150" dirty="0"/>
          </a:p>
        </p:txBody>
      </p:sp>
      <p:sp>
        <p:nvSpPr>
          <p:cNvPr id="14" name="Shape 12"/>
          <p:cNvSpPr/>
          <p:nvPr/>
        </p:nvSpPr>
        <p:spPr>
          <a:xfrm>
            <a:off x="6355080" y="2807208"/>
            <a:ext cx="5333695" cy="566928"/>
          </a:xfrm>
          <a:prstGeom prst="rect">
            <a:avLst/>
          </a:prstGeom>
          <a:solidFill>
            <a:srgbClr val="0B0B0B"/>
          </a:solidFill>
          <a:ln w="12700">
            <a:solidFill>
              <a:srgbClr val="242424"/>
            </a:solidFill>
            <a:prstDash val="solid"/>
          </a:ln>
        </p:spPr>
      </p:sp>
      <p:sp>
        <p:nvSpPr>
          <p:cNvPr id="15" name="Text 13"/>
          <p:cNvSpPr/>
          <p:nvPr/>
        </p:nvSpPr>
        <p:spPr>
          <a:xfrm>
            <a:off x="6428232" y="2807208"/>
            <a:ext cx="5187391" cy="566928"/>
          </a:xfrm>
          <a:prstGeom prst="rect">
            <a:avLst/>
          </a:prstGeom>
          <a:noFill/>
          <a:ln/>
        </p:spPr>
        <p:txBody>
          <a:bodyPr wrap="square" lIns="0" tIns="0" rIns="0" bIns="0" rtlCol="0" anchor="ctr"/>
          <a:lstStyle/>
          <a:p>
            <a:pPr algn="ctr" indent="0" marL="0">
              <a:buNone/>
            </a:pPr>
            <a:r>
              <a:rPr lang="en-US" sz="1100" dirty="0">
                <a:solidFill>
                  <a:srgbClr val="22E06B"/>
                </a:solidFill>
                <a:latin typeface="Courier New" pitchFamily="34" charset="0"/>
                <a:ea typeface="Courier New" pitchFamily="34" charset="-122"/>
                <a:cs typeface="Courier New" pitchFamily="34" charset="-120"/>
              </a:rPr>
              <a:t>DENTRO</a:t>
            </a:r>
            <a:endParaRPr lang="en-US" sz="1100" dirty="0"/>
          </a:p>
        </p:txBody>
      </p:sp>
      <p:sp>
        <p:nvSpPr>
          <p:cNvPr id="16" name="Shape 14"/>
          <p:cNvSpPr/>
          <p:nvPr/>
        </p:nvSpPr>
        <p:spPr>
          <a:xfrm>
            <a:off x="502920" y="3374136"/>
            <a:ext cx="5852160" cy="566928"/>
          </a:xfrm>
          <a:prstGeom prst="rect">
            <a:avLst/>
          </a:prstGeom>
          <a:solidFill>
            <a:srgbClr val="151515"/>
          </a:solidFill>
          <a:ln w="12700">
            <a:solidFill>
              <a:srgbClr val="242424"/>
            </a:solidFill>
            <a:prstDash val="solid"/>
          </a:ln>
        </p:spPr>
      </p:sp>
      <p:sp>
        <p:nvSpPr>
          <p:cNvPr id="17" name="Text 15"/>
          <p:cNvSpPr/>
          <p:nvPr/>
        </p:nvSpPr>
        <p:spPr>
          <a:xfrm>
            <a:off x="576072" y="3374136"/>
            <a:ext cx="570585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El resto de la planta y otras líneas</a:t>
            </a:r>
            <a:endParaRPr lang="en-US" sz="1150" dirty="0"/>
          </a:p>
        </p:txBody>
      </p:sp>
      <p:sp>
        <p:nvSpPr>
          <p:cNvPr id="18" name="Shape 16"/>
          <p:cNvSpPr/>
          <p:nvPr/>
        </p:nvSpPr>
        <p:spPr>
          <a:xfrm>
            <a:off x="6355080" y="3374136"/>
            <a:ext cx="5333695" cy="566928"/>
          </a:xfrm>
          <a:prstGeom prst="rect">
            <a:avLst/>
          </a:prstGeom>
          <a:solidFill>
            <a:srgbClr val="151515"/>
          </a:solidFill>
          <a:ln w="12700">
            <a:solidFill>
              <a:srgbClr val="242424"/>
            </a:solidFill>
            <a:prstDash val="solid"/>
          </a:ln>
        </p:spPr>
      </p:sp>
      <p:sp>
        <p:nvSpPr>
          <p:cNvPr id="19" name="Text 17"/>
          <p:cNvSpPr/>
          <p:nvPr/>
        </p:nvSpPr>
        <p:spPr>
          <a:xfrm>
            <a:off x="6428232" y="3374136"/>
            <a:ext cx="5187391" cy="566928"/>
          </a:xfrm>
          <a:prstGeom prst="rect">
            <a:avLst/>
          </a:prstGeom>
          <a:noFill/>
          <a:ln/>
        </p:spPr>
        <p:txBody>
          <a:bodyPr wrap="square" lIns="0" tIns="0" rIns="0" bIns="0" rtlCol="0" anchor="ctr"/>
          <a:lstStyle/>
          <a:p>
            <a:pPr algn="ctr" indent="0" marL="0">
              <a:buNone/>
            </a:pPr>
            <a:r>
              <a:rPr lang="en-US" sz="1100" dirty="0">
                <a:solidFill>
                  <a:srgbClr val="FF3B30"/>
                </a:solidFill>
                <a:latin typeface="Courier New" pitchFamily="34" charset="0"/>
                <a:ea typeface="Courier New" pitchFamily="34" charset="-122"/>
                <a:cs typeface="Courier New" pitchFamily="34" charset="-120"/>
              </a:rPr>
              <a:t>FUERA</a:t>
            </a:r>
            <a:endParaRPr lang="en-US" sz="1100" dirty="0"/>
          </a:p>
        </p:txBody>
      </p:sp>
      <p:sp>
        <p:nvSpPr>
          <p:cNvPr id="20" name="Shape 18"/>
          <p:cNvSpPr/>
          <p:nvPr/>
        </p:nvSpPr>
        <p:spPr>
          <a:xfrm>
            <a:off x="502920" y="3941064"/>
            <a:ext cx="5852160" cy="566928"/>
          </a:xfrm>
          <a:prstGeom prst="rect">
            <a:avLst/>
          </a:prstGeom>
          <a:solidFill>
            <a:srgbClr val="0B0B0B"/>
          </a:solidFill>
          <a:ln w="12700">
            <a:solidFill>
              <a:srgbClr val="242424"/>
            </a:solidFill>
            <a:prstDash val="solid"/>
          </a:ln>
        </p:spPr>
      </p:sp>
      <p:sp>
        <p:nvSpPr>
          <p:cNvPr id="21" name="Text 19"/>
          <p:cNvSpPr/>
          <p:nvPr/>
        </p:nvSpPr>
        <p:spPr>
          <a:xfrm>
            <a:off x="576072" y="3941064"/>
            <a:ext cx="570585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Logística, ventas, recursos humanos</a:t>
            </a:r>
            <a:endParaRPr lang="en-US" sz="1150" dirty="0"/>
          </a:p>
        </p:txBody>
      </p:sp>
      <p:sp>
        <p:nvSpPr>
          <p:cNvPr id="22" name="Shape 20"/>
          <p:cNvSpPr/>
          <p:nvPr/>
        </p:nvSpPr>
        <p:spPr>
          <a:xfrm>
            <a:off x="6355080" y="3941064"/>
            <a:ext cx="5333695" cy="566928"/>
          </a:xfrm>
          <a:prstGeom prst="rect">
            <a:avLst/>
          </a:prstGeom>
          <a:solidFill>
            <a:srgbClr val="0B0B0B"/>
          </a:solidFill>
          <a:ln w="12700">
            <a:solidFill>
              <a:srgbClr val="242424"/>
            </a:solidFill>
            <a:prstDash val="solid"/>
          </a:ln>
        </p:spPr>
      </p:sp>
      <p:sp>
        <p:nvSpPr>
          <p:cNvPr id="23" name="Text 21"/>
          <p:cNvSpPr/>
          <p:nvPr/>
        </p:nvSpPr>
        <p:spPr>
          <a:xfrm>
            <a:off x="6428232" y="3941064"/>
            <a:ext cx="5187391" cy="566928"/>
          </a:xfrm>
          <a:prstGeom prst="rect">
            <a:avLst/>
          </a:prstGeom>
          <a:noFill/>
          <a:ln/>
        </p:spPr>
        <p:txBody>
          <a:bodyPr wrap="square" lIns="0" tIns="0" rIns="0" bIns="0" rtlCol="0" anchor="ctr"/>
          <a:lstStyle/>
          <a:p>
            <a:pPr algn="ctr" indent="0" marL="0">
              <a:buNone/>
            </a:pPr>
            <a:r>
              <a:rPr lang="en-US" sz="1100" dirty="0">
                <a:solidFill>
                  <a:srgbClr val="FF3B30"/>
                </a:solidFill>
                <a:latin typeface="Courier New" pitchFamily="34" charset="0"/>
                <a:ea typeface="Courier New" pitchFamily="34" charset="-122"/>
                <a:cs typeface="Courier New" pitchFamily="34" charset="-120"/>
              </a:rPr>
              <a:t>FUERA</a:t>
            </a:r>
            <a:endParaRPr lang="en-US" sz="1100" dirty="0"/>
          </a:p>
        </p:txBody>
      </p:sp>
      <p:sp>
        <p:nvSpPr>
          <p:cNvPr id="24" name="Shape 22"/>
          <p:cNvSpPr/>
          <p:nvPr/>
        </p:nvSpPr>
        <p:spPr>
          <a:xfrm>
            <a:off x="502920" y="4507992"/>
            <a:ext cx="5852160" cy="566928"/>
          </a:xfrm>
          <a:prstGeom prst="rect">
            <a:avLst/>
          </a:prstGeom>
          <a:solidFill>
            <a:srgbClr val="151515"/>
          </a:solidFill>
          <a:ln w="12700">
            <a:solidFill>
              <a:srgbClr val="242424"/>
            </a:solidFill>
            <a:prstDash val="solid"/>
          </a:ln>
        </p:spPr>
      </p:sp>
      <p:sp>
        <p:nvSpPr>
          <p:cNvPr id="25" name="Text 23"/>
          <p:cNvSpPr/>
          <p:nvPr/>
        </p:nvSpPr>
        <p:spPr>
          <a:xfrm>
            <a:off x="576072" y="4507992"/>
            <a:ext cx="570585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Otras plantas o sedes de la empresa</a:t>
            </a:r>
            <a:endParaRPr lang="en-US" sz="1150" dirty="0"/>
          </a:p>
        </p:txBody>
      </p:sp>
      <p:sp>
        <p:nvSpPr>
          <p:cNvPr id="26" name="Shape 24"/>
          <p:cNvSpPr/>
          <p:nvPr/>
        </p:nvSpPr>
        <p:spPr>
          <a:xfrm>
            <a:off x="6355080" y="4507992"/>
            <a:ext cx="5333695" cy="566928"/>
          </a:xfrm>
          <a:prstGeom prst="rect">
            <a:avLst/>
          </a:prstGeom>
          <a:solidFill>
            <a:srgbClr val="151515"/>
          </a:solidFill>
          <a:ln w="12700">
            <a:solidFill>
              <a:srgbClr val="242424"/>
            </a:solidFill>
            <a:prstDash val="solid"/>
          </a:ln>
        </p:spPr>
      </p:sp>
      <p:sp>
        <p:nvSpPr>
          <p:cNvPr id="27" name="Text 25"/>
          <p:cNvSpPr/>
          <p:nvPr/>
        </p:nvSpPr>
        <p:spPr>
          <a:xfrm>
            <a:off x="6428232" y="4507992"/>
            <a:ext cx="5187391" cy="566928"/>
          </a:xfrm>
          <a:prstGeom prst="rect">
            <a:avLst/>
          </a:prstGeom>
          <a:noFill/>
          <a:ln/>
        </p:spPr>
        <p:txBody>
          <a:bodyPr wrap="square" lIns="0" tIns="0" rIns="0" bIns="0" rtlCol="0" anchor="ctr"/>
          <a:lstStyle/>
          <a:p>
            <a:pPr algn="ctr" indent="0" marL="0">
              <a:buNone/>
            </a:pPr>
            <a:r>
              <a:rPr lang="en-US" sz="1100" dirty="0">
                <a:solidFill>
                  <a:srgbClr val="FF3B30"/>
                </a:solidFill>
                <a:latin typeface="Courier New" pitchFamily="34" charset="0"/>
                <a:ea typeface="Courier New" pitchFamily="34" charset="-122"/>
                <a:cs typeface="Courier New" pitchFamily="34" charset="-120"/>
              </a:rPr>
              <a:t>FUERA</a:t>
            </a:r>
            <a:endParaRPr lang="en-US" sz="1100" dirty="0"/>
          </a:p>
        </p:txBody>
      </p:sp>
      <p:sp>
        <p:nvSpPr>
          <p:cNvPr id="28" name="Text 26"/>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9" name="Text 27"/>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30" name="Text 28"/>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15 / 47</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13  ALCANCE</a:t>
            </a:r>
            <a:endParaRPr lang="en-US" sz="1100" dirty="0"/>
          </a:p>
        </p:txBody>
      </p:sp>
      <p:sp>
        <p:nvSpPr>
          <p:cNvPr id="3" name="Shape 1"/>
          <p:cNvSpPr/>
          <p:nvPr/>
        </p:nvSpPr>
        <p:spPr>
          <a:xfrm>
            <a:off x="502920" y="1554480"/>
            <a:ext cx="11185855" cy="4206240"/>
          </a:xfrm>
          <a:prstGeom prst="roundRect">
            <a:avLst>
              <a:gd name="adj" fmla="val 1304"/>
            </a:avLst>
          </a:prstGeom>
          <a:solidFill>
            <a:srgbClr val="160B0B"/>
          </a:solidFill>
          <a:ln w="19050">
            <a:solidFill>
              <a:srgbClr val="FF3B30"/>
            </a:solidFill>
            <a:prstDash val="solid"/>
          </a:ln>
        </p:spPr>
      </p:sp>
      <p:sp>
        <p:nvSpPr>
          <p:cNvPr id="4" name="Text 2"/>
          <p:cNvSpPr/>
          <p:nvPr/>
        </p:nvSpPr>
        <p:spPr>
          <a:xfrm>
            <a:off x="868680" y="1874520"/>
            <a:ext cx="10454335" cy="640080"/>
          </a:xfrm>
          <a:prstGeom prst="rect">
            <a:avLst/>
          </a:prstGeom>
          <a:noFill/>
          <a:ln/>
        </p:spPr>
        <p:txBody>
          <a:bodyPr wrap="square" lIns="0" tIns="0" rIns="0" bIns="0" rtlCol="0" anchor="t"/>
          <a:lstStyle/>
          <a:p>
            <a:pPr indent="0" marL="0">
              <a:buNone/>
            </a:pPr>
            <a:r>
              <a:rPr lang="en-US" sz="2600" dirty="0">
                <a:solidFill>
                  <a:srgbClr val="FFB000"/>
                </a:solidFill>
                <a:latin typeface="Arial Black" pitchFamily="34" charset="0"/>
                <a:ea typeface="Arial Black" pitchFamily="34" charset="-122"/>
                <a:cs typeface="Arial Black" pitchFamily="34" charset="-120"/>
              </a:rPr>
              <a:t>⚠  </a:t>
            </a:r>
            <a:pPr indent="0" marL="0">
              <a:buNone/>
            </a:pPr>
            <a:r>
              <a:rPr lang="en-US" sz="2600" dirty="0">
                <a:solidFill>
                  <a:srgbClr val="F4F4F4"/>
                </a:solidFill>
                <a:latin typeface="Arial Black" pitchFamily="34" charset="0"/>
                <a:ea typeface="Arial Black" pitchFamily="34" charset="-122"/>
                <a:cs typeface="Arial Black" pitchFamily="34" charset="-120"/>
              </a:rPr>
              <a:t>EL ERROR #1: MORDER MÁS DE LO QUE SE PUEDE MASTICAR</a:t>
            </a:r>
            <a:endParaRPr lang="en-US" sz="2600" dirty="0"/>
          </a:p>
        </p:txBody>
      </p:sp>
      <p:sp>
        <p:nvSpPr>
          <p:cNvPr id="5" name="Text 3"/>
          <p:cNvSpPr/>
          <p:nvPr/>
        </p:nvSpPr>
        <p:spPr>
          <a:xfrm>
            <a:off x="868680" y="2697480"/>
            <a:ext cx="10454335" cy="2011680"/>
          </a:xfrm>
          <a:prstGeom prst="rect">
            <a:avLst/>
          </a:prstGeom>
          <a:noFill/>
          <a:ln/>
        </p:spPr>
        <p:txBody>
          <a:bodyPr wrap="square" lIns="0" tIns="0" rIns="0" bIns="0" rtlCol="0" anchor="t"/>
          <a:lstStyle/>
          <a:p>
            <a:pPr indent="0" marL="0">
              <a:lnSpc>
                <a:spcPct val="112000"/>
              </a:lnSpc>
              <a:spcAft>
                <a:spcPts val="1200"/>
              </a:spcAft>
              <a:buNone/>
            </a:pPr>
            <a:r>
              <a:rPr lang="en-US" sz="1400" dirty="0">
                <a:solidFill>
                  <a:srgbClr val="F4F4F4"/>
                </a:solidFill>
                <a:latin typeface="Arial" pitchFamily="34" charset="0"/>
                <a:ea typeface="Arial" pitchFamily="34" charset="-122"/>
                <a:cs typeface="Arial" pitchFamily="34" charset="-120"/>
              </a:rPr>
              <a:t>El error más común y más caro es elegir un alcance demasiado grande. Se siente ambicioso, pero condena al equipo a un diagnóstico superficial que no permite aplicar bien ningún marco del curso.</a:t>
            </a:r>
            <a:endParaRPr lang="en-US" sz="1400" dirty="0"/>
          </a:p>
          <a:p>
            <a:pPr indent="0" marL="0">
              <a:lnSpc>
                <a:spcPct val="112000"/>
              </a:lnSpc>
              <a:spcAft>
                <a:spcPts val="1200"/>
              </a:spcAft>
              <a:buNone/>
            </a:pPr>
            <a:r>
              <a:rPr lang="en-US" sz="1400" dirty="0">
                <a:solidFill>
                  <a:srgbClr val="F4F4F4"/>
                </a:solidFill>
                <a:latin typeface="Arial" pitchFamily="34" charset="0"/>
                <a:ea typeface="Arial" pitchFamily="34" charset="-122"/>
                <a:cs typeface="Arial" pitchFamily="34" charset="-120"/>
              </a:rPr>
              <a:t>Si dudan, acoten más. Siempre es más fácil ampliar un alcance pequeño y sólido que rescatar uno enorme y difuso.</a:t>
            </a:r>
            <a:endParaRPr lang="en-US" sz="1400" dirty="0"/>
          </a:p>
        </p:txBody>
      </p:sp>
      <p:sp>
        <p:nvSpPr>
          <p:cNvPr id="6" name="Text 4"/>
          <p:cNvSpPr/>
          <p:nvPr/>
        </p:nvSpPr>
        <p:spPr>
          <a:xfrm>
            <a:off x="868680" y="5029200"/>
            <a:ext cx="10454335" cy="640080"/>
          </a:xfrm>
          <a:prstGeom prst="rect">
            <a:avLst/>
          </a:prstGeom>
          <a:noFill/>
          <a:ln/>
        </p:spPr>
        <p:txBody>
          <a:bodyPr wrap="square" lIns="0" tIns="0" rIns="0" bIns="0" rtlCol="0" anchor="t"/>
          <a:lstStyle/>
          <a:p>
            <a:pPr indent="0" marL="0">
              <a:buNone/>
            </a:pPr>
            <a:r>
              <a:rPr lang="en-US" sz="1300" b="1" dirty="0">
                <a:solidFill>
                  <a:srgbClr val="C6FF00"/>
                </a:solidFill>
                <a:latin typeface="Courier New" pitchFamily="34" charset="0"/>
                <a:ea typeface="Courier New" pitchFamily="34" charset="-122"/>
                <a:cs typeface="Courier New" pitchFamily="34" charset="-120"/>
              </a:rPr>
              <a:t>&gt; </a:t>
            </a:r>
            <a:pPr indent="0" marL="0">
              <a:buNone/>
            </a:pPr>
            <a:r>
              <a:rPr lang="en-US" sz="1300" i="1" dirty="0">
                <a:solidFill>
                  <a:srgbClr val="C6FF00"/>
                </a:solidFill>
                <a:latin typeface="Courier New" pitchFamily="34" charset="0"/>
                <a:ea typeface="Courier New" pitchFamily="34" charset="-122"/>
                <a:cs typeface="Courier New" pitchFamily="34" charset="-120"/>
              </a:rPr>
              <a:t>Ante la duda, acoten. Profundidad sobre un foco pequeño, no superficie sobre todo.</a:t>
            </a:r>
            <a:endParaRPr lang="en-US" sz="1300" dirty="0"/>
          </a:p>
        </p:txBody>
      </p:sp>
      <p:sp>
        <p:nvSpPr>
          <p:cNvPr id="7" name="Text 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8" name="Text 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9" name="Text 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16 / 47</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14  ALCANCE</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LA PRUEBA DE LA FRASE</a:t>
            </a:r>
            <a:endParaRPr lang="en-US" sz="3300" dirty="0"/>
          </a:p>
        </p:txBody>
      </p:sp>
      <p:sp>
        <p:nvSpPr>
          <p:cNvPr id="4" name="Shape 2"/>
          <p:cNvSpPr/>
          <p:nvPr/>
        </p:nvSpPr>
        <p:spPr>
          <a:xfrm>
            <a:off x="502920" y="1783080"/>
            <a:ext cx="3545738" cy="1828800"/>
          </a:xfrm>
          <a:prstGeom prst="roundRect">
            <a:avLst>
              <a:gd name="adj" fmla="val 3000"/>
            </a:avLst>
          </a:prstGeom>
          <a:solidFill>
            <a:srgbClr val="151515"/>
          </a:solidFill>
          <a:ln w="12700">
            <a:solidFill>
              <a:srgbClr val="333333"/>
            </a:solidFill>
            <a:prstDash val="solid"/>
          </a:ln>
        </p:spPr>
      </p:sp>
      <p:sp>
        <p:nvSpPr>
          <p:cNvPr id="5" name="Text 3"/>
          <p:cNvSpPr/>
          <p:nvPr/>
        </p:nvSpPr>
        <p:spPr>
          <a:xfrm>
            <a:off x="640080" y="1965960"/>
            <a:ext cx="3271418" cy="868680"/>
          </a:xfrm>
          <a:prstGeom prst="rect">
            <a:avLst/>
          </a:prstGeom>
          <a:noFill/>
          <a:ln/>
        </p:spPr>
        <p:txBody>
          <a:bodyPr wrap="square" lIns="0" tIns="0" rIns="0" bIns="0" rtlCol="0" anchor="ctr"/>
          <a:lstStyle/>
          <a:p>
            <a:pPr algn="ctr" indent="0" marL="0">
              <a:buNone/>
            </a:pPr>
            <a:r>
              <a:rPr lang="en-US" sz="3800" dirty="0">
                <a:solidFill>
                  <a:srgbClr val="C6FF00"/>
                </a:solidFill>
                <a:latin typeface="Arial Black" pitchFamily="34" charset="0"/>
                <a:ea typeface="Arial Black" pitchFamily="34" charset="-122"/>
                <a:cs typeface="Arial Black" pitchFamily="34" charset="-120"/>
              </a:rPr>
              <a:t>1 FRASE</a:t>
            </a:r>
            <a:endParaRPr lang="en-US" sz="3800" dirty="0"/>
          </a:p>
        </p:txBody>
      </p:sp>
      <p:sp>
        <p:nvSpPr>
          <p:cNvPr id="6" name="Text 4"/>
          <p:cNvSpPr/>
          <p:nvPr/>
        </p:nvSpPr>
        <p:spPr>
          <a:xfrm>
            <a:off x="685800"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si no pueden describir su alcance en una frase, aún no está acotado</a:t>
            </a:r>
            <a:endParaRPr lang="en-US" sz="1100" dirty="0"/>
          </a:p>
        </p:txBody>
      </p:sp>
      <p:sp>
        <p:nvSpPr>
          <p:cNvPr id="7" name="Shape 5"/>
          <p:cNvSpPr/>
          <p:nvPr/>
        </p:nvSpPr>
        <p:spPr>
          <a:xfrm>
            <a:off x="4322978" y="1783080"/>
            <a:ext cx="3545738" cy="1828800"/>
          </a:xfrm>
          <a:prstGeom prst="roundRect">
            <a:avLst>
              <a:gd name="adj" fmla="val 3000"/>
            </a:avLst>
          </a:prstGeom>
          <a:solidFill>
            <a:srgbClr val="151515"/>
          </a:solidFill>
          <a:ln w="12700">
            <a:solidFill>
              <a:srgbClr val="333333"/>
            </a:solidFill>
            <a:prstDash val="solid"/>
          </a:ln>
        </p:spPr>
      </p:sp>
      <p:sp>
        <p:nvSpPr>
          <p:cNvPr id="8" name="Text 6"/>
          <p:cNvSpPr/>
          <p:nvPr/>
        </p:nvSpPr>
        <p:spPr>
          <a:xfrm>
            <a:off x="4460138" y="1965960"/>
            <a:ext cx="3271418" cy="868680"/>
          </a:xfrm>
          <a:prstGeom prst="rect">
            <a:avLst/>
          </a:prstGeom>
          <a:noFill/>
          <a:ln/>
        </p:spPr>
        <p:txBody>
          <a:bodyPr wrap="square" lIns="0" tIns="0" rIns="0" bIns="0" rtlCol="0" anchor="ctr"/>
          <a:lstStyle/>
          <a:p>
            <a:pPr algn="ctr" indent="0" marL="0">
              <a:buNone/>
            </a:pPr>
            <a:r>
              <a:rPr lang="en-US" sz="3800" dirty="0">
                <a:solidFill>
                  <a:srgbClr val="27E5E5"/>
                </a:solidFill>
                <a:latin typeface="Arial Black" pitchFamily="34" charset="0"/>
                <a:ea typeface="Arial Black" pitchFamily="34" charset="-122"/>
                <a:cs typeface="Arial Black" pitchFamily="34" charset="-120"/>
              </a:rPr>
              <a:t>1 LÍNEA</a:t>
            </a:r>
            <a:endParaRPr lang="en-US" sz="3800" dirty="0"/>
          </a:p>
        </p:txBody>
      </p:sp>
      <p:sp>
        <p:nvSpPr>
          <p:cNvPr id="9" name="Text 7"/>
          <p:cNvSpPr/>
          <p:nvPr/>
        </p:nvSpPr>
        <p:spPr>
          <a:xfrm>
            <a:off x="4505858"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apunten a una sola línea o proceso, no a un área completa</a:t>
            </a:r>
            <a:endParaRPr lang="en-US" sz="1100" dirty="0"/>
          </a:p>
        </p:txBody>
      </p:sp>
      <p:sp>
        <p:nvSpPr>
          <p:cNvPr id="10" name="Shape 8"/>
          <p:cNvSpPr/>
          <p:nvPr/>
        </p:nvSpPr>
        <p:spPr>
          <a:xfrm>
            <a:off x="8143037" y="1783080"/>
            <a:ext cx="3545738" cy="1828800"/>
          </a:xfrm>
          <a:prstGeom prst="roundRect">
            <a:avLst>
              <a:gd name="adj" fmla="val 3000"/>
            </a:avLst>
          </a:prstGeom>
          <a:solidFill>
            <a:srgbClr val="151515"/>
          </a:solidFill>
          <a:ln w="12700">
            <a:solidFill>
              <a:srgbClr val="333333"/>
            </a:solidFill>
            <a:prstDash val="solid"/>
          </a:ln>
        </p:spPr>
      </p:sp>
      <p:sp>
        <p:nvSpPr>
          <p:cNvPr id="11" name="Text 9"/>
          <p:cNvSpPr/>
          <p:nvPr/>
        </p:nvSpPr>
        <p:spPr>
          <a:xfrm>
            <a:off x="8280197" y="1965960"/>
            <a:ext cx="3271418" cy="868680"/>
          </a:xfrm>
          <a:prstGeom prst="rect">
            <a:avLst/>
          </a:prstGeom>
          <a:noFill/>
          <a:ln/>
        </p:spPr>
        <p:txBody>
          <a:bodyPr wrap="square" lIns="0" tIns="0" rIns="0" bIns="0" rtlCol="0" anchor="ctr"/>
          <a:lstStyle/>
          <a:p>
            <a:pPr algn="ctr" indent="0" marL="0">
              <a:buNone/>
            </a:pPr>
            <a:r>
              <a:rPr lang="en-US" sz="3800" dirty="0">
                <a:solidFill>
                  <a:srgbClr val="FFB000"/>
                </a:solidFill>
                <a:latin typeface="Arial Black" pitchFamily="34" charset="0"/>
                <a:ea typeface="Arial Black" pitchFamily="34" charset="-122"/>
                <a:cs typeface="Arial Black" pitchFamily="34" charset="-120"/>
              </a:rPr>
              <a:t>IN/OUT</a:t>
            </a:r>
            <a:endParaRPr lang="en-US" sz="3800" dirty="0"/>
          </a:p>
        </p:txBody>
      </p:sp>
      <p:sp>
        <p:nvSpPr>
          <p:cNvPr id="12" name="Text 10"/>
          <p:cNvSpPr/>
          <p:nvPr/>
        </p:nvSpPr>
        <p:spPr>
          <a:xfrm>
            <a:off x="8325917"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escriban explícitamente qué queda fuera; eso es acotar de verdad</a:t>
            </a:r>
            <a:endParaRPr lang="en-US" sz="1100" dirty="0"/>
          </a:p>
        </p:txBody>
      </p:sp>
      <p:sp>
        <p:nvSpPr>
          <p:cNvPr id="13" name="Text 11"/>
          <p:cNvSpPr/>
          <p:nvPr/>
        </p:nvSpPr>
        <p:spPr>
          <a:xfrm>
            <a:off x="502920" y="388620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LECTURA CLAVE</a:t>
            </a:r>
            <a:endParaRPr lang="en-US" sz="1100" dirty="0"/>
          </a:p>
        </p:txBody>
      </p:sp>
      <p:sp>
        <p:nvSpPr>
          <p:cNvPr id="14" name="Text 12"/>
          <p:cNvSpPr/>
          <p:nvPr/>
        </p:nvSpPr>
        <p:spPr>
          <a:xfrm>
            <a:off x="502920" y="4270248"/>
            <a:ext cx="11185855" cy="1463040"/>
          </a:xfrm>
          <a:prstGeom prst="rect">
            <a:avLst/>
          </a:prstGeom>
          <a:noFill/>
          <a:ln/>
        </p:spPr>
        <p:txBody>
          <a:bodyPr wrap="square" lIns="0" tIns="0" rIns="0" bIns="0" rtlCol="0" anchor="t"/>
          <a:lstStyle/>
          <a:p>
            <a:pPr indent="0" marL="0">
              <a:lnSpc>
                <a:spcPct val="110000"/>
              </a:lnSpc>
              <a:buNone/>
            </a:pPr>
            <a:r>
              <a:rPr lang="en-US" sz="1300" dirty="0">
                <a:solidFill>
                  <a:srgbClr val="F4F4F4"/>
                </a:solidFill>
                <a:latin typeface="Arial" pitchFamily="34" charset="0"/>
                <a:ea typeface="Arial" pitchFamily="34" charset="-122"/>
                <a:cs typeface="Arial" pitchFamily="34" charset="-120"/>
              </a:rPr>
              <a:t>Prueba rápida antes de seguir: completen la frase «Nuestro proyecto se enfoca en ________ de la planta ________ de la empresa ________». Si el primer espacio es un proceso concreto y no 'todo', van bien.</a:t>
            </a:r>
            <a:endParaRPr lang="en-US" sz="13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17 / 47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01010"/>
        </a:solidFill>
      </p:bgPr>
    </p:bg>
    <p:spTree>
      <p:nvGrpSpPr>
        <p:cNvPr id="1" name=""/>
        <p:cNvGrpSpPr/>
        <p:nvPr/>
      </p:nvGrpSpPr>
      <p:grpSpPr>
        <a:xfrm>
          <a:off x="0" y="0"/>
          <a:ext cx="0" cy="0"/>
          <a:chOff x="0" y="0"/>
          <a:chExt cx="0" cy="0"/>
        </a:xfrm>
      </p:grpSpPr>
      <p:sp>
        <p:nvSpPr>
          <p:cNvPr id="2" name="Text 0"/>
          <p:cNvSpPr/>
          <p:nvPr/>
        </p:nvSpPr>
        <p:spPr>
          <a:xfrm>
            <a:off x="5029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C6FF00"/>
                </a:solidFill>
                <a:latin typeface="Courier New" pitchFamily="34" charset="0"/>
                <a:ea typeface="Courier New" pitchFamily="34" charset="-122"/>
                <a:cs typeface="Courier New" pitchFamily="34" charset="-120"/>
              </a:rPr>
              <a:t>SECCIÓN</a:t>
            </a:r>
            <a:endParaRPr lang="en-US" sz="1400" dirty="0"/>
          </a:p>
        </p:txBody>
      </p:sp>
      <p:sp>
        <p:nvSpPr>
          <p:cNvPr id="3" name="Text 1"/>
          <p:cNvSpPr/>
          <p:nvPr/>
        </p:nvSpPr>
        <p:spPr>
          <a:xfrm>
            <a:off x="7848295" y="1097280"/>
            <a:ext cx="3840480" cy="3840480"/>
          </a:xfrm>
          <a:prstGeom prst="rect">
            <a:avLst/>
          </a:prstGeom>
          <a:noFill/>
          <a:ln/>
        </p:spPr>
        <p:txBody>
          <a:bodyPr wrap="square" lIns="0" tIns="0" rIns="0" bIns="0" rtlCol="0" anchor="ctr"/>
          <a:lstStyle/>
          <a:p>
            <a:pPr algn="r" indent="0" marL="0">
              <a:buNone/>
            </a:pPr>
            <a:r>
              <a:rPr lang="en-US" sz="20000" dirty="0">
                <a:solidFill>
                  <a:srgbClr val="151515"/>
                </a:solidFill>
                <a:latin typeface="Arial Black" pitchFamily="34" charset="0"/>
                <a:ea typeface="Arial Black" pitchFamily="34" charset="-122"/>
                <a:cs typeface="Arial Black" pitchFamily="34" charset="-120"/>
              </a:rPr>
              <a:t>03</a:t>
            </a:r>
            <a:endParaRPr lang="en-US" sz="20000" dirty="0"/>
          </a:p>
        </p:txBody>
      </p:sp>
      <p:sp>
        <p:nvSpPr>
          <p:cNvPr id="4" name="Text 2"/>
          <p:cNvSpPr/>
          <p:nvPr/>
        </p:nvSpPr>
        <p:spPr>
          <a:xfrm>
            <a:off x="502920" y="2423160"/>
            <a:ext cx="10271455" cy="1737360"/>
          </a:xfrm>
          <a:prstGeom prst="rect">
            <a:avLst/>
          </a:prstGeom>
          <a:noFill/>
          <a:ln/>
        </p:spPr>
        <p:txBody>
          <a:bodyPr wrap="square" lIns="0" tIns="0" rIns="0" bIns="0" rtlCol="0" anchor="t"/>
          <a:lstStyle/>
          <a:p>
            <a:pPr indent="0" marL="0">
              <a:lnSpc>
                <a:spcPct val="96000"/>
              </a:lnSpc>
              <a:buNone/>
            </a:pPr>
            <a:r>
              <a:rPr lang="en-US" sz="4000" dirty="0">
                <a:solidFill>
                  <a:srgbClr val="F4F4F4"/>
                </a:solidFill>
                <a:latin typeface="Arial Black" pitchFamily="34" charset="0"/>
                <a:ea typeface="Arial Black" pitchFamily="34" charset="-122"/>
                <a:cs typeface="Arial Black" pitchFamily="34" charset="-120"/>
              </a:rPr>
              <a:t>ANATOMÍA DE LA EMPRESA</a:t>
            </a:r>
            <a:endParaRPr lang="en-US" sz="4000" dirty="0"/>
          </a:p>
        </p:txBody>
      </p:sp>
      <p:sp>
        <p:nvSpPr>
          <p:cNvPr id="5" name="Text 3"/>
          <p:cNvSpPr/>
          <p:nvPr/>
        </p:nvSpPr>
        <p:spPr>
          <a:xfrm>
            <a:off x="502920" y="4343400"/>
            <a:ext cx="11185855" cy="548640"/>
          </a:xfrm>
          <a:prstGeom prst="rect">
            <a:avLst/>
          </a:prstGeom>
          <a:noFill/>
          <a:ln/>
        </p:spPr>
        <p:txBody>
          <a:bodyPr wrap="square" lIns="0" tIns="0" rIns="0" bIns="0" rtlCol="0" anchor="t"/>
          <a:lstStyle/>
          <a:p>
            <a:pPr indent="0" marL="0">
              <a:buNone/>
            </a:pPr>
            <a:r>
              <a:rPr lang="en-US" sz="1300" b="1" dirty="0">
                <a:solidFill>
                  <a:srgbClr val="C6FF00"/>
                </a:solidFill>
                <a:latin typeface="Courier New" pitchFamily="34" charset="0"/>
                <a:ea typeface="Courier New" pitchFamily="34" charset="-122"/>
                <a:cs typeface="Courier New" pitchFamily="34" charset="-120"/>
              </a:rPr>
              <a:t>&gt; </a:t>
            </a:r>
            <a:pPr indent="0" marL="0">
              <a:buNone/>
            </a:pPr>
            <a:r>
              <a:rPr lang="en-US" sz="1300" dirty="0">
                <a:solidFill>
                  <a:srgbClr val="8C8C8C"/>
                </a:solidFill>
                <a:latin typeface="Courier New" pitchFamily="34" charset="0"/>
                <a:ea typeface="Courier New" pitchFamily="34" charset="-122"/>
                <a:cs typeface="Courier New" pitchFamily="34" charset="-120"/>
              </a:rPr>
              <a:t>La ficha que hay que completar</a:t>
            </a:r>
            <a:endParaRPr lang="en-US" sz="1300" dirty="0"/>
          </a:p>
        </p:txBody>
      </p:sp>
      <p:sp>
        <p:nvSpPr>
          <p:cNvPr id="6" name="Text 4"/>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7" name="Text 5"/>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8" name="Text 6"/>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18 / 47</a:t>
            </a:r>
            <a:endParaRPr lang="en-US" sz="800" dirty="0"/>
          </a:p>
        </p:txBody>
      </p:sp>
      <p:sp>
        <p:nvSpPr>
          <p:cNvPr id="9" name="Text 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0" name="Text 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11" name="Text 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18 / 47</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15  FICHA</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000" dirty="0">
                <a:solidFill>
                  <a:srgbClr val="F4F4F4"/>
                </a:solidFill>
                <a:latin typeface="Arial Black" pitchFamily="34" charset="0"/>
                <a:ea typeface="Arial Black" pitchFamily="34" charset="-122"/>
                <a:cs typeface="Arial Black" pitchFamily="34" charset="-120"/>
              </a:rPr>
              <a:t>LOS 8 CAMPOS DE LA FICHA DE EMPRESA</a:t>
            </a:r>
            <a:endParaRPr lang="en-US" sz="30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Esto es lo que deben definir hoy. Cada campo es una tarjeta de su documento.</a:t>
            </a:r>
            <a:endParaRPr lang="en-US" sz="1250" dirty="0"/>
          </a:p>
        </p:txBody>
      </p:sp>
      <p:sp>
        <p:nvSpPr>
          <p:cNvPr id="5" name="Shape 3"/>
          <p:cNvSpPr/>
          <p:nvPr/>
        </p:nvSpPr>
        <p:spPr>
          <a:xfrm>
            <a:off x="502920" y="1920240"/>
            <a:ext cx="260444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2238680" cy="411480"/>
          </a:xfrm>
          <a:prstGeom prst="rect">
            <a:avLst/>
          </a:prstGeom>
          <a:noFill/>
          <a:ln/>
        </p:spPr>
        <p:txBody>
          <a:bodyPr wrap="square" lIns="0" tIns="0" rIns="0" bIns="0" rtlCol="0" anchor="t"/>
          <a:lstStyle/>
          <a:p>
            <a:pPr indent="0" marL="0">
              <a:buNone/>
            </a:pPr>
            <a:r>
              <a:rPr lang="en-US" sz="1600" dirty="0">
                <a:solidFill>
                  <a:srgbClr val="C6FF00"/>
                </a:solidFill>
                <a:latin typeface="Arial Black" pitchFamily="34" charset="0"/>
                <a:ea typeface="Arial Black" pitchFamily="34" charset="-122"/>
                <a:cs typeface="Arial Black" pitchFamily="34" charset="-120"/>
              </a:rPr>
              <a:t>1 · IDENTIDAD</a:t>
            </a:r>
            <a:endParaRPr lang="en-US" sz="1600" dirty="0"/>
          </a:p>
        </p:txBody>
      </p:sp>
      <p:sp>
        <p:nvSpPr>
          <p:cNvPr id="7" name="Text 5"/>
          <p:cNvSpPr/>
          <p:nvPr/>
        </p:nvSpPr>
        <p:spPr>
          <a:xfrm>
            <a:off x="685800" y="2523744"/>
            <a:ext cx="223868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Nombre, sector, ubicación, tamaño.</a:t>
            </a:r>
            <a:endParaRPr lang="en-US" sz="1100" dirty="0"/>
          </a:p>
        </p:txBody>
      </p:sp>
      <p:sp>
        <p:nvSpPr>
          <p:cNvPr id="8" name="Shape 6"/>
          <p:cNvSpPr/>
          <p:nvPr/>
        </p:nvSpPr>
        <p:spPr>
          <a:xfrm>
            <a:off x="3363392" y="1920240"/>
            <a:ext cx="260444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3546272" y="2066544"/>
            <a:ext cx="2238680" cy="411480"/>
          </a:xfrm>
          <a:prstGeom prst="rect">
            <a:avLst/>
          </a:prstGeom>
          <a:noFill/>
          <a:ln/>
        </p:spPr>
        <p:txBody>
          <a:bodyPr wrap="square" lIns="0" tIns="0" rIns="0" bIns="0" rtlCol="0" anchor="t"/>
          <a:lstStyle/>
          <a:p>
            <a:pPr indent="0" marL="0">
              <a:buNone/>
            </a:pPr>
            <a:r>
              <a:rPr lang="en-US" sz="1600" dirty="0">
                <a:solidFill>
                  <a:srgbClr val="27E5E5"/>
                </a:solidFill>
                <a:latin typeface="Arial Black" pitchFamily="34" charset="0"/>
                <a:ea typeface="Arial Black" pitchFamily="34" charset="-122"/>
                <a:cs typeface="Arial Black" pitchFamily="34" charset="-120"/>
              </a:rPr>
              <a:t>2 · PRODUCTO</a:t>
            </a:r>
            <a:endParaRPr lang="en-US" sz="1600" dirty="0"/>
          </a:p>
        </p:txBody>
      </p:sp>
      <p:sp>
        <p:nvSpPr>
          <p:cNvPr id="10" name="Text 8"/>
          <p:cNvSpPr/>
          <p:nvPr/>
        </p:nvSpPr>
        <p:spPr>
          <a:xfrm>
            <a:off x="3546272" y="2523744"/>
            <a:ext cx="223868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Qué produce la empresa/línea.</a:t>
            </a:r>
            <a:endParaRPr lang="en-US" sz="1100" dirty="0"/>
          </a:p>
        </p:txBody>
      </p:sp>
      <p:sp>
        <p:nvSpPr>
          <p:cNvPr id="11" name="Shape 9"/>
          <p:cNvSpPr/>
          <p:nvPr/>
        </p:nvSpPr>
        <p:spPr>
          <a:xfrm>
            <a:off x="6223864" y="1920240"/>
            <a:ext cx="260444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6406744" y="2066544"/>
            <a:ext cx="2238680" cy="411480"/>
          </a:xfrm>
          <a:prstGeom prst="rect">
            <a:avLst/>
          </a:prstGeom>
          <a:noFill/>
          <a:ln/>
        </p:spPr>
        <p:txBody>
          <a:bodyPr wrap="square" lIns="0" tIns="0" rIns="0" bIns="0" rtlCol="0" anchor="t"/>
          <a:lstStyle/>
          <a:p>
            <a:pPr indent="0" marL="0">
              <a:buNone/>
            </a:pPr>
            <a:r>
              <a:rPr lang="en-US" sz="1600" dirty="0">
                <a:solidFill>
                  <a:srgbClr val="FFB000"/>
                </a:solidFill>
                <a:latin typeface="Arial Black" pitchFamily="34" charset="0"/>
                <a:ea typeface="Arial Black" pitchFamily="34" charset="-122"/>
                <a:cs typeface="Arial Black" pitchFamily="34" charset="-120"/>
              </a:rPr>
              <a:t>3 · ALCANCE</a:t>
            </a:r>
            <a:endParaRPr lang="en-US" sz="1600" dirty="0"/>
          </a:p>
        </p:txBody>
      </p:sp>
      <p:sp>
        <p:nvSpPr>
          <p:cNvPr id="13" name="Text 11"/>
          <p:cNvSpPr/>
          <p:nvPr/>
        </p:nvSpPr>
        <p:spPr>
          <a:xfrm>
            <a:off x="6406744" y="2523744"/>
            <a:ext cx="223868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El proceso foco + tabla dentro/fuera.</a:t>
            </a:r>
            <a:endParaRPr lang="en-US" sz="1100" dirty="0"/>
          </a:p>
        </p:txBody>
      </p:sp>
      <p:sp>
        <p:nvSpPr>
          <p:cNvPr id="14" name="Shape 12"/>
          <p:cNvSpPr/>
          <p:nvPr/>
        </p:nvSpPr>
        <p:spPr>
          <a:xfrm>
            <a:off x="9084335" y="1920240"/>
            <a:ext cx="260444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9267215" y="2066544"/>
            <a:ext cx="2238680" cy="411480"/>
          </a:xfrm>
          <a:prstGeom prst="rect">
            <a:avLst/>
          </a:prstGeom>
          <a:noFill/>
          <a:ln/>
        </p:spPr>
        <p:txBody>
          <a:bodyPr wrap="square" lIns="0" tIns="0" rIns="0" bIns="0" rtlCol="0" anchor="t"/>
          <a:lstStyle/>
          <a:p>
            <a:pPr indent="0" marL="0">
              <a:buNone/>
            </a:pPr>
            <a:r>
              <a:rPr lang="en-US" sz="1600" dirty="0">
                <a:solidFill>
                  <a:srgbClr val="22E06B"/>
                </a:solidFill>
                <a:latin typeface="Arial Black" pitchFamily="34" charset="0"/>
                <a:ea typeface="Arial Black" pitchFamily="34" charset="-122"/>
                <a:cs typeface="Arial Black" pitchFamily="34" charset="-120"/>
              </a:rPr>
              <a:t>4 · PROCESO</a:t>
            </a:r>
            <a:endParaRPr lang="en-US" sz="1600" dirty="0"/>
          </a:p>
        </p:txBody>
      </p:sp>
      <p:sp>
        <p:nvSpPr>
          <p:cNvPr id="16" name="Text 14"/>
          <p:cNvSpPr/>
          <p:nvPr/>
        </p:nvSpPr>
        <p:spPr>
          <a:xfrm>
            <a:off x="9267215" y="2523744"/>
            <a:ext cx="223868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Los pasos del proceso, en orden.</a:t>
            </a:r>
            <a:endParaRPr lang="en-US" sz="1100" dirty="0"/>
          </a:p>
        </p:txBody>
      </p:sp>
      <p:sp>
        <p:nvSpPr>
          <p:cNvPr id="17" name="Shape 15"/>
          <p:cNvSpPr/>
          <p:nvPr/>
        </p:nvSpPr>
        <p:spPr>
          <a:xfrm>
            <a:off x="502920" y="3749040"/>
            <a:ext cx="260444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8" name="Text 16"/>
          <p:cNvSpPr/>
          <p:nvPr/>
        </p:nvSpPr>
        <p:spPr>
          <a:xfrm>
            <a:off x="685800" y="3895344"/>
            <a:ext cx="2238680" cy="411480"/>
          </a:xfrm>
          <a:prstGeom prst="rect">
            <a:avLst/>
          </a:prstGeom>
          <a:noFill/>
          <a:ln/>
        </p:spPr>
        <p:txBody>
          <a:bodyPr wrap="square" lIns="0" tIns="0" rIns="0" bIns="0" rtlCol="0" anchor="t"/>
          <a:lstStyle/>
          <a:p>
            <a:pPr indent="0" marL="0">
              <a:buNone/>
            </a:pPr>
            <a:r>
              <a:rPr lang="en-US" sz="1600" dirty="0">
                <a:solidFill>
                  <a:srgbClr val="9D6BFF"/>
                </a:solidFill>
                <a:latin typeface="Arial Black" pitchFamily="34" charset="0"/>
                <a:ea typeface="Arial Black" pitchFamily="34" charset="-122"/>
                <a:cs typeface="Arial Black" pitchFamily="34" charset="-120"/>
              </a:rPr>
              <a:t>5 · ACTIVOS</a:t>
            </a:r>
            <a:endParaRPr lang="en-US" sz="1600" dirty="0"/>
          </a:p>
        </p:txBody>
      </p:sp>
      <p:sp>
        <p:nvSpPr>
          <p:cNvPr id="19" name="Text 17"/>
          <p:cNvSpPr/>
          <p:nvPr/>
        </p:nvSpPr>
        <p:spPr>
          <a:xfrm>
            <a:off x="685800" y="4352544"/>
            <a:ext cx="223868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Máquinas, sensores, controladores.</a:t>
            </a:r>
            <a:endParaRPr lang="en-US" sz="1100" dirty="0"/>
          </a:p>
        </p:txBody>
      </p:sp>
      <p:sp>
        <p:nvSpPr>
          <p:cNvPr id="20" name="Shape 18"/>
          <p:cNvSpPr/>
          <p:nvPr/>
        </p:nvSpPr>
        <p:spPr>
          <a:xfrm>
            <a:off x="3363392" y="3749040"/>
            <a:ext cx="260444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21" name="Text 19"/>
          <p:cNvSpPr/>
          <p:nvPr/>
        </p:nvSpPr>
        <p:spPr>
          <a:xfrm>
            <a:off x="3546272" y="3895344"/>
            <a:ext cx="2238680" cy="411480"/>
          </a:xfrm>
          <a:prstGeom prst="rect">
            <a:avLst/>
          </a:prstGeom>
          <a:noFill/>
          <a:ln/>
        </p:spPr>
        <p:txBody>
          <a:bodyPr wrap="square" lIns="0" tIns="0" rIns="0" bIns="0" rtlCol="0" anchor="t"/>
          <a:lstStyle/>
          <a:p>
            <a:pPr indent="0" marL="0">
              <a:buNone/>
            </a:pPr>
            <a:r>
              <a:rPr lang="en-US" sz="1600" dirty="0">
                <a:solidFill>
                  <a:srgbClr val="FF6B35"/>
                </a:solidFill>
                <a:latin typeface="Arial Black" pitchFamily="34" charset="0"/>
                <a:ea typeface="Arial Black" pitchFamily="34" charset="-122"/>
                <a:cs typeface="Arial Black" pitchFamily="34" charset="-120"/>
              </a:rPr>
              <a:t>6 · IT / OT</a:t>
            </a:r>
            <a:endParaRPr lang="en-US" sz="1600" dirty="0"/>
          </a:p>
        </p:txBody>
      </p:sp>
      <p:sp>
        <p:nvSpPr>
          <p:cNvPr id="22" name="Text 20"/>
          <p:cNvSpPr/>
          <p:nvPr/>
        </p:nvSpPr>
        <p:spPr>
          <a:xfrm>
            <a:off x="3546272" y="4352544"/>
            <a:ext cx="223868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Qué tecnología de información y operación hay.</a:t>
            </a:r>
            <a:endParaRPr lang="en-US" sz="1100" dirty="0"/>
          </a:p>
        </p:txBody>
      </p:sp>
      <p:sp>
        <p:nvSpPr>
          <p:cNvPr id="23" name="Shape 21"/>
          <p:cNvSpPr/>
          <p:nvPr/>
        </p:nvSpPr>
        <p:spPr>
          <a:xfrm>
            <a:off x="6223864" y="3749040"/>
            <a:ext cx="260444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24" name="Text 22"/>
          <p:cNvSpPr/>
          <p:nvPr/>
        </p:nvSpPr>
        <p:spPr>
          <a:xfrm>
            <a:off x="6406744" y="3895344"/>
            <a:ext cx="2238680" cy="411480"/>
          </a:xfrm>
          <a:prstGeom prst="rect">
            <a:avLst/>
          </a:prstGeom>
          <a:noFill/>
          <a:ln/>
        </p:spPr>
        <p:txBody>
          <a:bodyPr wrap="square" lIns="0" tIns="0" rIns="0" bIns="0" rtlCol="0" anchor="t"/>
          <a:lstStyle/>
          <a:p>
            <a:pPr indent="0" marL="0">
              <a:buNone/>
            </a:pPr>
            <a:r>
              <a:rPr lang="en-US" sz="1600" dirty="0">
                <a:solidFill>
                  <a:srgbClr val="FF3B30"/>
                </a:solidFill>
                <a:latin typeface="Arial Black" pitchFamily="34" charset="0"/>
                <a:ea typeface="Arial Black" pitchFamily="34" charset="-122"/>
                <a:cs typeface="Arial Black" pitchFamily="34" charset="-120"/>
              </a:rPr>
              <a:t>7 · DOLOR</a:t>
            </a:r>
            <a:endParaRPr lang="en-US" sz="1600" dirty="0"/>
          </a:p>
        </p:txBody>
      </p:sp>
      <p:sp>
        <p:nvSpPr>
          <p:cNvPr id="25" name="Text 23"/>
          <p:cNvSpPr/>
          <p:nvPr/>
        </p:nvSpPr>
        <p:spPr>
          <a:xfrm>
            <a:off x="6406744" y="4352544"/>
            <a:ext cx="223868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El problema de negocio que motiva todo.</a:t>
            </a:r>
            <a:endParaRPr lang="en-US" sz="1100" dirty="0"/>
          </a:p>
        </p:txBody>
      </p:sp>
      <p:sp>
        <p:nvSpPr>
          <p:cNvPr id="26" name="Shape 24"/>
          <p:cNvSpPr/>
          <p:nvPr/>
        </p:nvSpPr>
        <p:spPr>
          <a:xfrm>
            <a:off x="9084335" y="3749040"/>
            <a:ext cx="260444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27" name="Text 25"/>
          <p:cNvSpPr/>
          <p:nvPr/>
        </p:nvSpPr>
        <p:spPr>
          <a:xfrm>
            <a:off x="9267215" y="3895344"/>
            <a:ext cx="2238680" cy="411480"/>
          </a:xfrm>
          <a:prstGeom prst="rect">
            <a:avLst/>
          </a:prstGeom>
          <a:noFill/>
          <a:ln/>
        </p:spPr>
        <p:txBody>
          <a:bodyPr wrap="square" lIns="0" tIns="0" rIns="0" bIns="0" rtlCol="0" anchor="t"/>
          <a:lstStyle/>
          <a:p>
            <a:pPr indent="0" marL="0">
              <a:buNone/>
            </a:pPr>
            <a:r>
              <a:rPr lang="en-US" sz="1300" dirty="0">
                <a:solidFill>
                  <a:srgbClr val="27E5E5"/>
                </a:solidFill>
                <a:latin typeface="Arial Black" pitchFamily="34" charset="0"/>
                <a:ea typeface="Arial Black" pitchFamily="34" charset="-122"/>
                <a:cs typeface="Arial Black" pitchFamily="34" charset="-120"/>
              </a:rPr>
              <a:t>8 · INTERESADOS</a:t>
            </a:r>
            <a:endParaRPr lang="en-US" sz="1300" dirty="0"/>
          </a:p>
        </p:txBody>
      </p:sp>
      <p:sp>
        <p:nvSpPr>
          <p:cNvPr id="28" name="Text 26"/>
          <p:cNvSpPr/>
          <p:nvPr/>
        </p:nvSpPr>
        <p:spPr>
          <a:xfrm>
            <a:off x="9267215" y="4352544"/>
            <a:ext cx="223868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Quién decide y a quién le importa.</a:t>
            </a:r>
            <a:endParaRPr lang="en-US" sz="1100" dirty="0"/>
          </a:p>
        </p:txBody>
      </p:sp>
      <p:sp>
        <p:nvSpPr>
          <p:cNvPr id="29" name="Text 2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30" name="Text 2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31" name="Text 2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19 / 47</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16  FICHA</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IDENTIDAD, PRODUCTO Y TAMAÑO</a:t>
            </a:r>
            <a:endParaRPr lang="en-US" sz="3300" dirty="0"/>
          </a:p>
        </p:txBody>
      </p:sp>
      <p:sp>
        <p:nvSpPr>
          <p:cNvPr id="4" name="Shape 2"/>
          <p:cNvSpPr/>
          <p:nvPr/>
        </p:nvSpPr>
        <p:spPr>
          <a:xfrm>
            <a:off x="502920" y="1783080"/>
            <a:ext cx="3545738" cy="2286000"/>
          </a:xfrm>
          <a:prstGeom prst="roundRect">
            <a:avLst>
              <a:gd name="adj" fmla="val 2400"/>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5" name="Text 3"/>
          <p:cNvSpPr/>
          <p:nvPr/>
        </p:nvSpPr>
        <p:spPr>
          <a:xfrm>
            <a:off x="685800" y="1965960"/>
            <a:ext cx="3179978" cy="457200"/>
          </a:xfrm>
          <a:prstGeom prst="rect">
            <a:avLst/>
          </a:prstGeom>
          <a:noFill/>
          <a:ln/>
        </p:spPr>
        <p:txBody>
          <a:bodyPr wrap="square" lIns="0" tIns="0" rIns="0" bIns="0" rtlCol="0" anchor="t"/>
          <a:lstStyle/>
          <a:p>
            <a:pPr indent="0" marL="0">
              <a:buNone/>
            </a:pPr>
            <a:r>
              <a:rPr lang="en-US" sz="1700" dirty="0">
                <a:solidFill>
                  <a:srgbClr val="C6FF00"/>
                </a:solidFill>
                <a:latin typeface="Arial Black" pitchFamily="34" charset="0"/>
                <a:ea typeface="Arial Black" pitchFamily="34" charset="-122"/>
                <a:cs typeface="Arial Black" pitchFamily="34" charset="-120"/>
              </a:rPr>
              <a:t>IDENTIDAD</a:t>
            </a:r>
            <a:endParaRPr lang="en-US" sz="1700" dirty="0"/>
          </a:p>
        </p:txBody>
      </p:sp>
      <p:sp>
        <p:nvSpPr>
          <p:cNvPr id="6" name="Text 4"/>
          <p:cNvSpPr/>
          <p:nvPr/>
        </p:nvSpPr>
        <p:spPr>
          <a:xfrm>
            <a:off x="685800" y="2496312"/>
            <a:ext cx="3179978" cy="1005840"/>
          </a:xfrm>
          <a:prstGeom prst="rect">
            <a:avLst/>
          </a:prstGeom>
          <a:noFill/>
          <a:ln/>
        </p:spPr>
        <p:txBody>
          <a:bodyPr wrap="square" lIns="0" tIns="0" rIns="0" bIns="0" rtlCol="0" anchor="t"/>
          <a:lstStyle/>
          <a:p>
            <a:pPr indent="0" marL="0">
              <a:lnSpc>
                <a:spcPct val="105000"/>
              </a:lnSpc>
              <a:buNone/>
            </a:pPr>
            <a:r>
              <a:rPr lang="en-US" sz="1150" dirty="0">
                <a:solidFill>
                  <a:srgbClr val="F4F4F4"/>
                </a:solidFill>
                <a:latin typeface="Arial" pitchFamily="34" charset="0"/>
                <a:ea typeface="Arial" pitchFamily="34" charset="-122"/>
                <a:cs typeface="Arial" pitchFamily="34" charset="-120"/>
              </a:rPr>
              <a:t>Nombre creíble, sector (alimentos, textil, cemento…), ubicación (idealmente Antioquia) y tamaño (pyme suele ser lo más realista).</a:t>
            </a:r>
            <a:endParaRPr lang="en-US" sz="1150" dirty="0"/>
          </a:p>
        </p:txBody>
      </p:sp>
      <p:sp>
        <p:nvSpPr>
          <p:cNvPr id="7" name="Text 5"/>
          <p:cNvSpPr/>
          <p:nvPr/>
        </p:nvSpPr>
        <p:spPr>
          <a:xfrm>
            <a:off x="685800" y="3566160"/>
            <a:ext cx="3179978" cy="457200"/>
          </a:xfrm>
          <a:prstGeom prst="rect">
            <a:avLst/>
          </a:prstGeom>
          <a:noFill/>
          <a:ln/>
        </p:spPr>
        <p:txBody>
          <a:bodyPr wrap="square" lIns="0" tIns="0" rIns="0" bIns="0" rtlCol="0" anchor="t"/>
          <a:lstStyle/>
          <a:p>
            <a:pPr indent="0" marL="0">
              <a:buNone/>
            </a:pPr>
            <a:r>
              <a:rPr lang="en-US" sz="950" dirty="0">
                <a:solidFill>
                  <a:srgbClr val="8C8C8C"/>
                </a:solidFill>
                <a:latin typeface="Courier New" pitchFamily="34" charset="0"/>
                <a:ea typeface="Courier New" pitchFamily="34" charset="-122"/>
                <a:cs typeface="Courier New" pitchFamily="34" charset="-120"/>
              </a:rPr>
              <a:t>Ficticia, pero verosímil</a:t>
            </a:r>
            <a:endParaRPr lang="en-US" sz="950" dirty="0"/>
          </a:p>
        </p:txBody>
      </p:sp>
      <p:sp>
        <p:nvSpPr>
          <p:cNvPr id="8" name="Shape 6"/>
          <p:cNvSpPr/>
          <p:nvPr/>
        </p:nvSpPr>
        <p:spPr>
          <a:xfrm>
            <a:off x="4322978" y="1783080"/>
            <a:ext cx="3545738" cy="2286000"/>
          </a:xfrm>
          <a:prstGeom prst="roundRect">
            <a:avLst>
              <a:gd name="adj" fmla="val 2400"/>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4505858" y="1965960"/>
            <a:ext cx="3179978" cy="457200"/>
          </a:xfrm>
          <a:prstGeom prst="rect">
            <a:avLst/>
          </a:prstGeom>
          <a:noFill/>
          <a:ln/>
        </p:spPr>
        <p:txBody>
          <a:bodyPr wrap="square" lIns="0" tIns="0" rIns="0" bIns="0" rtlCol="0" anchor="t"/>
          <a:lstStyle/>
          <a:p>
            <a:pPr indent="0" marL="0">
              <a:buNone/>
            </a:pPr>
            <a:r>
              <a:rPr lang="en-US" sz="1700" dirty="0">
                <a:solidFill>
                  <a:srgbClr val="27E5E5"/>
                </a:solidFill>
                <a:latin typeface="Arial Black" pitchFamily="34" charset="0"/>
                <a:ea typeface="Arial Black" pitchFamily="34" charset="-122"/>
                <a:cs typeface="Arial Black" pitchFamily="34" charset="-120"/>
              </a:rPr>
              <a:t>PRODUCTO</a:t>
            </a:r>
            <a:endParaRPr lang="en-US" sz="1700" dirty="0"/>
          </a:p>
        </p:txBody>
      </p:sp>
      <p:sp>
        <p:nvSpPr>
          <p:cNvPr id="10" name="Text 8"/>
          <p:cNvSpPr/>
          <p:nvPr/>
        </p:nvSpPr>
        <p:spPr>
          <a:xfrm>
            <a:off x="4505858" y="2496312"/>
            <a:ext cx="3179978" cy="1005840"/>
          </a:xfrm>
          <a:prstGeom prst="rect">
            <a:avLst/>
          </a:prstGeom>
          <a:noFill/>
          <a:ln/>
        </p:spPr>
        <p:txBody>
          <a:bodyPr wrap="square" lIns="0" tIns="0" rIns="0" bIns="0" rtlCol="0" anchor="t"/>
          <a:lstStyle/>
          <a:p>
            <a:pPr indent="0" marL="0">
              <a:lnSpc>
                <a:spcPct val="105000"/>
              </a:lnSpc>
              <a:buNone/>
            </a:pPr>
            <a:r>
              <a:rPr lang="en-US" sz="1150" dirty="0">
                <a:solidFill>
                  <a:srgbClr val="F4F4F4"/>
                </a:solidFill>
                <a:latin typeface="Arial" pitchFamily="34" charset="0"/>
                <a:ea typeface="Arial" pitchFamily="34" charset="-122"/>
                <a:cs typeface="Arial" pitchFamily="34" charset="-120"/>
              </a:rPr>
              <a:t>Qué hace la empresa y, sobre todo, qué produce la LÍNEA foco (el producto concreto que sale de ese proceso).</a:t>
            </a:r>
            <a:endParaRPr lang="en-US" sz="1150" dirty="0"/>
          </a:p>
        </p:txBody>
      </p:sp>
      <p:sp>
        <p:nvSpPr>
          <p:cNvPr id="11" name="Text 9"/>
          <p:cNvSpPr/>
          <p:nvPr/>
        </p:nvSpPr>
        <p:spPr>
          <a:xfrm>
            <a:off x="4505858" y="3566160"/>
            <a:ext cx="3179978" cy="457200"/>
          </a:xfrm>
          <a:prstGeom prst="rect">
            <a:avLst/>
          </a:prstGeom>
          <a:noFill/>
          <a:ln/>
        </p:spPr>
        <p:txBody>
          <a:bodyPr wrap="square" lIns="0" tIns="0" rIns="0" bIns="0" rtlCol="0" anchor="t"/>
          <a:lstStyle/>
          <a:p>
            <a:pPr indent="0" marL="0">
              <a:buNone/>
            </a:pPr>
            <a:r>
              <a:rPr lang="en-US" sz="950" dirty="0">
                <a:solidFill>
                  <a:srgbClr val="8C8C8C"/>
                </a:solidFill>
                <a:latin typeface="Courier New" pitchFamily="34" charset="0"/>
                <a:ea typeface="Courier New" pitchFamily="34" charset="-122"/>
                <a:cs typeface="Courier New" pitchFamily="34" charset="-120"/>
              </a:rPr>
              <a:t>Ej: yogurt bebible 200 ml</a:t>
            </a:r>
            <a:endParaRPr lang="en-US" sz="950" dirty="0"/>
          </a:p>
        </p:txBody>
      </p:sp>
      <p:sp>
        <p:nvSpPr>
          <p:cNvPr id="12" name="Shape 10"/>
          <p:cNvSpPr/>
          <p:nvPr/>
        </p:nvSpPr>
        <p:spPr>
          <a:xfrm>
            <a:off x="8143037" y="1783080"/>
            <a:ext cx="3545738" cy="2286000"/>
          </a:xfrm>
          <a:prstGeom prst="roundRect">
            <a:avLst>
              <a:gd name="adj" fmla="val 2400"/>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3" name="Text 11"/>
          <p:cNvSpPr/>
          <p:nvPr/>
        </p:nvSpPr>
        <p:spPr>
          <a:xfrm>
            <a:off x="8325917" y="1965960"/>
            <a:ext cx="3179978" cy="457200"/>
          </a:xfrm>
          <a:prstGeom prst="rect">
            <a:avLst/>
          </a:prstGeom>
          <a:noFill/>
          <a:ln/>
        </p:spPr>
        <p:txBody>
          <a:bodyPr wrap="square" lIns="0" tIns="0" rIns="0" bIns="0" rtlCol="0" anchor="t"/>
          <a:lstStyle/>
          <a:p>
            <a:pPr indent="0" marL="0">
              <a:buNone/>
            </a:pPr>
            <a:r>
              <a:rPr lang="en-US" sz="1700" dirty="0">
                <a:solidFill>
                  <a:srgbClr val="FFB000"/>
                </a:solidFill>
                <a:latin typeface="Arial Black" pitchFamily="34" charset="0"/>
                <a:ea typeface="Arial Black" pitchFamily="34" charset="-122"/>
                <a:cs typeface="Arial Black" pitchFamily="34" charset="-120"/>
              </a:rPr>
              <a:t>TAMAÑO</a:t>
            </a:r>
            <a:endParaRPr lang="en-US" sz="1700" dirty="0"/>
          </a:p>
        </p:txBody>
      </p:sp>
      <p:sp>
        <p:nvSpPr>
          <p:cNvPr id="14" name="Text 12"/>
          <p:cNvSpPr/>
          <p:nvPr/>
        </p:nvSpPr>
        <p:spPr>
          <a:xfrm>
            <a:off x="8325917" y="2496312"/>
            <a:ext cx="3179978" cy="1005840"/>
          </a:xfrm>
          <a:prstGeom prst="rect">
            <a:avLst/>
          </a:prstGeom>
          <a:noFill/>
          <a:ln/>
        </p:spPr>
        <p:txBody>
          <a:bodyPr wrap="square" lIns="0" tIns="0" rIns="0" bIns="0" rtlCol="0" anchor="t"/>
          <a:lstStyle/>
          <a:p>
            <a:pPr indent="0" marL="0">
              <a:lnSpc>
                <a:spcPct val="105000"/>
              </a:lnSpc>
              <a:buNone/>
            </a:pPr>
            <a:r>
              <a:rPr lang="en-US" sz="1150" dirty="0">
                <a:solidFill>
                  <a:srgbClr val="F4F4F4"/>
                </a:solidFill>
                <a:latin typeface="Arial" pitchFamily="34" charset="0"/>
                <a:ea typeface="Arial" pitchFamily="34" charset="-122"/>
                <a:cs typeface="Arial" pitchFamily="34" charset="-120"/>
              </a:rPr>
              <a:t>Número de empleados, líneas, turnos. Una pyme con 1–2 líneas es más fácil de acotar que una multinacional.</a:t>
            </a:r>
            <a:endParaRPr lang="en-US" sz="1150" dirty="0"/>
          </a:p>
        </p:txBody>
      </p:sp>
      <p:sp>
        <p:nvSpPr>
          <p:cNvPr id="15" name="Text 13"/>
          <p:cNvSpPr/>
          <p:nvPr/>
        </p:nvSpPr>
        <p:spPr>
          <a:xfrm>
            <a:off x="8325917" y="3566160"/>
            <a:ext cx="3179978" cy="457200"/>
          </a:xfrm>
          <a:prstGeom prst="rect">
            <a:avLst/>
          </a:prstGeom>
          <a:noFill/>
          <a:ln/>
        </p:spPr>
        <p:txBody>
          <a:bodyPr wrap="square" lIns="0" tIns="0" rIns="0" bIns="0" rtlCol="0" anchor="t"/>
          <a:lstStyle/>
          <a:p>
            <a:pPr indent="0" marL="0">
              <a:buNone/>
            </a:pPr>
            <a:r>
              <a:rPr lang="en-US" sz="950" dirty="0">
                <a:solidFill>
                  <a:srgbClr val="8C8C8C"/>
                </a:solidFill>
                <a:latin typeface="Courier New" pitchFamily="34" charset="0"/>
                <a:ea typeface="Courier New" pitchFamily="34" charset="-122"/>
                <a:cs typeface="Courier New" pitchFamily="34" charset="-120"/>
              </a:rPr>
              <a:t>Realismo &gt; grandeza</a:t>
            </a:r>
            <a:endParaRPr lang="en-US" sz="950" dirty="0"/>
          </a:p>
        </p:txBody>
      </p:sp>
      <p:sp>
        <p:nvSpPr>
          <p:cNvPr id="16" name="Text 14"/>
          <p:cNvSpPr/>
          <p:nvPr/>
        </p:nvSpPr>
        <p:spPr>
          <a:xfrm>
            <a:off x="502920" y="4297680"/>
            <a:ext cx="11185855" cy="1097280"/>
          </a:xfrm>
          <a:prstGeom prst="rect">
            <a:avLst/>
          </a:prstGeom>
          <a:noFill/>
          <a:ln/>
        </p:spPr>
        <p:txBody>
          <a:bodyPr wrap="square" lIns="0" tIns="0" rIns="0" bIns="0" rtlCol="0" anchor="t"/>
          <a:lstStyle/>
          <a:p>
            <a:pPr indent="0" marL="0">
              <a:lnSpc>
                <a:spcPct val="110000"/>
              </a:lnSpc>
              <a:buNone/>
            </a:pPr>
            <a:r>
              <a:rPr lang="en-US" sz="1250" dirty="0">
                <a:solidFill>
                  <a:srgbClr val="F4F4F4"/>
                </a:solidFill>
                <a:latin typeface="Arial" pitchFamily="34" charset="0"/>
                <a:ea typeface="Arial" pitchFamily="34" charset="-122"/>
                <a:cs typeface="Arial" pitchFamily="34" charset="-120"/>
              </a:rPr>
              <a:t>La identidad ancla el proyecto en algo concreto. Prefieran realismo (una pyme antioqueña) sobre grandeza (una multinacional genérica).</a:t>
            </a:r>
            <a:endParaRPr lang="en-US" sz="1250" dirty="0"/>
          </a:p>
        </p:txBody>
      </p:sp>
      <p:sp>
        <p:nvSpPr>
          <p:cNvPr id="17" name="Text 1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8" name="Text 1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19" name="Text 1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20 / 47</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17  FICHA</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000" dirty="0">
                <a:solidFill>
                  <a:srgbClr val="F4F4F4"/>
                </a:solidFill>
                <a:latin typeface="Arial Black" pitchFamily="34" charset="0"/>
                <a:ea typeface="Arial Black" pitchFamily="34" charset="-122"/>
                <a:cs typeface="Arial Black" pitchFamily="34" charset="-120"/>
              </a:rPr>
              <a:t>ACTIVOS FÍSICOS VS TECNOLOGÍA (IT/OT)</a:t>
            </a:r>
            <a:endParaRPr lang="en-US" sz="3000" dirty="0"/>
          </a:p>
        </p:txBody>
      </p:sp>
      <p:sp>
        <p:nvSpPr>
          <p:cNvPr id="4" name="Shape 2"/>
          <p:cNvSpPr/>
          <p:nvPr/>
        </p:nvSpPr>
        <p:spPr>
          <a:xfrm>
            <a:off x="502920" y="1783080"/>
            <a:ext cx="5364328" cy="4489704"/>
          </a:xfrm>
          <a:prstGeom prst="roundRect">
            <a:avLst>
              <a:gd name="adj" fmla="val 1018"/>
            </a:avLst>
          </a:prstGeom>
          <a:solidFill>
            <a:srgbClr val="151515"/>
          </a:solidFill>
          <a:ln w="12700">
            <a:solidFill>
              <a:srgbClr val="333333"/>
            </a:solidFill>
            <a:prstDash val="solid"/>
          </a:ln>
        </p:spPr>
      </p:sp>
      <p:sp>
        <p:nvSpPr>
          <p:cNvPr id="5" name="Text 3"/>
          <p:cNvSpPr/>
          <p:nvPr/>
        </p:nvSpPr>
        <p:spPr>
          <a:xfrm>
            <a:off x="704088" y="1947672"/>
            <a:ext cx="4961992" cy="411480"/>
          </a:xfrm>
          <a:prstGeom prst="rect">
            <a:avLst/>
          </a:prstGeom>
          <a:noFill/>
          <a:ln/>
        </p:spPr>
        <p:txBody>
          <a:bodyPr wrap="square" lIns="0" tIns="0" rIns="0" bIns="0" rtlCol="0" anchor="t"/>
          <a:lstStyle/>
          <a:p>
            <a:pPr indent="0" marL="0">
              <a:buNone/>
            </a:pPr>
            <a:r>
              <a:rPr lang="en-US" sz="1400" dirty="0">
                <a:solidFill>
                  <a:srgbClr val="27E5E5"/>
                </a:solidFill>
                <a:latin typeface="Arial Black" pitchFamily="34" charset="0"/>
                <a:ea typeface="Arial Black" pitchFamily="34" charset="-122"/>
                <a:cs typeface="Arial Black" pitchFamily="34" charset="-120"/>
              </a:rPr>
              <a:t>ACTIVOS Y OT (EL MUNDO FÍSICO)</a:t>
            </a:r>
            <a:endParaRPr lang="en-US" sz="1400" dirty="0"/>
          </a:p>
        </p:txBody>
      </p:sp>
      <p:sp>
        <p:nvSpPr>
          <p:cNvPr id="6" name="Text 4"/>
          <p:cNvSpPr/>
          <p:nvPr/>
        </p:nvSpPr>
        <p:spPr>
          <a:xfrm>
            <a:off x="704088" y="2441448"/>
            <a:ext cx="4961992" cy="3666744"/>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Máquinas: llenadora, horno, prensa, robot</a:t>
            </a:r>
            <a:endParaRPr lang="en-US" sz="1200" dirty="0"/>
          </a:p>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Sensores: temperatura, nivel, vibración, presencia</a:t>
            </a:r>
            <a:endParaRPr lang="en-US" sz="1200" dirty="0"/>
          </a:p>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Controladores: PLC, RTU</a:t>
            </a:r>
            <a:endParaRPr lang="en-US" sz="1200" dirty="0"/>
          </a:p>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Interfaz: HMI (pantalla del operario)</a:t>
            </a:r>
            <a:endParaRPr lang="en-US" sz="1200" dirty="0"/>
          </a:p>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Supervisión: SCADA de la línea</a:t>
            </a:r>
            <a:endParaRPr lang="en-US" sz="1200" dirty="0"/>
          </a:p>
        </p:txBody>
      </p:sp>
      <p:sp>
        <p:nvSpPr>
          <p:cNvPr id="7" name="Shape 5"/>
          <p:cNvSpPr/>
          <p:nvPr/>
        </p:nvSpPr>
        <p:spPr>
          <a:xfrm>
            <a:off x="6324448" y="1783080"/>
            <a:ext cx="5364328" cy="4489704"/>
          </a:xfrm>
          <a:prstGeom prst="roundRect">
            <a:avLst>
              <a:gd name="adj" fmla="val 1018"/>
            </a:avLst>
          </a:prstGeom>
          <a:solidFill>
            <a:srgbClr val="151515"/>
          </a:solidFill>
          <a:ln w="12700">
            <a:solidFill>
              <a:srgbClr val="333333"/>
            </a:solidFill>
            <a:prstDash val="solid"/>
          </a:ln>
        </p:spPr>
      </p:sp>
      <p:sp>
        <p:nvSpPr>
          <p:cNvPr id="8" name="Text 6"/>
          <p:cNvSpPr/>
          <p:nvPr/>
        </p:nvSpPr>
        <p:spPr>
          <a:xfrm>
            <a:off x="6525616" y="1947672"/>
            <a:ext cx="4961992" cy="411480"/>
          </a:xfrm>
          <a:prstGeom prst="rect">
            <a:avLst/>
          </a:prstGeom>
          <a:noFill/>
          <a:ln/>
        </p:spPr>
        <p:txBody>
          <a:bodyPr wrap="square" lIns="0" tIns="0" rIns="0" bIns="0" rtlCol="0" anchor="t"/>
          <a:lstStyle/>
          <a:p>
            <a:pPr indent="0" marL="0">
              <a:buNone/>
            </a:pPr>
            <a:r>
              <a:rPr lang="en-US" sz="1400" dirty="0">
                <a:solidFill>
                  <a:srgbClr val="C6FF00"/>
                </a:solidFill>
                <a:latin typeface="Arial Black" pitchFamily="34" charset="0"/>
                <a:ea typeface="Arial Black" pitchFamily="34" charset="-122"/>
                <a:cs typeface="Arial Black" pitchFamily="34" charset="-120"/>
              </a:rPr>
              <a:t>IT (EL MUNDO DE LA INFORMACIÓN)</a:t>
            </a:r>
            <a:endParaRPr lang="en-US" sz="1400" dirty="0"/>
          </a:p>
        </p:txBody>
      </p:sp>
      <p:sp>
        <p:nvSpPr>
          <p:cNvPr id="9" name="Text 7"/>
          <p:cNvSpPr/>
          <p:nvPr/>
        </p:nvSpPr>
        <p:spPr>
          <a:xfrm>
            <a:off x="6525616" y="2441448"/>
            <a:ext cx="4961992" cy="3666744"/>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ERP: contabilidad, inventario, compras</a:t>
            </a:r>
            <a:endParaRPr lang="en-US" sz="1200" dirty="0"/>
          </a:p>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MES: ejecución y trazabilidad de producción</a:t>
            </a:r>
            <a:endParaRPr lang="en-US" sz="1200" dirty="0"/>
          </a:p>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Historiador: base de datos de señales</a:t>
            </a:r>
            <a:endParaRPr lang="en-US" sz="1200" dirty="0"/>
          </a:p>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Red de oficina y correo</a:t>
            </a:r>
            <a:endParaRPr lang="en-US" sz="1200" dirty="0"/>
          </a:p>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Acceso remoto de proveedores</a:t>
            </a:r>
            <a:endParaRPr lang="en-US" sz="1200" dirty="0"/>
          </a:p>
        </p:txBody>
      </p:sp>
      <p:sp>
        <p:nvSpPr>
          <p:cNvPr id="10" name="Text 8"/>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1" name="Text 9"/>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12" name="Text 10"/>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21 / 47</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18  FICHA</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2700" dirty="0">
                <a:solidFill>
                  <a:srgbClr val="F4F4F4"/>
                </a:solidFill>
                <a:latin typeface="Arial Black" pitchFamily="34" charset="0"/>
                <a:ea typeface="Arial Black" pitchFamily="34" charset="-122"/>
                <a:cs typeface="Arial Black" pitchFamily="34" charset="-120"/>
              </a:rPr>
              <a:t>EL DOLOR DE NEGOCIO — EL MOTOR DEL PROYECTO</a:t>
            </a:r>
            <a:endParaRPr lang="en-US" sz="2700" dirty="0"/>
          </a:p>
        </p:txBody>
      </p:sp>
      <p:sp>
        <p:nvSpPr>
          <p:cNvPr id="4" name="Shape 2"/>
          <p:cNvSpPr/>
          <p:nvPr/>
        </p:nvSpPr>
        <p:spPr>
          <a:xfrm>
            <a:off x="502920" y="1783080"/>
            <a:ext cx="11185855" cy="1280160"/>
          </a:xfrm>
          <a:prstGeom prst="roundRect">
            <a:avLst>
              <a:gd name="adj" fmla="val 4286"/>
            </a:avLst>
          </a:prstGeom>
          <a:solidFill>
            <a:srgbClr val="1E1E1E"/>
          </a:solidFill>
          <a:ln w="12700">
            <a:solidFill>
              <a:srgbClr val="333333"/>
            </a:solidFill>
            <a:prstDash val="solid"/>
          </a:ln>
        </p:spPr>
      </p:sp>
      <p:sp>
        <p:nvSpPr>
          <p:cNvPr id="5" name="Text 3"/>
          <p:cNvSpPr/>
          <p:nvPr/>
        </p:nvSpPr>
        <p:spPr>
          <a:xfrm>
            <a:off x="731520" y="1965960"/>
            <a:ext cx="2743200" cy="365760"/>
          </a:xfrm>
          <a:prstGeom prst="rect">
            <a:avLst/>
          </a:prstGeom>
          <a:noFill/>
          <a:ln/>
        </p:spPr>
        <p:txBody>
          <a:bodyPr wrap="square" lIns="0" tIns="0" rIns="0" bIns="0" rtlCol="0" anchor="t"/>
          <a:lstStyle/>
          <a:p>
            <a:pPr indent="0" marL="0">
              <a:buNone/>
            </a:pPr>
            <a:r>
              <a:rPr lang="en-US" sz="1200" b="1" dirty="0">
                <a:solidFill>
                  <a:srgbClr val="C6FF00"/>
                </a:solidFill>
                <a:latin typeface="Courier New" pitchFamily="34" charset="0"/>
                <a:ea typeface="Courier New" pitchFamily="34" charset="-122"/>
                <a:cs typeface="Courier New" pitchFamily="34" charset="-120"/>
              </a:rPr>
              <a:t>CAMPO CLAVE</a:t>
            </a:r>
            <a:endParaRPr lang="en-US" sz="1200" dirty="0"/>
          </a:p>
        </p:txBody>
      </p:sp>
      <p:sp>
        <p:nvSpPr>
          <p:cNvPr id="6" name="Text 4"/>
          <p:cNvSpPr/>
          <p:nvPr/>
        </p:nvSpPr>
        <p:spPr>
          <a:xfrm>
            <a:off x="731520" y="2286000"/>
            <a:ext cx="10728655" cy="731520"/>
          </a:xfrm>
          <a:prstGeom prst="rect">
            <a:avLst/>
          </a:prstGeom>
          <a:noFill/>
          <a:ln/>
        </p:spPr>
        <p:txBody>
          <a:bodyPr wrap="square" lIns="0" tIns="0" rIns="0" bIns="0" rtlCol="0" anchor="t"/>
          <a:lstStyle/>
          <a:p>
            <a:pPr indent="0" marL="0">
              <a:buNone/>
            </a:pPr>
            <a:r>
              <a:rPr lang="en-US" sz="2600" dirty="0">
                <a:solidFill>
                  <a:srgbClr val="F4F4F4"/>
                </a:solidFill>
                <a:latin typeface="Arial Black" pitchFamily="34" charset="0"/>
                <a:ea typeface="Arial Black" pitchFamily="34" charset="-122"/>
                <a:cs typeface="Arial Black" pitchFamily="34" charset="-120"/>
              </a:rPr>
              <a:t>¿QUÉ PROBLEMA JUSTIFICA DIGITALIZAR?</a:t>
            </a:r>
            <a:endParaRPr lang="en-US" sz="2600" dirty="0"/>
          </a:p>
        </p:txBody>
      </p:sp>
      <p:sp>
        <p:nvSpPr>
          <p:cNvPr id="7" name="Text 5"/>
          <p:cNvSpPr/>
          <p:nvPr/>
        </p:nvSpPr>
        <p:spPr>
          <a:xfrm>
            <a:off x="502920" y="329184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QUÉ SE HACE</a:t>
            </a:r>
            <a:endParaRPr lang="en-US" sz="1100" dirty="0"/>
          </a:p>
        </p:txBody>
      </p:sp>
      <p:sp>
        <p:nvSpPr>
          <p:cNvPr id="8" name="Text 6"/>
          <p:cNvSpPr/>
          <p:nvPr/>
        </p:nvSpPr>
        <p:spPr>
          <a:xfrm>
            <a:off x="502920" y="3657600"/>
            <a:ext cx="11185855" cy="1280160"/>
          </a:xfrm>
          <a:prstGeom prst="rect">
            <a:avLst/>
          </a:prstGeom>
          <a:noFill/>
          <a:ln/>
        </p:spPr>
        <p:txBody>
          <a:bodyPr wrap="square" lIns="0" tIns="0" rIns="0" bIns="0" rtlCol="0" anchor="t"/>
          <a:lstStyle/>
          <a:p>
            <a:pPr indent="0" marL="0">
              <a:lnSpc>
                <a:spcPct val="112000"/>
              </a:lnSpc>
              <a:buNone/>
            </a:pPr>
            <a:r>
              <a:rPr lang="en-US" sz="1300" dirty="0">
                <a:solidFill>
                  <a:srgbClr val="F4F4F4"/>
                </a:solidFill>
                <a:latin typeface="Arial" pitchFamily="34" charset="0"/>
                <a:ea typeface="Arial" pitchFamily="34" charset="-122"/>
                <a:cs typeface="Arial" pitchFamily="34" charset="-120"/>
              </a:rPr>
              <a:t>Sin un dolor de negocio claro, el proyecto no tiene rumbo. El dolor es lo que hace que valga la pena gobernar y digitalizar el proceso: paradas no programadas, defectos de calidad, falta de trazabilidad para exportar, consumo energético alto, mantenimiento reactivo. Elijan UN dolor principal y háganlo el norte de todo el semestre.</a:t>
            </a:r>
            <a:endParaRPr lang="en-US" sz="1300" dirty="0"/>
          </a:p>
        </p:txBody>
      </p:sp>
      <p:sp>
        <p:nvSpPr>
          <p:cNvPr id="9" name="Shape 7"/>
          <p:cNvSpPr/>
          <p:nvPr/>
        </p:nvSpPr>
        <p:spPr>
          <a:xfrm>
            <a:off x="502920" y="5358384"/>
            <a:ext cx="5364328" cy="914400"/>
          </a:xfrm>
          <a:prstGeom prst="roundRect">
            <a:avLst>
              <a:gd name="adj" fmla="val 5000"/>
            </a:avLst>
          </a:prstGeom>
          <a:solidFill>
            <a:srgbClr val="151515"/>
          </a:solidFill>
          <a:ln w="12700">
            <a:solidFill>
              <a:srgbClr val="333333"/>
            </a:solidFill>
            <a:prstDash val="solid"/>
          </a:ln>
        </p:spPr>
      </p:sp>
      <p:sp>
        <p:nvSpPr>
          <p:cNvPr id="10" name="Text 8"/>
          <p:cNvSpPr/>
          <p:nvPr/>
        </p:nvSpPr>
        <p:spPr>
          <a:xfrm>
            <a:off x="685800" y="5486400"/>
            <a:ext cx="4998568" cy="320040"/>
          </a:xfrm>
          <a:prstGeom prst="rect">
            <a:avLst/>
          </a:prstGeom>
          <a:noFill/>
          <a:ln/>
        </p:spPr>
        <p:txBody>
          <a:bodyPr wrap="square" lIns="0" tIns="0" rIns="0" bIns="0" rtlCol="0" anchor="ctr"/>
          <a:lstStyle/>
          <a:p>
            <a:pPr indent="0" marL="0">
              <a:buNone/>
            </a:pPr>
            <a:r>
              <a:rPr lang="en-US" sz="950" b="1" dirty="0">
                <a:solidFill>
                  <a:srgbClr val="27E5E5"/>
                </a:solidFill>
                <a:latin typeface="Courier New" pitchFamily="34" charset="0"/>
                <a:ea typeface="Courier New" pitchFamily="34" charset="-122"/>
                <a:cs typeface="Courier New" pitchFamily="34" charset="-120"/>
              </a:rPr>
              <a:t>EJEMPLOS DE DOLOR</a:t>
            </a:r>
            <a:endParaRPr lang="en-US" sz="950" dirty="0"/>
          </a:p>
        </p:txBody>
      </p:sp>
      <p:sp>
        <p:nvSpPr>
          <p:cNvPr id="11" name="Text 9"/>
          <p:cNvSpPr/>
          <p:nvPr/>
        </p:nvSpPr>
        <p:spPr>
          <a:xfrm>
            <a:off x="685800"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Paradas · defectos · sin trazabilidad · energía</a:t>
            </a:r>
            <a:endParaRPr lang="en-US" sz="1200" dirty="0"/>
          </a:p>
        </p:txBody>
      </p:sp>
      <p:sp>
        <p:nvSpPr>
          <p:cNvPr id="12" name="Shape 10"/>
          <p:cNvSpPr/>
          <p:nvPr/>
        </p:nvSpPr>
        <p:spPr>
          <a:xfrm>
            <a:off x="6324448" y="5358384"/>
            <a:ext cx="5364328" cy="914400"/>
          </a:xfrm>
          <a:prstGeom prst="roundRect">
            <a:avLst>
              <a:gd name="adj" fmla="val 5000"/>
            </a:avLst>
          </a:prstGeom>
          <a:solidFill>
            <a:srgbClr val="151515"/>
          </a:solidFill>
          <a:ln w="12700">
            <a:solidFill>
              <a:srgbClr val="333333"/>
            </a:solidFill>
            <a:prstDash val="solid"/>
          </a:ln>
        </p:spPr>
      </p:sp>
      <p:sp>
        <p:nvSpPr>
          <p:cNvPr id="13" name="Text 11"/>
          <p:cNvSpPr/>
          <p:nvPr/>
        </p:nvSpPr>
        <p:spPr>
          <a:xfrm>
            <a:off x="6507328" y="5486400"/>
            <a:ext cx="4998568" cy="320040"/>
          </a:xfrm>
          <a:prstGeom prst="rect">
            <a:avLst/>
          </a:prstGeom>
          <a:noFill/>
          <a:ln/>
        </p:spPr>
        <p:txBody>
          <a:bodyPr wrap="square" lIns="0" tIns="0" rIns="0" bIns="0" rtlCol="0" anchor="ctr"/>
          <a:lstStyle/>
          <a:p>
            <a:pPr indent="0" marL="0">
              <a:buNone/>
            </a:pPr>
            <a:r>
              <a:rPr lang="en-US" sz="950" b="1" dirty="0">
                <a:solidFill>
                  <a:srgbClr val="FFB000"/>
                </a:solidFill>
                <a:latin typeface="Courier New" pitchFamily="34" charset="0"/>
                <a:ea typeface="Courier New" pitchFamily="34" charset="-122"/>
                <a:cs typeface="Courier New" pitchFamily="34" charset="-120"/>
              </a:rPr>
              <a:t>SIN DOLOR</a:t>
            </a:r>
            <a:endParaRPr lang="en-US" sz="950" dirty="0"/>
          </a:p>
        </p:txBody>
      </p:sp>
      <p:sp>
        <p:nvSpPr>
          <p:cNvPr id="14" name="Text 12"/>
          <p:cNvSpPr/>
          <p:nvPr/>
        </p:nvSpPr>
        <p:spPr>
          <a:xfrm>
            <a:off x="6507328"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El proyecto no tiene por qué existir</a:t>
            </a:r>
            <a:endParaRPr lang="en-US" sz="12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22 / 47</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19  FICHA</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PARTES INTERESADAS TÍPICAS</a:t>
            </a:r>
            <a:endParaRPr lang="en-US" sz="33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Quiénes deciden y a quiénes les importa el proceso foco.</a:t>
            </a:r>
            <a:endParaRPr lang="en-US" sz="1250" dirty="0"/>
          </a:p>
        </p:txBody>
      </p:sp>
      <p:sp>
        <p:nvSpPr>
          <p:cNvPr id="5" name="Shape 3"/>
          <p:cNvSpPr/>
          <p:nvPr/>
        </p:nvSpPr>
        <p:spPr>
          <a:xfrm>
            <a:off x="502920"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3192170" cy="411480"/>
          </a:xfrm>
          <a:prstGeom prst="rect">
            <a:avLst/>
          </a:prstGeom>
          <a:noFill/>
          <a:ln/>
        </p:spPr>
        <p:txBody>
          <a:bodyPr wrap="square" lIns="0" tIns="0" rIns="0" bIns="0" rtlCol="0" anchor="t"/>
          <a:lstStyle/>
          <a:p>
            <a:pPr indent="0" marL="0">
              <a:buNone/>
            </a:pPr>
            <a:r>
              <a:rPr lang="en-US" sz="1300" dirty="0">
                <a:solidFill>
                  <a:srgbClr val="C6FF00"/>
                </a:solidFill>
                <a:latin typeface="Arial Black" pitchFamily="34" charset="0"/>
                <a:ea typeface="Arial Black" pitchFamily="34" charset="-122"/>
                <a:cs typeface="Arial Black" pitchFamily="34" charset="-120"/>
              </a:rPr>
              <a:t>GERENTE GENERAL</a:t>
            </a:r>
            <a:endParaRPr lang="en-US" sz="1300" dirty="0"/>
          </a:p>
        </p:txBody>
      </p:sp>
      <p:sp>
        <p:nvSpPr>
          <p:cNvPr id="7" name="Text 5"/>
          <p:cNvSpPr/>
          <p:nvPr/>
        </p:nvSpPr>
        <p:spPr>
          <a:xfrm>
            <a:off x="685800"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Le importa el resultado del negocio y la inversión.</a:t>
            </a:r>
            <a:endParaRPr lang="en-US" sz="1100" dirty="0"/>
          </a:p>
        </p:txBody>
      </p:sp>
      <p:sp>
        <p:nvSpPr>
          <p:cNvPr id="8" name="Shape 6"/>
          <p:cNvSpPr/>
          <p:nvPr/>
        </p:nvSpPr>
        <p:spPr>
          <a:xfrm>
            <a:off x="4316882"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4499762" y="2066544"/>
            <a:ext cx="3192170" cy="411480"/>
          </a:xfrm>
          <a:prstGeom prst="rect">
            <a:avLst/>
          </a:prstGeom>
          <a:noFill/>
          <a:ln/>
        </p:spPr>
        <p:txBody>
          <a:bodyPr wrap="square" lIns="0" tIns="0" rIns="0" bIns="0" rtlCol="0" anchor="t"/>
          <a:lstStyle/>
          <a:p>
            <a:pPr indent="0" marL="0">
              <a:buNone/>
            </a:pPr>
            <a:r>
              <a:rPr lang="en-US" sz="1300" dirty="0">
                <a:solidFill>
                  <a:srgbClr val="27E5E5"/>
                </a:solidFill>
                <a:latin typeface="Arial Black" pitchFamily="34" charset="0"/>
                <a:ea typeface="Arial Black" pitchFamily="34" charset="-122"/>
                <a:cs typeface="Arial Black" pitchFamily="34" charset="-120"/>
              </a:rPr>
              <a:t>GERENTE DE PLANTA</a:t>
            </a:r>
            <a:endParaRPr lang="en-US" sz="1300" dirty="0"/>
          </a:p>
        </p:txBody>
      </p:sp>
      <p:sp>
        <p:nvSpPr>
          <p:cNvPr id="10" name="Text 8"/>
          <p:cNvSpPr/>
          <p:nvPr/>
        </p:nvSpPr>
        <p:spPr>
          <a:xfrm>
            <a:off x="4499762"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Responde por la producción y la continuidad.</a:t>
            </a:r>
            <a:endParaRPr lang="en-US" sz="1100" dirty="0"/>
          </a:p>
        </p:txBody>
      </p:sp>
      <p:sp>
        <p:nvSpPr>
          <p:cNvPr id="11" name="Shape 9"/>
          <p:cNvSpPr/>
          <p:nvPr/>
        </p:nvSpPr>
        <p:spPr>
          <a:xfrm>
            <a:off x="8130845"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8313725" y="2066544"/>
            <a:ext cx="3192170" cy="411480"/>
          </a:xfrm>
          <a:prstGeom prst="rect">
            <a:avLst/>
          </a:prstGeom>
          <a:noFill/>
          <a:ln/>
        </p:spPr>
        <p:txBody>
          <a:bodyPr wrap="square" lIns="0" tIns="0" rIns="0" bIns="0" rtlCol="0" anchor="t"/>
          <a:lstStyle/>
          <a:p>
            <a:pPr indent="0" marL="0">
              <a:buNone/>
            </a:pPr>
            <a:r>
              <a:rPr lang="en-US" sz="1300" dirty="0">
                <a:solidFill>
                  <a:srgbClr val="FFB000"/>
                </a:solidFill>
                <a:latin typeface="Arial Black" pitchFamily="34" charset="0"/>
                <a:ea typeface="Arial Black" pitchFamily="34" charset="-122"/>
                <a:cs typeface="Arial Black" pitchFamily="34" charset="-120"/>
              </a:rPr>
              <a:t>JEFE DE PRODUCCIÓN</a:t>
            </a:r>
            <a:endParaRPr lang="en-US" sz="1300" dirty="0"/>
          </a:p>
        </p:txBody>
      </p:sp>
      <p:sp>
        <p:nvSpPr>
          <p:cNvPr id="13" name="Text 11"/>
          <p:cNvSpPr/>
          <p:nvPr/>
        </p:nvSpPr>
        <p:spPr>
          <a:xfrm>
            <a:off x="8313725"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Opera la línea; conoce el dolor de primera mano.</a:t>
            </a:r>
            <a:endParaRPr lang="en-US" sz="1100" dirty="0"/>
          </a:p>
        </p:txBody>
      </p:sp>
      <p:sp>
        <p:nvSpPr>
          <p:cNvPr id="14" name="Shape 12"/>
          <p:cNvSpPr/>
          <p:nvPr/>
        </p:nvSpPr>
        <p:spPr>
          <a:xfrm>
            <a:off x="502920"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685800" y="3895344"/>
            <a:ext cx="3192170" cy="411480"/>
          </a:xfrm>
          <a:prstGeom prst="rect">
            <a:avLst/>
          </a:prstGeom>
          <a:noFill/>
          <a:ln/>
        </p:spPr>
        <p:txBody>
          <a:bodyPr wrap="square" lIns="0" tIns="0" rIns="0" bIns="0" rtlCol="0" anchor="t"/>
          <a:lstStyle/>
          <a:p>
            <a:pPr indent="0" marL="0">
              <a:buNone/>
            </a:pPr>
            <a:r>
              <a:rPr lang="en-US" sz="1600" dirty="0">
                <a:solidFill>
                  <a:srgbClr val="22E06B"/>
                </a:solidFill>
                <a:latin typeface="Arial Black" pitchFamily="34" charset="0"/>
                <a:ea typeface="Arial Black" pitchFamily="34" charset="-122"/>
                <a:cs typeface="Arial Black" pitchFamily="34" charset="-120"/>
              </a:rPr>
              <a:t>MANTENIMIENTO</a:t>
            </a:r>
            <a:endParaRPr lang="en-US" sz="1600" dirty="0"/>
          </a:p>
        </p:txBody>
      </p:sp>
      <p:sp>
        <p:nvSpPr>
          <p:cNvPr id="16" name="Text 14"/>
          <p:cNvSpPr/>
          <p:nvPr/>
        </p:nvSpPr>
        <p:spPr>
          <a:xfrm>
            <a:off x="685800"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Cuida los activos; clave para el predictivo.</a:t>
            </a:r>
            <a:endParaRPr lang="en-US" sz="1100" dirty="0"/>
          </a:p>
        </p:txBody>
      </p:sp>
      <p:sp>
        <p:nvSpPr>
          <p:cNvPr id="17" name="Shape 15"/>
          <p:cNvSpPr/>
          <p:nvPr/>
        </p:nvSpPr>
        <p:spPr>
          <a:xfrm>
            <a:off x="4316882"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8" name="Text 16"/>
          <p:cNvSpPr/>
          <p:nvPr/>
        </p:nvSpPr>
        <p:spPr>
          <a:xfrm>
            <a:off x="4499762" y="3895344"/>
            <a:ext cx="3192170" cy="411480"/>
          </a:xfrm>
          <a:prstGeom prst="rect">
            <a:avLst/>
          </a:prstGeom>
          <a:noFill/>
          <a:ln/>
        </p:spPr>
        <p:txBody>
          <a:bodyPr wrap="square" lIns="0" tIns="0" rIns="0" bIns="0" rtlCol="0" anchor="t"/>
          <a:lstStyle/>
          <a:p>
            <a:pPr indent="0" marL="0">
              <a:buNone/>
            </a:pPr>
            <a:r>
              <a:rPr lang="en-US" sz="1600" dirty="0">
                <a:solidFill>
                  <a:srgbClr val="9D6BFF"/>
                </a:solidFill>
                <a:latin typeface="Arial Black" pitchFamily="34" charset="0"/>
                <a:ea typeface="Arial Black" pitchFamily="34" charset="-122"/>
                <a:cs typeface="Arial Black" pitchFamily="34" charset="-120"/>
              </a:rPr>
              <a:t>TI / OT</a:t>
            </a:r>
            <a:endParaRPr lang="en-US" sz="1600" dirty="0"/>
          </a:p>
        </p:txBody>
      </p:sp>
      <p:sp>
        <p:nvSpPr>
          <p:cNvPr id="19" name="Text 17"/>
          <p:cNvSpPr/>
          <p:nvPr/>
        </p:nvSpPr>
        <p:spPr>
          <a:xfrm>
            <a:off x="4499762"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A veces una sola persona; gestiona la tecnología.</a:t>
            </a:r>
            <a:endParaRPr lang="en-US" sz="1100" dirty="0"/>
          </a:p>
        </p:txBody>
      </p:sp>
      <p:sp>
        <p:nvSpPr>
          <p:cNvPr id="20" name="Shape 18"/>
          <p:cNvSpPr/>
          <p:nvPr/>
        </p:nvSpPr>
        <p:spPr>
          <a:xfrm>
            <a:off x="8130845"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21" name="Text 19"/>
          <p:cNvSpPr/>
          <p:nvPr/>
        </p:nvSpPr>
        <p:spPr>
          <a:xfrm>
            <a:off x="8313725" y="3895344"/>
            <a:ext cx="3192170" cy="411480"/>
          </a:xfrm>
          <a:prstGeom prst="rect">
            <a:avLst/>
          </a:prstGeom>
          <a:noFill/>
          <a:ln/>
        </p:spPr>
        <p:txBody>
          <a:bodyPr wrap="square" lIns="0" tIns="0" rIns="0" bIns="0" rtlCol="0" anchor="t"/>
          <a:lstStyle/>
          <a:p>
            <a:pPr indent="0" marL="0">
              <a:buNone/>
            </a:pPr>
            <a:r>
              <a:rPr lang="en-US" sz="1600" dirty="0">
                <a:solidFill>
                  <a:srgbClr val="FF6B35"/>
                </a:solidFill>
                <a:latin typeface="Arial Black" pitchFamily="34" charset="0"/>
                <a:ea typeface="Arial Black" pitchFamily="34" charset="-122"/>
                <a:cs typeface="Arial Black" pitchFamily="34" charset="-120"/>
              </a:rPr>
              <a:t>OPERARIOS</a:t>
            </a:r>
            <a:endParaRPr lang="en-US" sz="1600" dirty="0"/>
          </a:p>
        </p:txBody>
      </p:sp>
      <p:sp>
        <p:nvSpPr>
          <p:cNvPr id="22" name="Text 20"/>
          <p:cNvSpPr/>
          <p:nvPr/>
        </p:nvSpPr>
        <p:spPr>
          <a:xfrm>
            <a:off x="8313725"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Usan la máquina; su adopción decide el éxito.</a:t>
            </a:r>
            <a:endParaRPr lang="en-US" sz="1100" dirty="0"/>
          </a:p>
        </p:txBody>
      </p:sp>
      <p:sp>
        <p:nvSpPr>
          <p:cNvPr id="23" name="Text 21"/>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4" name="Text 22"/>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25" name="Text 23"/>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23 / 47</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20  FICHA</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CÓMO ARGUMENTAR QUE ES UN CPPS</a:t>
            </a:r>
            <a:endParaRPr lang="en-US" sz="3300" dirty="0"/>
          </a:p>
        </p:txBody>
      </p:sp>
      <p:sp>
        <p:nvSpPr>
          <p:cNvPr id="4" name="Shape 2"/>
          <p:cNvSpPr/>
          <p:nvPr/>
        </p:nvSpPr>
        <p:spPr>
          <a:xfrm>
            <a:off x="502920" y="1783080"/>
            <a:ext cx="11185855" cy="780898"/>
          </a:xfrm>
          <a:prstGeom prst="roundRect">
            <a:avLst>
              <a:gd name="adj" fmla="val 5855"/>
            </a:avLst>
          </a:prstGeom>
          <a:solidFill>
            <a:srgbClr val="151515"/>
          </a:solidFill>
          <a:ln w="12700">
            <a:solidFill>
              <a:srgbClr val="333333"/>
            </a:solidFill>
            <a:prstDash val="solid"/>
          </a:ln>
        </p:spPr>
      </p:sp>
      <p:sp>
        <p:nvSpPr>
          <p:cNvPr id="5" name="Text 3"/>
          <p:cNvSpPr/>
          <p:nvPr/>
        </p:nvSpPr>
        <p:spPr>
          <a:xfrm>
            <a:off x="731520" y="1783080"/>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HAY CÓMPUTO</a:t>
            </a:r>
            <a:endParaRPr lang="en-US" sz="1200" dirty="0"/>
          </a:p>
        </p:txBody>
      </p:sp>
      <p:sp>
        <p:nvSpPr>
          <p:cNvPr id="6" name="Text 4"/>
          <p:cNvSpPr/>
          <p:nvPr/>
        </p:nvSpPr>
        <p:spPr>
          <a:xfrm>
            <a:off x="4251960" y="1783080"/>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Un PLC o controlador ejecuta lógica sobre el proceso.</a:t>
            </a:r>
            <a:endParaRPr lang="en-US" sz="1250" dirty="0"/>
          </a:p>
        </p:txBody>
      </p:sp>
      <p:sp>
        <p:nvSpPr>
          <p:cNvPr id="7" name="Shape 5"/>
          <p:cNvSpPr/>
          <p:nvPr/>
        </p:nvSpPr>
        <p:spPr>
          <a:xfrm>
            <a:off x="502920" y="2710282"/>
            <a:ext cx="11185855" cy="780898"/>
          </a:xfrm>
          <a:prstGeom prst="roundRect">
            <a:avLst>
              <a:gd name="adj" fmla="val 5855"/>
            </a:avLst>
          </a:prstGeom>
          <a:solidFill>
            <a:srgbClr val="151515"/>
          </a:solidFill>
          <a:ln w="12700">
            <a:solidFill>
              <a:srgbClr val="333333"/>
            </a:solidFill>
            <a:prstDash val="solid"/>
          </a:ln>
        </p:spPr>
      </p:sp>
      <p:sp>
        <p:nvSpPr>
          <p:cNvPr id="8" name="Text 6"/>
          <p:cNvSpPr/>
          <p:nvPr/>
        </p:nvSpPr>
        <p:spPr>
          <a:xfrm>
            <a:off x="731520" y="2710282"/>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HAY FÍSICO</a:t>
            </a:r>
            <a:endParaRPr lang="en-US" sz="1200" dirty="0"/>
          </a:p>
        </p:txBody>
      </p:sp>
      <p:sp>
        <p:nvSpPr>
          <p:cNvPr id="9" name="Text 7"/>
          <p:cNvSpPr/>
          <p:nvPr/>
        </p:nvSpPr>
        <p:spPr>
          <a:xfrm>
            <a:off x="4251960" y="2710282"/>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Sensores miden y actuadores modifican el mundo real.</a:t>
            </a:r>
            <a:endParaRPr lang="en-US" sz="1250" dirty="0"/>
          </a:p>
        </p:txBody>
      </p:sp>
      <p:sp>
        <p:nvSpPr>
          <p:cNvPr id="10" name="Shape 8"/>
          <p:cNvSpPr/>
          <p:nvPr/>
        </p:nvSpPr>
        <p:spPr>
          <a:xfrm>
            <a:off x="502920" y="3637483"/>
            <a:ext cx="11185855" cy="780898"/>
          </a:xfrm>
          <a:prstGeom prst="roundRect">
            <a:avLst>
              <a:gd name="adj" fmla="val 5855"/>
            </a:avLst>
          </a:prstGeom>
          <a:solidFill>
            <a:srgbClr val="151515"/>
          </a:solidFill>
          <a:ln w="12700">
            <a:solidFill>
              <a:srgbClr val="333333"/>
            </a:solidFill>
            <a:prstDash val="solid"/>
          </a:ln>
        </p:spPr>
      </p:sp>
      <p:sp>
        <p:nvSpPr>
          <p:cNvPr id="11" name="Text 9"/>
          <p:cNvSpPr/>
          <p:nvPr/>
        </p:nvSpPr>
        <p:spPr>
          <a:xfrm>
            <a:off x="731520" y="3637483"/>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HAY LAZO</a:t>
            </a:r>
            <a:endParaRPr lang="en-US" sz="1200" dirty="0"/>
          </a:p>
        </p:txBody>
      </p:sp>
      <p:sp>
        <p:nvSpPr>
          <p:cNvPr id="12" name="Text 10"/>
          <p:cNvSpPr/>
          <p:nvPr/>
        </p:nvSpPr>
        <p:spPr>
          <a:xfrm>
            <a:off x="4251960" y="3637483"/>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El sistema lee, decide y actúa sobre el proceso (o se busca que lo haga).</a:t>
            </a:r>
            <a:endParaRPr lang="en-US" sz="1250" dirty="0"/>
          </a:p>
        </p:txBody>
      </p:sp>
      <p:sp>
        <p:nvSpPr>
          <p:cNvPr id="13" name="Shape 11"/>
          <p:cNvSpPr/>
          <p:nvPr/>
        </p:nvSpPr>
        <p:spPr>
          <a:xfrm>
            <a:off x="502920" y="4564685"/>
            <a:ext cx="11185855" cy="780898"/>
          </a:xfrm>
          <a:prstGeom prst="roundRect">
            <a:avLst>
              <a:gd name="adj" fmla="val 5855"/>
            </a:avLst>
          </a:prstGeom>
          <a:solidFill>
            <a:srgbClr val="151515"/>
          </a:solidFill>
          <a:ln w="12700">
            <a:solidFill>
              <a:srgbClr val="333333"/>
            </a:solidFill>
            <a:prstDash val="solid"/>
          </a:ln>
        </p:spPr>
      </p:sp>
      <p:sp>
        <p:nvSpPr>
          <p:cNvPr id="14" name="Text 12"/>
          <p:cNvSpPr/>
          <p:nvPr/>
        </p:nvSpPr>
        <p:spPr>
          <a:xfrm>
            <a:off x="731520" y="4564685"/>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HAY DATOS</a:t>
            </a:r>
            <a:endParaRPr lang="en-US" sz="1200" dirty="0"/>
          </a:p>
        </p:txBody>
      </p:sp>
      <p:sp>
        <p:nvSpPr>
          <p:cNvPr id="15" name="Text 13"/>
          <p:cNvSpPr/>
          <p:nvPr/>
        </p:nvSpPr>
        <p:spPr>
          <a:xfrm>
            <a:off x="4251960" y="4564685"/>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Se generan señales que se pueden gobernar, integrar y analizar.</a:t>
            </a:r>
            <a:endParaRPr lang="en-US" sz="1250" dirty="0"/>
          </a:p>
        </p:txBody>
      </p:sp>
      <p:sp>
        <p:nvSpPr>
          <p:cNvPr id="16" name="Shape 14"/>
          <p:cNvSpPr/>
          <p:nvPr/>
        </p:nvSpPr>
        <p:spPr>
          <a:xfrm>
            <a:off x="502920" y="5491886"/>
            <a:ext cx="11185855" cy="780898"/>
          </a:xfrm>
          <a:prstGeom prst="roundRect">
            <a:avLst>
              <a:gd name="adj" fmla="val 5855"/>
            </a:avLst>
          </a:prstGeom>
          <a:solidFill>
            <a:srgbClr val="151515"/>
          </a:solidFill>
          <a:ln w="12700">
            <a:solidFill>
              <a:srgbClr val="333333"/>
            </a:solidFill>
            <a:prstDash val="solid"/>
          </a:ln>
        </p:spPr>
      </p:sp>
      <p:sp>
        <p:nvSpPr>
          <p:cNvPr id="17" name="Text 15"/>
          <p:cNvSpPr/>
          <p:nvPr/>
        </p:nvSpPr>
        <p:spPr>
          <a:xfrm>
            <a:off x="731520" y="5491886"/>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HAY CONVERGENCIA</a:t>
            </a:r>
            <a:endParaRPr lang="en-US" sz="1200" dirty="0"/>
          </a:p>
        </p:txBody>
      </p:sp>
      <p:sp>
        <p:nvSpPr>
          <p:cNvPr id="18" name="Text 16"/>
          <p:cNvSpPr/>
          <p:nvPr/>
        </p:nvSpPr>
        <p:spPr>
          <a:xfrm>
            <a:off x="4251960" y="5491886"/>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OT (la línea) se conecta con IT (ERP/MES/nube).</a:t>
            </a:r>
            <a:endParaRPr lang="en-US" sz="1250" dirty="0"/>
          </a:p>
        </p:txBody>
      </p:sp>
      <p:sp>
        <p:nvSpPr>
          <p:cNvPr id="19" name="Text 1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0" name="Text 1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21" name="Text 1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24 / 47</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01010"/>
        </a:solidFill>
      </p:bgPr>
    </p:bg>
    <p:spTree>
      <p:nvGrpSpPr>
        <p:cNvPr id="1" name=""/>
        <p:cNvGrpSpPr/>
        <p:nvPr/>
      </p:nvGrpSpPr>
      <p:grpSpPr>
        <a:xfrm>
          <a:off x="0" y="0"/>
          <a:ext cx="0" cy="0"/>
          <a:chOff x="0" y="0"/>
          <a:chExt cx="0" cy="0"/>
        </a:xfrm>
      </p:grpSpPr>
      <p:sp>
        <p:nvSpPr>
          <p:cNvPr id="2" name="Text 0"/>
          <p:cNvSpPr/>
          <p:nvPr/>
        </p:nvSpPr>
        <p:spPr>
          <a:xfrm>
            <a:off x="5029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C6FF00"/>
                </a:solidFill>
                <a:latin typeface="Courier New" pitchFamily="34" charset="0"/>
                <a:ea typeface="Courier New" pitchFamily="34" charset="-122"/>
                <a:cs typeface="Courier New" pitchFamily="34" charset="-120"/>
              </a:rPr>
              <a:t>SECCIÓN</a:t>
            </a:r>
            <a:endParaRPr lang="en-US" sz="1400" dirty="0"/>
          </a:p>
        </p:txBody>
      </p:sp>
      <p:sp>
        <p:nvSpPr>
          <p:cNvPr id="3" name="Text 1"/>
          <p:cNvSpPr/>
          <p:nvPr/>
        </p:nvSpPr>
        <p:spPr>
          <a:xfrm>
            <a:off x="7848295" y="1097280"/>
            <a:ext cx="3840480" cy="3840480"/>
          </a:xfrm>
          <a:prstGeom prst="rect">
            <a:avLst/>
          </a:prstGeom>
          <a:noFill/>
          <a:ln/>
        </p:spPr>
        <p:txBody>
          <a:bodyPr wrap="square" lIns="0" tIns="0" rIns="0" bIns="0" rtlCol="0" anchor="ctr"/>
          <a:lstStyle/>
          <a:p>
            <a:pPr algn="r" indent="0" marL="0">
              <a:buNone/>
            </a:pPr>
            <a:r>
              <a:rPr lang="en-US" sz="20000" dirty="0">
                <a:solidFill>
                  <a:srgbClr val="151515"/>
                </a:solidFill>
                <a:latin typeface="Arial Black" pitchFamily="34" charset="0"/>
                <a:ea typeface="Arial Black" pitchFamily="34" charset="-122"/>
                <a:cs typeface="Arial Black" pitchFamily="34" charset="-120"/>
              </a:rPr>
              <a:t>04</a:t>
            </a:r>
            <a:endParaRPr lang="en-US" sz="20000" dirty="0"/>
          </a:p>
        </p:txBody>
      </p:sp>
      <p:sp>
        <p:nvSpPr>
          <p:cNvPr id="4" name="Text 2"/>
          <p:cNvSpPr/>
          <p:nvPr/>
        </p:nvSpPr>
        <p:spPr>
          <a:xfrm>
            <a:off x="502920" y="2423160"/>
            <a:ext cx="10271455" cy="1737360"/>
          </a:xfrm>
          <a:prstGeom prst="rect">
            <a:avLst/>
          </a:prstGeom>
          <a:noFill/>
          <a:ln/>
        </p:spPr>
        <p:txBody>
          <a:bodyPr wrap="square" lIns="0" tIns="0" rIns="0" bIns="0" rtlCol="0" anchor="t"/>
          <a:lstStyle/>
          <a:p>
            <a:pPr indent="0" marL="0">
              <a:lnSpc>
                <a:spcPct val="96000"/>
              </a:lnSpc>
              <a:buNone/>
            </a:pPr>
            <a:r>
              <a:rPr lang="en-US" sz="4000" dirty="0">
                <a:solidFill>
                  <a:srgbClr val="F4F4F4"/>
                </a:solidFill>
                <a:latin typeface="Arial Black" pitchFamily="34" charset="0"/>
                <a:ea typeface="Arial Black" pitchFamily="34" charset="-122"/>
                <a:cs typeface="Arial Black" pitchFamily="34" charset="-120"/>
              </a:rPr>
              <a:t>EJEMPLO TRABAJADO</a:t>
            </a:r>
            <a:endParaRPr lang="en-US" sz="4000" dirty="0"/>
          </a:p>
        </p:txBody>
      </p:sp>
      <p:sp>
        <p:nvSpPr>
          <p:cNvPr id="5" name="Text 3"/>
          <p:cNvSpPr/>
          <p:nvPr/>
        </p:nvSpPr>
        <p:spPr>
          <a:xfrm>
            <a:off x="502920" y="4343400"/>
            <a:ext cx="11185855" cy="548640"/>
          </a:xfrm>
          <a:prstGeom prst="rect">
            <a:avLst/>
          </a:prstGeom>
          <a:noFill/>
          <a:ln/>
        </p:spPr>
        <p:txBody>
          <a:bodyPr wrap="square" lIns="0" tIns="0" rIns="0" bIns="0" rtlCol="0" anchor="t"/>
          <a:lstStyle/>
          <a:p>
            <a:pPr indent="0" marL="0">
              <a:buNone/>
            </a:pPr>
            <a:r>
              <a:rPr lang="en-US" sz="1300" b="1" dirty="0">
                <a:solidFill>
                  <a:srgbClr val="C6FF00"/>
                </a:solidFill>
                <a:latin typeface="Courier New" pitchFamily="34" charset="0"/>
                <a:ea typeface="Courier New" pitchFamily="34" charset="-122"/>
                <a:cs typeface="Courier New" pitchFamily="34" charset="-120"/>
              </a:rPr>
              <a:t>&gt; </a:t>
            </a:r>
            <a:pPr indent="0" marL="0">
              <a:buNone/>
            </a:pPr>
            <a:r>
              <a:rPr lang="en-US" sz="1300" dirty="0">
                <a:solidFill>
                  <a:srgbClr val="8C8C8C"/>
                </a:solidFill>
                <a:latin typeface="Courier New" pitchFamily="34" charset="0"/>
                <a:ea typeface="Courier New" pitchFamily="34" charset="-122"/>
                <a:cs typeface="Courier New" pitchFamily="34" charset="-120"/>
              </a:rPr>
              <a:t>Lácteos La Pradera S.A.S. — un alcance bien acotado</a:t>
            </a:r>
            <a:endParaRPr lang="en-US" sz="1300" dirty="0"/>
          </a:p>
        </p:txBody>
      </p:sp>
      <p:sp>
        <p:nvSpPr>
          <p:cNvPr id="6" name="Text 4"/>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7" name="Text 5"/>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8" name="Text 6"/>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25 / 47</a:t>
            </a:r>
            <a:endParaRPr lang="en-US" sz="800" dirty="0"/>
          </a:p>
        </p:txBody>
      </p:sp>
      <p:sp>
        <p:nvSpPr>
          <p:cNvPr id="9" name="Text 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0" name="Text 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11" name="Text 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25 / 47</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21  EJEMPLO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LA EMPRESA</a:t>
            </a:r>
            <a:endParaRPr lang="en-US" sz="3300" dirty="0"/>
          </a:p>
        </p:txBody>
      </p:sp>
      <p:sp>
        <p:nvSpPr>
          <p:cNvPr id="4" name="Shape 2"/>
          <p:cNvSpPr/>
          <p:nvPr/>
        </p:nvSpPr>
        <p:spPr>
          <a:xfrm>
            <a:off x="502920" y="1783080"/>
            <a:ext cx="11185855" cy="1280160"/>
          </a:xfrm>
          <a:prstGeom prst="roundRect">
            <a:avLst>
              <a:gd name="adj" fmla="val 4286"/>
            </a:avLst>
          </a:prstGeom>
          <a:solidFill>
            <a:srgbClr val="1E1E1E"/>
          </a:solidFill>
          <a:ln w="12700">
            <a:solidFill>
              <a:srgbClr val="333333"/>
            </a:solidFill>
            <a:prstDash val="solid"/>
          </a:ln>
        </p:spPr>
      </p:sp>
      <p:sp>
        <p:nvSpPr>
          <p:cNvPr id="5" name="Text 3"/>
          <p:cNvSpPr/>
          <p:nvPr/>
        </p:nvSpPr>
        <p:spPr>
          <a:xfrm>
            <a:off x="731520" y="1965960"/>
            <a:ext cx="2743200" cy="365760"/>
          </a:xfrm>
          <a:prstGeom prst="rect">
            <a:avLst/>
          </a:prstGeom>
          <a:noFill/>
          <a:ln/>
        </p:spPr>
        <p:txBody>
          <a:bodyPr wrap="square" lIns="0" tIns="0" rIns="0" bIns="0" rtlCol="0" anchor="t"/>
          <a:lstStyle/>
          <a:p>
            <a:pPr indent="0" marL="0">
              <a:buNone/>
            </a:pPr>
            <a:r>
              <a:rPr lang="en-US" sz="1200" b="1" dirty="0">
                <a:solidFill>
                  <a:srgbClr val="C6FF00"/>
                </a:solidFill>
                <a:latin typeface="Courier New" pitchFamily="34" charset="0"/>
                <a:ea typeface="Courier New" pitchFamily="34" charset="-122"/>
                <a:cs typeface="Courier New" pitchFamily="34" charset="-120"/>
              </a:rPr>
              <a:t>IDENTIDAD</a:t>
            </a:r>
            <a:endParaRPr lang="en-US" sz="1200" dirty="0"/>
          </a:p>
        </p:txBody>
      </p:sp>
      <p:sp>
        <p:nvSpPr>
          <p:cNvPr id="6" name="Text 4"/>
          <p:cNvSpPr/>
          <p:nvPr/>
        </p:nvSpPr>
        <p:spPr>
          <a:xfrm>
            <a:off x="731520" y="2286000"/>
            <a:ext cx="10728655" cy="731520"/>
          </a:xfrm>
          <a:prstGeom prst="rect">
            <a:avLst/>
          </a:prstGeom>
          <a:noFill/>
          <a:ln/>
        </p:spPr>
        <p:txBody>
          <a:bodyPr wrap="square" lIns="0" tIns="0" rIns="0" bIns="0" rtlCol="0" anchor="t"/>
          <a:lstStyle/>
          <a:p>
            <a:pPr indent="0" marL="0">
              <a:buNone/>
            </a:pPr>
            <a:r>
              <a:rPr lang="en-US" sz="2600" dirty="0">
                <a:solidFill>
                  <a:srgbClr val="F4F4F4"/>
                </a:solidFill>
                <a:latin typeface="Arial Black" pitchFamily="34" charset="0"/>
                <a:ea typeface="Arial Black" pitchFamily="34" charset="-122"/>
                <a:cs typeface="Arial Black" pitchFamily="34" charset="-120"/>
              </a:rPr>
              <a:t>LÁCTEOS LA PRADERA S.A.S.</a:t>
            </a:r>
            <a:endParaRPr lang="en-US" sz="2600" dirty="0"/>
          </a:p>
        </p:txBody>
      </p:sp>
      <p:sp>
        <p:nvSpPr>
          <p:cNvPr id="7" name="Text 5"/>
          <p:cNvSpPr/>
          <p:nvPr/>
        </p:nvSpPr>
        <p:spPr>
          <a:xfrm>
            <a:off x="502920" y="329184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QUÉ SE HACE</a:t>
            </a:r>
            <a:endParaRPr lang="en-US" sz="1100" dirty="0"/>
          </a:p>
        </p:txBody>
      </p:sp>
      <p:sp>
        <p:nvSpPr>
          <p:cNvPr id="8" name="Text 6"/>
          <p:cNvSpPr/>
          <p:nvPr/>
        </p:nvSpPr>
        <p:spPr>
          <a:xfrm>
            <a:off x="502920" y="3657600"/>
            <a:ext cx="11185855" cy="1280160"/>
          </a:xfrm>
          <a:prstGeom prst="rect">
            <a:avLst/>
          </a:prstGeom>
          <a:noFill/>
          <a:ln/>
        </p:spPr>
        <p:txBody>
          <a:bodyPr wrap="square" lIns="0" tIns="0" rIns="0" bIns="0" rtlCol="0" anchor="t"/>
          <a:lstStyle/>
          <a:p>
            <a:pPr indent="0" marL="0">
              <a:lnSpc>
                <a:spcPct val="112000"/>
              </a:lnSpc>
              <a:buNone/>
            </a:pPr>
            <a:r>
              <a:rPr lang="en-US" sz="1300" dirty="0">
                <a:solidFill>
                  <a:srgbClr val="F4F4F4"/>
                </a:solidFill>
                <a:latin typeface="Arial" pitchFamily="34" charset="0"/>
                <a:ea typeface="Arial" pitchFamily="34" charset="-122"/>
                <a:cs typeface="Arial" pitchFamily="34" charset="-120"/>
              </a:rPr>
              <a:t>Pyme de alimentos ubicada en Rionegro (Antioquia). Produce yogurt, kumis y avena en varios formatos. Tiene una sola planta con tres líneas de producción y trabaja dos turnos. Vende a supermercados regionales y quiere entrar a una gran cadena que le exige trazabilidad de lote.</a:t>
            </a:r>
            <a:endParaRPr lang="en-US" sz="1300" dirty="0"/>
          </a:p>
        </p:txBody>
      </p:sp>
      <p:sp>
        <p:nvSpPr>
          <p:cNvPr id="9" name="Shape 7"/>
          <p:cNvSpPr/>
          <p:nvPr/>
        </p:nvSpPr>
        <p:spPr>
          <a:xfrm>
            <a:off x="502920" y="5358384"/>
            <a:ext cx="5364328" cy="914400"/>
          </a:xfrm>
          <a:prstGeom prst="roundRect">
            <a:avLst>
              <a:gd name="adj" fmla="val 5000"/>
            </a:avLst>
          </a:prstGeom>
          <a:solidFill>
            <a:srgbClr val="151515"/>
          </a:solidFill>
          <a:ln w="12700">
            <a:solidFill>
              <a:srgbClr val="333333"/>
            </a:solidFill>
            <a:prstDash val="solid"/>
          </a:ln>
        </p:spPr>
      </p:sp>
      <p:sp>
        <p:nvSpPr>
          <p:cNvPr id="10" name="Text 8"/>
          <p:cNvSpPr/>
          <p:nvPr/>
        </p:nvSpPr>
        <p:spPr>
          <a:xfrm>
            <a:off x="685800" y="5486400"/>
            <a:ext cx="4998568" cy="320040"/>
          </a:xfrm>
          <a:prstGeom prst="rect">
            <a:avLst/>
          </a:prstGeom>
          <a:noFill/>
          <a:ln/>
        </p:spPr>
        <p:txBody>
          <a:bodyPr wrap="square" lIns="0" tIns="0" rIns="0" bIns="0" rtlCol="0" anchor="ctr"/>
          <a:lstStyle/>
          <a:p>
            <a:pPr indent="0" marL="0">
              <a:buNone/>
            </a:pPr>
            <a:r>
              <a:rPr lang="en-US" sz="950" b="1" dirty="0">
                <a:solidFill>
                  <a:srgbClr val="27E5E5"/>
                </a:solidFill>
                <a:latin typeface="Courier New" pitchFamily="34" charset="0"/>
                <a:ea typeface="Courier New" pitchFamily="34" charset="-122"/>
                <a:cs typeface="Courier New" pitchFamily="34" charset="-120"/>
              </a:rPr>
              <a:t>SECTOR / LUGAR</a:t>
            </a:r>
            <a:endParaRPr lang="en-US" sz="950" dirty="0"/>
          </a:p>
        </p:txBody>
      </p:sp>
      <p:sp>
        <p:nvSpPr>
          <p:cNvPr id="11" name="Text 9"/>
          <p:cNvSpPr/>
          <p:nvPr/>
        </p:nvSpPr>
        <p:spPr>
          <a:xfrm>
            <a:off x="685800"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Alimentos (lácteos) · Rionegro, Antioquia · pyme</a:t>
            </a:r>
            <a:endParaRPr lang="en-US" sz="1200" dirty="0"/>
          </a:p>
        </p:txBody>
      </p:sp>
      <p:sp>
        <p:nvSpPr>
          <p:cNvPr id="12" name="Shape 10"/>
          <p:cNvSpPr/>
          <p:nvPr/>
        </p:nvSpPr>
        <p:spPr>
          <a:xfrm>
            <a:off x="6324448" y="5358384"/>
            <a:ext cx="5364328" cy="914400"/>
          </a:xfrm>
          <a:prstGeom prst="roundRect">
            <a:avLst>
              <a:gd name="adj" fmla="val 5000"/>
            </a:avLst>
          </a:prstGeom>
          <a:solidFill>
            <a:srgbClr val="151515"/>
          </a:solidFill>
          <a:ln w="12700">
            <a:solidFill>
              <a:srgbClr val="333333"/>
            </a:solidFill>
            <a:prstDash val="solid"/>
          </a:ln>
        </p:spPr>
      </p:sp>
      <p:sp>
        <p:nvSpPr>
          <p:cNvPr id="13" name="Text 11"/>
          <p:cNvSpPr/>
          <p:nvPr/>
        </p:nvSpPr>
        <p:spPr>
          <a:xfrm>
            <a:off x="6507328" y="5486400"/>
            <a:ext cx="4998568" cy="320040"/>
          </a:xfrm>
          <a:prstGeom prst="rect">
            <a:avLst/>
          </a:prstGeom>
          <a:noFill/>
          <a:ln/>
        </p:spPr>
        <p:txBody>
          <a:bodyPr wrap="square" lIns="0" tIns="0" rIns="0" bIns="0" rtlCol="0" anchor="ctr"/>
          <a:lstStyle/>
          <a:p>
            <a:pPr indent="0" marL="0">
              <a:buNone/>
            </a:pPr>
            <a:r>
              <a:rPr lang="en-US" sz="950" b="1" dirty="0">
                <a:solidFill>
                  <a:srgbClr val="FFB000"/>
                </a:solidFill>
                <a:latin typeface="Courier New" pitchFamily="34" charset="0"/>
                <a:ea typeface="Courier New" pitchFamily="34" charset="-122"/>
                <a:cs typeface="Courier New" pitchFamily="34" charset="-120"/>
              </a:rPr>
              <a:t>PRODUCTO</a:t>
            </a:r>
            <a:endParaRPr lang="en-US" sz="950" dirty="0"/>
          </a:p>
        </p:txBody>
      </p:sp>
      <p:sp>
        <p:nvSpPr>
          <p:cNvPr id="14" name="Text 12"/>
          <p:cNvSpPr/>
          <p:nvPr/>
        </p:nvSpPr>
        <p:spPr>
          <a:xfrm>
            <a:off x="6507328"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Yogurt, kumis, avena · 3 líneas · 2 turnos</a:t>
            </a:r>
            <a:endParaRPr lang="en-US" sz="12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26 / 47</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22  EJEMPLO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LA PRADERA EN CIFRAS</a:t>
            </a:r>
            <a:endParaRPr lang="en-US" sz="3300" dirty="0"/>
          </a:p>
        </p:txBody>
      </p:sp>
      <p:sp>
        <p:nvSpPr>
          <p:cNvPr id="4" name="Shape 2"/>
          <p:cNvSpPr/>
          <p:nvPr/>
        </p:nvSpPr>
        <p:spPr>
          <a:xfrm>
            <a:off x="502920" y="1783080"/>
            <a:ext cx="3545738" cy="1828800"/>
          </a:xfrm>
          <a:prstGeom prst="roundRect">
            <a:avLst>
              <a:gd name="adj" fmla="val 3000"/>
            </a:avLst>
          </a:prstGeom>
          <a:solidFill>
            <a:srgbClr val="151515"/>
          </a:solidFill>
          <a:ln w="12700">
            <a:solidFill>
              <a:srgbClr val="333333"/>
            </a:solidFill>
            <a:prstDash val="solid"/>
          </a:ln>
        </p:spPr>
      </p:sp>
      <p:sp>
        <p:nvSpPr>
          <p:cNvPr id="5" name="Text 3"/>
          <p:cNvSpPr/>
          <p:nvPr/>
        </p:nvSpPr>
        <p:spPr>
          <a:xfrm>
            <a:off x="640080" y="1965960"/>
            <a:ext cx="3271418" cy="868680"/>
          </a:xfrm>
          <a:prstGeom prst="rect">
            <a:avLst/>
          </a:prstGeom>
          <a:noFill/>
          <a:ln/>
        </p:spPr>
        <p:txBody>
          <a:bodyPr wrap="square" lIns="0" tIns="0" rIns="0" bIns="0" rtlCol="0" anchor="ctr"/>
          <a:lstStyle/>
          <a:p>
            <a:pPr algn="ctr" indent="0" marL="0">
              <a:buNone/>
            </a:pPr>
            <a:r>
              <a:rPr lang="en-US" sz="3800" dirty="0">
                <a:solidFill>
                  <a:srgbClr val="C6FF00"/>
                </a:solidFill>
                <a:latin typeface="Arial Black" pitchFamily="34" charset="0"/>
                <a:ea typeface="Arial Black" pitchFamily="34" charset="-122"/>
                <a:cs typeface="Arial Black" pitchFamily="34" charset="-120"/>
              </a:rPr>
              <a:t>1 planta</a:t>
            </a:r>
            <a:endParaRPr lang="en-US" sz="3800" dirty="0"/>
          </a:p>
        </p:txBody>
      </p:sp>
      <p:sp>
        <p:nvSpPr>
          <p:cNvPr id="6" name="Text 4"/>
          <p:cNvSpPr/>
          <p:nvPr/>
        </p:nvSpPr>
        <p:spPr>
          <a:xfrm>
            <a:off x="685800"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en Rionegro, con 3 líneas de producción y ~80 empleados</a:t>
            </a:r>
            <a:endParaRPr lang="en-US" sz="1100" dirty="0"/>
          </a:p>
        </p:txBody>
      </p:sp>
      <p:sp>
        <p:nvSpPr>
          <p:cNvPr id="7" name="Shape 5"/>
          <p:cNvSpPr/>
          <p:nvPr/>
        </p:nvSpPr>
        <p:spPr>
          <a:xfrm>
            <a:off x="4322978" y="1783080"/>
            <a:ext cx="3545738" cy="1828800"/>
          </a:xfrm>
          <a:prstGeom prst="roundRect">
            <a:avLst>
              <a:gd name="adj" fmla="val 3000"/>
            </a:avLst>
          </a:prstGeom>
          <a:solidFill>
            <a:srgbClr val="151515"/>
          </a:solidFill>
          <a:ln w="12700">
            <a:solidFill>
              <a:srgbClr val="333333"/>
            </a:solidFill>
            <a:prstDash val="solid"/>
          </a:ln>
        </p:spPr>
      </p:sp>
      <p:sp>
        <p:nvSpPr>
          <p:cNvPr id="8" name="Text 6"/>
          <p:cNvSpPr/>
          <p:nvPr/>
        </p:nvSpPr>
        <p:spPr>
          <a:xfrm>
            <a:off x="4460138" y="1965960"/>
            <a:ext cx="3271418" cy="868680"/>
          </a:xfrm>
          <a:prstGeom prst="rect">
            <a:avLst/>
          </a:prstGeom>
          <a:noFill/>
          <a:ln/>
        </p:spPr>
        <p:txBody>
          <a:bodyPr wrap="square" lIns="0" tIns="0" rIns="0" bIns="0" rtlCol="0" anchor="ctr"/>
          <a:lstStyle/>
          <a:p>
            <a:pPr algn="ctr" indent="0" marL="0">
              <a:buNone/>
            </a:pPr>
            <a:r>
              <a:rPr lang="en-US" sz="3800" dirty="0">
                <a:solidFill>
                  <a:srgbClr val="27E5E5"/>
                </a:solidFill>
                <a:latin typeface="Arial Black" pitchFamily="34" charset="0"/>
                <a:ea typeface="Arial Black" pitchFamily="34" charset="-122"/>
                <a:cs typeface="Arial Black" pitchFamily="34" charset="-120"/>
              </a:rPr>
              <a:t>2 turnos</a:t>
            </a:r>
            <a:endParaRPr lang="en-US" sz="3800" dirty="0"/>
          </a:p>
        </p:txBody>
      </p:sp>
      <p:sp>
        <p:nvSpPr>
          <p:cNvPr id="9" name="Text 7"/>
          <p:cNvSpPr/>
          <p:nvPr/>
        </p:nvSpPr>
        <p:spPr>
          <a:xfrm>
            <a:off x="4505858"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producción diaria; ventas a supermercados regionales</a:t>
            </a:r>
            <a:endParaRPr lang="en-US" sz="1100" dirty="0"/>
          </a:p>
        </p:txBody>
      </p:sp>
      <p:sp>
        <p:nvSpPr>
          <p:cNvPr id="10" name="Shape 8"/>
          <p:cNvSpPr/>
          <p:nvPr/>
        </p:nvSpPr>
        <p:spPr>
          <a:xfrm>
            <a:off x="8143037" y="1783080"/>
            <a:ext cx="3545738" cy="1828800"/>
          </a:xfrm>
          <a:prstGeom prst="roundRect">
            <a:avLst>
              <a:gd name="adj" fmla="val 3000"/>
            </a:avLst>
          </a:prstGeom>
          <a:solidFill>
            <a:srgbClr val="151515"/>
          </a:solidFill>
          <a:ln w="12700">
            <a:solidFill>
              <a:srgbClr val="333333"/>
            </a:solidFill>
            <a:prstDash val="solid"/>
          </a:ln>
        </p:spPr>
      </p:sp>
      <p:sp>
        <p:nvSpPr>
          <p:cNvPr id="11" name="Text 9"/>
          <p:cNvSpPr/>
          <p:nvPr/>
        </p:nvSpPr>
        <p:spPr>
          <a:xfrm>
            <a:off x="8280197" y="1965960"/>
            <a:ext cx="3271418" cy="868680"/>
          </a:xfrm>
          <a:prstGeom prst="rect">
            <a:avLst/>
          </a:prstGeom>
          <a:noFill/>
          <a:ln/>
        </p:spPr>
        <p:txBody>
          <a:bodyPr wrap="square" lIns="0" tIns="0" rIns="0" bIns="0" rtlCol="0" anchor="ctr"/>
          <a:lstStyle/>
          <a:p>
            <a:pPr algn="ctr" indent="0" marL="0">
              <a:buNone/>
            </a:pPr>
            <a:r>
              <a:rPr lang="en-US" sz="3800" dirty="0">
                <a:solidFill>
                  <a:srgbClr val="FFB000"/>
                </a:solidFill>
                <a:latin typeface="Arial Black" pitchFamily="34" charset="0"/>
                <a:ea typeface="Arial Black" pitchFamily="34" charset="-122"/>
                <a:cs typeface="Arial Black" pitchFamily="34" charset="-120"/>
              </a:rPr>
              <a:t>1 meta</a:t>
            </a:r>
            <a:endParaRPr lang="en-US" sz="3800" dirty="0"/>
          </a:p>
        </p:txBody>
      </p:sp>
      <p:sp>
        <p:nvSpPr>
          <p:cNvPr id="12" name="Text 10"/>
          <p:cNvSpPr/>
          <p:nvPr/>
        </p:nvSpPr>
        <p:spPr>
          <a:xfrm>
            <a:off x="8325917"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entrar a una gran cadena que exige trazabilidad de lote</a:t>
            </a:r>
            <a:endParaRPr lang="en-US" sz="1100" dirty="0"/>
          </a:p>
        </p:txBody>
      </p:sp>
      <p:sp>
        <p:nvSpPr>
          <p:cNvPr id="13" name="Text 11"/>
          <p:cNvSpPr/>
          <p:nvPr/>
        </p:nvSpPr>
        <p:spPr>
          <a:xfrm>
            <a:off x="502920" y="388620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LECTURA CLAVE</a:t>
            </a:r>
            <a:endParaRPr lang="en-US" sz="1100" dirty="0"/>
          </a:p>
        </p:txBody>
      </p:sp>
      <p:sp>
        <p:nvSpPr>
          <p:cNvPr id="14" name="Text 12"/>
          <p:cNvSpPr/>
          <p:nvPr/>
        </p:nvSpPr>
        <p:spPr>
          <a:xfrm>
            <a:off x="502920" y="4270248"/>
            <a:ext cx="11185855" cy="1463040"/>
          </a:xfrm>
          <a:prstGeom prst="rect">
            <a:avLst/>
          </a:prstGeom>
          <a:noFill/>
          <a:ln/>
        </p:spPr>
        <p:txBody>
          <a:bodyPr wrap="square" lIns="0" tIns="0" rIns="0" bIns="0" rtlCol="0" anchor="t"/>
          <a:lstStyle/>
          <a:p>
            <a:pPr indent="0" marL="0">
              <a:lnSpc>
                <a:spcPct val="110000"/>
              </a:lnSpc>
              <a:buNone/>
            </a:pPr>
            <a:r>
              <a:rPr lang="en-US" sz="1300" dirty="0">
                <a:solidFill>
                  <a:srgbClr val="F4F4F4"/>
                </a:solidFill>
                <a:latin typeface="Arial" pitchFamily="34" charset="0"/>
                <a:ea typeface="Arial" pitchFamily="34" charset="-122"/>
                <a:cs typeface="Arial" pitchFamily="34" charset="-120"/>
              </a:rPr>
              <a:t>Es una pyme realista: pequeña, regional, con una ambición concreta (nuevo cliente) que crea presión sobre la producción. Esa presión será el dolor que justifica el proyecto.</a:t>
            </a:r>
            <a:endParaRPr lang="en-US" sz="13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27 / 47</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23  EJEMPLO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EL EMBUDO APLICADO A LA PRADERA</a:t>
            </a:r>
            <a:endParaRPr lang="en-US" sz="3300" dirty="0"/>
          </a:p>
        </p:txBody>
      </p:sp>
      <p:sp>
        <p:nvSpPr>
          <p:cNvPr id="4" name="Shape 2"/>
          <p:cNvSpPr/>
          <p:nvPr/>
        </p:nvSpPr>
        <p:spPr>
          <a:xfrm>
            <a:off x="502920" y="1783080"/>
            <a:ext cx="2743200" cy="457200"/>
          </a:xfrm>
          <a:prstGeom prst="rect">
            <a:avLst/>
          </a:prstGeom>
          <a:solidFill>
            <a:srgbClr val="1E1E1E"/>
          </a:solidFill>
          <a:ln w="12700">
            <a:solidFill>
              <a:srgbClr val="333333"/>
            </a:solidFill>
            <a:prstDash val="solid"/>
          </a:ln>
        </p:spPr>
      </p:sp>
      <p:sp>
        <p:nvSpPr>
          <p:cNvPr id="5" name="Text 3"/>
          <p:cNvSpPr/>
          <p:nvPr/>
        </p:nvSpPr>
        <p:spPr>
          <a:xfrm>
            <a:off x="576072" y="1783080"/>
            <a:ext cx="2596896" cy="457200"/>
          </a:xfrm>
          <a:prstGeom prst="rect">
            <a:avLst/>
          </a:prstGeom>
          <a:noFill/>
          <a:ln/>
        </p:spPr>
        <p:txBody>
          <a:bodyPr wrap="square" lIns="0" tIns="0" rIns="0" bIns="0" rtlCol="0" anchor="ctr"/>
          <a:lstStyle/>
          <a:p>
            <a:pPr algn="l" indent="0" marL="0">
              <a:buNone/>
            </a:pPr>
            <a:r>
              <a:rPr lang="en-US" sz="1050" b="1" dirty="0">
                <a:solidFill>
                  <a:srgbClr val="C6FF00"/>
                </a:solidFill>
                <a:latin typeface="Courier New" pitchFamily="34" charset="0"/>
                <a:ea typeface="Courier New" pitchFamily="34" charset="-122"/>
                <a:cs typeface="Courier New" pitchFamily="34" charset="-120"/>
              </a:rPr>
              <a:t>NIVEL</a:t>
            </a:r>
            <a:endParaRPr lang="en-US" sz="1050" dirty="0"/>
          </a:p>
        </p:txBody>
      </p:sp>
      <p:sp>
        <p:nvSpPr>
          <p:cNvPr id="6" name="Shape 4"/>
          <p:cNvSpPr/>
          <p:nvPr/>
        </p:nvSpPr>
        <p:spPr>
          <a:xfrm>
            <a:off x="3246120" y="1783080"/>
            <a:ext cx="4221328" cy="457200"/>
          </a:xfrm>
          <a:prstGeom prst="rect">
            <a:avLst/>
          </a:prstGeom>
          <a:solidFill>
            <a:srgbClr val="1E1E1E"/>
          </a:solidFill>
          <a:ln w="12700">
            <a:solidFill>
              <a:srgbClr val="333333"/>
            </a:solidFill>
            <a:prstDash val="solid"/>
          </a:ln>
        </p:spPr>
      </p:sp>
      <p:sp>
        <p:nvSpPr>
          <p:cNvPr id="7" name="Text 5"/>
          <p:cNvSpPr/>
          <p:nvPr/>
        </p:nvSpPr>
        <p:spPr>
          <a:xfrm>
            <a:off x="3319272" y="1783080"/>
            <a:ext cx="4075024" cy="457200"/>
          </a:xfrm>
          <a:prstGeom prst="rect">
            <a:avLst/>
          </a:prstGeom>
          <a:noFill/>
          <a:ln/>
        </p:spPr>
        <p:txBody>
          <a:bodyPr wrap="square" lIns="0" tIns="0" rIns="0" bIns="0" rtlCol="0" anchor="ctr"/>
          <a:lstStyle/>
          <a:p>
            <a:pPr algn="ctr" indent="0" marL="0">
              <a:buNone/>
            </a:pPr>
            <a:r>
              <a:rPr lang="en-US" sz="1050" b="1" dirty="0">
                <a:solidFill>
                  <a:srgbClr val="C6FF00"/>
                </a:solidFill>
                <a:latin typeface="Courier New" pitchFamily="34" charset="0"/>
                <a:ea typeface="Courier New" pitchFamily="34" charset="-122"/>
                <a:cs typeface="Courier New" pitchFamily="34" charset="-120"/>
              </a:rPr>
              <a:t>EN LA PRADERA</a:t>
            </a:r>
            <a:endParaRPr lang="en-US" sz="1050" dirty="0"/>
          </a:p>
        </p:txBody>
      </p:sp>
      <p:sp>
        <p:nvSpPr>
          <p:cNvPr id="8" name="Shape 6"/>
          <p:cNvSpPr/>
          <p:nvPr/>
        </p:nvSpPr>
        <p:spPr>
          <a:xfrm>
            <a:off x="7467448" y="1783080"/>
            <a:ext cx="4221328" cy="457200"/>
          </a:xfrm>
          <a:prstGeom prst="rect">
            <a:avLst/>
          </a:prstGeom>
          <a:solidFill>
            <a:srgbClr val="1E1E1E"/>
          </a:solidFill>
          <a:ln w="12700">
            <a:solidFill>
              <a:srgbClr val="333333"/>
            </a:solidFill>
            <a:prstDash val="solid"/>
          </a:ln>
        </p:spPr>
      </p:sp>
      <p:sp>
        <p:nvSpPr>
          <p:cNvPr id="9" name="Text 7"/>
          <p:cNvSpPr/>
          <p:nvPr/>
        </p:nvSpPr>
        <p:spPr>
          <a:xfrm>
            <a:off x="7540600" y="1783080"/>
            <a:ext cx="4075024" cy="457200"/>
          </a:xfrm>
          <a:prstGeom prst="rect">
            <a:avLst/>
          </a:prstGeom>
          <a:noFill/>
          <a:ln/>
        </p:spPr>
        <p:txBody>
          <a:bodyPr wrap="square" lIns="0" tIns="0" rIns="0" bIns="0" rtlCol="0" anchor="ctr"/>
          <a:lstStyle/>
          <a:p>
            <a:pPr algn="ctr" indent="0" marL="0">
              <a:buNone/>
            </a:pPr>
            <a:r>
              <a:rPr lang="en-US" sz="1050" b="1" dirty="0">
                <a:solidFill>
                  <a:srgbClr val="C6FF00"/>
                </a:solidFill>
                <a:latin typeface="Courier New" pitchFamily="34" charset="0"/>
                <a:ea typeface="Courier New" pitchFamily="34" charset="-122"/>
                <a:cs typeface="Courier New" pitchFamily="34" charset="-120"/>
              </a:rPr>
              <a:t>¿FOCO?</a:t>
            </a:r>
            <a:endParaRPr lang="en-US" sz="1050" dirty="0"/>
          </a:p>
        </p:txBody>
      </p:sp>
      <p:sp>
        <p:nvSpPr>
          <p:cNvPr id="10" name="Shape 8"/>
          <p:cNvSpPr/>
          <p:nvPr/>
        </p:nvSpPr>
        <p:spPr>
          <a:xfrm>
            <a:off x="502920" y="2240280"/>
            <a:ext cx="2743200" cy="566928"/>
          </a:xfrm>
          <a:prstGeom prst="rect">
            <a:avLst/>
          </a:prstGeom>
          <a:solidFill>
            <a:srgbClr val="151515"/>
          </a:solidFill>
          <a:ln w="12700">
            <a:solidFill>
              <a:srgbClr val="242424"/>
            </a:solidFill>
            <a:prstDash val="solid"/>
          </a:ln>
        </p:spPr>
      </p:sp>
      <p:sp>
        <p:nvSpPr>
          <p:cNvPr id="11" name="Text 9"/>
          <p:cNvSpPr/>
          <p:nvPr/>
        </p:nvSpPr>
        <p:spPr>
          <a:xfrm>
            <a:off x="576072" y="2240280"/>
            <a:ext cx="259689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Empresa</a:t>
            </a:r>
            <a:endParaRPr lang="en-US" sz="1150" dirty="0"/>
          </a:p>
        </p:txBody>
      </p:sp>
      <p:sp>
        <p:nvSpPr>
          <p:cNvPr id="12" name="Shape 10"/>
          <p:cNvSpPr/>
          <p:nvPr/>
        </p:nvSpPr>
        <p:spPr>
          <a:xfrm>
            <a:off x="3246120" y="2240280"/>
            <a:ext cx="4221328" cy="566928"/>
          </a:xfrm>
          <a:prstGeom prst="rect">
            <a:avLst/>
          </a:prstGeom>
          <a:solidFill>
            <a:srgbClr val="151515"/>
          </a:solidFill>
          <a:ln w="12700">
            <a:solidFill>
              <a:srgbClr val="242424"/>
            </a:solidFill>
            <a:prstDash val="solid"/>
          </a:ln>
        </p:spPr>
      </p:sp>
      <p:sp>
        <p:nvSpPr>
          <p:cNvPr id="13" name="Text 11"/>
          <p:cNvSpPr/>
          <p:nvPr/>
        </p:nvSpPr>
        <p:spPr>
          <a:xfrm>
            <a:off x="3319272" y="2240280"/>
            <a:ext cx="407502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Lácteos La Pradera S.A.S.</a:t>
            </a:r>
            <a:endParaRPr lang="en-US" sz="1100" dirty="0"/>
          </a:p>
        </p:txBody>
      </p:sp>
      <p:sp>
        <p:nvSpPr>
          <p:cNvPr id="14" name="Shape 12"/>
          <p:cNvSpPr/>
          <p:nvPr/>
        </p:nvSpPr>
        <p:spPr>
          <a:xfrm>
            <a:off x="7467448" y="2240280"/>
            <a:ext cx="4221328" cy="566928"/>
          </a:xfrm>
          <a:prstGeom prst="rect">
            <a:avLst/>
          </a:prstGeom>
          <a:solidFill>
            <a:srgbClr val="151515"/>
          </a:solidFill>
          <a:ln w="12700">
            <a:solidFill>
              <a:srgbClr val="242424"/>
            </a:solidFill>
            <a:prstDash val="solid"/>
          </a:ln>
        </p:spPr>
      </p:sp>
      <p:sp>
        <p:nvSpPr>
          <p:cNvPr id="15" name="Text 13"/>
          <p:cNvSpPr/>
          <p:nvPr/>
        </p:nvSpPr>
        <p:spPr>
          <a:xfrm>
            <a:off x="7540600" y="2240280"/>
            <a:ext cx="407502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Contexto</a:t>
            </a:r>
            <a:endParaRPr lang="en-US" sz="1100" dirty="0"/>
          </a:p>
        </p:txBody>
      </p:sp>
      <p:sp>
        <p:nvSpPr>
          <p:cNvPr id="16" name="Shape 14"/>
          <p:cNvSpPr/>
          <p:nvPr/>
        </p:nvSpPr>
        <p:spPr>
          <a:xfrm>
            <a:off x="502920" y="2807208"/>
            <a:ext cx="2743200" cy="566928"/>
          </a:xfrm>
          <a:prstGeom prst="rect">
            <a:avLst/>
          </a:prstGeom>
          <a:solidFill>
            <a:srgbClr val="0B0B0B"/>
          </a:solidFill>
          <a:ln w="12700">
            <a:solidFill>
              <a:srgbClr val="242424"/>
            </a:solidFill>
            <a:prstDash val="solid"/>
          </a:ln>
        </p:spPr>
      </p:sp>
      <p:sp>
        <p:nvSpPr>
          <p:cNvPr id="17" name="Text 15"/>
          <p:cNvSpPr/>
          <p:nvPr/>
        </p:nvSpPr>
        <p:spPr>
          <a:xfrm>
            <a:off x="576072" y="2807208"/>
            <a:ext cx="259689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Planta</a:t>
            </a:r>
            <a:endParaRPr lang="en-US" sz="1150" dirty="0"/>
          </a:p>
        </p:txBody>
      </p:sp>
      <p:sp>
        <p:nvSpPr>
          <p:cNvPr id="18" name="Shape 16"/>
          <p:cNvSpPr/>
          <p:nvPr/>
        </p:nvSpPr>
        <p:spPr>
          <a:xfrm>
            <a:off x="3246120" y="2807208"/>
            <a:ext cx="4221328" cy="566928"/>
          </a:xfrm>
          <a:prstGeom prst="rect">
            <a:avLst/>
          </a:prstGeom>
          <a:solidFill>
            <a:srgbClr val="0B0B0B"/>
          </a:solidFill>
          <a:ln w="12700">
            <a:solidFill>
              <a:srgbClr val="242424"/>
            </a:solidFill>
            <a:prstDash val="solid"/>
          </a:ln>
        </p:spPr>
      </p:sp>
      <p:sp>
        <p:nvSpPr>
          <p:cNvPr id="19" name="Text 17"/>
          <p:cNvSpPr/>
          <p:nvPr/>
        </p:nvSpPr>
        <p:spPr>
          <a:xfrm>
            <a:off x="3319272" y="2807208"/>
            <a:ext cx="4075024" cy="566928"/>
          </a:xfrm>
          <a:prstGeom prst="rect">
            <a:avLst/>
          </a:prstGeom>
          <a:noFill/>
          <a:ln/>
        </p:spPr>
        <p:txBody>
          <a:bodyPr wrap="square" lIns="0" tIns="0" rIns="0" bIns="0" rtlCol="0" anchor="ctr"/>
          <a:lstStyle/>
          <a:p>
            <a:pPr algn="ctr" indent="0" marL="0">
              <a:buNone/>
            </a:pPr>
            <a:r>
              <a:rPr lang="en-US" sz="1100" dirty="0">
                <a:solidFill>
                  <a:srgbClr val="FF6B35"/>
                </a:solidFill>
                <a:latin typeface="Courier New" pitchFamily="34" charset="0"/>
                <a:ea typeface="Courier New" pitchFamily="34" charset="-122"/>
                <a:cs typeface="Courier New" pitchFamily="34" charset="-120"/>
              </a:rPr>
              <a:t>Planta de Rionegro</a:t>
            </a:r>
            <a:endParaRPr lang="en-US" sz="1100" dirty="0"/>
          </a:p>
        </p:txBody>
      </p:sp>
      <p:sp>
        <p:nvSpPr>
          <p:cNvPr id="20" name="Shape 18"/>
          <p:cNvSpPr/>
          <p:nvPr/>
        </p:nvSpPr>
        <p:spPr>
          <a:xfrm>
            <a:off x="7467448" y="2807208"/>
            <a:ext cx="4221328" cy="566928"/>
          </a:xfrm>
          <a:prstGeom prst="rect">
            <a:avLst/>
          </a:prstGeom>
          <a:solidFill>
            <a:srgbClr val="0B0B0B"/>
          </a:solidFill>
          <a:ln w="12700">
            <a:solidFill>
              <a:srgbClr val="242424"/>
            </a:solidFill>
            <a:prstDash val="solid"/>
          </a:ln>
        </p:spPr>
      </p:sp>
      <p:sp>
        <p:nvSpPr>
          <p:cNvPr id="21" name="Text 19"/>
          <p:cNvSpPr/>
          <p:nvPr/>
        </p:nvSpPr>
        <p:spPr>
          <a:xfrm>
            <a:off x="7540600" y="2807208"/>
            <a:ext cx="407502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Contexto</a:t>
            </a:r>
            <a:endParaRPr lang="en-US" sz="1100" dirty="0"/>
          </a:p>
        </p:txBody>
      </p:sp>
      <p:sp>
        <p:nvSpPr>
          <p:cNvPr id="22" name="Shape 20"/>
          <p:cNvSpPr/>
          <p:nvPr/>
        </p:nvSpPr>
        <p:spPr>
          <a:xfrm>
            <a:off x="502920" y="3374136"/>
            <a:ext cx="2743200" cy="566928"/>
          </a:xfrm>
          <a:prstGeom prst="rect">
            <a:avLst/>
          </a:prstGeom>
          <a:solidFill>
            <a:srgbClr val="151515"/>
          </a:solidFill>
          <a:ln w="12700">
            <a:solidFill>
              <a:srgbClr val="242424"/>
            </a:solidFill>
            <a:prstDash val="solid"/>
          </a:ln>
        </p:spPr>
      </p:sp>
      <p:sp>
        <p:nvSpPr>
          <p:cNvPr id="23" name="Text 21"/>
          <p:cNvSpPr/>
          <p:nvPr/>
        </p:nvSpPr>
        <p:spPr>
          <a:xfrm>
            <a:off x="576072" y="3374136"/>
            <a:ext cx="259689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Área</a:t>
            </a:r>
            <a:endParaRPr lang="en-US" sz="1150" dirty="0"/>
          </a:p>
        </p:txBody>
      </p:sp>
      <p:sp>
        <p:nvSpPr>
          <p:cNvPr id="24" name="Shape 22"/>
          <p:cNvSpPr/>
          <p:nvPr/>
        </p:nvSpPr>
        <p:spPr>
          <a:xfrm>
            <a:off x="3246120" y="3374136"/>
            <a:ext cx="4221328" cy="566928"/>
          </a:xfrm>
          <a:prstGeom prst="rect">
            <a:avLst/>
          </a:prstGeom>
          <a:solidFill>
            <a:srgbClr val="151515"/>
          </a:solidFill>
          <a:ln w="12700">
            <a:solidFill>
              <a:srgbClr val="242424"/>
            </a:solidFill>
            <a:prstDash val="solid"/>
          </a:ln>
        </p:spPr>
      </p:sp>
      <p:sp>
        <p:nvSpPr>
          <p:cNvPr id="25" name="Text 23"/>
          <p:cNvSpPr/>
          <p:nvPr/>
        </p:nvSpPr>
        <p:spPr>
          <a:xfrm>
            <a:off x="3319272" y="3374136"/>
            <a:ext cx="4075024" cy="566928"/>
          </a:xfrm>
          <a:prstGeom prst="rect">
            <a:avLst/>
          </a:prstGeom>
          <a:noFill/>
          <a:ln/>
        </p:spPr>
        <p:txBody>
          <a:bodyPr wrap="square" lIns="0" tIns="0" rIns="0" bIns="0" rtlCol="0" anchor="ctr"/>
          <a:lstStyle/>
          <a:p>
            <a:pPr algn="ctr" indent="0" marL="0">
              <a:buNone/>
            </a:pPr>
            <a:r>
              <a:rPr lang="en-US" sz="1100" dirty="0">
                <a:solidFill>
                  <a:srgbClr val="FFB000"/>
                </a:solidFill>
                <a:latin typeface="Courier New" pitchFamily="34" charset="0"/>
                <a:ea typeface="Courier New" pitchFamily="34" charset="-122"/>
                <a:cs typeface="Courier New" pitchFamily="34" charset="-120"/>
              </a:rPr>
              <a:t>Envasado de bebibles</a:t>
            </a:r>
            <a:endParaRPr lang="en-US" sz="1100" dirty="0"/>
          </a:p>
        </p:txBody>
      </p:sp>
      <p:sp>
        <p:nvSpPr>
          <p:cNvPr id="26" name="Shape 24"/>
          <p:cNvSpPr/>
          <p:nvPr/>
        </p:nvSpPr>
        <p:spPr>
          <a:xfrm>
            <a:off x="7467448" y="3374136"/>
            <a:ext cx="4221328" cy="566928"/>
          </a:xfrm>
          <a:prstGeom prst="rect">
            <a:avLst/>
          </a:prstGeom>
          <a:solidFill>
            <a:srgbClr val="151515"/>
          </a:solidFill>
          <a:ln w="12700">
            <a:solidFill>
              <a:srgbClr val="242424"/>
            </a:solidFill>
            <a:prstDash val="solid"/>
          </a:ln>
        </p:spPr>
      </p:sp>
      <p:sp>
        <p:nvSpPr>
          <p:cNvPr id="27" name="Text 25"/>
          <p:cNvSpPr/>
          <p:nvPr/>
        </p:nvSpPr>
        <p:spPr>
          <a:xfrm>
            <a:off x="7540600" y="3374136"/>
            <a:ext cx="407502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Se acerca</a:t>
            </a:r>
            <a:endParaRPr lang="en-US" sz="1100" dirty="0"/>
          </a:p>
        </p:txBody>
      </p:sp>
      <p:sp>
        <p:nvSpPr>
          <p:cNvPr id="28" name="Shape 26"/>
          <p:cNvSpPr/>
          <p:nvPr/>
        </p:nvSpPr>
        <p:spPr>
          <a:xfrm>
            <a:off x="502920" y="3941064"/>
            <a:ext cx="2743200" cy="566928"/>
          </a:xfrm>
          <a:prstGeom prst="rect">
            <a:avLst/>
          </a:prstGeom>
          <a:solidFill>
            <a:srgbClr val="0B0B0B"/>
          </a:solidFill>
          <a:ln w="12700">
            <a:solidFill>
              <a:srgbClr val="242424"/>
            </a:solidFill>
            <a:prstDash val="solid"/>
          </a:ln>
        </p:spPr>
      </p:sp>
      <p:sp>
        <p:nvSpPr>
          <p:cNvPr id="29" name="Text 27"/>
          <p:cNvSpPr/>
          <p:nvPr/>
        </p:nvSpPr>
        <p:spPr>
          <a:xfrm>
            <a:off x="576072" y="3941064"/>
            <a:ext cx="259689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Línea</a:t>
            </a:r>
            <a:endParaRPr lang="en-US" sz="1150" dirty="0"/>
          </a:p>
        </p:txBody>
      </p:sp>
      <p:sp>
        <p:nvSpPr>
          <p:cNvPr id="30" name="Shape 28"/>
          <p:cNvSpPr/>
          <p:nvPr/>
        </p:nvSpPr>
        <p:spPr>
          <a:xfrm>
            <a:off x="3246120" y="3941064"/>
            <a:ext cx="4221328" cy="566928"/>
          </a:xfrm>
          <a:prstGeom prst="rect">
            <a:avLst/>
          </a:prstGeom>
          <a:solidFill>
            <a:srgbClr val="0B0B0B"/>
          </a:solidFill>
          <a:ln w="12700">
            <a:solidFill>
              <a:srgbClr val="242424"/>
            </a:solidFill>
            <a:prstDash val="solid"/>
          </a:ln>
        </p:spPr>
      </p:sp>
      <p:sp>
        <p:nvSpPr>
          <p:cNvPr id="31" name="Text 29"/>
          <p:cNvSpPr/>
          <p:nvPr/>
        </p:nvSpPr>
        <p:spPr>
          <a:xfrm>
            <a:off x="3319272" y="3941064"/>
            <a:ext cx="4075024" cy="566928"/>
          </a:xfrm>
          <a:prstGeom prst="rect">
            <a:avLst/>
          </a:prstGeom>
          <a:noFill/>
          <a:ln/>
        </p:spPr>
        <p:txBody>
          <a:bodyPr wrap="square" lIns="0" tIns="0" rIns="0" bIns="0" rtlCol="0" anchor="ctr"/>
          <a:lstStyle/>
          <a:p>
            <a:pPr algn="ctr" indent="0" marL="0">
              <a:buNone/>
            </a:pPr>
            <a:r>
              <a:rPr lang="en-US" sz="1100" dirty="0">
                <a:solidFill>
                  <a:srgbClr val="C6FF00"/>
                </a:solidFill>
                <a:latin typeface="Courier New" pitchFamily="34" charset="0"/>
                <a:ea typeface="Courier New" pitchFamily="34" charset="-122"/>
                <a:cs typeface="Courier New" pitchFamily="34" charset="-120"/>
              </a:rPr>
              <a:t>Línea 2 · yogurt bebible 200 ml</a:t>
            </a:r>
            <a:endParaRPr lang="en-US" sz="1100" dirty="0"/>
          </a:p>
        </p:txBody>
      </p:sp>
      <p:sp>
        <p:nvSpPr>
          <p:cNvPr id="32" name="Shape 30"/>
          <p:cNvSpPr/>
          <p:nvPr/>
        </p:nvSpPr>
        <p:spPr>
          <a:xfrm>
            <a:off x="7467448" y="3941064"/>
            <a:ext cx="4221328" cy="566928"/>
          </a:xfrm>
          <a:prstGeom prst="rect">
            <a:avLst/>
          </a:prstGeom>
          <a:solidFill>
            <a:srgbClr val="0B0B0B"/>
          </a:solidFill>
          <a:ln w="12700">
            <a:solidFill>
              <a:srgbClr val="242424"/>
            </a:solidFill>
            <a:prstDash val="solid"/>
          </a:ln>
        </p:spPr>
      </p:sp>
      <p:sp>
        <p:nvSpPr>
          <p:cNvPr id="33" name="Text 31"/>
          <p:cNvSpPr/>
          <p:nvPr/>
        </p:nvSpPr>
        <p:spPr>
          <a:xfrm>
            <a:off x="7540600" y="3941064"/>
            <a:ext cx="407502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FOCO ✓</a:t>
            </a:r>
            <a:endParaRPr lang="en-US" sz="1100" dirty="0"/>
          </a:p>
        </p:txBody>
      </p:sp>
      <p:sp>
        <p:nvSpPr>
          <p:cNvPr id="34" name="Text 32"/>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35" name="Text 33"/>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36" name="Text 34"/>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28 / 47</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24  EJEMPLO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EL ALCANCE, EN UNA FRASE</a:t>
            </a:r>
            <a:endParaRPr lang="en-US" sz="33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La prueba de la frase, superada:</a:t>
            </a:r>
            <a:endParaRPr lang="en-US" sz="1250" dirty="0"/>
          </a:p>
        </p:txBody>
      </p:sp>
      <p:sp>
        <p:nvSpPr>
          <p:cNvPr id="5" name="Shape 3"/>
          <p:cNvSpPr/>
          <p:nvPr/>
        </p:nvSpPr>
        <p:spPr>
          <a:xfrm>
            <a:off x="502920" y="1920240"/>
            <a:ext cx="11185855"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10820095" cy="411480"/>
          </a:xfrm>
          <a:prstGeom prst="rect">
            <a:avLst/>
          </a:prstGeom>
          <a:noFill/>
          <a:ln/>
        </p:spPr>
        <p:txBody>
          <a:bodyPr wrap="square" lIns="0" tIns="0" rIns="0" bIns="0" rtlCol="0" anchor="t"/>
          <a:lstStyle/>
          <a:p>
            <a:pPr indent="0" marL="0">
              <a:buNone/>
            </a:pPr>
            <a:r>
              <a:rPr lang="en-US" sz="1300" dirty="0">
                <a:solidFill>
                  <a:srgbClr val="C6FF00"/>
                </a:solidFill>
                <a:latin typeface="Arial Black" pitchFamily="34" charset="0"/>
                <a:ea typeface="Arial Black" pitchFamily="34" charset="-122"/>
                <a:cs typeface="Arial Black" pitchFamily="34" charset="-120"/>
              </a:rPr>
              <a:t>ALCANCE DEL PROYECTO</a:t>
            </a:r>
            <a:endParaRPr lang="en-US" sz="1300" dirty="0"/>
          </a:p>
        </p:txBody>
      </p:sp>
      <p:sp>
        <p:nvSpPr>
          <p:cNvPr id="7" name="Text 5"/>
          <p:cNvSpPr/>
          <p:nvPr/>
        </p:nvSpPr>
        <p:spPr>
          <a:xfrm>
            <a:off x="685800" y="2523744"/>
            <a:ext cx="10820095"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«El proyecto se enfoca en la LÍNEA 2 de envasado de yogurt bebible de 200 ml de la planta de Rionegro de Lácteos La Pradera S.A.S.» — un proceso, una línea, un producto. Todo lo demás es contexto.</a:t>
            </a:r>
            <a:endParaRPr lang="en-US" sz="1100" dirty="0"/>
          </a:p>
        </p:txBody>
      </p:sp>
      <p:sp>
        <p:nvSpPr>
          <p:cNvPr id="8" name="Text 6"/>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9" name="Text 7"/>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10" name="Text 8"/>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29 / 47</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25  EJEMPLO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000" dirty="0">
                <a:solidFill>
                  <a:srgbClr val="F4F4F4"/>
                </a:solidFill>
                <a:latin typeface="Arial Black" pitchFamily="34" charset="0"/>
                <a:ea typeface="Arial Black" pitchFamily="34" charset="-122"/>
                <a:cs typeface="Arial Black" pitchFamily="34" charset="-120"/>
              </a:rPr>
              <a:t>DENTRO / FUERA DEL ALCANCE — LA PRADERA</a:t>
            </a:r>
            <a:endParaRPr lang="en-US" sz="3000" dirty="0"/>
          </a:p>
        </p:txBody>
      </p:sp>
      <p:sp>
        <p:nvSpPr>
          <p:cNvPr id="4" name="Shape 2"/>
          <p:cNvSpPr/>
          <p:nvPr/>
        </p:nvSpPr>
        <p:spPr>
          <a:xfrm>
            <a:off x="502920" y="1783080"/>
            <a:ext cx="5852160" cy="457200"/>
          </a:xfrm>
          <a:prstGeom prst="rect">
            <a:avLst/>
          </a:prstGeom>
          <a:solidFill>
            <a:srgbClr val="1E1E1E"/>
          </a:solidFill>
          <a:ln w="12700">
            <a:solidFill>
              <a:srgbClr val="333333"/>
            </a:solidFill>
            <a:prstDash val="solid"/>
          </a:ln>
        </p:spPr>
      </p:sp>
      <p:sp>
        <p:nvSpPr>
          <p:cNvPr id="5" name="Text 3"/>
          <p:cNvSpPr/>
          <p:nvPr/>
        </p:nvSpPr>
        <p:spPr>
          <a:xfrm>
            <a:off x="576072" y="1783080"/>
            <a:ext cx="5705856" cy="457200"/>
          </a:xfrm>
          <a:prstGeom prst="rect">
            <a:avLst/>
          </a:prstGeom>
          <a:noFill/>
          <a:ln/>
        </p:spPr>
        <p:txBody>
          <a:bodyPr wrap="square" lIns="0" tIns="0" rIns="0" bIns="0" rtlCol="0" anchor="ctr"/>
          <a:lstStyle/>
          <a:p>
            <a:pPr algn="l" indent="0" marL="0">
              <a:buNone/>
            </a:pPr>
            <a:r>
              <a:rPr lang="en-US" sz="1050" b="1" dirty="0">
                <a:solidFill>
                  <a:srgbClr val="C6FF00"/>
                </a:solidFill>
                <a:latin typeface="Courier New" pitchFamily="34" charset="0"/>
                <a:ea typeface="Courier New" pitchFamily="34" charset="-122"/>
                <a:cs typeface="Courier New" pitchFamily="34" charset="-120"/>
              </a:rPr>
              <a:t>ELEMENTO</a:t>
            </a:r>
            <a:endParaRPr lang="en-US" sz="1050" dirty="0"/>
          </a:p>
        </p:txBody>
      </p:sp>
      <p:sp>
        <p:nvSpPr>
          <p:cNvPr id="6" name="Shape 4"/>
          <p:cNvSpPr/>
          <p:nvPr/>
        </p:nvSpPr>
        <p:spPr>
          <a:xfrm>
            <a:off x="6355080" y="1783080"/>
            <a:ext cx="5333695" cy="457200"/>
          </a:xfrm>
          <a:prstGeom prst="rect">
            <a:avLst/>
          </a:prstGeom>
          <a:solidFill>
            <a:srgbClr val="1E1E1E"/>
          </a:solidFill>
          <a:ln w="12700">
            <a:solidFill>
              <a:srgbClr val="333333"/>
            </a:solidFill>
            <a:prstDash val="solid"/>
          </a:ln>
        </p:spPr>
      </p:sp>
      <p:sp>
        <p:nvSpPr>
          <p:cNvPr id="7" name="Text 5"/>
          <p:cNvSpPr/>
          <p:nvPr/>
        </p:nvSpPr>
        <p:spPr>
          <a:xfrm>
            <a:off x="6428232" y="1783080"/>
            <a:ext cx="5187391" cy="457200"/>
          </a:xfrm>
          <a:prstGeom prst="rect">
            <a:avLst/>
          </a:prstGeom>
          <a:noFill/>
          <a:ln/>
        </p:spPr>
        <p:txBody>
          <a:bodyPr wrap="square" lIns="0" tIns="0" rIns="0" bIns="0" rtlCol="0" anchor="ctr"/>
          <a:lstStyle/>
          <a:p>
            <a:pPr algn="ctr" indent="0" marL="0">
              <a:buNone/>
            </a:pPr>
            <a:r>
              <a:rPr lang="en-US" sz="1050" b="1" dirty="0">
                <a:solidFill>
                  <a:srgbClr val="C6FF00"/>
                </a:solidFill>
                <a:latin typeface="Courier New" pitchFamily="34" charset="0"/>
                <a:ea typeface="Courier New" pitchFamily="34" charset="-122"/>
                <a:cs typeface="Courier New" pitchFamily="34" charset="-120"/>
              </a:rPr>
              <a:t>¿DENTRO?</a:t>
            </a:r>
            <a:endParaRPr lang="en-US" sz="1050" dirty="0"/>
          </a:p>
        </p:txBody>
      </p:sp>
      <p:sp>
        <p:nvSpPr>
          <p:cNvPr id="8" name="Shape 6"/>
          <p:cNvSpPr/>
          <p:nvPr/>
        </p:nvSpPr>
        <p:spPr>
          <a:xfrm>
            <a:off x="502920" y="2240280"/>
            <a:ext cx="5852160" cy="566928"/>
          </a:xfrm>
          <a:prstGeom prst="rect">
            <a:avLst/>
          </a:prstGeom>
          <a:solidFill>
            <a:srgbClr val="151515"/>
          </a:solidFill>
          <a:ln w="12700">
            <a:solidFill>
              <a:srgbClr val="242424"/>
            </a:solidFill>
            <a:prstDash val="solid"/>
          </a:ln>
        </p:spPr>
      </p:sp>
      <p:sp>
        <p:nvSpPr>
          <p:cNvPr id="9" name="Text 7"/>
          <p:cNvSpPr/>
          <p:nvPr/>
        </p:nvSpPr>
        <p:spPr>
          <a:xfrm>
            <a:off x="576072" y="2240280"/>
            <a:ext cx="570585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Línea 2: llenado, sellado, codificado, empaque</a:t>
            </a:r>
            <a:endParaRPr lang="en-US" sz="1150" dirty="0"/>
          </a:p>
        </p:txBody>
      </p:sp>
      <p:sp>
        <p:nvSpPr>
          <p:cNvPr id="10" name="Shape 8"/>
          <p:cNvSpPr/>
          <p:nvPr/>
        </p:nvSpPr>
        <p:spPr>
          <a:xfrm>
            <a:off x="6355080" y="2240280"/>
            <a:ext cx="5333695" cy="566928"/>
          </a:xfrm>
          <a:prstGeom prst="rect">
            <a:avLst/>
          </a:prstGeom>
          <a:solidFill>
            <a:srgbClr val="151515"/>
          </a:solidFill>
          <a:ln w="12700">
            <a:solidFill>
              <a:srgbClr val="242424"/>
            </a:solidFill>
            <a:prstDash val="solid"/>
          </a:ln>
        </p:spPr>
      </p:sp>
      <p:sp>
        <p:nvSpPr>
          <p:cNvPr id="11" name="Text 9"/>
          <p:cNvSpPr/>
          <p:nvPr/>
        </p:nvSpPr>
        <p:spPr>
          <a:xfrm>
            <a:off x="6428232" y="2240280"/>
            <a:ext cx="5187391" cy="566928"/>
          </a:xfrm>
          <a:prstGeom prst="rect">
            <a:avLst/>
          </a:prstGeom>
          <a:noFill/>
          <a:ln/>
        </p:spPr>
        <p:txBody>
          <a:bodyPr wrap="square" lIns="0" tIns="0" rIns="0" bIns="0" rtlCol="0" anchor="ctr"/>
          <a:lstStyle/>
          <a:p>
            <a:pPr algn="ctr" indent="0" marL="0">
              <a:buNone/>
            </a:pPr>
            <a:r>
              <a:rPr lang="en-US" sz="1100" dirty="0">
                <a:solidFill>
                  <a:srgbClr val="22E06B"/>
                </a:solidFill>
                <a:latin typeface="Courier New" pitchFamily="34" charset="0"/>
                <a:ea typeface="Courier New" pitchFamily="34" charset="-122"/>
                <a:cs typeface="Courier New" pitchFamily="34" charset="-120"/>
              </a:rPr>
              <a:t>DENTRO</a:t>
            </a:r>
            <a:endParaRPr lang="en-US" sz="1100" dirty="0"/>
          </a:p>
        </p:txBody>
      </p:sp>
      <p:sp>
        <p:nvSpPr>
          <p:cNvPr id="12" name="Shape 10"/>
          <p:cNvSpPr/>
          <p:nvPr/>
        </p:nvSpPr>
        <p:spPr>
          <a:xfrm>
            <a:off x="502920" y="2807208"/>
            <a:ext cx="5852160" cy="566928"/>
          </a:xfrm>
          <a:prstGeom prst="rect">
            <a:avLst/>
          </a:prstGeom>
          <a:solidFill>
            <a:srgbClr val="0B0B0B"/>
          </a:solidFill>
          <a:ln w="12700">
            <a:solidFill>
              <a:srgbClr val="242424"/>
            </a:solidFill>
            <a:prstDash val="solid"/>
          </a:ln>
        </p:spPr>
      </p:sp>
      <p:sp>
        <p:nvSpPr>
          <p:cNvPr id="13" name="Text 11"/>
          <p:cNvSpPr/>
          <p:nvPr/>
        </p:nvSpPr>
        <p:spPr>
          <a:xfrm>
            <a:off x="576072" y="2807208"/>
            <a:ext cx="570585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Sensores, PLC, HMI y datos de la Línea 2</a:t>
            </a:r>
            <a:endParaRPr lang="en-US" sz="1150" dirty="0"/>
          </a:p>
        </p:txBody>
      </p:sp>
      <p:sp>
        <p:nvSpPr>
          <p:cNvPr id="14" name="Shape 12"/>
          <p:cNvSpPr/>
          <p:nvPr/>
        </p:nvSpPr>
        <p:spPr>
          <a:xfrm>
            <a:off x="6355080" y="2807208"/>
            <a:ext cx="5333695" cy="566928"/>
          </a:xfrm>
          <a:prstGeom prst="rect">
            <a:avLst/>
          </a:prstGeom>
          <a:solidFill>
            <a:srgbClr val="0B0B0B"/>
          </a:solidFill>
          <a:ln w="12700">
            <a:solidFill>
              <a:srgbClr val="242424"/>
            </a:solidFill>
            <a:prstDash val="solid"/>
          </a:ln>
        </p:spPr>
      </p:sp>
      <p:sp>
        <p:nvSpPr>
          <p:cNvPr id="15" name="Text 13"/>
          <p:cNvSpPr/>
          <p:nvPr/>
        </p:nvSpPr>
        <p:spPr>
          <a:xfrm>
            <a:off x="6428232" y="2807208"/>
            <a:ext cx="5187391" cy="566928"/>
          </a:xfrm>
          <a:prstGeom prst="rect">
            <a:avLst/>
          </a:prstGeom>
          <a:noFill/>
          <a:ln/>
        </p:spPr>
        <p:txBody>
          <a:bodyPr wrap="square" lIns="0" tIns="0" rIns="0" bIns="0" rtlCol="0" anchor="ctr"/>
          <a:lstStyle/>
          <a:p>
            <a:pPr algn="ctr" indent="0" marL="0">
              <a:buNone/>
            </a:pPr>
            <a:r>
              <a:rPr lang="en-US" sz="1100" dirty="0">
                <a:solidFill>
                  <a:srgbClr val="22E06B"/>
                </a:solidFill>
                <a:latin typeface="Courier New" pitchFamily="34" charset="0"/>
                <a:ea typeface="Courier New" pitchFamily="34" charset="-122"/>
                <a:cs typeface="Courier New" pitchFamily="34" charset="-120"/>
              </a:rPr>
              <a:t>DENTRO</a:t>
            </a:r>
            <a:endParaRPr lang="en-US" sz="1100" dirty="0"/>
          </a:p>
        </p:txBody>
      </p:sp>
      <p:sp>
        <p:nvSpPr>
          <p:cNvPr id="16" name="Shape 14"/>
          <p:cNvSpPr/>
          <p:nvPr/>
        </p:nvSpPr>
        <p:spPr>
          <a:xfrm>
            <a:off x="502920" y="3374136"/>
            <a:ext cx="5852160" cy="566928"/>
          </a:xfrm>
          <a:prstGeom prst="rect">
            <a:avLst/>
          </a:prstGeom>
          <a:solidFill>
            <a:srgbClr val="151515"/>
          </a:solidFill>
          <a:ln w="12700">
            <a:solidFill>
              <a:srgbClr val="242424"/>
            </a:solidFill>
            <a:prstDash val="solid"/>
          </a:ln>
        </p:spPr>
      </p:sp>
      <p:sp>
        <p:nvSpPr>
          <p:cNvPr id="17" name="Text 15"/>
          <p:cNvSpPr/>
          <p:nvPr/>
        </p:nvSpPr>
        <p:spPr>
          <a:xfrm>
            <a:off x="576072" y="3374136"/>
            <a:ext cx="570585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Trazabilidad de lote de ese producto</a:t>
            </a:r>
            <a:endParaRPr lang="en-US" sz="1150" dirty="0"/>
          </a:p>
        </p:txBody>
      </p:sp>
      <p:sp>
        <p:nvSpPr>
          <p:cNvPr id="18" name="Shape 16"/>
          <p:cNvSpPr/>
          <p:nvPr/>
        </p:nvSpPr>
        <p:spPr>
          <a:xfrm>
            <a:off x="6355080" y="3374136"/>
            <a:ext cx="5333695" cy="566928"/>
          </a:xfrm>
          <a:prstGeom prst="rect">
            <a:avLst/>
          </a:prstGeom>
          <a:solidFill>
            <a:srgbClr val="151515"/>
          </a:solidFill>
          <a:ln w="12700">
            <a:solidFill>
              <a:srgbClr val="242424"/>
            </a:solidFill>
            <a:prstDash val="solid"/>
          </a:ln>
        </p:spPr>
      </p:sp>
      <p:sp>
        <p:nvSpPr>
          <p:cNvPr id="19" name="Text 17"/>
          <p:cNvSpPr/>
          <p:nvPr/>
        </p:nvSpPr>
        <p:spPr>
          <a:xfrm>
            <a:off x="6428232" y="3374136"/>
            <a:ext cx="5187391" cy="566928"/>
          </a:xfrm>
          <a:prstGeom prst="rect">
            <a:avLst/>
          </a:prstGeom>
          <a:noFill/>
          <a:ln/>
        </p:spPr>
        <p:txBody>
          <a:bodyPr wrap="square" lIns="0" tIns="0" rIns="0" bIns="0" rtlCol="0" anchor="ctr"/>
          <a:lstStyle/>
          <a:p>
            <a:pPr algn="ctr" indent="0" marL="0">
              <a:buNone/>
            </a:pPr>
            <a:r>
              <a:rPr lang="en-US" sz="1100" dirty="0">
                <a:solidFill>
                  <a:srgbClr val="22E06B"/>
                </a:solidFill>
                <a:latin typeface="Courier New" pitchFamily="34" charset="0"/>
                <a:ea typeface="Courier New" pitchFamily="34" charset="-122"/>
                <a:cs typeface="Courier New" pitchFamily="34" charset="-120"/>
              </a:rPr>
              <a:t>DENTRO</a:t>
            </a:r>
            <a:endParaRPr lang="en-US" sz="1100" dirty="0"/>
          </a:p>
        </p:txBody>
      </p:sp>
      <p:sp>
        <p:nvSpPr>
          <p:cNvPr id="20" name="Shape 18"/>
          <p:cNvSpPr/>
          <p:nvPr/>
        </p:nvSpPr>
        <p:spPr>
          <a:xfrm>
            <a:off x="502920" y="3941064"/>
            <a:ext cx="5852160" cy="566928"/>
          </a:xfrm>
          <a:prstGeom prst="rect">
            <a:avLst/>
          </a:prstGeom>
          <a:solidFill>
            <a:srgbClr val="0B0B0B"/>
          </a:solidFill>
          <a:ln w="12700">
            <a:solidFill>
              <a:srgbClr val="242424"/>
            </a:solidFill>
            <a:prstDash val="solid"/>
          </a:ln>
        </p:spPr>
      </p:sp>
      <p:sp>
        <p:nvSpPr>
          <p:cNvPr id="21" name="Text 19"/>
          <p:cNvSpPr/>
          <p:nvPr/>
        </p:nvSpPr>
        <p:spPr>
          <a:xfrm>
            <a:off x="576072" y="3941064"/>
            <a:ext cx="570585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Producción del yogurt (fermentación, tanques)</a:t>
            </a:r>
            <a:endParaRPr lang="en-US" sz="1150" dirty="0"/>
          </a:p>
        </p:txBody>
      </p:sp>
      <p:sp>
        <p:nvSpPr>
          <p:cNvPr id="22" name="Shape 20"/>
          <p:cNvSpPr/>
          <p:nvPr/>
        </p:nvSpPr>
        <p:spPr>
          <a:xfrm>
            <a:off x="6355080" y="3941064"/>
            <a:ext cx="5333695" cy="566928"/>
          </a:xfrm>
          <a:prstGeom prst="rect">
            <a:avLst/>
          </a:prstGeom>
          <a:solidFill>
            <a:srgbClr val="0B0B0B"/>
          </a:solidFill>
          <a:ln w="12700">
            <a:solidFill>
              <a:srgbClr val="242424"/>
            </a:solidFill>
            <a:prstDash val="solid"/>
          </a:ln>
        </p:spPr>
      </p:sp>
      <p:sp>
        <p:nvSpPr>
          <p:cNvPr id="23" name="Text 21"/>
          <p:cNvSpPr/>
          <p:nvPr/>
        </p:nvSpPr>
        <p:spPr>
          <a:xfrm>
            <a:off x="6428232" y="3941064"/>
            <a:ext cx="5187391" cy="566928"/>
          </a:xfrm>
          <a:prstGeom prst="rect">
            <a:avLst/>
          </a:prstGeom>
          <a:noFill/>
          <a:ln/>
        </p:spPr>
        <p:txBody>
          <a:bodyPr wrap="square" lIns="0" tIns="0" rIns="0" bIns="0" rtlCol="0" anchor="ctr"/>
          <a:lstStyle/>
          <a:p>
            <a:pPr algn="ctr" indent="0" marL="0">
              <a:buNone/>
            </a:pPr>
            <a:r>
              <a:rPr lang="en-US" sz="1100" dirty="0">
                <a:solidFill>
                  <a:srgbClr val="FF3B30"/>
                </a:solidFill>
                <a:latin typeface="Courier New" pitchFamily="34" charset="0"/>
                <a:ea typeface="Courier New" pitchFamily="34" charset="-122"/>
                <a:cs typeface="Courier New" pitchFamily="34" charset="-120"/>
              </a:rPr>
              <a:t>FUERA</a:t>
            </a:r>
            <a:endParaRPr lang="en-US" sz="1100" dirty="0"/>
          </a:p>
        </p:txBody>
      </p:sp>
      <p:sp>
        <p:nvSpPr>
          <p:cNvPr id="24" name="Shape 22"/>
          <p:cNvSpPr/>
          <p:nvPr/>
        </p:nvSpPr>
        <p:spPr>
          <a:xfrm>
            <a:off x="502920" y="4507992"/>
            <a:ext cx="5852160" cy="566928"/>
          </a:xfrm>
          <a:prstGeom prst="rect">
            <a:avLst/>
          </a:prstGeom>
          <a:solidFill>
            <a:srgbClr val="151515"/>
          </a:solidFill>
          <a:ln w="12700">
            <a:solidFill>
              <a:srgbClr val="242424"/>
            </a:solidFill>
            <a:prstDash val="solid"/>
          </a:ln>
        </p:spPr>
      </p:sp>
      <p:sp>
        <p:nvSpPr>
          <p:cNvPr id="25" name="Text 23"/>
          <p:cNvSpPr/>
          <p:nvPr/>
        </p:nvSpPr>
        <p:spPr>
          <a:xfrm>
            <a:off x="576072" y="4507992"/>
            <a:ext cx="570585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Líneas 1 y 3, logística, ventas</a:t>
            </a:r>
            <a:endParaRPr lang="en-US" sz="1150" dirty="0"/>
          </a:p>
        </p:txBody>
      </p:sp>
      <p:sp>
        <p:nvSpPr>
          <p:cNvPr id="26" name="Shape 24"/>
          <p:cNvSpPr/>
          <p:nvPr/>
        </p:nvSpPr>
        <p:spPr>
          <a:xfrm>
            <a:off x="6355080" y="4507992"/>
            <a:ext cx="5333695" cy="566928"/>
          </a:xfrm>
          <a:prstGeom prst="rect">
            <a:avLst/>
          </a:prstGeom>
          <a:solidFill>
            <a:srgbClr val="151515"/>
          </a:solidFill>
          <a:ln w="12700">
            <a:solidFill>
              <a:srgbClr val="242424"/>
            </a:solidFill>
            <a:prstDash val="solid"/>
          </a:ln>
        </p:spPr>
      </p:sp>
      <p:sp>
        <p:nvSpPr>
          <p:cNvPr id="27" name="Text 25"/>
          <p:cNvSpPr/>
          <p:nvPr/>
        </p:nvSpPr>
        <p:spPr>
          <a:xfrm>
            <a:off x="6428232" y="4507992"/>
            <a:ext cx="5187391" cy="566928"/>
          </a:xfrm>
          <a:prstGeom prst="rect">
            <a:avLst/>
          </a:prstGeom>
          <a:noFill/>
          <a:ln/>
        </p:spPr>
        <p:txBody>
          <a:bodyPr wrap="square" lIns="0" tIns="0" rIns="0" bIns="0" rtlCol="0" anchor="ctr"/>
          <a:lstStyle/>
          <a:p>
            <a:pPr algn="ctr" indent="0" marL="0">
              <a:buNone/>
            </a:pPr>
            <a:r>
              <a:rPr lang="en-US" sz="1100" dirty="0">
                <a:solidFill>
                  <a:srgbClr val="FF3B30"/>
                </a:solidFill>
                <a:latin typeface="Courier New" pitchFamily="34" charset="0"/>
                <a:ea typeface="Courier New" pitchFamily="34" charset="-122"/>
                <a:cs typeface="Courier New" pitchFamily="34" charset="-120"/>
              </a:rPr>
              <a:t>FUERA</a:t>
            </a:r>
            <a:endParaRPr lang="en-US" sz="1100" dirty="0"/>
          </a:p>
        </p:txBody>
      </p:sp>
      <p:sp>
        <p:nvSpPr>
          <p:cNvPr id="28" name="Text 26"/>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9" name="Text 27"/>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30" name="Text 28"/>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30 / 47</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26  EJEMPLO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EL PROCESO DE LA LÍNEA 2 (FOCO)</a:t>
            </a:r>
            <a:endParaRPr lang="en-US" sz="3300" dirty="0"/>
          </a:p>
        </p:txBody>
      </p:sp>
      <p:sp>
        <p:nvSpPr>
          <p:cNvPr id="4" name="Shape 2"/>
          <p:cNvSpPr/>
          <p:nvPr/>
        </p:nvSpPr>
        <p:spPr>
          <a:xfrm>
            <a:off x="502920" y="1783080"/>
            <a:ext cx="2054291" cy="1554480"/>
          </a:xfrm>
          <a:prstGeom prst="roundRect">
            <a:avLst>
              <a:gd name="adj" fmla="val 3529"/>
            </a:avLst>
          </a:prstGeom>
          <a:solidFill>
            <a:srgbClr val="151515"/>
          </a:solidFill>
          <a:ln w="12700">
            <a:solidFill>
              <a:srgbClr val="333333"/>
            </a:solidFill>
            <a:prstDash val="solid"/>
          </a:ln>
        </p:spPr>
      </p:sp>
      <p:sp>
        <p:nvSpPr>
          <p:cNvPr id="5" name="Text 3"/>
          <p:cNvSpPr/>
          <p:nvPr/>
        </p:nvSpPr>
        <p:spPr>
          <a:xfrm>
            <a:off x="649224" y="1892808"/>
            <a:ext cx="914400" cy="502920"/>
          </a:xfrm>
          <a:prstGeom prst="rect">
            <a:avLst/>
          </a:prstGeom>
          <a:noFill/>
          <a:ln/>
        </p:spPr>
        <p:txBody>
          <a:bodyPr wrap="square" lIns="0" tIns="0" rIns="0" bIns="0" rtlCol="0" anchor="t"/>
          <a:lstStyle/>
          <a:p>
            <a:pPr indent="0" marL="0">
              <a:buNone/>
            </a:pPr>
            <a:r>
              <a:rPr lang="en-US" sz="2200" dirty="0">
                <a:solidFill>
                  <a:srgbClr val="FF6B35"/>
                </a:solidFill>
                <a:latin typeface="Arial Black" pitchFamily="34" charset="0"/>
                <a:ea typeface="Arial Black" pitchFamily="34" charset="-122"/>
                <a:cs typeface="Arial Black" pitchFamily="34" charset="-120"/>
              </a:rPr>
              <a:t>01</a:t>
            </a:r>
            <a:endParaRPr lang="en-US" sz="2200" dirty="0"/>
          </a:p>
        </p:txBody>
      </p:sp>
      <p:sp>
        <p:nvSpPr>
          <p:cNvPr id="6" name="Text 4"/>
          <p:cNvSpPr/>
          <p:nvPr/>
        </p:nvSpPr>
        <p:spPr>
          <a:xfrm>
            <a:off x="649224" y="2386584"/>
            <a:ext cx="1761683"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RECEPCIÓN</a:t>
            </a:r>
            <a:endParaRPr lang="en-US" sz="1100" dirty="0"/>
          </a:p>
        </p:txBody>
      </p:sp>
      <p:sp>
        <p:nvSpPr>
          <p:cNvPr id="7" name="Text 5"/>
          <p:cNvSpPr/>
          <p:nvPr/>
        </p:nvSpPr>
        <p:spPr>
          <a:xfrm>
            <a:off x="649224" y="2752344"/>
            <a:ext cx="1761683"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Yogurt llega del tanque.</a:t>
            </a:r>
            <a:endParaRPr lang="en-US" sz="1000" dirty="0"/>
          </a:p>
        </p:txBody>
      </p:sp>
      <p:sp>
        <p:nvSpPr>
          <p:cNvPr id="8" name="Shape 6"/>
          <p:cNvSpPr/>
          <p:nvPr/>
        </p:nvSpPr>
        <p:spPr>
          <a:xfrm>
            <a:off x="2785811" y="1783080"/>
            <a:ext cx="2054291" cy="1554480"/>
          </a:xfrm>
          <a:prstGeom prst="roundRect">
            <a:avLst>
              <a:gd name="adj" fmla="val 3529"/>
            </a:avLst>
          </a:prstGeom>
          <a:solidFill>
            <a:srgbClr val="151515"/>
          </a:solidFill>
          <a:ln w="12700">
            <a:solidFill>
              <a:srgbClr val="333333"/>
            </a:solidFill>
            <a:prstDash val="solid"/>
          </a:ln>
        </p:spPr>
      </p:sp>
      <p:sp>
        <p:nvSpPr>
          <p:cNvPr id="9" name="Text 7"/>
          <p:cNvSpPr/>
          <p:nvPr/>
        </p:nvSpPr>
        <p:spPr>
          <a:xfrm>
            <a:off x="2932115" y="1892808"/>
            <a:ext cx="914400" cy="502920"/>
          </a:xfrm>
          <a:prstGeom prst="rect">
            <a:avLst/>
          </a:prstGeom>
          <a:noFill/>
          <a:ln/>
        </p:spPr>
        <p:txBody>
          <a:bodyPr wrap="square" lIns="0" tIns="0" rIns="0" bIns="0" rtlCol="0" anchor="t"/>
          <a:lstStyle/>
          <a:p>
            <a:pPr indent="0" marL="0">
              <a:buNone/>
            </a:pPr>
            <a:r>
              <a:rPr lang="en-US" sz="2200" dirty="0">
                <a:solidFill>
                  <a:srgbClr val="FFB000"/>
                </a:solidFill>
                <a:latin typeface="Arial Black" pitchFamily="34" charset="0"/>
                <a:ea typeface="Arial Black" pitchFamily="34" charset="-122"/>
                <a:cs typeface="Arial Black" pitchFamily="34" charset="-120"/>
              </a:rPr>
              <a:t>02</a:t>
            </a:r>
            <a:endParaRPr lang="en-US" sz="2200" dirty="0"/>
          </a:p>
        </p:txBody>
      </p:sp>
      <p:sp>
        <p:nvSpPr>
          <p:cNvPr id="10" name="Text 8"/>
          <p:cNvSpPr/>
          <p:nvPr/>
        </p:nvSpPr>
        <p:spPr>
          <a:xfrm>
            <a:off x="2932115" y="2386584"/>
            <a:ext cx="1761683"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LLENADO</a:t>
            </a:r>
            <a:endParaRPr lang="en-US" sz="1100" dirty="0"/>
          </a:p>
        </p:txBody>
      </p:sp>
      <p:sp>
        <p:nvSpPr>
          <p:cNvPr id="11" name="Text 9"/>
          <p:cNvSpPr/>
          <p:nvPr/>
        </p:nvSpPr>
        <p:spPr>
          <a:xfrm>
            <a:off x="2932115" y="2752344"/>
            <a:ext cx="1761683"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Dosifica 200 ml por envase.</a:t>
            </a:r>
            <a:endParaRPr lang="en-US" sz="1000" dirty="0"/>
          </a:p>
        </p:txBody>
      </p:sp>
      <p:sp>
        <p:nvSpPr>
          <p:cNvPr id="12" name="Shape 10"/>
          <p:cNvSpPr/>
          <p:nvPr/>
        </p:nvSpPr>
        <p:spPr>
          <a:xfrm>
            <a:off x="5068702" y="1783080"/>
            <a:ext cx="2054291" cy="1554480"/>
          </a:xfrm>
          <a:prstGeom prst="roundRect">
            <a:avLst>
              <a:gd name="adj" fmla="val 3529"/>
            </a:avLst>
          </a:prstGeom>
          <a:solidFill>
            <a:srgbClr val="151515"/>
          </a:solidFill>
          <a:ln w="12700">
            <a:solidFill>
              <a:srgbClr val="333333"/>
            </a:solidFill>
            <a:prstDash val="solid"/>
          </a:ln>
        </p:spPr>
      </p:sp>
      <p:sp>
        <p:nvSpPr>
          <p:cNvPr id="13" name="Text 11"/>
          <p:cNvSpPr/>
          <p:nvPr/>
        </p:nvSpPr>
        <p:spPr>
          <a:xfrm>
            <a:off x="5215006" y="1892808"/>
            <a:ext cx="914400" cy="502920"/>
          </a:xfrm>
          <a:prstGeom prst="rect">
            <a:avLst/>
          </a:prstGeom>
          <a:noFill/>
          <a:ln/>
        </p:spPr>
        <p:txBody>
          <a:bodyPr wrap="square" lIns="0" tIns="0" rIns="0" bIns="0" rtlCol="0" anchor="t"/>
          <a:lstStyle/>
          <a:p>
            <a:pPr indent="0" marL="0">
              <a:buNone/>
            </a:pPr>
            <a:r>
              <a:rPr lang="en-US" sz="2200" dirty="0">
                <a:solidFill>
                  <a:srgbClr val="22E06B"/>
                </a:solidFill>
                <a:latin typeface="Arial Black" pitchFamily="34" charset="0"/>
                <a:ea typeface="Arial Black" pitchFamily="34" charset="-122"/>
                <a:cs typeface="Arial Black" pitchFamily="34" charset="-120"/>
              </a:rPr>
              <a:t>03</a:t>
            </a:r>
            <a:endParaRPr lang="en-US" sz="2200" dirty="0"/>
          </a:p>
        </p:txBody>
      </p:sp>
      <p:sp>
        <p:nvSpPr>
          <p:cNvPr id="14" name="Text 12"/>
          <p:cNvSpPr/>
          <p:nvPr/>
        </p:nvSpPr>
        <p:spPr>
          <a:xfrm>
            <a:off x="5215006" y="2386584"/>
            <a:ext cx="1761683"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SELLADO</a:t>
            </a:r>
            <a:endParaRPr lang="en-US" sz="1100" dirty="0"/>
          </a:p>
        </p:txBody>
      </p:sp>
      <p:sp>
        <p:nvSpPr>
          <p:cNvPr id="15" name="Text 13"/>
          <p:cNvSpPr/>
          <p:nvPr/>
        </p:nvSpPr>
        <p:spPr>
          <a:xfrm>
            <a:off x="5215006" y="2752344"/>
            <a:ext cx="1761683"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Sella la tapa.</a:t>
            </a:r>
            <a:endParaRPr lang="en-US" sz="1000" dirty="0"/>
          </a:p>
        </p:txBody>
      </p:sp>
      <p:sp>
        <p:nvSpPr>
          <p:cNvPr id="16" name="Shape 14"/>
          <p:cNvSpPr/>
          <p:nvPr/>
        </p:nvSpPr>
        <p:spPr>
          <a:xfrm>
            <a:off x="7351593" y="1783080"/>
            <a:ext cx="2054291" cy="1554480"/>
          </a:xfrm>
          <a:prstGeom prst="roundRect">
            <a:avLst>
              <a:gd name="adj" fmla="val 3529"/>
            </a:avLst>
          </a:prstGeom>
          <a:solidFill>
            <a:srgbClr val="151515"/>
          </a:solidFill>
          <a:ln w="12700">
            <a:solidFill>
              <a:srgbClr val="333333"/>
            </a:solidFill>
            <a:prstDash val="solid"/>
          </a:ln>
        </p:spPr>
      </p:sp>
      <p:sp>
        <p:nvSpPr>
          <p:cNvPr id="17" name="Text 15"/>
          <p:cNvSpPr/>
          <p:nvPr/>
        </p:nvSpPr>
        <p:spPr>
          <a:xfrm>
            <a:off x="7497897" y="1892808"/>
            <a:ext cx="914400" cy="502920"/>
          </a:xfrm>
          <a:prstGeom prst="rect">
            <a:avLst/>
          </a:prstGeom>
          <a:noFill/>
          <a:ln/>
        </p:spPr>
        <p:txBody>
          <a:bodyPr wrap="square" lIns="0" tIns="0" rIns="0" bIns="0" rtlCol="0" anchor="t"/>
          <a:lstStyle/>
          <a:p>
            <a:pPr indent="0" marL="0">
              <a:buNone/>
            </a:pPr>
            <a:r>
              <a:rPr lang="en-US" sz="2200" dirty="0">
                <a:solidFill>
                  <a:srgbClr val="27E5E5"/>
                </a:solidFill>
                <a:latin typeface="Arial Black" pitchFamily="34" charset="0"/>
                <a:ea typeface="Arial Black" pitchFamily="34" charset="-122"/>
                <a:cs typeface="Arial Black" pitchFamily="34" charset="-120"/>
              </a:rPr>
              <a:t>04</a:t>
            </a:r>
            <a:endParaRPr lang="en-US" sz="2200" dirty="0"/>
          </a:p>
        </p:txBody>
      </p:sp>
      <p:sp>
        <p:nvSpPr>
          <p:cNvPr id="18" name="Text 16"/>
          <p:cNvSpPr/>
          <p:nvPr/>
        </p:nvSpPr>
        <p:spPr>
          <a:xfrm>
            <a:off x="7497897" y="2386584"/>
            <a:ext cx="1761683"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CODIFICADO</a:t>
            </a:r>
            <a:endParaRPr lang="en-US" sz="1100" dirty="0"/>
          </a:p>
        </p:txBody>
      </p:sp>
      <p:sp>
        <p:nvSpPr>
          <p:cNvPr id="19" name="Text 17"/>
          <p:cNvSpPr/>
          <p:nvPr/>
        </p:nvSpPr>
        <p:spPr>
          <a:xfrm>
            <a:off x="7497897" y="2752344"/>
            <a:ext cx="1761683"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Imprime lote y fecha.</a:t>
            </a:r>
            <a:endParaRPr lang="en-US" sz="1000" dirty="0"/>
          </a:p>
        </p:txBody>
      </p:sp>
      <p:sp>
        <p:nvSpPr>
          <p:cNvPr id="20" name="Shape 18"/>
          <p:cNvSpPr/>
          <p:nvPr/>
        </p:nvSpPr>
        <p:spPr>
          <a:xfrm>
            <a:off x="9634484" y="1783080"/>
            <a:ext cx="2054291" cy="1554480"/>
          </a:xfrm>
          <a:prstGeom prst="roundRect">
            <a:avLst>
              <a:gd name="adj" fmla="val 3529"/>
            </a:avLst>
          </a:prstGeom>
          <a:solidFill>
            <a:srgbClr val="151515"/>
          </a:solidFill>
          <a:ln w="12700">
            <a:solidFill>
              <a:srgbClr val="333333"/>
            </a:solidFill>
            <a:prstDash val="solid"/>
          </a:ln>
        </p:spPr>
      </p:sp>
      <p:sp>
        <p:nvSpPr>
          <p:cNvPr id="21" name="Text 19"/>
          <p:cNvSpPr/>
          <p:nvPr/>
        </p:nvSpPr>
        <p:spPr>
          <a:xfrm>
            <a:off x="9780788" y="1892808"/>
            <a:ext cx="914400" cy="502920"/>
          </a:xfrm>
          <a:prstGeom prst="rect">
            <a:avLst/>
          </a:prstGeom>
          <a:noFill/>
          <a:ln/>
        </p:spPr>
        <p:txBody>
          <a:bodyPr wrap="square" lIns="0" tIns="0" rIns="0" bIns="0" rtlCol="0" anchor="t"/>
          <a:lstStyle/>
          <a:p>
            <a:pPr indent="0" marL="0">
              <a:buNone/>
            </a:pPr>
            <a:r>
              <a:rPr lang="en-US" sz="2200" dirty="0">
                <a:solidFill>
                  <a:srgbClr val="C6FF00"/>
                </a:solidFill>
                <a:latin typeface="Arial Black" pitchFamily="34" charset="0"/>
                <a:ea typeface="Arial Black" pitchFamily="34" charset="-122"/>
                <a:cs typeface="Arial Black" pitchFamily="34" charset="-120"/>
              </a:rPr>
              <a:t>05</a:t>
            </a:r>
            <a:endParaRPr lang="en-US" sz="2200" dirty="0"/>
          </a:p>
        </p:txBody>
      </p:sp>
      <p:sp>
        <p:nvSpPr>
          <p:cNvPr id="22" name="Text 20"/>
          <p:cNvSpPr/>
          <p:nvPr/>
        </p:nvSpPr>
        <p:spPr>
          <a:xfrm>
            <a:off x="9780788" y="2386584"/>
            <a:ext cx="1761683"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EMPAQUE</a:t>
            </a:r>
            <a:endParaRPr lang="en-US" sz="1100" dirty="0"/>
          </a:p>
        </p:txBody>
      </p:sp>
      <p:sp>
        <p:nvSpPr>
          <p:cNvPr id="23" name="Text 21"/>
          <p:cNvSpPr/>
          <p:nvPr/>
        </p:nvSpPr>
        <p:spPr>
          <a:xfrm>
            <a:off x="9780788" y="2752344"/>
            <a:ext cx="1761683"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Agrupa y paletiza.</a:t>
            </a:r>
            <a:endParaRPr lang="en-US" sz="1000" dirty="0"/>
          </a:p>
        </p:txBody>
      </p:sp>
      <p:sp>
        <p:nvSpPr>
          <p:cNvPr id="24" name="Text 22"/>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5" name="Text 23"/>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26" name="Text 24"/>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31 / 47</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27  EJEMPLO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ACTIVOS Y TECNOLOGÍA DE LA LÍNEA 2</a:t>
            </a:r>
            <a:endParaRPr lang="en-US" sz="3300" dirty="0"/>
          </a:p>
        </p:txBody>
      </p:sp>
      <p:sp>
        <p:nvSpPr>
          <p:cNvPr id="4" name="Shape 2"/>
          <p:cNvSpPr/>
          <p:nvPr/>
        </p:nvSpPr>
        <p:spPr>
          <a:xfrm>
            <a:off x="502920" y="1783080"/>
            <a:ext cx="5364328" cy="4489704"/>
          </a:xfrm>
          <a:prstGeom prst="roundRect">
            <a:avLst>
              <a:gd name="adj" fmla="val 1018"/>
            </a:avLst>
          </a:prstGeom>
          <a:solidFill>
            <a:srgbClr val="151515"/>
          </a:solidFill>
          <a:ln w="12700">
            <a:solidFill>
              <a:srgbClr val="333333"/>
            </a:solidFill>
            <a:prstDash val="solid"/>
          </a:ln>
        </p:spPr>
      </p:sp>
      <p:sp>
        <p:nvSpPr>
          <p:cNvPr id="5" name="Text 3"/>
          <p:cNvSpPr/>
          <p:nvPr/>
        </p:nvSpPr>
        <p:spPr>
          <a:xfrm>
            <a:off x="704088" y="1947672"/>
            <a:ext cx="4961992" cy="411480"/>
          </a:xfrm>
          <a:prstGeom prst="rect">
            <a:avLst/>
          </a:prstGeom>
          <a:noFill/>
          <a:ln/>
        </p:spPr>
        <p:txBody>
          <a:bodyPr wrap="square" lIns="0" tIns="0" rIns="0" bIns="0" rtlCol="0" anchor="t"/>
          <a:lstStyle/>
          <a:p>
            <a:pPr indent="0" marL="0">
              <a:buNone/>
            </a:pPr>
            <a:r>
              <a:rPr lang="en-US" sz="1400" dirty="0">
                <a:solidFill>
                  <a:srgbClr val="27E5E5"/>
                </a:solidFill>
                <a:latin typeface="Arial Black" pitchFamily="34" charset="0"/>
                <a:ea typeface="Arial Black" pitchFamily="34" charset="-122"/>
                <a:cs typeface="Arial Black" pitchFamily="34" charset="-120"/>
              </a:rPr>
              <a:t>FÍSICO / OT</a:t>
            </a:r>
            <a:endParaRPr lang="en-US" sz="1400" dirty="0"/>
          </a:p>
        </p:txBody>
      </p:sp>
      <p:sp>
        <p:nvSpPr>
          <p:cNvPr id="6" name="Text 4"/>
          <p:cNvSpPr/>
          <p:nvPr/>
        </p:nvSpPr>
        <p:spPr>
          <a:xfrm>
            <a:off x="704088" y="2441448"/>
            <a:ext cx="4961992" cy="3666744"/>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Llenadora volumétrica con sensor de nivel</a:t>
            </a:r>
            <a:endParaRPr lang="en-US" sz="1200" dirty="0"/>
          </a:p>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Selladora con sensor de presencia</a:t>
            </a:r>
            <a:endParaRPr lang="en-US" sz="1200" dirty="0"/>
          </a:p>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Codificadora inkjet (lote y fecha)</a:t>
            </a:r>
            <a:endParaRPr lang="en-US" sz="1200" dirty="0"/>
          </a:p>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Banda transportadora con motor</a:t>
            </a:r>
            <a:endParaRPr lang="en-US" sz="1200" dirty="0"/>
          </a:p>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PLC que controla el llenado + HMI</a:t>
            </a:r>
            <a:endParaRPr lang="en-US" sz="1200" dirty="0"/>
          </a:p>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SCADA básico de la línea</a:t>
            </a:r>
            <a:endParaRPr lang="en-US" sz="1200" dirty="0"/>
          </a:p>
        </p:txBody>
      </p:sp>
      <p:sp>
        <p:nvSpPr>
          <p:cNvPr id="7" name="Shape 5"/>
          <p:cNvSpPr/>
          <p:nvPr/>
        </p:nvSpPr>
        <p:spPr>
          <a:xfrm>
            <a:off x="6324448" y="1783080"/>
            <a:ext cx="5364328" cy="4489704"/>
          </a:xfrm>
          <a:prstGeom prst="roundRect">
            <a:avLst>
              <a:gd name="adj" fmla="val 1018"/>
            </a:avLst>
          </a:prstGeom>
          <a:solidFill>
            <a:srgbClr val="151515"/>
          </a:solidFill>
          <a:ln w="12700">
            <a:solidFill>
              <a:srgbClr val="333333"/>
            </a:solidFill>
            <a:prstDash val="solid"/>
          </a:ln>
        </p:spPr>
      </p:sp>
      <p:sp>
        <p:nvSpPr>
          <p:cNvPr id="8" name="Text 6"/>
          <p:cNvSpPr/>
          <p:nvPr/>
        </p:nvSpPr>
        <p:spPr>
          <a:xfrm>
            <a:off x="6525616" y="1947672"/>
            <a:ext cx="4961992" cy="411480"/>
          </a:xfrm>
          <a:prstGeom prst="rect">
            <a:avLst/>
          </a:prstGeom>
          <a:noFill/>
          <a:ln/>
        </p:spPr>
        <p:txBody>
          <a:bodyPr wrap="square" lIns="0" tIns="0" rIns="0" bIns="0" rtlCol="0" anchor="t"/>
          <a:lstStyle/>
          <a:p>
            <a:pPr indent="0" marL="0">
              <a:buNone/>
            </a:pPr>
            <a:r>
              <a:rPr lang="en-US" sz="1400" dirty="0">
                <a:solidFill>
                  <a:srgbClr val="C6FF00"/>
                </a:solidFill>
                <a:latin typeface="Arial Black" pitchFamily="34" charset="0"/>
                <a:ea typeface="Arial Black" pitchFamily="34" charset="-122"/>
                <a:cs typeface="Arial Black" pitchFamily="34" charset="-120"/>
              </a:rPr>
              <a:t>IT</a:t>
            </a:r>
            <a:endParaRPr lang="en-US" sz="1400" dirty="0"/>
          </a:p>
        </p:txBody>
      </p:sp>
      <p:sp>
        <p:nvSpPr>
          <p:cNvPr id="9" name="Text 7"/>
          <p:cNvSpPr/>
          <p:nvPr/>
        </p:nvSpPr>
        <p:spPr>
          <a:xfrm>
            <a:off x="6525616" y="2441448"/>
            <a:ext cx="4961992" cy="3666744"/>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ERP para inventario y facturación</a:t>
            </a:r>
            <a:endParaRPr lang="en-US" sz="1200" dirty="0"/>
          </a:p>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Registro de producción en hoja de cálculo (MES incipiente)</a:t>
            </a:r>
            <a:endParaRPr lang="en-US" sz="1200" dirty="0"/>
          </a:p>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Sin historiador de datos aún</a:t>
            </a:r>
            <a:endParaRPr lang="en-US" sz="1200" dirty="0"/>
          </a:p>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Red de oficina separada de planta</a:t>
            </a:r>
            <a:endParaRPr lang="en-US" sz="1200" dirty="0"/>
          </a:p>
          <a:p>
            <a:pPr marL="342900" indent="-342900">
              <a:spcAft>
                <a:spcPts val="700"/>
              </a:spcAft>
              <a:buSzPct val="100000"/>
              <a:buChar char="–"/>
            </a:pPr>
            <a:r>
              <a:rPr lang="en-US" sz="1200" dirty="0">
                <a:solidFill>
                  <a:srgbClr val="F4F4F4"/>
                </a:solidFill>
                <a:latin typeface="Arial" pitchFamily="34" charset="0"/>
                <a:ea typeface="Arial" pitchFamily="34" charset="-122"/>
                <a:cs typeface="Arial" pitchFamily="34" charset="-120"/>
              </a:rPr>
              <a:t>Proveedor de la llenadora con acceso remoto</a:t>
            </a:r>
            <a:endParaRPr lang="en-US" sz="1200" dirty="0"/>
          </a:p>
        </p:txBody>
      </p:sp>
      <p:sp>
        <p:nvSpPr>
          <p:cNvPr id="10" name="Text 8"/>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1" name="Text 9"/>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12" name="Text 10"/>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32 / 47</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28  EJEMPLO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EL DOLOR DE NEGOCIO</a:t>
            </a:r>
            <a:endParaRPr lang="en-US" sz="3300" dirty="0"/>
          </a:p>
        </p:txBody>
      </p:sp>
      <p:sp>
        <p:nvSpPr>
          <p:cNvPr id="4" name="Shape 2"/>
          <p:cNvSpPr/>
          <p:nvPr/>
        </p:nvSpPr>
        <p:spPr>
          <a:xfrm>
            <a:off x="502920" y="1783080"/>
            <a:ext cx="11185855" cy="1280160"/>
          </a:xfrm>
          <a:prstGeom prst="roundRect">
            <a:avLst>
              <a:gd name="adj" fmla="val 4286"/>
            </a:avLst>
          </a:prstGeom>
          <a:solidFill>
            <a:srgbClr val="1E1E1E"/>
          </a:solidFill>
          <a:ln w="12700">
            <a:solidFill>
              <a:srgbClr val="333333"/>
            </a:solidFill>
            <a:prstDash val="solid"/>
          </a:ln>
        </p:spPr>
      </p:sp>
      <p:sp>
        <p:nvSpPr>
          <p:cNvPr id="5" name="Text 3"/>
          <p:cNvSpPr/>
          <p:nvPr/>
        </p:nvSpPr>
        <p:spPr>
          <a:xfrm>
            <a:off x="731520" y="1965960"/>
            <a:ext cx="2743200" cy="365760"/>
          </a:xfrm>
          <a:prstGeom prst="rect">
            <a:avLst/>
          </a:prstGeom>
          <a:noFill/>
          <a:ln/>
        </p:spPr>
        <p:txBody>
          <a:bodyPr wrap="square" lIns="0" tIns="0" rIns="0" bIns="0" rtlCol="0" anchor="t"/>
          <a:lstStyle/>
          <a:p>
            <a:pPr indent="0" marL="0">
              <a:buNone/>
            </a:pPr>
            <a:r>
              <a:rPr lang="en-US" sz="1200" b="1" dirty="0">
                <a:solidFill>
                  <a:srgbClr val="C6FF00"/>
                </a:solidFill>
                <a:latin typeface="Courier New" pitchFamily="34" charset="0"/>
                <a:ea typeface="Courier New" pitchFamily="34" charset="-122"/>
                <a:cs typeface="Courier New" pitchFamily="34" charset="-120"/>
              </a:rPr>
              <a:t>EL MOTOR</a:t>
            </a:r>
            <a:endParaRPr lang="en-US" sz="1200" dirty="0"/>
          </a:p>
        </p:txBody>
      </p:sp>
      <p:sp>
        <p:nvSpPr>
          <p:cNvPr id="6" name="Text 4"/>
          <p:cNvSpPr/>
          <p:nvPr/>
        </p:nvSpPr>
        <p:spPr>
          <a:xfrm>
            <a:off x="731520" y="2286000"/>
            <a:ext cx="10728655" cy="731520"/>
          </a:xfrm>
          <a:prstGeom prst="rect">
            <a:avLst/>
          </a:prstGeom>
          <a:noFill/>
          <a:ln/>
        </p:spPr>
        <p:txBody>
          <a:bodyPr wrap="square" lIns="0" tIns="0" rIns="0" bIns="0" rtlCol="0" anchor="t"/>
          <a:lstStyle/>
          <a:p>
            <a:pPr indent="0" marL="0">
              <a:buNone/>
            </a:pPr>
            <a:r>
              <a:rPr lang="en-US" sz="2600" dirty="0">
                <a:solidFill>
                  <a:srgbClr val="F4F4F4"/>
                </a:solidFill>
                <a:latin typeface="Arial Black" pitchFamily="34" charset="0"/>
                <a:ea typeface="Arial Black" pitchFamily="34" charset="-122"/>
                <a:cs typeface="Arial Black" pitchFamily="34" charset="-120"/>
              </a:rPr>
              <a:t>PARADAS Y FALTA DE TRAZABILIDAD</a:t>
            </a:r>
            <a:endParaRPr lang="en-US" sz="2600" dirty="0"/>
          </a:p>
        </p:txBody>
      </p:sp>
      <p:sp>
        <p:nvSpPr>
          <p:cNvPr id="7" name="Text 5"/>
          <p:cNvSpPr/>
          <p:nvPr/>
        </p:nvSpPr>
        <p:spPr>
          <a:xfrm>
            <a:off x="502920" y="329184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QUÉ SE HACE</a:t>
            </a:r>
            <a:endParaRPr lang="en-US" sz="1100" dirty="0"/>
          </a:p>
        </p:txBody>
      </p:sp>
      <p:sp>
        <p:nvSpPr>
          <p:cNvPr id="8" name="Text 6"/>
          <p:cNvSpPr/>
          <p:nvPr/>
        </p:nvSpPr>
        <p:spPr>
          <a:xfrm>
            <a:off x="502920" y="3657600"/>
            <a:ext cx="11185855" cy="1280160"/>
          </a:xfrm>
          <a:prstGeom prst="rect">
            <a:avLst/>
          </a:prstGeom>
          <a:noFill/>
          <a:ln/>
        </p:spPr>
        <p:txBody>
          <a:bodyPr wrap="square" lIns="0" tIns="0" rIns="0" bIns="0" rtlCol="0" anchor="t"/>
          <a:lstStyle/>
          <a:p>
            <a:pPr indent="0" marL="0">
              <a:lnSpc>
                <a:spcPct val="112000"/>
              </a:lnSpc>
              <a:buNone/>
            </a:pPr>
            <a:r>
              <a:rPr lang="en-US" sz="1300" dirty="0">
                <a:solidFill>
                  <a:srgbClr val="F4F4F4"/>
                </a:solidFill>
                <a:latin typeface="Arial" pitchFamily="34" charset="0"/>
                <a:ea typeface="Arial" pitchFamily="34" charset="-122"/>
                <a:cs typeface="Arial" pitchFamily="34" charset="-120"/>
              </a:rPr>
              <a:t>La Línea 2 sufre microparos frecuentes por atascos en la selladora, que bajan su OEE y generan reprocesos. Además, la trazabilidad de lote se lleva a mano, y la gran cadena a la que quieren venderle exige trazabilidad confiable y automática. Dos dolores concretos —paradas y trazabilidad— que le cuestan dinero y le cierran un mercado.</a:t>
            </a:r>
            <a:endParaRPr lang="en-US" sz="1300" dirty="0"/>
          </a:p>
        </p:txBody>
      </p:sp>
      <p:sp>
        <p:nvSpPr>
          <p:cNvPr id="9" name="Shape 7"/>
          <p:cNvSpPr/>
          <p:nvPr/>
        </p:nvSpPr>
        <p:spPr>
          <a:xfrm>
            <a:off x="502920" y="5358384"/>
            <a:ext cx="5364328" cy="914400"/>
          </a:xfrm>
          <a:prstGeom prst="roundRect">
            <a:avLst>
              <a:gd name="adj" fmla="val 5000"/>
            </a:avLst>
          </a:prstGeom>
          <a:solidFill>
            <a:srgbClr val="151515"/>
          </a:solidFill>
          <a:ln w="12700">
            <a:solidFill>
              <a:srgbClr val="333333"/>
            </a:solidFill>
            <a:prstDash val="solid"/>
          </a:ln>
        </p:spPr>
      </p:sp>
      <p:sp>
        <p:nvSpPr>
          <p:cNvPr id="10" name="Text 8"/>
          <p:cNvSpPr/>
          <p:nvPr/>
        </p:nvSpPr>
        <p:spPr>
          <a:xfrm>
            <a:off x="685800" y="5486400"/>
            <a:ext cx="4998568" cy="320040"/>
          </a:xfrm>
          <a:prstGeom prst="rect">
            <a:avLst/>
          </a:prstGeom>
          <a:noFill/>
          <a:ln/>
        </p:spPr>
        <p:txBody>
          <a:bodyPr wrap="square" lIns="0" tIns="0" rIns="0" bIns="0" rtlCol="0" anchor="ctr"/>
          <a:lstStyle/>
          <a:p>
            <a:pPr indent="0" marL="0">
              <a:buNone/>
            </a:pPr>
            <a:r>
              <a:rPr lang="en-US" sz="950" b="1" dirty="0">
                <a:solidFill>
                  <a:srgbClr val="27E5E5"/>
                </a:solidFill>
                <a:latin typeface="Courier New" pitchFamily="34" charset="0"/>
                <a:ea typeface="Courier New" pitchFamily="34" charset="-122"/>
                <a:cs typeface="Courier New" pitchFamily="34" charset="-120"/>
              </a:rPr>
              <a:t>DOLOR PRINCIPAL</a:t>
            </a:r>
            <a:endParaRPr lang="en-US" sz="950" dirty="0"/>
          </a:p>
        </p:txBody>
      </p:sp>
      <p:sp>
        <p:nvSpPr>
          <p:cNvPr id="11" name="Text 9"/>
          <p:cNvSpPr/>
          <p:nvPr/>
        </p:nvSpPr>
        <p:spPr>
          <a:xfrm>
            <a:off x="685800"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Microparos que bajan el OEE + trazabilidad manual</a:t>
            </a:r>
            <a:endParaRPr lang="en-US" sz="1200" dirty="0"/>
          </a:p>
        </p:txBody>
      </p:sp>
      <p:sp>
        <p:nvSpPr>
          <p:cNvPr id="12" name="Shape 10"/>
          <p:cNvSpPr/>
          <p:nvPr/>
        </p:nvSpPr>
        <p:spPr>
          <a:xfrm>
            <a:off x="6324448" y="5358384"/>
            <a:ext cx="5364328" cy="914400"/>
          </a:xfrm>
          <a:prstGeom prst="roundRect">
            <a:avLst>
              <a:gd name="adj" fmla="val 5000"/>
            </a:avLst>
          </a:prstGeom>
          <a:solidFill>
            <a:srgbClr val="151515"/>
          </a:solidFill>
          <a:ln w="12700">
            <a:solidFill>
              <a:srgbClr val="333333"/>
            </a:solidFill>
            <a:prstDash val="solid"/>
          </a:ln>
        </p:spPr>
      </p:sp>
      <p:sp>
        <p:nvSpPr>
          <p:cNvPr id="13" name="Text 11"/>
          <p:cNvSpPr/>
          <p:nvPr/>
        </p:nvSpPr>
        <p:spPr>
          <a:xfrm>
            <a:off x="6507328" y="5486400"/>
            <a:ext cx="4998568" cy="320040"/>
          </a:xfrm>
          <a:prstGeom prst="rect">
            <a:avLst/>
          </a:prstGeom>
          <a:noFill/>
          <a:ln/>
        </p:spPr>
        <p:txBody>
          <a:bodyPr wrap="square" lIns="0" tIns="0" rIns="0" bIns="0" rtlCol="0" anchor="ctr"/>
          <a:lstStyle/>
          <a:p>
            <a:pPr indent="0" marL="0">
              <a:buNone/>
            </a:pPr>
            <a:r>
              <a:rPr lang="en-US" sz="950" b="1" dirty="0">
                <a:solidFill>
                  <a:srgbClr val="FFB000"/>
                </a:solidFill>
                <a:latin typeface="Courier New" pitchFamily="34" charset="0"/>
                <a:ea typeface="Courier New" pitchFamily="34" charset="-122"/>
                <a:cs typeface="Courier New" pitchFamily="34" charset="-120"/>
              </a:rPr>
              <a:t>IMPACTO</a:t>
            </a:r>
            <a:endParaRPr lang="en-US" sz="950" dirty="0"/>
          </a:p>
        </p:txBody>
      </p:sp>
      <p:sp>
        <p:nvSpPr>
          <p:cNvPr id="14" name="Text 12"/>
          <p:cNvSpPr/>
          <p:nvPr/>
        </p:nvSpPr>
        <p:spPr>
          <a:xfrm>
            <a:off x="6507328"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Reprocesos, menos producción y un cliente que no llega</a:t>
            </a:r>
            <a:endParaRPr lang="en-US" sz="12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33 / 47</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29  EJEMPLO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PARTES INTERESADAS Y QUIÉN DECIDE</a:t>
            </a:r>
            <a:endParaRPr lang="en-US" sz="3300" dirty="0"/>
          </a:p>
        </p:txBody>
      </p:sp>
      <p:sp>
        <p:nvSpPr>
          <p:cNvPr id="4" name="Shape 2"/>
          <p:cNvSpPr/>
          <p:nvPr/>
        </p:nvSpPr>
        <p:spPr>
          <a:xfrm>
            <a:off x="502920" y="1783080"/>
            <a:ext cx="3291840" cy="457200"/>
          </a:xfrm>
          <a:prstGeom prst="rect">
            <a:avLst/>
          </a:prstGeom>
          <a:solidFill>
            <a:srgbClr val="1E1E1E"/>
          </a:solidFill>
          <a:ln w="12700">
            <a:solidFill>
              <a:srgbClr val="333333"/>
            </a:solidFill>
            <a:prstDash val="solid"/>
          </a:ln>
        </p:spPr>
      </p:sp>
      <p:sp>
        <p:nvSpPr>
          <p:cNvPr id="5" name="Text 3"/>
          <p:cNvSpPr/>
          <p:nvPr/>
        </p:nvSpPr>
        <p:spPr>
          <a:xfrm>
            <a:off x="576072" y="1783080"/>
            <a:ext cx="3145536" cy="457200"/>
          </a:xfrm>
          <a:prstGeom prst="rect">
            <a:avLst/>
          </a:prstGeom>
          <a:noFill/>
          <a:ln/>
        </p:spPr>
        <p:txBody>
          <a:bodyPr wrap="square" lIns="0" tIns="0" rIns="0" bIns="0" rtlCol="0" anchor="ctr"/>
          <a:lstStyle/>
          <a:p>
            <a:pPr algn="l" indent="0" marL="0">
              <a:buNone/>
            </a:pPr>
            <a:r>
              <a:rPr lang="en-US" sz="1050" b="1" dirty="0">
                <a:solidFill>
                  <a:srgbClr val="C6FF00"/>
                </a:solidFill>
                <a:latin typeface="Courier New" pitchFamily="34" charset="0"/>
                <a:ea typeface="Courier New" pitchFamily="34" charset="-122"/>
                <a:cs typeface="Courier New" pitchFamily="34" charset="-120"/>
              </a:rPr>
              <a:t>INTERESADO</a:t>
            </a:r>
            <a:endParaRPr lang="en-US" sz="1050" dirty="0"/>
          </a:p>
        </p:txBody>
      </p:sp>
      <p:sp>
        <p:nvSpPr>
          <p:cNvPr id="6" name="Shape 4"/>
          <p:cNvSpPr/>
          <p:nvPr/>
        </p:nvSpPr>
        <p:spPr>
          <a:xfrm>
            <a:off x="3794760" y="1783080"/>
            <a:ext cx="3947008" cy="457200"/>
          </a:xfrm>
          <a:prstGeom prst="rect">
            <a:avLst/>
          </a:prstGeom>
          <a:solidFill>
            <a:srgbClr val="1E1E1E"/>
          </a:solidFill>
          <a:ln w="12700">
            <a:solidFill>
              <a:srgbClr val="333333"/>
            </a:solidFill>
            <a:prstDash val="solid"/>
          </a:ln>
        </p:spPr>
      </p:sp>
      <p:sp>
        <p:nvSpPr>
          <p:cNvPr id="7" name="Text 5"/>
          <p:cNvSpPr/>
          <p:nvPr/>
        </p:nvSpPr>
        <p:spPr>
          <a:xfrm>
            <a:off x="3867912" y="1783080"/>
            <a:ext cx="3800704" cy="457200"/>
          </a:xfrm>
          <a:prstGeom prst="rect">
            <a:avLst/>
          </a:prstGeom>
          <a:noFill/>
          <a:ln/>
        </p:spPr>
        <p:txBody>
          <a:bodyPr wrap="square" lIns="0" tIns="0" rIns="0" bIns="0" rtlCol="0" anchor="ctr"/>
          <a:lstStyle/>
          <a:p>
            <a:pPr algn="ctr" indent="0" marL="0">
              <a:buNone/>
            </a:pPr>
            <a:r>
              <a:rPr lang="en-US" sz="1050" b="1" dirty="0">
                <a:solidFill>
                  <a:srgbClr val="C6FF00"/>
                </a:solidFill>
                <a:latin typeface="Courier New" pitchFamily="34" charset="0"/>
                <a:ea typeface="Courier New" pitchFamily="34" charset="-122"/>
                <a:cs typeface="Courier New" pitchFamily="34" charset="-120"/>
              </a:rPr>
              <a:t>LE IMPORTA</a:t>
            </a:r>
            <a:endParaRPr lang="en-US" sz="1050" dirty="0"/>
          </a:p>
        </p:txBody>
      </p:sp>
      <p:sp>
        <p:nvSpPr>
          <p:cNvPr id="8" name="Shape 6"/>
          <p:cNvSpPr/>
          <p:nvPr/>
        </p:nvSpPr>
        <p:spPr>
          <a:xfrm>
            <a:off x="7741768" y="1783080"/>
            <a:ext cx="3947008" cy="457200"/>
          </a:xfrm>
          <a:prstGeom prst="rect">
            <a:avLst/>
          </a:prstGeom>
          <a:solidFill>
            <a:srgbClr val="1E1E1E"/>
          </a:solidFill>
          <a:ln w="12700">
            <a:solidFill>
              <a:srgbClr val="333333"/>
            </a:solidFill>
            <a:prstDash val="solid"/>
          </a:ln>
        </p:spPr>
      </p:sp>
      <p:sp>
        <p:nvSpPr>
          <p:cNvPr id="9" name="Text 7"/>
          <p:cNvSpPr/>
          <p:nvPr/>
        </p:nvSpPr>
        <p:spPr>
          <a:xfrm>
            <a:off x="7814920" y="1783080"/>
            <a:ext cx="3800704" cy="457200"/>
          </a:xfrm>
          <a:prstGeom prst="rect">
            <a:avLst/>
          </a:prstGeom>
          <a:noFill/>
          <a:ln/>
        </p:spPr>
        <p:txBody>
          <a:bodyPr wrap="square" lIns="0" tIns="0" rIns="0" bIns="0" rtlCol="0" anchor="ctr"/>
          <a:lstStyle/>
          <a:p>
            <a:pPr algn="ctr" indent="0" marL="0">
              <a:buNone/>
            </a:pPr>
            <a:r>
              <a:rPr lang="en-US" sz="1050" b="1" dirty="0">
                <a:solidFill>
                  <a:srgbClr val="C6FF00"/>
                </a:solidFill>
                <a:latin typeface="Courier New" pitchFamily="34" charset="0"/>
                <a:ea typeface="Courier New" pitchFamily="34" charset="-122"/>
                <a:cs typeface="Courier New" pitchFamily="34" charset="-120"/>
              </a:rPr>
              <a:t>DECIDE SOBRE…</a:t>
            </a:r>
            <a:endParaRPr lang="en-US" sz="1050" dirty="0"/>
          </a:p>
        </p:txBody>
      </p:sp>
      <p:sp>
        <p:nvSpPr>
          <p:cNvPr id="10" name="Shape 8"/>
          <p:cNvSpPr/>
          <p:nvPr/>
        </p:nvSpPr>
        <p:spPr>
          <a:xfrm>
            <a:off x="502920" y="2240280"/>
            <a:ext cx="3291840" cy="566928"/>
          </a:xfrm>
          <a:prstGeom prst="rect">
            <a:avLst/>
          </a:prstGeom>
          <a:solidFill>
            <a:srgbClr val="151515"/>
          </a:solidFill>
          <a:ln w="12700">
            <a:solidFill>
              <a:srgbClr val="242424"/>
            </a:solidFill>
            <a:prstDash val="solid"/>
          </a:ln>
        </p:spPr>
      </p:sp>
      <p:sp>
        <p:nvSpPr>
          <p:cNvPr id="11" name="Text 9"/>
          <p:cNvSpPr/>
          <p:nvPr/>
        </p:nvSpPr>
        <p:spPr>
          <a:xfrm>
            <a:off x="576072" y="2240280"/>
            <a:ext cx="314553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Gerente general</a:t>
            </a:r>
            <a:endParaRPr lang="en-US" sz="1150" dirty="0"/>
          </a:p>
        </p:txBody>
      </p:sp>
      <p:sp>
        <p:nvSpPr>
          <p:cNvPr id="12" name="Shape 10"/>
          <p:cNvSpPr/>
          <p:nvPr/>
        </p:nvSpPr>
        <p:spPr>
          <a:xfrm>
            <a:off x="3794760" y="2240280"/>
            <a:ext cx="3947008" cy="566928"/>
          </a:xfrm>
          <a:prstGeom prst="rect">
            <a:avLst/>
          </a:prstGeom>
          <a:solidFill>
            <a:srgbClr val="151515"/>
          </a:solidFill>
          <a:ln w="12700">
            <a:solidFill>
              <a:srgbClr val="242424"/>
            </a:solidFill>
            <a:prstDash val="solid"/>
          </a:ln>
        </p:spPr>
      </p:sp>
      <p:sp>
        <p:nvSpPr>
          <p:cNvPr id="13" name="Text 11"/>
          <p:cNvSpPr/>
          <p:nvPr/>
        </p:nvSpPr>
        <p:spPr>
          <a:xfrm>
            <a:off x="3867912" y="2240280"/>
            <a:ext cx="3800704" cy="566928"/>
          </a:xfrm>
          <a:prstGeom prst="rect">
            <a:avLst/>
          </a:prstGeom>
          <a:noFill/>
          <a:ln/>
        </p:spPr>
        <p:txBody>
          <a:bodyPr wrap="square" lIns="0" tIns="0" rIns="0" bIns="0" rtlCol="0" anchor="ctr"/>
          <a:lstStyle/>
          <a:p>
            <a:pPr algn="ctr" indent="0" marL="0">
              <a:buNone/>
            </a:pPr>
            <a:r>
              <a:rPr lang="en-US" sz="1100" dirty="0">
                <a:solidFill>
                  <a:srgbClr val="C6FF00"/>
                </a:solidFill>
                <a:latin typeface="Courier New" pitchFamily="34" charset="0"/>
                <a:ea typeface="Courier New" pitchFamily="34" charset="-122"/>
                <a:cs typeface="Courier New" pitchFamily="34" charset="-120"/>
              </a:rPr>
              <a:t>El nuevo cliente y el ROI</a:t>
            </a:r>
            <a:endParaRPr lang="en-US" sz="1100" dirty="0"/>
          </a:p>
        </p:txBody>
      </p:sp>
      <p:sp>
        <p:nvSpPr>
          <p:cNvPr id="14" name="Shape 12"/>
          <p:cNvSpPr/>
          <p:nvPr/>
        </p:nvSpPr>
        <p:spPr>
          <a:xfrm>
            <a:off x="7741768" y="2240280"/>
            <a:ext cx="3947008" cy="566928"/>
          </a:xfrm>
          <a:prstGeom prst="rect">
            <a:avLst/>
          </a:prstGeom>
          <a:solidFill>
            <a:srgbClr val="151515"/>
          </a:solidFill>
          <a:ln w="12700">
            <a:solidFill>
              <a:srgbClr val="242424"/>
            </a:solidFill>
            <a:prstDash val="solid"/>
          </a:ln>
        </p:spPr>
      </p:sp>
      <p:sp>
        <p:nvSpPr>
          <p:cNvPr id="15" name="Text 13"/>
          <p:cNvSpPr/>
          <p:nvPr/>
        </p:nvSpPr>
        <p:spPr>
          <a:xfrm>
            <a:off x="7814920" y="2240280"/>
            <a:ext cx="380070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Inversión</a:t>
            </a:r>
            <a:endParaRPr lang="en-US" sz="1100" dirty="0"/>
          </a:p>
        </p:txBody>
      </p:sp>
      <p:sp>
        <p:nvSpPr>
          <p:cNvPr id="16" name="Shape 14"/>
          <p:cNvSpPr/>
          <p:nvPr/>
        </p:nvSpPr>
        <p:spPr>
          <a:xfrm>
            <a:off x="502920" y="2807208"/>
            <a:ext cx="3291840" cy="566928"/>
          </a:xfrm>
          <a:prstGeom prst="rect">
            <a:avLst/>
          </a:prstGeom>
          <a:solidFill>
            <a:srgbClr val="0B0B0B"/>
          </a:solidFill>
          <a:ln w="12700">
            <a:solidFill>
              <a:srgbClr val="242424"/>
            </a:solidFill>
            <a:prstDash val="solid"/>
          </a:ln>
        </p:spPr>
      </p:sp>
      <p:sp>
        <p:nvSpPr>
          <p:cNvPr id="17" name="Text 15"/>
          <p:cNvSpPr/>
          <p:nvPr/>
        </p:nvSpPr>
        <p:spPr>
          <a:xfrm>
            <a:off x="576072" y="2807208"/>
            <a:ext cx="314553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Gerente de planta</a:t>
            </a:r>
            <a:endParaRPr lang="en-US" sz="1150" dirty="0"/>
          </a:p>
        </p:txBody>
      </p:sp>
      <p:sp>
        <p:nvSpPr>
          <p:cNvPr id="18" name="Shape 16"/>
          <p:cNvSpPr/>
          <p:nvPr/>
        </p:nvSpPr>
        <p:spPr>
          <a:xfrm>
            <a:off x="3794760" y="2807208"/>
            <a:ext cx="3947008" cy="566928"/>
          </a:xfrm>
          <a:prstGeom prst="rect">
            <a:avLst/>
          </a:prstGeom>
          <a:solidFill>
            <a:srgbClr val="0B0B0B"/>
          </a:solidFill>
          <a:ln w="12700">
            <a:solidFill>
              <a:srgbClr val="242424"/>
            </a:solidFill>
            <a:prstDash val="solid"/>
          </a:ln>
        </p:spPr>
      </p:sp>
      <p:sp>
        <p:nvSpPr>
          <p:cNvPr id="19" name="Text 17"/>
          <p:cNvSpPr/>
          <p:nvPr/>
        </p:nvSpPr>
        <p:spPr>
          <a:xfrm>
            <a:off x="3867912" y="2807208"/>
            <a:ext cx="3800704" cy="566928"/>
          </a:xfrm>
          <a:prstGeom prst="rect">
            <a:avLst/>
          </a:prstGeom>
          <a:noFill/>
          <a:ln/>
        </p:spPr>
        <p:txBody>
          <a:bodyPr wrap="square" lIns="0" tIns="0" rIns="0" bIns="0" rtlCol="0" anchor="ctr"/>
          <a:lstStyle/>
          <a:p>
            <a:pPr algn="ctr" indent="0" marL="0">
              <a:buNone/>
            </a:pPr>
            <a:r>
              <a:rPr lang="en-US" sz="1100" dirty="0">
                <a:solidFill>
                  <a:srgbClr val="27E5E5"/>
                </a:solidFill>
                <a:latin typeface="Courier New" pitchFamily="34" charset="0"/>
                <a:ea typeface="Courier New" pitchFamily="34" charset="-122"/>
                <a:cs typeface="Courier New" pitchFamily="34" charset="-120"/>
              </a:rPr>
              <a:t>OEE y continuidad</a:t>
            </a:r>
            <a:endParaRPr lang="en-US" sz="1100" dirty="0"/>
          </a:p>
        </p:txBody>
      </p:sp>
      <p:sp>
        <p:nvSpPr>
          <p:cNvPr id="20" name="Shape 18"/>
          <p:cNvSpPr/>
          <p:nvPr/>
        </p:nvSpPr>
        <p:spPr>
          <a:xfrm>
            <a:off x="7741768" y="2807208"/>
            <a:ext cx="3947008" cy="566928"/>
          </a:xfrm>
          <a:prstGeom prst="rect">
            <a:avLst/>
          </a:prstGeom>
          <a:solidFill>
            <a:srgbClr val="0B0B0B"/>
          </a:solidFill>
          <a:ln w="12700">
            <a:solidFill>
              <a:srgbClr val="242424"/>
            </a:solidFill>
            <a:prstDash val="solid"/>
          </a:ln>
        </p:spPr>
      </p:sp>
      <p:sp>
        <p:nvSpPr>
          <p:cNvPr id="21" name="Text 19"/>
          <p:cNvSpPr/>
          <p:nvPr/>
        </p:nvSpPr>
        <p:spPr>
          <a:xfrm>
            <a:off x="7814920" y="2807208"/>
            <a:ext cx="380070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Prioridades OT</a:t>
            </a:r>
            <a:endParaRPr lang="en-US" sz="1100" dirty="0"/>
          </a:p>
        </p:txBody>
      </p:sp>
      <p:sp>
        <p:nvSpPr>
          <p:cNvPr id="22" name="Shape 20"/>
          <p:cNvSpPr/>
          <p:nvPr/>
        </p:nvSpPr>
        <p:spPr>
          <a:xfrm>
            <a:off x="502920" y="3374136"/>
            <a:ext cx="3291840" cy="566928"/>
          </a:xfrm>
          <a:prstGeom prst="rect">
            <a:avLst/>
          </a:prstGeom>
          <a:solidFill>
            <a:srgbClr val="151515"/>
          </a:solidFill>
          <a:ln w="12700">
            <a:solidFill>
              <a:srgbClr val="242424"/>
            </a:solidFill>
            <a:prstDash val="solid"/>
          </a:ln>
        </p:spPr>
      </p:sp>
      <p:sp>
        <p:nvSpPr>
          <p:cNvPr id="23" name="Text 21"/>
          <p:cNvSpPr/>
          <p:nvPr/>
        </p:nvSpPr>
        <p:spPr>
          <a:xfrm>
            <a:off x="576072" y="3374136"/>
            <a:ext cx="314553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Jefe de producción</a:t>
            </a:r>
            <a:endParaRPr lang="en-US" sz="1150" dirty="0"/>
          </a:p>
        </p:txBody>
      </p:sp>
      <p:sp>
        <p:nvSpPr>
          <p:cNvPr id="24" name="Shape 22"/>
          <p:cNvSpPr/>
          <p:nvPr/>
        </p:nvSpPr>
        <p:spPr>
          <a:xfrm>
            <a:off x="3794760" y="3374136"/>
            <a:ext cx="3947008" cy="566928"/>
          </a:xfrm>
          <a:prstGeom prst="rect">
            <a:avLst/>
          </a:prstGeom>
          <a:solidFill>
            <a:srgbClr val="151515"/>
          </a:solidFill>
          <a:ln w="12700">
            <a:solidFill>
              <a:srgbClr val="242424"/>
            </a:solidFill>
            <a:prstDash val="solid"/>
          </a:ln>
        </p:spPr>
      </p:sp>
      <p:sp>
        <p:nvSpPr>
          <p:cNvPr id="25" name="Text 23"/>
          <p:cNvSpPr/>
          <p:nvPr/>
        </p:nvSpPr>
        <p:spPr>
          <a:xfrm>
            <a:off x="3867912" y="3374136"/>
            <a:ext cx="3800704" cy="566928"/>
          </a:xfrm>
          <a:prstGeom prst="rect">
            <a:avLst/>
          </a:prstGeom>
          <a:noFill/>
          <a:ln/>
        </p:spPr>
        <p:txBody>
          <a:bodyPr wrap="square" lIns="0" tIns="0" rIns="0" bIns="0" rtlCol="0" anchor="ctr"/>
          <a:lstStyle/>
          <a:p>
            <a:pPr algn="ctr" indent="0" marL="0">
              <a:buNone/>
            </a:pPr>
            <a:r>
              <a:rPr lang="en-US" sz="1100" dirty="0">
                <a:solidFill>
                  <a:srgbClr val="FFB000"/>
                </a:solidFill>
                <a:latin typeface="Courier New" pitchFamily="34" charset="0"/>
                <a:ea typeface="Courier New" pitchFamily="34" charset="-122"/>
                <a:cs typeface="Courier New" pitchFamily="34" charset="-120"/>
              </a:rPr>
              <a:t>Que la Línea 2 no pare</a:t>
            </a:r>
            <a:endParaRPr lang="en-US" sz="1100" dirty="0"/>
          </a:p>
        </p:txBody>
      </p:sp>
      <p:sp>
        <p:nvSpPr>
          <p:cNvPr id="26" name="Shape 24"/>
          <p:cNvSpPr/>
          <p:nvPr/>
        </p:nvSpPr>
        <p:spPr>
          <a:xfrm>
            <a:off x="7741768" y="3374136"/>
            <a:ext cx="3947008" cy="566928"/>
          </a:xfrm>
          <a:prstGeom prst="rect">
            <a:avLst/>
          </a:prstGeom>
          <a:solidFill>
            <a:srgbClr val="151515"/>
          </a:solidFill>
          <a:ln w="12700">
            <a:solidFill>
              <a:srgbClr val="242424"/>
            </a:solidFill>
            <a:prstDash val="solid"/>
          </a:ln>
        </p:spPr>
      </p:sp>
      <p:sp>
        <p:nvSpPr>
          <p:cNvPr id="27" name="Text 25"/>
          <p:cNvSpPr/>
          <p:nvPr/>
        </p:nvSpPr>
        <p:spPr>
          <a:xfrm>
            <a:off x="7814920" y="3374136"/>
            <a:ext cx="380070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Operación</a:t>
            </a:r>
            <a:endParaRPr lang="en-US" sz="1100" dirty="0"/>
          </a:p>
        </p:txBody>
      </p:sp>
      <p:sp>
        <p:nvSpPr>
          <p:cNvPr id="28" name="Shape 26"/>
          <p:cNvSpPr/>
          <p:nvPr/>
        </p:nvSpPr>
        <p:spPr>
          <a:xfrm>
            <a:off x="502920" y="3941064"/>
            <a:ext cx="3291840" cy="566928"/>
          </a:xfrm>
          <a:prstGeom prst="rect">
            <a:avLst/>
          </a:prstGeom>
          <a:solidFill>
            <a:srgbClr val="0B0B0B"/>
          </a:solidFill>
          <a:ln w="12700">
            <a:solidFill>
              <a:srgbClr val="242424"/>
            </a:solidFill>
            <a:prstDash val="solid"/>
          </a:ln>
        </p:spPr>
      </p:sp>
      <p:sp>
        <p:nvSpPr>
          <p:cNvPr id="29" name="Text 27"/>
          <p:cNvSpPr/>
          <p:nvPr/>
        </p:nvSpPr>
        <p:spPr>
          <a:xfrm>
            <a:off x="576072" y="3941064"/>
            <a:ext cx="314553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Persona de TI</a:t>
            </a:r>
            <a:endParaRPr lang="en-US" sz="1150" dirty="0"/>
          </a:p>
        </p:txBody>
      </p:sp>
      <p:sp>
        <p:nvSpPr>
          <p:cNvPr id="30" name="Shape 28"/>
          <p:cNvSpPr/>
          <p:nvPr/>
        </p:nvSpPr>
        <p:spPr>
          <a:xfrm>
            <a:off x="3794760" y="3941064"/>
            <a:ext cx="3947008" cy="566928"/>
          </a:xfrm>
          <a:prstGeom prst="rect">
            <a:avLst/>
          </a:prstGeom>
          <a:solidFill>
            <a:srgbClr val="0B0B0B"/>
          </a:solidFill>
          <a:ln w="12700">
            <a:solidFill>
              <a:srgbClr val="242424"/>
            </a:solidFill>
            <a:prstDash val="solid"/>
          </a:ln>
        </p:spPr>
      </p:sp>
      <p:sp>
        <p:nvSpPr>
          <p:cNvPr id="31" name="Text 29"/>
          <p:cNvSpPr/>
          <p:nvPr/>
        </p:nvSpPr>
        <p:spPr>
          <a:xfrm>
            <a:off x="3867912" y="3941064"/>
            <a:ext cx="3800704" cy="566928"/>
          </a:xfrm>
          <a:prstGeom prst="rect">
            <a:avLst/>
          </a:prstGeom>
          <a:noFill/>
          <a:ln/>
        </p:spPr>
        <p:txBody>
          <a:bodyPr wrap="square" lIns="0" tIns="0" rIns="0" bIns="0" rtlCol="0" anchor="ctr"/>
          <a:lstStyle/>
          <a:p>
            <a:pPr algn="ctr" indent="0" marL="0">
              <a:buNone/>
            </a:pPr>
            <a:r>
              <a:rPr lang="en-US" sz="1100" dirty="0">
                <a:solidFill>
                  <a:srgbClr val="9D6BFF"/>
                </a:solidFill>
                <a:latin typeface="Courier New" pitchFamily="34" charset="0"/>
                <a:ea typeface="Courier New" pitchFamily="34" charset="-122"/>
                <a:cs typeface="Courier New" pitchFamily="34" charset="-120"/>
              </a:rPr>
              <a:t>Integrar datos sin romper nada</a:t>
            </a:r>
            <a:endParaRPr lang="en-US" sz="1100" dirty="0"/>
          </a:p>
        </p:txBody>
      </p:sp>
      <p:sp>
        <p:nvSpPr>
          <p:cNvPr id="32" name="Shape 30"/>
          <p:cNvSpPr/>
          <p:nvPr/>
        </p:nvSpPr>
        <p:spPr>
          <a:xfrm>
            <a:off x="7741768" y="3941064"/>
            <a:ext cx="3947008" cy="566928"/>
          </a:xfrm>
          <a:prstGeom prst="rect">
            <a:avLst/>
          </a:prstGeom>
          <a:solidFill>
            <a:srgbClr val="0B0B0B"/>
          </a:solidFill>
          <a:ln w="12700">
            <a:solidFill>
              <a:srgbClr val="242424"/>
            </a:solidFill>
            <a:prstDash val="solid"/>
          </a:ln>
        </p:spPr>
      </p:sp>
      <p:sp>
        <p:nvSpPr>
          <p:cNvPr id="33" name="Text 31"/>
          <p:cNvSpPr/>
          <p:nvPr/>
        </p:nvSpPr>
        <p:spPr>
          <a:xfrm>
            <a:off x="7814920" y="3941064"/>
            <a:ext cx="380070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Tecnología</a:t>
            </a:r>
            <a:endParaRPr lang="en-US" sz="1100" dirty="0"/>
          </a:p>
        </p:txBody>
      </p:sp>
      <p:sp>
        <p:nvSpPr>
          <p:cNvPr id="34" name="Text 32"/>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35" name="Text 33"/>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36" name="Text 34"/>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34 / 47</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30  EJEMPLO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POR QUÉ LA PRADERA SÍ ES UN CPPS</a:t>
            </a:r>
            <a:endParaRPr lang="en-US" sz="3300" dirty="0"/>
          </a:p>
        </p:txBody>
      </p:sp>
      <p:sp>
        <p:nvSpPr>
          <p:cNvPr id="4" name="Shape 2"/>
          <p:cNvSpPr/>
          <p:nvPr/>
        </p:nvSpPr>
        <p:spPr>
          <a:xfrm>
            <a:off x="502920" y="1783080"/>
            <a:ext cx="11185855" cy="780898"/>
          </a:xfrm>
          <a:prstGeom prst="roundRect">
            <a:avLst>
              <a:gd name="adj" fmla="val 5855"/>
            </a:avLst>
          </a:prstGeom>
          <a:solidFill>
            <a:srgbClr val="151515"/>
          </a:solidFill>
          <a:ln w="12700">
            <a:solidFill>
              <a:srgbClr val="333333"/>
            </a:solidFill>
            <a:prstDash val="solid"/>
          </a:ln>
        </p:spPr>
      </p:sp>
      <p:sp>
        <p:nvSpPr>
          <p:cNvPr id="5" name="Text 3"/>
          <p:cNvSpPr/>
          <p:nvPr/>
        </p:nvSpPr>
        <p:spPr>
          <a:xfrm>
            <a:off x="731520" y="1783080"/>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CÓMPUTO</a:t>
            </a:r>
            <a:endParaRPr lang="en-US" sz="1200" dirty="0"/>
          </a:p>
        </p:txBody>
      </p:sp>
      <p:sp>
        <p:nvSpPr>
          <p:cNvPr id="6" name="Text 4"/>
          <p:cNvSpPr/>
          <p:nvPr/>
        </p:nvSpPr>
        <p:spPr>
          <a:xfrm>
            <a:off x="4251960" y="1783080"/>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El PLC controla el llenado y el sellado en tiempo real.</a:t>
            </a:r>
            <a:endParaRPr lang="en-US" sz="1250" dirty="0"/>
          </a:p>
        </p:txBody>
      </p:sp>
      <p:sp>
        <p:nvSpPr>
          <p:cNvPr id="7" name="Shape 5"/>
          <p:cNvSpPr/>
          <p:nvPr/>
        </p:nvSpPr>
        <p:spPr>
          <a:xfrm>
            <a:off x="502920" y="2710282"/>
            <a:ext cx="11185855" cy="780898"/>
          </a:xfrm>
          <a:prstGeom prst="roundRect">
            <a:avLst>
              <a:gd name="adj" fmla="val 5855"/>
            </a:avLst>
          </a:prstGeom>
          <a:solidFill>
            <a:srgbClr val="151515"/>
          </a:solidFill>
          <a:ln w="12700">
            <a:solidFill>
              <a:srgbClr val="333333"/>
            </a:solidFill>
            <a:prstDash val="solid"/>
          </a:ln>
        </p:spPr>
      </p:sp>
      <p:sp>
        <p:nvSpPr>
          <p:cNvPr id="8" name="Text 6"/>
          <p:cNvSpPr/>
          <p:nvPr/>
        </p:nvSpPr>
        <p:spPr>
          <a:xfrm>
            <a:off x="731520" y="2710282"/>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FÍSICO</a:t>
            </a:r>
            <a:endParaRPr lang="en-US" sz="1200" dirty="0"/>
          </a:p>
        </p:txBody>
      </p:sp>
      <p:sp>
        <p:nvSpPr>
          <p:cNvPr id="9" name="Text 7"/>
          <p:cNvSpPr/>
          <p:nvPr/>
        </p:nvSpPr>
        <p:spPr>
          <a:xfrm>
            <a:off x="4251960" y="2710282"/>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Sensores de nivel y presencia; actuadores de la llenadora y selladora.</a:t>
            </a:r>
            <a:endParaRPr lang="en-US" sz="1250" dirty="0"/>
          </a:p>
        </p:txBody>
      </p:sp>
      <p:sp>
        <p:nvSpPr>
          <p:cNvPr id="10" name="Shape 8"/>
          <p:cNvSpPr/>
          <p:nvPr/>
        </p:nvSpPr>
        <p:spPr>
          <a:xfrm>
            <a:off x="502920" y="3637483"/>
            <a:ext cx="11185855" cy="780898"/>
          </a:xfrm>
          <a:prstGeom prst="roundRect">
            <a:avLst>
              <a:gd name="adj" fmla="val 5855"/>
            </a:avLst>
          </a:prstGeom>
          <a:solidFill>
            <a:srgbClr val="151515"/>
          </a:solidFill>
          <a:ln w="12700">
            <a:solidFill>
              <a:srgbClr val="333333"/>
            </a:solidFill>
            <a:prstDash val="solid"/>
          </a:ln>
        </p:spPr>
      </p:sp>
      <p:sp>
        <p:nvSpPr>
          <p:cNvPr id="11" name="Text 9"/>
          <p:cNvSpPr/>
          <p:nvPr/>
        </p:nvSpPr>
        <p:spPr>
          <a:xfrm>
            <a:off x="731520" y="3637483"/>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LAZO</a:t>
            </a:r>
            <a:endParaRPr lang="en-US" sz="1200" dirty="0"/>
          </a:p>
        </p:txBody>
      </p:sp>
      <p:sp>
        <p:nvSpPr>
          <p:cNvPr id="12" name="Text 10"/>
          <p:cNvSpPr/>
          <p:nvPr/>
        </p:nvSpPr>
        <p:spPr>
          <a:xfrm>
            <a:off x="4251960" y="3637483"/>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El PLC lee sensores y comanda el llenado; se busca cerrar el lazo con datos.</a:t>
            </a:r>
            <a:endParaRPr lang="en-US" sz="1250" dirty="0"/>
          </a:p>
        </p:txBody>
      </p:sp>
      <p:sp>
        <p:nvSpPr>
          <p:cNvPr id="13" name="Shape 11"/>
          <p:cNvSpPr/>
          <p:nvPr/>
        </p:nvSpPr>
        <p:spPr>
          <a:xfrm>
            <a:off x="502920" y="4564685"/>
            <a:ext cx="11185855" cy="780898"/>
          </a:xfrm>
          <a:prstGeom prst="roundRect">
            <a:avLst>
              <a:gd name="adj" fmla="val 5855"/>
            </a:avLst>
          </a:prstGeom>
          <a:solidFill>
            <a:srgbClr val="151515"/>
          </a:solidFill>
          <a:ln w="12700">
            <a:solidFill>
              <a:srgbClr val="333333"/>
            </a:solidFill>
            <a:prstDash val="solid"/>
          </a:ln>
        </p:spPr>
      </p:sp>
      <p:sp>
        <p:nvSpPr>
          <p:cNvPr id="14" name="Text 12"/>
          <p:cNvSpPr/>
          <p:nvPr/>
        </p:nvSpPr>
        <p:spPr>
          <a:xfrm>
            <a:off x="731520" y="4564685"/>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DATOS</a:t>
            </a:r>
            <a:endParaRPr lang="en-US" sz="1200" dirty="0"/>
          </a:p>
        </p:txBody>
      </p:sp>
      <p:sp>
        <p:nvSpPr>
          <p:cNvPr id="15" name="Text 13"/>
          <p:cNvSpPr/>
          <p:nvPr/>
        </p:nvSpPr>
        <p:spPr>
          <a:xfrm>
            <a:off x="4251960" y="4564685"/>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Se pueden capturar OEE, conteos y trazabilidad de lote.</a:t>
            </a:r>
            <a:endParaRPr lang="en-US" sz="1250" dirty="0"/>
          </a:p>
        </p:txBody>
      </p:sp>
      <p:sp>
        <p:nvSpPr>
          <p:cNvPr id="16" name="Shape 14"/>
          <p:cNvSpPr/>
          <p:nvPr/>
        </p:nvSpPr>
        <p:spPr>
          <a:xfrm>
            <a:off x="502920" y="5491886"/>
            <a:ext cx="11185855" cy="780898"/>
          </a:xfrm>
          <a:prstGeom prst="roundRect">
            <a:avLst>
              <a:gd name="adj" fmla="val 5855"/>
            </a:avLst>
          </a:prstGeom>
          <a:solidFill>
            <a:srgbClr val="151515"/>
          </a:solidFill>
          <a:ln w="12700">
            <a:solidFill>
              <a:srgbClr val="333333"/>
            </a:solidFill>
            <a:prstDash val="solid"/>
          </a:ln>
        </p:spPr>
      </p:sp>
      <p:sp>
        <p:nvSpPr>
          <p:cNvPr id="17" name="Text 15"/>
          <p:cNvSpPr/>
          <p:nvPr/>
        </p:nvSpPr>
        <p:spPr>
          <a:xfrm>
            <a:off x="731520" y="5491886"/>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CONVERGENCIA</a:t>
            </a:r>
            <a:endParaRPr lang="en-US" sz="1200" dirty="0"/>
          </a:p>
        </p:txBody>
      </p:sp>
      <p:sp>
        <p:nvSpPr>
          <p:cNvPr id="18" name="Text 16"/>
          <p:cNvSpPr/>
          <p:nvPr/>
        </p:nvSpPr>
        <p:spPr>
          <a:xfrm>
            <a:off x="4251960" y="5491886"/>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Conectar la Línea 2 (OT) con el ERP y un futuro tablero (IT).</a:t>
            </a:r>
            <a:endParaRPr lang="en-US" sz="1250" dirty="0"/>
          </a:p>
        </p:txBody>
      </p:sp>
      <p:sp>
        <p:nvSpPr>
          <p:cNvPr id="19" name="Text 1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0" name="Text 1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21" name="Text 1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35 / 47</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31  EJEMPLO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2700" dirty="0">
                <a:solidFill>
                  <a:srgbClr val="F4F4F4"/>
                </a:solidFill>
                <a:latin typeface="Arial Black" pitchFamily="34" charset="0"/>
                <a:ea typeface="Arial Black" pitchFamily="34" charset="-122"/>
                <a:cs typeface="Arial Black" pitchFamily="34" charset="-120"/>
              </a:rPr>
              <a:t>LA FICHA COMPLETA DE LA PRADERA — RESUMEN</a:t>
            </a:r>
            <a:endParaRPr lang="en-US" sz="27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Así se ve una ficha de empresa bien acotada, lista para arrancar el proyecto.</a:t>
            </a:r>
            <a:endParaRPr lang="en-US" sz="1250" dirty="0"/>
          </a:p>
        </p:txBody>
      </p:sp>
      <p:sp>
        <p:nvSpPr>
          <p:cNvPr id="5" name="Shape 3"/>
          <p:cNvSpPr/>
          <p:nvPr/>
        </p:nvSpPr>
        <p:spPr>
          <a:xfrm>
            <a:off x="502920" y="1920240"/>
            <a:ext cx="260444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2238680" cy="411480"/>
          </a:xfrm>
          <a:prstGeom prst="rect">
            <a:avLst/>
          </a:prstGeom>
          <a:noFill/>
          <a:ln/>
        </p:spPr>
        <p:txBody>
          <a:bodyPr wrap="square" lIns="0" tIns="0" rIns="0" bIns="0" rtlCol="0" anchor="t"/>
          <a:lstStyle/>
          <a:p>
            <a:pPr indent="0" marL="0">
              <a:buNone/>
            </a:pPr>
            <a:r>
              <a:rPr lang="en-US" sz="1600" dirty="0">
                <a:solidFill>
                  <a:srgbClr val="C6FF00"/>
                </a:solidFill>
                <a:latin typeface="Arial Black" pitchFamily="34" charset="0"/>
                <a:ea typeface="Arial Black" pitchFamily="34" charset="-122"/>
                <a:cs typeface="Arial Black" pitchFamily="34" charset="-120"/>
              </a:rPr>
              <a:t>IDENTIDAD</a:t>
            </a:r>
            <a:endParaRPr lang="en-US" sz="1600" dirty="0"/>
          </a:p>
        </p:txBody>
      </p:sp>
      <p:sp>
        <p:nvSpPr>
          <p:cNvPr id="7" name="Text 5"/>
          <p:cNvSpPr/>
          <p:nvPr/>
        </p:nvSpPr>
        <p:spPr>
          <a:xfrm>
            <a:off x="685800" y="2523744"/>
            <a:ext cx="223868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Lácteos La Pradera S.A.S. · lácteos · Rionegro · pyme.</a:t>
            </a:r>
            <a:endParaRPr lang="en-US" sz="1100" dirty="0"/>
          </a:p>
        </p:txBody>
      </p:sp>
      <p:sp>
        <p:nvSpPr>
          <p:cNvPr id="8" name="Shape 6"/>
          <p:cNvSpPr/>
          <p:nvPr/>
        </p:nvSpPr>
        <p:spPr>
          <a:xfrm>
            <a:off x="3363392" y="1920240"/>
            <a:ext cx="260444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3546272" y="2066544"/>
            <a:ext cx="2238680" cy="411480"/>
          </a:xfrm>
          <a:prstGeom prst="rect">
            <a:avLst/>
          </a:prstGeom>
          <a:noFill/>
          <a:ln/>
        </p:spPr>
        <p:txBody>
          <a:bodyPr wrap="square" lIns="0" tIns="0" rIns="0" bIns="0" rtlCol="0" anchor="t"/>
          <a:lstStyle/>
          <a:p>
            <a:pPr indent="0" marL="0">
              <a:buNone/>
            </a:pPr>
            <a:r>
              <a:rPr lang="en-US" sz="1600" dirty="0">
                <a:solidFill>
                  <a:srgbClr val="FFB000"/>
                </a:solidFill>
                <a:latin typeface="Arial Black" pitchFamily="34" charset="0"/>
                <a:ea typeface="Arial Black" pitchFamily="34" charset="-122"/>
                <a:cs typeface="Arial Black" pitchFamily="34" charset="-120"/>
              </a:rPr>
              <a:t>ALCANCE</a:t>
            </a:r>
            <a:endParaRPr lang="en-US" sz="1600" dirty="0"/>
          </a:p>
        </p:txBody>
      </p:sp>
      <p:sp>
        <p:nvSpPr>
          <p:cNvPr id="10" name="Text 8"/>
          <p:cNvSpPr/>
          <p:nvPr/>
        </p:nvSpPr>
        <p:spPr>
          <a:xfrm>
            <a:off x="3546272" y="2523744"/>
            <a:ext cx="223868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Línea 2 de envasado de yogurt bebible 200 ml.</a:t>
            </a:r>
            <a:endParaRPr lang="en-US" sz="1100" dirty="0"/>
          </a:p>
        </p:txBody>
      </p:sp>
      <p:sp>
        <p:nvSpPr>
          <p:cNvPr id="11" name="Shape 9"/>
          <p:cNvSpPr/>
          <p:nvPr/>
        </p:nvSpPr>
        <p:spPr>
          <a:xfrm>
            <a:off x="6223864" y="1920240"/>
            <a:ext cx="260444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6406744" y="2066544"/>
            <a:ext cx="2238680" cy="411480"/>
          </a:xfrm>
          <a:prstGeom prst="rect">
            <a:avLst/>
          </a:prstGeom>
          <a:noFill/>
          <a:ln/>
        </p:spPr>
        <p:txBody>
          <a:bodyPr wrap="square" lIns="0" tIns="0" rIns="0" bIns="0" rtlCol="0" anchor="t"/>
          <a:lstStyle/>
          <a:p>
            <a:pPr indent="0" marL="0">
              <a:buNone/>
            </a:pPr>
            <a:r>
              <a:rPr lang="en-US" sz="1600" dirty="0">
                <a:solidFill>
                  <a:srgbClr val="22E06B"/>
                </a:solidFill>
                <a:latin typeface="Arial Black" pitchFamily="34" charset="0"/>
                <a:ea typeface="Arial Black" pitchFamily="34" charset="-122"/>
                <a:cs typeface="Arial Black" pitchFamily="34" charset="-120"/>
              </a:rPr>
              <a:t>PROCESO</a:t>
            </a:r>
            <a:endParaRPr lang="en-US" sz="1600" dirty="0"/>
          </a:p>
        </p:txBody>
      </p:sp>
      <p:sp>
        <p:nvSpPr>
          <p:cNvPr id="13" name="Text 11"/>
          <p:cNvSpPr/>
          <p:nvPr/>
        </p:nvSpPr>
        <p:spPr>
          <a:xfrm>
            <a:off x="6406744" y="2523744"/>
            <a:ext cx="223868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Recepción → llenado → sellado → codificado → empaque.</a:t>
            </a:r>
            <a:endParaRPr lang="en-US" sz="1100" dirty="0"/>
          </a:p>
        </p:txBody>
      </p:sp>
      <p:sp>
        <p:nvSpPr>
          <p:cNvPr id="14" name="Shape 12"/>
          <p:cNvSpPr/>
          <p:nvPr/>
        </p:nvSpPr>
        <p:spPr>
          <a:xfrm>
            <a:off x="9084335" y="1920240"/>
            <a:ext cx="260444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9267215" y="2066544"/>
            <a:ext cx="2238680" cy="411480"/>
          </a:xfrm>
          <a:prstGeom prst="rect">
            <a:avLst/>
          </a:prstGeom>
          <a:noFill/>
          <a:ln/>
        </p:spPr>
        <p:txBody>
          <a:bodyPr wrap="square" lIns="0" tIns="0" rIns="0" bIns="0" rtlCol="0" anchor="t"/>
          <a:lstStyle/>
          <a:p>
            <a:pPr indent="0" marL="0">
              <a:buNone/>
            </a:pPr>
            <a:r>
              <a:rPr lang="en-US" sz="1600" dirty="0">
                <a:solidFill>
                  <a:srgbClr val="27E5E5"/>
                </a:solidFill>
                <a:latin typeface="Arial Black" pitchFamily="34" charset="0"/>
                <a:ea typeface="Arial Black" pitchFamily="34" charset="-122"/>
                <a:cs typeface="Arial Black" pitchFamily="34" charset="-120"/>
              </a:rPr>
              <a:t>IT / OT</a:t>
            </a:r>
            <a:endParaRPr lang="en-US" sz="1600" dirty="0"/>
          </a:p>
        </p:txBody>
      </p:sp>
      <p:sp>
        <p:nvSpPr>
          <p:cNvPr id="16" name="Text 14"/>
          <p:cNvSpPr/>
          <p:nvPr/>
        </p:nvSpPr>
        <p:spPr>
          <a:xfrm>
            <a:off x="9267215" y="2523744"/>
            <a:ext cx="223868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PLC, HMI, SCADA básico; ERP + Excel; sin historiador.</a:t>
            </a:r>
            <a:endParaRPr lang="en-US" sz="1100" dirty="0"/>
          </a:p>
        </p:txBody>
      </p:sp>
      <p:sp>
        <p:nvSpPr>
          <p:cNvPr id="17" name="Shape 15"/>
          <p:cNvSpPr/>
          <p:nvPr/>
        </p:nvSpPr>
        <p:spPr>
          <a:xfrm>
            <a:off x="502920" y="3749040"/>
            <a:ext cx="260444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8" name="Text 16"/>
          <p:cNvSpPr/>
          <p:nvPr/>
        </p:nvSpPr>
        <p:spPr>
          <a:xfrm>
            <a:off x="685800" y="3895344"/>
            <a:ext cx="2238680" cy="411480"/>
          </a:xfrm>
          <a:prstGeom prst="rect">
            <a:avLst/>
          </a:prstGeom>
          <a:noFill/>
          <a:ln/>
        </p:spPr>
        <p:txBody>
          <a:bodyPr wrap="square" lIns="0" tIns="0" rIns="0" bIns="0" rtlCol="0" anchor="t"/>
          <a:lstStyle/>
          <a:p>
            <a:pPr indent="0" marL="0">
              <a:buNone/>
            </a:pPr>
            <a:r>
              <a:rPr lang="en-US" sz="1600" dirty="0">
                <a:solidFill>
                  <a:srgbClr val="FF3B30"/>
                </a:solidFill>
                <a:latin typeface="Arial Black" pitchFamily="34" charset="0"/>
                <a:ea typeface="Arial Black" pitchFamily="34" charset="-122"/>
                <a:cs typeface="Arial Black" pitchFamily="34" charset="-120"/>
              </a:rPr>
              <a:t>DOLOR</a:t>
            </a:r>
            <a:endParaRPr lang="en-US" sz="1600" dirty="0"/>
          </a:p>
        </p:txBody>
      </p:sp>
      <p:sp>
        <p:nvSpPr>
          <p:cNvPr id="19" name="Text 17"/>
          <p:cNvSpPr/>
          <p:nvPr/>
        </p:nvSpPr>
        <p:spPr>
          <a:xfrm>
            <a:off x="685800" y="4352544"/>
            <a:ext cx="223868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Microparos que bajan el OEE + trazabilidad manual.</a:t>
            </a:r>
            <a:endParaRPr lang="en-US" sz="1100" dirty="0"/>
          </a:p>
        </p:txBody>
      </p:sp>
      <p:sp>
        <p:nvSpPr>
          <p:cNvPr id="20" name="Shape 18"/>
          <p:cNvSpPr/>
          <p:nvPr/>
        </p:nvSpPr>
        <p:spPr>
          <a:xfrm>
            <a:off x="3363392" y="3749040"/>
            <a:ext cx="260444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21" name="Text 19"/>
          <p:cNvSpPr/>
          <p:nvPr/>
        </p:nvSpPr>
        <p:spPr>
          <a:xfrm>
            <a:off x="3546272" y="3895344"/>
            <a:ext cx="2238680" cy="411480"/>
          </a:xfrm>
          <a:prstGeom prst="rect">
            <a:avLst/>
          </a:prstGeom>
          <a:noFill/>
          <a:ln/>
        </p:spPr>
        <p:txBody>
          <a:bodyPr wrap="square" lIns="0" tIns="0" rIns="0" bIns="0" rtlCol="0" anchor="t"/>
          <a:lstStyle/>
          <a:p>
            <a:pPr indent="0" marL="0">
              <a:buNone/>
            </a:pPr>
            <a:r>
              <a:rPr lang="en-US" sz="1600" dirty="0">
                <a:solidFill>
                  <a:srgbClr val="9D6BFF"/>
                </a:solidFill>
                <a:latin typeface="Arial Black" pitchFamily="34" charset="0"/>
                <a:ea typeface="Arial Black" pitchFamily="34" charset="-122"/>
                <a:cs typeface="Arial Black" pitchFamily="34" charset="-120"/>
              </a:rPr>
              <a:t>INTERESADOS</a:t>
            </a:r>
            <a:endParaRPr lang="en-US" sz="1600" dirty="0"/>
          </a:p>
        </p:txBody>
      </p:sp>
      <p:sp>
        <p:nvSpPr>
          <p:cNvPr id="22" name="Text 20"/>
          <p:cNvSpPr/>
          <p:nvPr/>
        </p:nvSpPr>
        <p:spPr>
          <a:xfrm>
            <a:off x="3546272" y="4352544"/>
            <a:ext cx="223868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Gerencia, planta, producción, TI (1 persona).</a:t>
            </a:r>
            <a:endParaRPr lang="en-US" sz="1100" dirty="0"/>
          </a:p>
        </p:txBody>
      </p:sp>
      <p:sp>
        <p:nvSpPr>
          <p:cNvPr id="23" name="Shape 21"/>
          <p:cNvSpPr/>
          <p:nvPr/>
        </p:nvSpPr>
        <p:spPr>
          <a:xfrm>
            <a:off x="6223864" y="3749040"/>
            <a:ext cx="260444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24" name="Text 22"/>
          <p:cNvSpPr/>
          <p:nvPr/>
        </p:nvSpPr>
        <p:spPr>
          <a:xfrm>
            <a:off x="6406744" y="3895344"/>
            <a:ext cx="2238680" cy="411480"/>
          </a:xfrm>
          <a:prstGeom prst="rect">
            <a:avLst/>
          </a:prstGeom>
          <a:noFill/>
          <a:ln/>
        </p:spPr>
        <p:txBody>
          <a:bodyPr wrap="square" lIns="0" tIns="0" rIns="0" bIns="0" rtlCol="0" anchor="t"/>
          <a:lstStyle/>
          <a:p>
            <a:pPr indent="0" marL="0">
              <a:buNone/>
            </a:pPr>
            <a:r>
              <a:rPr lang="en-US" sz="1600" dirty="0">
                <a:solidFill>
                  <a:srgbClr val="C6FF00"/>
                </a:solidFill>
                <a:latin typeface="Arial Black" pitchFamily="34" charset="0"/>
                <a:ea typeface="Arial Black" pitchFamily="34" charset="-122"/>
                <a:cs typeface="Arial Black" pitchFamily="34" charset="-120"/>
              </a:rPr>
              <a:t>CPPS</a:t>
            </a:r>
            <a:endParaRPr lang="en-US" sz="1600" dirty="0"/>
          </a:p>
        </p:txBody>
      </p:sp>
      <p:sp>
        <p:nvSpPr>
          <p:cNvPr id="25" name="Text 23"/>
          <p:cNvSpPr/>
          <p:nvPr/>
        </p:nvSpPr>
        <p:spPr>
          <a:xfrm>
            <a:off x="6406744" y="4352544"/>
            <a:ext cx="223868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Cómputo + físico + datos + convergencia IT/OT.</a:t>
            </a:r>
            <a:endParaRPr lang="en-US" sz="1100" dirty="0"/>
          </a:p>
        </p:txBody>
      </p:sp>
      <p:sp>
        <p:nvSpPr>
          <p:cNvPr id="26" name="Shape 24"/>
          <p:cNvSpPr/>
          <p:nvPr/>
        </p:nvSpPr>
        <p:spPr>
          <a:xfrm>
            <a:off x="9084335" y="3749040"/>
            <a:ext cx="260444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27" name="Text 25"/>
          <p:cNvSpPr/>
          <p:nvPr/>
        </p:nvSpPr>
        <p:spPr>
          <a:xfrm>
            <a:off x="9267215" y="3895344"/>
            <a:ext cx="2238680" cy="411480"/>
          </a:xfrm>
          <a:prstGeom prst="rect">
            <a:avLst/>
          </a:prstGeom>
          <a:noFill/>
          <a:ln/>
        </p:spPr>
        <p:txBody>
          <a:bodyPr wrap="square" lIns="0" tIns="0" rIns="0" bIns="0" rtlCol="0" anchor="t"/>
          <a:lstStyle/>
          <a:p>
            <a:pPr indent="0" marL="0">
              <a:buNone/>
            </a:pPr>
            <a:r>
              <a:rPr lang="en-US" sz="1600" dirty="0">
                <a:solidFill>
                  <a:srgbClr val="FF6B35"/>
                </a:solidFill>
                <a:latin typeface="Arial Black" pitchFamily="34" charset="0"/>
                <a:ea typeface="Arial Black" pitchFamily="34" charset="-122"/>
                <a:cs typeface="Arial Black" pitchFamily="34" charset="-120"/>
              </a:rPr>
              <a:t>FUERA</a:t>
            </a:r>
            <a:endParaRPr lang="en-US" sz="1600" dirty="0"/>
          </a:p>
        </p:txBody>
      </p:sp>
      <p:sp>
        <p:nvSpPr>
          <p:cNvPr id="28" name="Text 26"/>
          <p:cNvSpPr/>
          <p:nvPr/>
        </p:nvSpPr>
        <p:spPr>
          <a:xfrm>
            <a:off x="9267215" y="4352544"/>
            <a:ext cx="223868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Fermentación, líneas 1 y 3, logística, ventas.</a:t>
            </a:r>
            <a:endParaRPr lang="en-US" sz="1100" dirty="0"/>
          </a:p>
        </p:txBody>
      </p:sp>
      <p:sp>
        <p:nvSpPr>
          <p:cNvPr id="29" name="Text 2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30" name="Text 2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31" name="Text 2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36 / 47</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01010"/>
        </a:solidFill>
      </p:bgPr>
    </p:bg>
    <p:spTree>
      <p:nvGrpSpPr>
        <p:cNvPr id="1" name=""/>
        <p:cNvGrpSpPr/>
        <p:nvPr/>
      </p:nvGrpSpPr>
      <p:grpSpPr>
        <a:xfrm>
          <a:off x="0" y="0"/>
          <a:ext cx="0" cy="0"/>
          <a:chOff x="0" y="0"/>
          <a:chExt cx="0" cy="0"/>
        </a:xfrm>
      </p:grpSpPr>
      <p:sp>
        <p:nvSpPr>
          <p:cNvPr id="2" name="Text 0"/>
          <p:cNvSpPr/>
          <p:nvPr/>
        </p:nvSpPr>
        <p:spPr>
          <a:xfrm>
            <a:off x="5029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C6FF00"/>
                </a:solidFill>
                <a:latin typeface="Courier New" pitchFamily="34" charset="0"/>
                <a:ea typeface="Courier New" pitchFamily="34" charset="-122"/>
                <a:cs typeface="Courier New" pitchFamily="34" charset="-120"/>
              </a:rPr>
              <a:t>SECCIÓN</a:t>
            </a:r>
            <a:endParaRPr lang="en-US" sz="1400" dirty="0"/>
          </a:p>
        </p:txBody>
      </p:sp>
      <p:sp>
        <p:nvSpPr>
          <p:cNvPr id="3" name="Text 1"/>
          <p:cNvSpPr/>
          <p:nvPr/>
        </p:nvSpPr>
        <p:spPr>
          <a:xfrm>
            <a:off x="7848295" y="1097280"/>
            <a:ext cx="3840480" cy="3840480"/>
          </a:xfrm>
          <a:prstGeom prst="rect">
            <a:avLst/>
          </a:prstGeom>
          <a:noFill/>
          <a:ln/>
        </p:spPr>
        <p:txBody>
          <a:bodyPr wrap="square" lIns="0" tIns="0" rIns="0" bIns="0" rtlCol="0" anchor="ctr"/>
          <a:lstStyle/>
          <a:p>
            <a:pPr algn="r" indent="0" marL="0">
              <a:buNone/>
            </a:pPr>
            <a:r>
              <a:rPr lang="en-US" sz="20000" dirty="0">
                <a:solidFill>
                  <a:srgbClr val="151515"/>
                </a:solidFill>
                <a:latin typeface="Arial Black" pitchFamily="34" charset="0"/>
                <a:ea typeface="Arial Black" pitchFamily="34" charset="-122"/>
                <a:cs typeface="Arial Black" pitchFamily="34" charset="-120"/>
              </a:rPr>
              <a:t>05</a:t>
            </a:r>
            <a:endParaRPr lang="en-US" sz="20000" dirty="0"/>
          </a:p>
        </p:txBody>
      </p:sp>
      <p:sp>
        <p:nvSpPr>
          <p:cNvPr id="4" name="Text 2"/>
          <p:cNvSpPr/>
          <p:nvPr/>
        </p:nvSpPr>
        <p:spPr>
          <a:xfrm>
            <a:off x="502920" y="2423160"/>
            <a:ext cx="10271455" cy="1737360"/>
          </a:xfrm>
          <a:prstGeom prst="rect">
            <a:avLst/>
          </a:prstGeom>
          <a:noFill/>
          <a:ln/>
        </p:spPr>
        <p:txBody>
          <a:bodyPr wrap="square" lIns="0" tIns="0" rIns="0" bIns="0" rtlCol="0" anchor="t"/>
          <a:lstStyle/>
          <a:p>
            <a:pPr indent="0" marL="0">
              <a:lnSpc>
                <a:spcPct val="96000"/>
              </a:lnSpc>
              <a:buNone/>
            </a:pPr>
            <a:r>
              <a:rPr lang="en-US" sz="4000" dirty="0">
                <a:solidFill>
                  <a:srgbClr val="F4F4F4"/>
                </a:solidFill>
                <a:latin typeface="Arial Black" pitchFamily="34" charset="0"/>
                <a:ea typeface="Arial Black" pitchFamily="34" charset="-122"/>
                <a:cs typeface="Arial Black" pitchFamily="34" charset="-120"/>
              </a:rPr>
              <a:t>AHORA USTEDES</a:t>
            </a:r>
            <a:endParaRPr lang="en-US" sz="4000" dirty="0"/>
          </a:p>
        </p:txBody>
      </p:sp>
      <p:sp>
        <p:nvSpPr>
          <p:cNvPr id="5" name="Text 3"/>
          <p:cNvSpPr/>
          <p:nvPr/>
        </p:nvSpPr>
        <p:spPr>
          <a:xfrm>
            <a:off x="502920" y="4343400"/>
            <a:ext cx="11185855" cy="548640"/>
          </a:xfrm>
          <a:prstGeom prst="rect">
            <a:avLst/>
          </a:prstGeom>
          <a:noFill/>
          <a:ln/>
        </p:spPr>
        <p:txBody>
          <a:bodyPr wrap="square" lIns="0" tIns="0" rIns="0" bIns="0" rtlCol="0" anchor="t"/>
          <a:lstStyle/>
          <a:p>
            <a:pPr indent="0" marL="0">
              <a:buNone/>
            </a:pPr>
            <a:r>
              <a:rPr lang="en-US" sz="1300" b="1" dirty="0">
                <a:solidFill>
                  <a:srgbClr val="C6FF00"/>
                </a:solidFill>
                <a:latin typeface="Courier New" pitchFamily="34" charset="0"/>
                <a:ea typeface="Courier New" pitchFamily="34" charset="-122"/>
                <a:cs typeface="Courier New" pitchFamily="34" charset="-120"/>
              </a:rPr>
              <a:t>&gt; </a:t>
            </a:r>
            <a:pPr indent="0" marL="0">
              <a:buNone/>
            </a:pPr>
            <a:r>
              <a:rPr lang="en-US" sz="1300" dirty="0">
                <a:solidFill>
                  <a:srgbClr val="8C8C8C"/>
                </a:solidFill>
                <a:latin typeface="Courier New" pitchFamily="34" charset="0"/>
                <a:ea typeface="Courier New" pitchFamily="34" charset="-122"/>
                <a:cs typeface="Courier New" pitchFamily="34" charset="-120"/>
              </a:rPr>
              <a:t>Plantilla, pasos y errores a evitar</a:t>
            </a:r>
            <a:endParaRPr lang="en-US" sz="1300" dirty="0"/>
          </a:p>
        </p:txBody>
      </p:sp>
      <p:sp>
        <p:nvSpPr>
          <p:cNvPr id="6" name="Text 4"/>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7" name="Text 5"/>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8" name="Text 6"/>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37 / 47</a:t>
            </a:r>
            <a:endParaRPr lang="en-US" sz="800" dirty="0"/>
          </a:p>
        </p:txBody>
      </p:sp>
      <p:sp>
        <p:nvSpPr>
          <p:cNvPr id="9" name="Text 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0" name="Text 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11" name="Text 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37 / 47</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32  USTEDES</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LOS PASOS DEL TALLER</a:t>
            </a:r>
            <a:endParaRPr lang="en-US" sz="3300" dirty="0"/>
          </a:p>
        </p:txBody>
      </p:sp>
      <p:sp>
        <p:nvSpPr>
          <p:cNvPr id="4" name="Shape 2"/>
          <p:cNvSpPr/>
          <p:nvPr/>
        </p:nvSpPr>
        <p:spPr>
          <a:xfrm>
            <a:off x="502920" y="1783080"/>
            <a:ext cx="3576218" cy="1554480"/>
          </a:xfrm>
          <a:prstGeom prst="roundRect">
            <a:avLst>
              <a:gd name="adj" fmla="val 3529"/>
            </a:avLst>
          </a:prstGeom>
          <a:solidFill>
            <a:srgbClr val="151515"/>
          </a:solidFill>
          <a:ln w="12700">
            <a:solidFill>
              <a:srgbClr val="333333"/>
            </a:solidFill>
            <a:prstDash val="solid"/>
          </a:ln>
        </p:spPr>
      </p:sp>
      <p:sp>
        <p:nvSpPr>
          <p:cNvPr id="5" name="Text 3"/>
          <p:cNvSpPr/>
          <p:nvPr/>
        </p:nvSpPr>
        <p:spPr>
          <a:xfrm>
            <a:off x="649224" y="1892808"/>
            <a:ext cx="914400" cy="502920"/>
          </a:xfrm>
          <a:prstGeom prst="rect">
            <a:avLst/>
          </a:prstGeom>
          <a:noFill/>
          <a:ln/>
        </p:spPr>
        <p:txBody>
          <a:bodyPr wrap="square" lIns="0" tIns="0" rIns="0" bIns="0" rtlCol="0" anchor="t"/>
          <a:lstStyle/>
          <a:p>
            <a:pPr indent="0" marL="0">
              <a:buNone/>
            </a:pPr>
            <a:r>
              <a:rPr lang="en-US" sz="2200" dirty="0">
                <a:solidFill>
                  <a:srgbClr val="C6FF00"/>
                </a:solidFill>
                <a:latin typeface="Arial Black" pitchFamily="34" charset="0"/>
                <a:ea typeface="Arial Black" pitchFamily="34" charset="-122"/>
                <a:cs typeface="Arial Black" pitchFamily="34" charset="-120"/>
              </a:rPr>
              <a:t>01</a:t>
            </a:r>
            <a:endParaRPr lang="en-US" sz="2200" dirty="0"/>
          </a:p>
        </p:txBody>
      </p:sp>
      <p:sp>
        <p:nvSpPr>
          <p:cNvPr id="6" name="Text 4"/>
          <p:cNvSpPr/>
          <p:nvPr/>
        </p:nvSpPr>
        <p:spPr>
          <a:xfrm>
            <a:off x="649224" y="2386584"/>
            <a:ext cx="3283610"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EQUIPO</a:t>
            </a:r>
            <a:endParaRPr lang="en-US" sz="1100" dirty="0"/>
          </a:p>
        </p:txBody>
      </p:sp>
      <p:sp>
        <p:nvSpPr>
          <p:cNvPr id="7" name="Text 5"/>
          <p:cNvSpPr/>
          <p:nvPr/>
        </p:nvSpPr>
        <p:spPr>
          <a:xfrm>
            <a:off x="649224" y="2752344"/>
            <a:ext cx="3283610"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Conformen equipo de 3–4 y roles.</a:t>
            </a:r>
            <a:endParaRPr lang="en-US" sz="1000" dirty="0"/>
          </a:p>
        </p:txBody>
      </p:sp>
      <p:sp>
        <p:nvSpPr>
          <p:cNvPr id="8" name="Shape 6"/>
          <p:cNvSpPr/>
          <p:nvPr/>
        </p:nvSpPr>
        <p:spPr>
          <a:xfrm>
            <a:off x="4307738" y="1783080"/>
            <a:ext cx="3576218" cy="1554480"/>
          </a:xfrm>
          <a:prstGeom prst="roundRect">
            <a:avLst>
              <a:gd name="adj" fmla="val 3529"/>
            </a:avLst>
          </a:prstGeom>
          <a:solidFill>
            <a:srgbClr val="151515"/>
          </a:solidFill>
          <a:ln w="12700">
            <a:solidFill>
              <a:srgbClr val="333333"/>
            </a:solidFill>
            <a:prstDash val="solid"/>
          </a:ln>
        </p:spPr>
      </p:sp>
      <p:sp>
        <p:nvSpPr>
          <p:cNvPr id="9" name="Text 7"/>
          <p:cNvSpPr/>
          <p:nvPr/>
        </p:nvSpPr>
        <p:spPr>
          <a:xfrm>
            <a:off x="4454042" y="1892808"/>
            <a:ext cx="914400" cy="502920"/>
          </a:xfrm>
          <a:prstGeom prst="rect">
            <a:avLst/>
          </a:prstGeom>
          <a:noFill/>
          <a:ln/>
        </p:spPr>
        <p:txBody>
          <a:bodyPr wrap="square" lIns="0" tIns="0" rIns="0" bIns="0" rtlCol="0" anchor="t"/>
          <a:lstStyle/>
          <a:p>
            <a:pPr indent="0" marL="0">
              <a:buNone/>
            </a:pPr>
            <a:r>
              <a:rPr lang="en-US" sz="2200" dirty="0">
                <a:solidFill>
                  <a:srgbClr val="27E5E5"/>
                </a:solidFill>
                <a:latin typeface="Arial Black" pitchFamily="34" charset="0"/>
                <a:ea typeface="Arial Black" pitchFamily="34" charset="-122"/>
                <a:cs typeface="Arial Black" pitchFamily="34" charset="-120"/>
              </a:rPr>
              <a:t>02</a:t>
            </a:r>
            <a:endParaRPr lang="en-US" sz="2200" dirty="0"/>
          </a:p>
        </p:txBody>
      </p:sp>
      <p:sp>
        <p:nvSpPr>
          <p:cNvPr id="10" name="Text 8"/>
          <p:cNvSpPr/>
          <p:nvPr/>
        </p:nvSpPr>
        <p:spPr>
          <a:xfrm>
            <a:off x="4454042" y="2386584"/>
            <a:ext cx="3283610"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EMPRESA</a:t>
            </a:r>
            <a:endParaRPr lang="en-US" sz="1100" dirty="0"/>
          </a:p>
        </p:txBody>
      </p:sp>
      <p:sp>
        <p:nvSpPr>
          <p:cNvPr id="11" name="Text 9"/>
          <p:cNvSpPr/>
          <p:nvPr/>
        </p:nvSpPr>
        <p:spPr>
          <a:xfrm>
            <a:off x="4454042" y="2752344"/>
            <a:ext cx="3283610"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Elijan sector, empresa y planta.</a:t>
            </a:r>
            <a:endParaRPr lang="en-US" sz="1000" dirty="0"/>
          </a:p>
        </p:txBody>
      </p:sp>
      <p:sp>
        <p:nvSpPr>
          <p:cNvPr id="12" name="Shape 10"/>
          <p:cNvSpPr/>
          <p:nvPr/>
        </p:nvSpPr>
        <p:spPr>
          <a:xfrm>
            <a:off x="8112557" y="1783080"/>
            <a:ext cx="3576218" cy="1554480"/>
          </a:xfrm>
          <a:prstGeom prst="roundRect">
            <a:avLst>
              <a:gd name="adj" fmla="val 3529"/>
            </a:avLst>
          </a:prstGeom>
          <a:solidFill>
            <a:srgbClr val="151515"/>
          </a:solidFill>
          <a:ln w="12700">
            <a:solidFill>
              <a:srgbClr val="333333"/>
            </a:solidFill>
            <a:prstDash val="solid"/>
          </a:ln>
        </p:spPr>
      </p:sp>
      <p:sp>
        <p:nvSpPr>
          <p:cNvPr id="13" name="Text 11"/>
          <p:cNvSpPr/>
          <p:nvPr/>
        </p:nvSpPr>
        <p:spPr>
          <a:xfrm>
            <a:off x="8258861" y="1892808"/>
            <a:ext cx="914400" cy="502920"/>
          </a:xfrm>
          <a:prstGeom prst="rect">
            <a:avLst/>
          </a:prstGeom>
          <a:noFill/>
          <a:ln/>
        </p:spPr>
        <p:txBody>
          <a:bodyPr wrap="square" lIns="0" tIns="0" rIns="0" bIns="0" rtlCol="0" anchor="t"/>
          <a:lstStyle/>
          <a:p>
            <a:pPr indent="0" marL="0">
              <a:buNone/>
            </a:pPr>
            <a:r>
              <a:rPr lang="en-US" sz="2200" dirty="0">
                <a:solidFill>
                  <a:srgbClr val="FFB000"/>
                </a:solidFill>
                <a:latin typeface="Arial Black" pitchFamily="34" charset="0"/>
                <a:ea typeface="Arial Black" pitchFamily="34" charset="-122"/>
                <a:cs typeface="Arial Black" pitchFamily="34" charset="-120"/>
              </a:rPr>
              <a:t>03</a:t>
            </a:r>
            <a:endParaRPr lang="en-US" sz="2200" dirty="0"/>
          </a:p>
        </p:txBody>
      </p:sp>
      <p:sp>
        <p:nvSpPr>
          <p:cNvPr id="14" name="Text 12"/>
          <p:cNvSpPr/>
          <p:nvPr/>
        </p:nvSpPr>
        <p:spPr>
          <a:xfrm>
            <a:off x="8258861" y="2386584"/>
            <a:ext cx="3283610"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EMBUDO</a:t>
            </a:r>
            <a:endParaRPr lang="en-US" sz="1100" dirty="0"/>
          </a:p>
        </p:txBody>
      </p:sp>
      <p:sp>
        <p:nvSpPr>
          <p:cNvPr id="15" name="Text 13"/>
          <p:cNvSpPr/>
          <p:nvPr/>
        </p:nvSpPr>
        <p:spPr>
          <a:xfrm>
            <a:off x="8258861" y="2752344"/>
            <a:ext cx="3283610"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Bajen hasta una línea/proceso foco.</a:t>
            </a:r>
            <a:endParaRPr lang="en-US" sz="1000" dirty="0"/>
          </a:p>
        </p:txBody>
      </p:sp>
      <p:sp>
        <p:nvSpPr>
          <p:cNvPr id="16" name="Shape 14"/>
          <p:cNvSpPr/>
          <p:nvPr/>
        </p:nvSpPr>
        <p:spPr>
          <a:xfrm>
            <a:off x="502920" y="3566160"/>
            <a:ext cx="3576218" cy="1554480"/>
          </a:xfrm>
          <a:prstGeom prst="roundRect">
            <a:avLst>
              <a:gd name="adj" fmla="val 3529"/>
            </a:avLst>
          </a:prstGeom>
          <a:solidFill>
            <a:srgbClr val="151515"/>
          </a:solidFill>
          <a:ln w="12700">
            <a:solidFill>
              <a:srgbClr val="333333"/>
            </a:solidFill>
            <a:prstDash val="solid"/>
          </a:ln>
        </p:spPr>
      </p:sp>
      <p:sp>
        <p:nvSpPr>
          <p:cNvPr id="17" name="Text 15"/>
          <p:cNvSpPr/>
          <p:nvPr/>
        </p:nvSpPr>
        <p:spPr>
          <a:xfrm>
            <a:off x="649224" y="3675888"/>
            <a:ext cx="914400" cy="502920"/>
          </a:xfrm>
          <a:prstGeom prst="rect">
            <a:avLst/>
          </a:prstGeom>
          <a:noFill/>
          <a:ln/>
        </p:spPr>
        <p:txBody>
          <a:bodyPr wrap="square" lIns="0" tIns="0" rIns="0" bIns="0" rtlCol="0" anchor="t"/>
          <a:lstStyle/>
          <a:p>
            <a:pPr indent="0" marL="0">
              <a:buNone/>
            </a:pPr>
            <a:r>
              <a:rPr lang="en-US" sz="2200" dirty="0">
                <a:solidFill>
                  <a:srgbClr val="22E06B"/>
                </a:solidFill>
                <a:latin typeface="Arial Black" pitchFamily="34" charset="0"/>
                <a:ea typeface="Arial Black" pitchFamily="34" charset="-122"/>
                <a:cs typeface="Arial Black" pitchFamily="34" charset="-120"/>
              </a:rPr>
              <a:t>04</a:t>
            </a:r>
            <a:endParaRPr lang="en-US" sz="2200" dirty="0"/>
          </a:p>
        </p:txBody>
      </p:sp>
      <p:sp>
        <p:nvSpPr>
          <p:cNvPr id="18" name="Text 16"/>
          <p:cNvSpPr/>
          <p:nvPr/>
        </p:nvSpPr>
        <p:spPr>
          <a:xfrm>
            <a:off x="649224" y="4169664"/>
            <a:ext cx="3283610"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FICHA</a:t>
            </a:r>
            <a:endParaRPr lang="en-US" sz="1100" dirty="0"/>
          </a:p>
        </p:txBody>
      </p:sp>
      <p:sp>
        <p:nvSpPr>
          <p:cNvPr id="19" name="Text 17"/>
          <p:cNvSpPr/>
          <p:nvPr/>
        </p:nvSpPr>
        <p:spPr>
          <a:xfrm>
            <a:off x="649224" y="4535424"/>
            <a:ext cx="3283610"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Completen los 8 campos.</a:t>
            </a:r>
            <a:endParaRPr lang="en-US" sz="1000" dirty="0"/>
          </a:p>
        </p:txBody>
      </p:sp>
      <p:sp>
        <p:nvSpPr>
          <p:cNvPr id="20" name="Shape 18"/>
          <p:cNvSpPr/>
          <p:nvPr/>
        </p:nvSpPr>
        <p:spPr>
          <a:xfrm>
            <a:off x="4307738" y="3566160"/>
            <a:ext cx="3576218" cy="1554480"/>
          </a:xfrm>
          <a:prstGeom prst="roundRect">
            <a:avLst>
              <a:gd name="adj" fmla="val 3529"/>
            </a:avLst>
          </a:prstGeom>
          <a:solidFill>
            <a:srgbClr val="151515"/>
          </a:solidFill>
          <a:ln w="12700">
            <a:solidFill>
              <a:srgbClr val="333333"/>
            </a:solidFill>
            <a:prstDash val="solid"/>
          </a:ln>
        </p:spPr>
      </p:sp>
      <p:sp>
        <p:nvSpPr>
          <p:cNvPr id="21" name="Text 19"/>
          <p:cNvSpPr/>
          <p:nvPr/>
        </p:nvSpPr>
        <p:spPr>
          <a:xfrm>
            <a:off x="4454042" y="3675888"/>
            <a:ext cx="914400" cy="502920"/>
          </a:xfrm>
          <a:prstGeom prst="rect">
            <a:avLst/>
          </a:prstGeom>
          <a:noFill/>
          <a:ln/>
        </p:spPr>
        <p:txBody>
          <a:bodyPr wrap="square" lIns="0" tIns="0" rIns="0" bIns="0" rtlCol="0" anchor="t"/>
          <a:lstStyle/>
          <a:p>
            <a:pPr indent="0" marL="0">
              <a:buNone/>
            </a:pPr>
            <a:r>
              <a:rPr lang="en-US" sz="2200" dirty="0">
                <a:solidFill>
                  <a:srgbClr val="9D6BFF"/>
                </a:solidFill>
                <a:latin typeface="Arial Black" pitchFamily="34" charset="0"/>
                <a:ea typeface="Arial Black" pitchFamily="34" charset="-122"/>
                <a:cs typeface="Arial Black" pitchFamily="34" charset="-120"/>
              </a:rPr>
              <a:t>05</a:t>
            </a:r>
            <a:endParaRPr lang="en-US" sz="2200" dirty="0"/>
          </a:p>
        </p:txBody>
      </p:sp>
      <p:sp>
        <p:nvSpPr>
          <p:cNvPr id="22" name="Text 20"/>
          <p:cNvSpPr/>
          <p:nvPr/>
        </p:nvSpPr>
        <p:spPr>
          <a:xfrm>
            <a:off x="4454042" y="4169664"/>
            <a:ext cx="3283610"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IN/OUT</a:t>
            </a:r>
            <a:endParaRPr lang="en-US" sz="1100" dirty="0"/>
          </a:p>
        </p:txBody>
      </p:sp>
      <p:sp>
        <p:nvSpPr>
          <p:cNvPr id="23" name="Text 21"/>
          <p:cNvSpPr/>
          <p:nvPr/>
        </p:nvSpPr>
        <p:spPr>
          <a:xfrm>
            <a:off x="4454042" y="4535424"/>
            <a:ext cx="3283610"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Escriban qué queda dentro y fuera.</a:t>
            </a:r>
            <a:endParaRPr lang="en-US" sz="1000" dirty="0"/>
          </a:p>
        </p:txBody>
      </p:sp>
      <p:sp>
        <p:nvSpPr>
          <p:cNvPr id="24" name="Shape 22"/>
          <p:cNvSpPr/>
          <p:nvPr/>
        </p:nvSpPr>
        <p:spPr>
          <a:xfrm>
            <a:off x="8112557" y="3566160"/>
            <a:ext cx="3576218" cy="1554480"/>
          </a:xfrm>
          <a:prstGeom prst="roundRect">
            <a:avLst>
              <a:gd name="adj" fmla="val 3529"/>
            </a:avLst>
          </a:prstGeom>
          <a:solidFill>
            <a:srgbClr val="151515"/>
          </a:solidFill>
          <a:ln w="12700">
            <a:solidFill>
              <a:srgbClr val="333333"/>
            </a:solidFill>
            <a:prstDash val="solid"/>
          </a:ln>
        </p:spPr>
      </p:sp>
      <p:sp>
        <p:nvSpPr>
          <p:cNvPr id="25" name="Text 23"/>
          <p:cNvSpPr/>
          <p:nvPr/>
        </p:nvSpPr>
        <p:spPr>
          <a:xfrm>
            <a:off x="8258861" y="3675888"/>
            <a:ext cx="914400" cy="502920"/>
          </a:xfrm>
          <a:prstGeom prst="rect">
            <a:avLst/>
          </a:prstGeom>
          <a:noFill/>
          <a:ln/>
        </p:spPr>
        <p:txBody>
          <a:bodyPr wrap="square" lIns="0" tIns="0" rIns="0" bIns="0" rtlCol="0" anchor="t"/>
          <a:lstStyle/>
          <a:p>
            <a:pPr indent="0" marL="0">
              <a:buNone/>
            </a:pPr>
            <a:r>
              <a:rPr lang="en-US" sz="2200" dirty="0">
                <a:solidFill>
                  <a:srgbClr val="FF6B35"/>
                </a:solidFill>
                <a:latin typeface="Arial Black" pitchFamily="34" charset="0"/>
                <a:ea typeface="Arial Black" pitchFamily="34" charset="-122"/>
                <a:cs typeface="Arial Black" pitchFamily="34" charset="-120"/>
              </a:rPr>
              <a:t>06</a:t>
            </a:r>
            <a:endParaRPr lang="en-US" sz="2200" dirty="0"/>
          </a:p>
        </p:txBody>
      </p:sp>
      <p:sp>
        <p:nvSpPr>
          <p:cNvPr id="26" name="Text 24"/>
          <p:cNvSpPr/>
          <p:nvPr/>
        </p:nvSpPr>
        <p:spPr>
          <a:xfrm>
            <a:off x="8258861" y="4169664"/>
            <a:ext cx="3283610"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CPPS</a:t>
            </a:r>
            <a:endParaRPr lang="en-US" sz="1100" dirty="0"/>
          </a:p>
        </p:txBody>
      </p:sp>
      <p:sp>
        <p:nvSpPr>
          <p:cNvPr id="27" name="Text 25"/>
          <p:cNvSpPr/>
          <p:nvPr/>
        </p:nvSpPr>
        <p:spPr>
          <a:xfrm>
            <a:off x="8258861" y="4535424"/>
            <a:ext cx="3283610"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Argumenten los 5 puntos del CPPS.</a:t>
            </a:r>
            <a:endParaRPr lang="en-US" sz="1000" dirty="0"/>
          </a:p>
        </p:txBody>
      </p:sp>
      <p:sp>
        <p:nvSpPr>
          <p:cNvPr id="28" name="Text 26"/>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9" name="Text 27"/>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30" name="Text 28"/>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38 / 47</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33  USTEDES</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PLANTILLA — COMPLETEN SU FICHA</a:t>
            </a:r>
            <a:endParaRPr lang="en-US" sz="33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Copien estas casillas y llénenlas para su empresa. Una tarjeta = un campo.</a:t>
            </a:r>
            <a:endParaRPr lang="en-US" sz="1250" dirty="0"/>
          </a:p>
        </p:txBody>
      </p:sp>
      <p:sp>
        <p:nvSpPr>
          <p:cNvPr id="5" name="Shape 3"/>
          <p:cNvSpPr/>
          <p:nvPr/>
        </p:nvSpPr>
        <p:spPr>
          <a:xfrm>
            <a:off x="502920" y="1920240"/>
            <a:ext cx="260444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2238680" cy="411480"/>
          </a:xfrm>
          <a:prstGeom prst="rect">
            <a:avLst/>
          </a:prstGeom>
          <a:noFill/>
          <a:ln/>
        </p:spPr>
        <p:txBody>
          <a:bodyPr wrap="square" lIns="0" tIns="0" rIns="0" bIns="0" rtlCol="0" anchor="t"/>
          <a:lstStyle/>
          <a:p>
            <a:pPr indent="0" marL="0">
              <a:buNone/>
            </a:pPr>
            <a:r>
              <a:rPr lang="en-US" sz="1600" dirty="0">
                <a:solidFill>
                  <a:srgbClr val="C6FF00"/>
                </a:solidFill>
                <a:latin typeface="Arial Black" pitchFamily="34" charset="0"/>
                <a:ea typeface="Arial Black" pitchFamily="34" charset="-122"/>
                <a:cs typeface="Arial Black" pitchFamily="34" charset="-120"/>
              </a:rPr>
              <a:t>IDENTIDAD</a:t>
            </a:r>
            <a:endParaRPr lang="en-US" sz="1600" dirty="0"/>
          </a:p>
        </p:txBody>
      </p:sp>
      <p:sp>
        <p:nvSpPr>
          <p:cNvPr id="7" name="Text 5"/>
          <p:cNvSpPr/>
          <p:nvPr/>
        </p:nvSpPr>
        <p:spPr>
          <a:xfrm>
            <a:off x="685800" y="2523744"/>
            <a:ext cx="223868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Nombre: ____  Sector: ____  Lugar: ____  Tamaño: ____</a:t>
            </a:r>
            <a:endParaRPr lang="en-US" sz="1100" dirty="0"/>
          </a:p>
        </p:txBody>
      </p:sp>
      <p:sp>
        <p:nvSpPr>
          <p:cNvPr id="8" name="Shape 6"/>
          <p:cNvSpPr/>
          <p:nvPr/>
        </p:nvSpPr>
        <p:spPr>
          <a:xfrm>
            <a:off x="3363392" y="1920240"/>
            <a:ext cx="260444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3546272" y="2066544"/>
            <a:ext cx="2238680" cy="411480"/>
          </a:xfrm>
          <a:prstGeom prst="rect">
            <a:avLst/>
          </a:prstGeom>
          <a:noFill/>
          <a:ln/>
        </p:spPr>
        <p:txBody>
          <a:bodyPr wrap="square" lIns="0" tIns="0" rIns="0" bIns="0" rtlCol="0" anchor="t"/>
          <a:lstStyle/>
          <a:p>
            <a:pPr indent="0" marL="0">
              <a:buNone/>
            </a:pPr>
            <a:r>
              <a:rPr lang="en-US" sz="1300" dirty="0">
                <a:solidFill>
                  <a:srgbClr val="FFB000"/>
                </a:solidFill>
                <a:latin typeface="Arial Black" pitchFamily="34" charset="0"/>
                <a:ea typeface="Arial Black" pitchFamily="34" charset="-122"/>
                <a:cs typeface="Arial Black" pitchFamily="34" charset="-120"/>
              </a:rPr>
              <a:t>ALCANCE (1 FRASE)</a:t>
            </a:r>
            <a:endParaRPr lang="en-US" sz="1300" dirty="0"/>
          </a:p>
        </p:txBody>
      </p:sp>
      <p:sp>
        <p:nvSpPr>
          <p:cNvPr id="10" name="Text 8"/>
          <p:cNvSpPr/>
          <p:nvPr/>
        </p:nvSpPr>
        <p:spPr>
          <a:xfrm>
            <a:off x="3546272" y="2523744"/>
            <a:ext cx="223868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«Nos enfocamos en ____ de la planta ____ de ____».</a:t>
            </a:r>
            <a:endParaRPr lang="en-US" sz="1100" dirty="0"/>
          </a:p>
        </p:txBody>
      </p:sp>
      <p:sp>
        <p:nvSpPr>
          <p:cNvPr id="11" name="Shape 9"/>
          <p:cNvSpPr/>
          <p:nvPr/>
        </p:nvSpPr>
        <p:spPr>
          <a:xfrm>
            <a:off x="6223864" y="1920240"/>
            <a:ext cx="260444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6406744" y="2066544"/>
            <a:ext cx="2238680" cy="411480"/>
          </a:xfrm>
          <a:prstGeom prst="rect">
            <a:avLst/>
          </a:prstGeom>
          <a:noFill/>
          <a:ln/>
        </p:spPr>
        <p:txBody>
          <a:bodyPr wrap="square" lIns="0" tIns="0" rIns="0" bIns="0" rtlCol="0" anchor="t"/>
          <a:lstStyle/>
          <a:p>
            <a:pPr indent="0" marL="0">
              <a:buNone/>
            </a:pPr>
            <a:r>
              <a:rPr lang="en-US" sz="1600" dirty="0">
                <a:solidFill>
                  <a:srgbClr val="22E06B"/>
                </a:solidFill>
                <a:latin typeface="Arial Black" pitchFamily="34" charset="0"/>
                <a:ea typeface="Arial Black" pitchFamily="34" charset="-122"/>
                <a:cs typeface="Arial Black" pitchFamily="34" charset="-120"/>
              </a:rPr>
              <a:t>PROCESO</a:t>
            </a:r>
            <a:endParaRPr lang="en-US" sz="1600" dirty="0"/>
          </a:p>
        </p:txBody>
      </p:sp>
      <p:sp>
        <p:nvSpPr>
          <p:cNvPr id="13" name="Text 11"/>
          <p:cNvSpPr/>
          <p:nvPr/>
        </p:nvSpPr>
        <p:spPr>
          <a:xfrm>
            <a:off x="6406744" y="2523744"/>
            <a:ext cx="223868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Paso 1 → 2 → 3 → 4 → 5 (nombren cada uno).</a:t>
            </a:r>
            <a:endParaRPr lang="en-US" sz="1100" dirty="0"/>
          </a:p>
        </p:txBody>
      </p:sp>
      <p:sp>
        <p:nvSpPr>
          <p:cNvPr id="14" name="Shape 12"/>
          <p:cNvSpPr/>
          <p:nvPr/>
        </p:nvSpPr>
        <p:spPr>
          <a:xfrm>
            <a:off x="9084335" y="1920240"/>
            <a:ext cx="260444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9267215" y="2066544"/>
            <a:ext cx="2238680" cy="411480"/>
          </a:xfrm>
          <a:prstGeom prst="rect">
            <a:avLst/>
          </a:prstGeom>
          <a:noFill/>
          <a:ln/>
        </p:spPr>
        <p:txBody>
          <a:bodyPr wrap="square" lIns="0" tIns="0" rIns="0" bIns="0" rtlCol="0" anchor="t"/>
          <a:lstStyle/>
          <a:p>
            <a:pPr indent="0" marL="0">
              <a:buNone/>
            </a:pPr>
            <a:r>
              <a:rPr lang="en-US" sz="1600" dirty="0">
                <a:solidFill>
                  <a:srgbClr val="9D6BFF"/>
                </a:solidFill>
                <a:latin typeface="Arial Black" pitchFamily="34" charset="0"/>
                <a:ea typeface="Arial Black" pitchFamily="34" charset="-122"/>
                <a:cs typeface="Arial Black" pitchFamily="34" charset="-120"/>
              </a:rPr>
              <a:t>ACTIVOS</a:t>
            </a:r>
            <a:endParaRPr lang="en-US" sz="1600" dirty="0"/>
          </a:p>
        </p:txBody>
      </p:sp>
      <p:sp>
        <p:nvSpPr>
          <p:cNvPr id="16" name="Text 14"/>
          <p:cNvSpPr/>
          <p:nvPr/>
        </p:nvSpPr>
        <p:spPr>
          <a:xfrm>
            <a:off x="9267215" y="2523744"/>
            <a:ext cx="223868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Máquinas: ____  Sensores: ____  Control: ____</a:t>
            </a:r>
            <a:endParaRPr lang="en-US" sz="1100" dirty="0"/>
          </a:p>
        </p:txBody>
      </p:sp>
      <p:sp>
        <p:nvSpPr>
          <p:cNvPr id="17" name="Shape 15"/>
          <p:cNvSpPr/>
          <p:nvPr/>
        </p:nvSpPr>
        <p:spPr>
          <a:xfrm>
            <a:off x="502920" y="3749040"/>
            <a:ext cx="260444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8" name="Text 16"/>
          <p:cNvSpPr/>
          <p:nvPr/>
        </p:nvSpPr>
        <p:spPr>
          <a:xfrm>
            <a:off x="685800" y="3895344"/>
            <a:ext cx="2238680" cy="411480"/>
          </a:xfrm>
          <a:prstGeom prst="rect">
            <a:avLst/>
          </a:prstGeom>
          <a:noFill/>
          <a:ln/>
        </p:spPr>
        <p:txBody>
          <a:bodyPr wrap="square" lIns="0" tIns="0" rIns="0" bIns="0" rtlCol="0" anchor="t"/>
          <a:lstStyle/>
          <a:p>
            <a:pPr indent="0" marL="0">
              <a:buNone/>
            </a:pPr>
            <a:r>
              <a:rPr lang="en-US" sz="1600" dirty="0">
                <a:solidFill>
                  <a:srgbClr val="27E5E5"/>
                </a:solidFill>
                <a:latin typeface="Arial Black" pitchFamily="34" charset="0"/>
                <a:ea typeface="Arial Black" pitchFamily="34" charset="-122"/>
                <a:cs typeface="Arial Black" pitchFamily="34" charset="-120"/>
              </a:rPr>
              <a:t>IT / OT</a:t>
            </a:r>
            <a:endParaRPr lang="en-US" sz="1600" dirty="0"/>
          </a:p>
        </p:txBody>
      </p:sp>
      <p:sp>
        <p:nvSpPr>
          <p:cNvPr id="19" name="Text 17"/>
          <p:cNvSpPr/>
          <p:nvPr/>
        </p:nvSpPr>
        <p:spPr>
          <a:xfrm>
            <a:off x="685800" y="4352544"/>
            <a:ext cx="223868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OT: ____  IT: ____  Brecha: ____</a:t>
            </a:r>
            <a:endParaRPr lang="en-US" sz="1100" dirty="0"/>
          </a:p>
        </p:txBody>
      </p:sp>
      <p:sp>
        <p:nvSpPr>
          <p:cNvPr id="20" name="Shape 18"/>
          <p:cNvSpPr/>
          <p:nvPr/>
        </p:nvSpPr>
        <p:spPr>
          <a:xfrm>
            <a:off x="3363392" y="3749040"/>
            <a:ext cx="260444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21" name="Text 19"/>
          <p:cNvSpPr/>
          <p:nvPr/>
        </p:nvSpPr>
        <p:spPr>
          <a:xfrm>
            <a:off x="3546272" y="3895344"/>
            <a:ext cx="2238680" cy="411480"/>
          </a:xfrm>
          <a:prstGeom prst="rect">
            <a:avLst/>
          </a:prstGeom>
          <a:noFill/>
          <a:ln/>
        </p:spPr>
        <p:txBody>
          <a:bodyPr wrap="square" lIns="0" tIns="0" rIns="0" bIns="0" rtlCol="0" anchor="t"/>
          <a:lstStyle/>
          <a:p>
            <a:pPr indent="0" marL="0">
              <a:buNone/>
            </a:pPr>
            <a:r>
              <a:rPr lang="en-US" sz="1600" dirty="0">
                <a:solidFill>
                  <a:srgbClr val="FF3B30"/>
                </a:solidFill>
                <a:latin typeface="Arial Black" pitchFamily="34" charset="0"/>
                <a:ea typeface="Arial Black" pitchFamily="34" charset="-122"/>
                <a:cs typeface="Arial Black" pitchFamily="34" charset="-120"/>
              </a:rPr>
              <a:t>DOLOR</a:t>
            </a:r>
            <a:endParaRPr lang="en-US" sz="1600" dirty="0"/>
          </a:p>
        </p:txBody>
      </p:sp>
      <p:sp>
        <p:nvSpPr>
          <p:cNvPr id="22" name="Text 20"/>
          <p:cNvSpPr/>
          <p:nvPr/>
        </p:nvSpPr>
        <p:spPr>
          <a:xfrm>
            <a:off x="3546272" y="4352544"/>
            <a:ext cx="223868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Problema principal: ____  Impacto: ____</a:t>
            </a:r>
            <a:endParaRPr lang="en-US" sz="1100" dirty="0"/>
          </a:p>
        </p:txBody>
      </p:sp>
      <p:sp>
        <p:nvSpPr>
          <p:cNvPr id="23" name="Shape 21"/>
          <p:cNvSpPr/>
          <p:nvPr/>
        </p:nvSpPr>
        <p:spPr>
          <a:xfrm>
            <a:off x="6223864" y="3749040"/>
            <a:ext cx="260444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24" name="Text 22"/>
          <p:cNvSpPr/>
          <p:nvPr/>
        </p:nvSpPr>
        <p:spPr>
          <a:xfrm>
            <a:off x="6406744" y="3895344"/>
            <a:ext cx="2238680" cy="411480"/>
          </a:xfrm>
          <a:prstGeom prst="rect">
            <a:avLst/>
          </a:prstGeom>
          <a:noFill/>
          <a:ln/>
        </p:spPr>
        <p:txBody>
          <a:bodyPr wrap="square" lIns="0" tIns="0" rIns="0" bIns="0" rtlCol="0" anchor="t"/>
          <a:lstStyle/>
          <a:p>
            <a:pPr indent="0" marL="0">
              <a:buNone/>
            </a:pPr>
            <a:r>
              <a:rPr lang="en-US" sz="1600" dirty="0">
                <a:solidFill>
                  <a:srgbClr val="FF6B35"/>
                </a:solidFill>
                <a:latin typeface="Arial Black" pitchFamily="34" charset="0"/>
                <a:ea typeface="Arial Black" pitchFamily="34" charset="-122"/>
                <a:cs typeface="Arial Black" pitchFamily="34" charset="-120"/>
              </a:rPr>
              <a:t>INTERESADOS</a:t>
            </a:r>
            <a:endParaRPr lang="en-US" sz="1600" dirty="0"/>
          </a:p>
        </p:txBody>
      </p:sp>
      <p:sp>
        <p:nvSpPr>
          <p:cNvPr id="25" name="Text 23"/>
          <p:cNvSpPr/>
          <p:nvPr/>
        </p:nvSpPr>
        <p:spPr>
          <a:xfrm>
            <a:off x="6406744" y="4352544"/>
            <a:ext cx="223868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Quién decide: ____  A quién le importa: ____</a:t>
            </a:r>
            <a:endParaRPr lang="en-US" sz="1100" dirty="0"/>
          </a:p>
        </p:txBody>
      </p:sp>
      <p:sp>
        <p:nvSpPr>
          <p:cNvPr id="26" name="Shape 24"/>
          <p:cNvSpPr/>
          <p:nvPr/>
        </p:nvSpPr>
        <p:spPr>
          <a:xfrm>
            <a:off x="9084335" y="3749040"/>
            <a:ext cx="260444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27" name="Text 25"/>
          <p:cNvSpPr/>
          <p:nvPr/>
        </p:nvSpPr>
        <p:spPr>
          <a:xfrm>
            <a:off x="9267215" y="3895344"/>
            <a:ext cx="2238680" cy="411480"/>
          </a:xfrm>
          <a:prstGeom prst="rect">
            <a:avLst/>
          </a:prstGeom>
          <a:noFill/>
          <a:ln/>
        </p:spPr>
        <p:txBody>
          <a:bodyPr wrap="square" lIns="0" tIns="0" rIns="0" bIns="0" rtlCol="0" anchor="t"/>
          <a:lstStyle/>
          <a:p>
            <a:pPr indent="0" marL="0">
              <a:buNone/>
            </a:pPr>
            <a:r>
              <a:rPr lang="en-US" sz="1600" dirty="0">
                <a:solidFill>
                  <a:srgbClr val="C6FF00"/>
                </a:solidFill>
                <a:latin typeface="Arial Black" pitchFamily="34" charset="0"/>
                <a:ea typeface="Arial Black" pitchFamily="34" charset="-122"/>
                <a:cs typeface="Arial Black" pitchFamily="34" charset="-120"/>
              </a:rPr>
              <a:t>IN / OUT</a:t>
            </a:r>
            <a:endParaRPr lang="en-US" sz="1600" dirty="0"/>
          </a:p>
        </p:txBody>
      </p:sp>
      <p:sp>
        <p:nvSpPr>
          <p:cNvPr id="28" name="Text 26"/>
          <p:cNvSpPr/>
          <p:nvPr/>
        </p:nvSpPr>
        <p:spPr>
          <a:xfrm>
            <a:off x="9267215" y="4352544"/>
            <a:ext cx="223868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Dentro: ____  Fuera: ____</a:t>
            </a:r>
            <a:endParaRPr lang="en-US" sz="1100" dirty="0"/>
          </a:p>
        </p:txBody>
      </p:sp>
      <p:sp>
        <p:nvSpPr>
          <p:cNvPr id="29" name="Text 2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30" name="Text 2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31" name="Text 2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39 / 47</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34  USTEDES</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ERRORES FRECUENTES AL ACOTAR</a:t>
            </a:r>
            <a:endParaRPr lang="en-US" sz="33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Lo que hunde el proyecto desde el día uno.</a:t>
            </a:r>
            <a:endParaRPr lang="en-US" sz="1250" dirty="0"/>
          </a:p>
        </p:txBody>
      </p:sp>
      <p:sp>
        <p:nvSpPr>
          <p:cNvPr id="5" name="Shape 3"/>
          <p:cNvSpPr/>
          <p:nvPr/>
        </p:nvSpPr>
        <p:spPr>
          <a:xfrm>
            <a:off x="502920"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5099152" cy="411480"/>
          </a:xfrm>
          <a:prstGeom prst="rect">
            <a:avLst/>
          </a:prstGeom>
          <a:noFill/>
          <a:ln/>
        </p:spPr>
        <p:txBody>
          <a:bodyPr wrap="square" lIns="0" tIns="0" rIns="0" bIns="0" rtlCol="0" anchor="t"/>
          <a:lstStyle/>
          <a:p>
            <a:pPr indent="0" marL="0">
              <a:buNone/>
            </a:pPr>
            <a:r>
              <a:rPr lang="en-US" sz="1600" dirty="0">
                <a:solidFill>
                  <a:srgbClr val="FF3B30"/>
                </a:solidFill>
                <a:latin typeface="Arial Black" pitchFamily="34" charset="0"/>
                <a:ea typeface="Arial Black" pitchFamily="34" charset="-122"/>
                <a:cs typeface="Arial Black" pitchFamily="34" charset="-120"/>
              </a:rPr>
              <a:t>ALCANCE ENORME</a:t>
            </a:r>
            <a:endParaRPr lang="en-US" sz="1600" dirty="0"/>
          </a:p>
        </p:txBody>
      </p:sp>
      <p:sp>
        <p:nvSpPr>
          <p:cNvPr id="7" name="Text 5"/>
          <p:cNvSpPr/>
          <p:nvPr/>
        </p:nvSpPr>
        <p:spPr>
          <a:xfrm>
            <a:off x="685800"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'Toda la empresa': imposible de trabajar a fondo. → Bajen en el embudo.</a:t>
            </a:r>
            <a:endParaRPr lang="en-US" sz="1100" dirty="0"/>
          </a:p>
        </p:txBody>
      </p:sp>
      <p:sp>
        <p:nvSpPr>
          <p:cNvPr id="8" name="Shape 6"/>
          <p:cNvSpPr/>
          <p:nvPr/>
        </p:nvSpPr>
        <p:spPr>
          <a:xfrm>
            <a:off x="6223864"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6406744" y="2066544"/>
            <a:ext cx="5099152" cy="411480"/>
          </a:xfrm>
          <a:prstGeom prst="rect">
            <a:avLst/>
          </a:prstGeom>
          <a:noFill/>
          <a:ln/>
        </p:spPr>
        <p:txBody>
          <a:bodyPr wrap="square" lIns="0" tIns="0" rIns="0" bIns="0" rtlCol="0" anchor="t"/>
          <a:lstStyle/>
          <a:p>
            <a:pPr indent="0" marL="0">
              <a:buNone/>
            </a:pPr>
            <a:r>
              <a:rPr lang="en-US" sz="1600" dirty="0">
                <a:solidFill>
                  <a:srgbClr val="FFB000"/>
                </a:solidFill>
                <a:latin typeface="Arial Black" pitchFamily="34" charset="0"/>
                <a:ea typeface="Arial Black" pitchFamily="34" charset="-122"/>
                <a:cs typeface="Arial Black" pitchFamily="34" charset="-120"/>
              </a:rPr>
              <a:t>SIN DOLOR</a:t>
            </a:r>
            <a:endParaRPr lang="en-US" sz="1600" dirty="0"/>
          </a:p>
        </p:txBody>
      </p:sp>
      <p:sp>
        <p:nvSpPr>
          <p:cNvPr id="10" name="Text 8"/>
          <p:cNvSpPr/>
          <p:nvPr/>
        </p:nvSpPr>
        <p:spPr>
          <a:xfrm>
            <a:off x="6406744"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Una empresa 'perfecta' sin problema. → Sin dolor no hay proyecto.</a:t>
            </a:r>
            <a:endParaRPr lang="en-US" sz="1100" dirty="0"/>
          </a:p>
        </p:txBody>
      </p:sp>
      <p:sp>
        <p:nvSpPr>
          <p:cNvPr id="11" name="Shape 9"/>
          <p:cNvSpPr/>
          <p:nvPr/>
        </p:nvSpPr>
        <p:spPr>
          <a:xfrm>
            <a:off x="502920"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685800" y="3895344"/>
            <a:ext cx="5099152" cy="411480"/>
          </a:xfrm>
          <a:prstGeom prst="rect">
            <a:avLst/>
          </a:prstGeom>
          <a:noFill/>
          <a:ln/>
        </p:spPr>
        <p:txBody>
          <a:bodyPr wrap="square" lIns="0" tIns="0" rIns="0" bIns="0" rtlCol="0" anchor="t"/>
          <a:lstStyle/>
          <a:p>
            <a:pPr indent="0" marL="0">
              <a:buNone/>
            </a:pPr>
            <a:r>
              <a:rPr lang="en-US" sz="1600" dirty="0">
                <a:solidFill>
                  <a:srgbClr val="9D6BFF"/>
                </a:solidFill>
                <a:latin typeface="Arial Black" pitchFamily="34" charset="0"/>
                <a:ea typeface="Arial Black" pitchFamily="34" charset="-122"/>
                <a:cs typeface="Arial Black" pitchFamily="34" charset="-120"/>
              </a:rPr>
              <a:t>SIN OT</a:t>
            </a:r>
            <a:endParaRPr lang="en-US" sz="1600" dirty="0"/>
          </a:p>
        </p:txBody>
      </p:sp>
      <p:sp>
        <p:nvSpPr>
          <p:cNvPr id="13" name="Text 11"/>
          <p:cNvSpPr/>
          <p:nvPr/>
        </p:nvSpPr>
        <p:spPr>
          <a:xfrm>
            <a:off x="685800"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Un negocio sin proceso físico (una tienda, una app). → No es un CPPS.</a:t>
            </a:r>
            <a:endParaRPr lang="en-US" sz="1100" dirty="0"/>
          </a:p>
        </p:txBody>
      </p:sp>
      <p:sp>
        <p:nvSpPr>
          <p:cNvPr id="14" name="Shape 12"/>
          <p:cNvSpPr/>
          <p:nvPr/>
        </p:nvSpPr>
        <p:spPr>
          <a:xfrm>
            <a:off x="6223864"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6406744" y="3895344"/>
            <a:ext cx="5099152" cy="411480"/>
          </a:xfrm>
          <a:prstGeom prst="rect">
            <a:avLst/>
          </a:prstGeom>
          <a:noFill/>
          <a:ln/>
        </p:spPr>
        <p:txBody>
          <a:bodyPr wrap="square" lIns="0" tIns="0" rIns="0" bIns="0" rtlCol="0" anchor="t"/>
          <a:lstStyle/>
          <a:p>
            <a:pPr indent="0" marL="0">
              <a:buNone/>
            </a:pPr>
            <a:r>
              <a:rPr lang="en-US" sz="1600" dirty="0">
                <a:solidFill>
                  <a:srgbClr val="27E5E5"/>
                </a:solidFill>
                <a:latin typeface="Arial Black" pitchFamily="34" charset="0"/>
                <a:ea typeface="Arial Black" pitchFamily="34" charset="-122"/>
                <a:cs typeface="Arial Black" pitchFamily="34" charset="-120"/>
              </a:rPr>
              <a:t>INVEROSÍMIL</a:t>
            </a:r>
            <a:endParaRPr lang="en-US" sz="1600" dirty="0"/>
          </a:p>
        </p:txBody>
      </p:sp>
      <p:sp>
        <p:nvSpPr>
          <p:cNvPr id="16" name="Text 14"/>
          <p:cNvSpPr/>
          <p:nvPr/>
        </p:nvSpPr>
        <p:spPr>
          <a:xfrm>
            <a:off x="6406744"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Datos o tecnología imposibles. → Realismo ante todo.</a:t>
            </a:r>
            <a:endParaRPr lang="en-US" sz="1100" dirty="0"/>
          </a:p>
        </p:txBody>
      </p:sp>
      <p:sp>
        <p:nvSpPr>
          <p:cNvPr id="17" name="Text 1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8" name="Text 1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19" name="Text 1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40 / 47</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35  USTEDES</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CHECKLIST — ¿ESTÁ BIEN ACOTADO?</a:t>
            </a:r>
            <a:endParaRPr lang="en-US" sz="3300" dirty="0"/>
          </a:p>
        </p:txBody>
      </p:sp>
      <p:sp>
        <p:nvSpPr>
          <p:cNvPr id="4" name="Shape 2"/>
          <p:cNvSpPr/>
          <p:nvPr/>
        </p:nvSpPr>
        <p:spPr>
          <a:xfrm>
            <a:off x="502920" y="1783080"/>
            <a:ext cx="11185855" cy="780898"/>
          </a:xfrm>
          <a:prstGeom prst="roundRect">
            <a:avLst>
              <a:gd name="adj" fmla="val 5855"/>
            </a:avLst>
          </a:prstGeom>
          <a:solidFill>
            <a:srgbClr val="151515"/>
          </a:solidFill>
          <a:ln w="12700">
            <a:solidFill>
              <a:srgbClr val="333333"/>
            </a:solidFill>
            <a:prstDash val="solid"/>
          </a:ln>
        </p:spPr>
      </p:sp>
      <p:sp>
        <p:nvSpPr>
          <p:cNvPr id="5" name="Text 3"/>
          <p:cNvSpPr/>
          <p:nvPr/>
        </p:nvSpPr>
        <p:spPr>
          <a:xfrm>
            <a:off x="731520" y="1783080"/>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CABE EN UNA FRASE</a:t>
            </a:r>
            <a:endParaRPr lang="en-US" sz="1200" dirty="0"/>
          </a:p>
        </p:txBody>
      </p:sp>
      <p:sp>
        <p:nvSpPr>
          <p:cNvPr id="6" name="Text 4"/>
          <p:cNvSpPr/>
          <p:nvPr/>
        </p:nvSpPr>
        <p:spPr>
          <a:xfrm>
            <a:off x="4251960" y="1783080"/>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Pueden describir el alcance en una sola oración.</a:t>
            </a:r>
            <a:endParaRPr lang="en-US" sz="1250" dirty="0"/>
          </a:p>
        </p:txBody>
      </p:sp>
      <p:sp>
        <p:nvSpPr>
          <p:cNvPr id="7" name="Shape 5"/>
          <p:cNvSpPr/>
          <p:nvPr/>
        </p:nvSpPr>
        <p:spPr>
          <a:xfrm>
            <a:off x="502920" y="2710282"/>
            <a:ext cx="11185855" cy="780898"/>
          </a:xfrm>
          <a:prstGeom prst="roundRect">
            <a:avLst>
              <a:gd name="adj" fmla="val 5855"/>
            </a:avLst>
          </a:prstGeom>
          <a:solidFill>
            <a:srgbClr val="151515"/>
          </a:solidFill>
          <a:ln w="12700">
            <a:solidFill>
              <a:srgbClr val="333333"/>
            </a:solidFill>
            <a:prstDash val="solid"/>
          </a:ln>
        </p:spPr>
      </p:sp>
      <p:sp>
        <p:nvSpPr>
          <p:cNvPr id="8" name="Text 6"/>
          <p:cNvSpPr/>
          <p:nvPr/>
        </p:nvSpPr>
        <p:spPr>
          <a:xfrm>
            <a:off x="731520" y="2710282"/>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ES UN PROCESO, NO TODO</a:t>
            </a:r>
            <a:endParaRPr lang="en-US" sz="1200" dirty="0"/>
          </a:p>
        </p:txBody>
      </p:sp>
      <p:sp>
        <p:nvSpPr>
          <p:cNvPr id="9" name="Text 7"/>
          <p:cNvSpPr/>
          <p:nvPr/>
        </p:nvSpPr>
        <p:spPr>
          <a:xfrm>
            <a:off x="4251960" y="2710282"/>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El foco es una línea o proceso, no un área ni la empresa.</a:t>
            </a:r>
            <a:endParaRPr lang="en-US" sz="1250" dirty="0"/>
          </a:p>
        </p:txBody>
      </p:sp>
      <p:sp>
        <p:nvSpPr>
          <p:cNvPr id="10" name="Shape 8"/>
          <p:cNvSpPr/>
          <p:nvPr/>
        </p:nvSpPr>
        <p:spPr>
          <a:xfrm>
            <a:off x="502920" y="3637483"/>
            <a:ext cx="11185855" cy="780898"/>
          </a:xfrm>
          <a:prstGeom prst="roundRect">
            <a:avLst>
              <a:gd name="adj" fmla="val 5855"/>
            </a:avLst>
          </a:prstGeom>
          <a:solidFill>
            <a:srgbClr val="151515"/>
          </a:solidFill>
          <a:ln w="12700">
            <a:solidFill>
              <a:srgbClr val="333333"/>
            </a:solidFill>
            <a:prstDash val="solid"/>
          </a:ln>
        </p:spPr>
      </p:sp>
      <p:sp>
        <p:nvSpPr>
          <p:cNvPr id="11" name="Text 9"/>
          <p:cNvSpPr/>
          <p:nvPr/>
        </p:nvSpPr>
        <p:spPr>
          <a:xfrm>
            <a:off x="731520" y="3637483"/>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TIENE DOLOR</a:t>
            </a:r>
            <a:endParaRPr lang="en-US" sz="1200" dirty="0"/>
          </a:p>
        </p:txBody>
      </p:sp>
      <p:sp>
        <p:nvSpPr>
          <p:cNvPr id="12" name="Text 10"/>
          <p:cNvSpPr/>
          <p:nvPr/>
        </p:nvSpPr>
        <p:spPr>
          <a:xfrm>
            <a:off x="4251960" y="3637483"/>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Hay un problema de negocio concreto que lo justifica.</a:t>
            </a:r>
            <a:endParaRPr lang="en-US" sz="1250" dirty="0"/>
          </a:p>
        </p:txBody>
      </p:sp>
      <p:sp>
        <p:nvSpPr>
          <p:cNvPr id="13" name="Shape 11"/>
          <p:cNvSpPr/>
          <p:nvPr/>
        </p:nvSpPr>
        <p:spPr>
          <a:xfrm>
            <a:off x="502920" y="4564685"/>
            <a:ext cx="11185855" cy="780898"/>
          </a:xfrm>
          <a:prstGeom prst="roundRect">
            <a:avLst>
              <a:gd name="adj" fmla="val 5855"/>
            </a:avLst>
          </a:prstGeom>
          <a:solidFill>
            <a:srgbClr val="151515"/>
          </a:solidFill>
          <a:ln w="12700">
            <a:solidFill>
              <a:srgbClr val="333333"/>
            </a:solidFill>
            <a:prstDash val="solid"/>
          </a:ln>
        </p:spPr>
      </p:sp>
      <p:sp>
        <p:nvSpPr>
          <p:cNvPr id="14" name="Text 12"/>
          <p:cNvSpPr/>
          <p:nvPr/>
        </p:nvSpPr>
        <p:spPr>
          <a:xfrm>
            <a:off x="731520" y="4564685"/>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TIENE OT</a:t>
            </a:r>
            <a:endParaRPr lang="en-US" sz="1200" dirty="0"/>
          </a:p>
        </p:txBody>
      </p:sp>
      <p:sp>
        <p:nvSpPr>
          <p:cNvPr id="15" name="Text 13"/>
          <p:cNvSpPr/>
          <p:nvPr/>
        </p:nvSpPr>
        <p:spPr>
          <a:xfrm>
            <a:off x="4251960" y="4564685"/>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Hay proceso físico con sensores/controladores.</a:t>
            </a:r>
            <a:endParaRPr lang="en-US" sz="1250" dirty="0"/>
          </a:p>
        </p:txBody>
      </p:sp>
      <p:sp>
        <p:nvSpPr>
          <p:cNvPr id="16" name="Shape 14"/>
          <p:cNvSpPr/>
          <p:nvPr/>
        </p:nvSpPr>
        <p:spPr>
          <a:xfrm>
            <a:off x="502920" y="5491886"/>
            <a:ext cx="11185855" cy="780898"/>
          </a:xfrm>
          <a:prstGeom prst="roundRect">
            <a:avLst>
              <a:gd name="adj" fmla="val 5855"/>
            </a:avLst>
          </a:prstGeom>
          <a:solidFill>
            <a:srgbClr val="151515"/>
          </a:solidFill>
          <a:ln w="12700">
            <a:solidFill>
              <a:srgbClr val="333333"/>
            </a:solidFill>
            <a:prstDash val="solid"/>
          </a:ln>
        </p:spPr>
      </p:sp>
      <p:sp>
        <p:nvSpPr>
          <p:cNvPr id="17" name="Text 15"/>
          <p:cNvSpPr/>
          <p:nvPr/>
        </p:nvSpPr>
        <p:spPr>
          <a:xfrm>
            <a:off x="731520" y="5491886"/>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TIENE IN/OUT</a:t>
            </a:r>
            <a:endParaRPr lang="en-US" sz="1200" dirty="0"/>
          </a:p>
        </p:txBody>
      </p:sp>
      <p:sp>
        <p:nvSpPr>
          <p:cNvPr id="18" name="Text 16"/>
          <p:cNvSpPr/>
          <p:nvPr/>
        </p:nvSpPr>
        <p:spPr>
          <a:xfrm>
            <a:off x="4251960" y="5491886"/>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Está escrito qué queda dentro y qué queda fuera.</a:t>
            </a:r>
            <a:endParaRPr lang="en-US" sz="1250" dirty="0"/>
          </a:p>
        </p:txBody>
      </p:sp>
      <p:sp>
        <p:nvSpPr>
          <p:cNvPr id="19" name="Text 1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0" name="Text 1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21" name="Text 1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41 / 47</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01010"/>
        </a:solidFill>
      </p:bgPr>
    </p:bg>
    <p:spTree>
      <p:nvGrpSpPr>
        <p:cNvPr id="1" name=""/>
        <p:cNvGrpSpPr/>
        <p:nvPr/>
      </p:nvGrpSpPr>
      <p:grpSpPr>
        <a:xfrm>
          <a:off x="0" y="0"/>
          <a:ext cx="0" cy="0"/>
          <a:chOff x="0" y="0"/>
          <a:chExt cx="0" cy="0"/>
        </a:xfrm>
      </p:grpSpPr>
      <p:sp>
        <p:nvSpPr>
          <p:cNvPr id="2" name="Text 0"/>
          <p:cNvSpPr/>
          <p:nvPr/>
        </p:nvSpPr>
        <p:spPr>
          <a:xfrm>
            <a:off x="5029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C6FF00"/>
                </a:solidFill>
                <a:latin typeface="Courier New" pitchFamily="34" charset="0"/>
                <a:ea typeface="Courier New" pitchFamily="34" charset="-122"/>
                <a:cs typeface="Courier New" pitchFamily="34" charset="-120"/>
              </a:rPr>
              <a:t>SECCIÓN</a:t>
            </a:r>
            <a:endParaRPr lang="en-US" sz="1400" dirty="0"/>
          </a:p>
        </p:txBody>
      </p:sp>
      <p:sp>
        <p:nvSpPr>
          <p:cNvPr id="3" name="Text 1"/>
          <p:cNvSpPr/>
          <p:nvPr/>
        </p:nvSpPr>
        <p:spPr>
          <a:xfrm>
            <a:off x="7848295" y="1097280"/>
            <a:ext cx="3840480" cy="3840480"/>
          </a:xfrm>
          <a:prstGeom prst="rect">
            <a:avLst/>
          </a:prstGeom>
          <a:noFill/>
          <a:ln/>
        </p:spPr>
        <p:txBody>
          <a:bodyPr wrap="square" lIns="0" tIns="0" rIns="0" bIns="0" rtlCol="0" anchor="ctr"/>
          <a:lstStyle/>
          <a:p>
            <a:pPr algn="r" indent="0" marL="0">
              <a:buNone/>
            </a:pPr>
            <a:r>
              <a:rPr lang="en-US" sz="20000" dirty="0">
                <a:solidFill>
                  <a:srgbClr val="151515"/>
                </a:solidFill>
                <a:latin typeface="Arial Black" pitchFamily="34" charset="0"/>
                <a:ea typeface="Arial Black" pitchFamily="34" charset="-122"/>
                <a:cs typeface="Arial Black" pitchFamily="34" charset="-120"/>
              </a:rPr>
              <a:t>06</a:t>
            </a:r>
            <a:endParaRPr lang="en-US" sz="20000" dirty="0"/>
          </a:p>
        </p:txBody>
      </p:sp>
      <p:sp>
        <p:nvSpPr>
          <p:cNvPr id="4" name="Text 2"/>
          <p:cNvSpPr/>
          <p:nvPr/>
        </p:nvSpPr>
        <p:spPr>
          <a:xfrm>
            <a:off x="502920" y="2423160"/>
            <a:ext cx="10271455" cy="1737360"/>
          </a:xfrm>
          <a:prstGeom prst="rect">
            <a:avLst/>
          </a:prstGeom>
          <a:noFill/>
          <a:ln/>
        </p:spPr>
        <p:txBody>
          <a:bodyPr wrap="square" lIns="0" tIns="0" rIns="0" bIns="0" rtlCol="0" anchor="t"/>
          <a:lstStyle/>
          <a:p>
            <a:pPr indent="0" marL="0">
              <a:lnSpc>
                <a:spcPct val="96000"/>
              </a:lnSpc>
              <a:buNone/>
            </a:pPr>
            <a:r>
              <a:rPr lang="en-US" sz="4000" dirty="0">
                <a:solidFill>
                  <a:srgbClr val="F4F4F4"/>
                </a:solidFill>
                <a:latin typeface="Arial Black" pitchFamily="34" charset="0"/>
                <a:ea typeface="Arial Black" pitchFamily="34" charset="-122"/>
                <a:cs typeface="Arial Black" pitchFamily="34" charset="-120"/>
              </a:rPr>
              <a:t>ENTREGABLE Y CIERRE</a:t>
            </a:r>
            <a:endParaRPr lang="en-US" sz="4000" dirty="0"/>
          </a:p>
        </p:txBody>
      </p:sp>
      <p:sp>
        <p:nvSpPr>
          <p:cNvPr id="5" name="Text 3"/>
          <p:cNvSpPr/>
          <p:nvPr/>
        </p:nvSpPr>
        <p:spPr>
          <a:xfrm>
            <a:off x="502920" y="4343400"/>
            <a:ext cx="11185855" cy="548640"/>
          </a:xfrm>
          <a:prstGeom prst="rect">
            <a:avLst/>
          </a:prstGeom>
          <a:noFill/>
          <a:ln/>
        </p:spPr>
        <p:txBody>
          <a:bodyPr wrap="square" lIns="0" tIns="0" rIns="0" bIns="0" rtlCol="0" anchor="t"/>
          <a:lstStyle/>
          <a:p>
            <a:pPr indent="0" marL="0">
              <a:buNone/>
            </a:pPr>
            <a:r>
              <a:rPr lang="en-US" sz="1300" b="1" dirty="0">
                <a:solidFill>
                  <a:srgbClr val="C6FF00"/>
                </a:solidFill>
                <a:latin typeface="Courier New" pitchFamily="34" charset="0"/>
                <a:ea typeface="Courier New" pitchFamily="34" charset="-122"/>
                <a:cs typeface="Courier New" pitchFamily="34" charset="-120"/>
              </a:rPr>
              <a:t>&gt; </a:t>
            </a:r>
            <a:pPr indent="0" marL="0">
              <a:buNone/>
            </a:pPr>
            <a:r>
              <a:rPr lang="en-US" sz="1300" dirty="0">
                <a:solidFill>
                  <a:srgbClr val="8C8C8C"/>
                </a:solidFill>
                <a:latin typeface="Courier New" pitchFamily="34" charset="0"/>
                <a:ea typeface="Courier New" pitchFamily="34" charset="-122"/>
                <a:cs typeface="Courier New" pitchFamily="34" charset="-120"/>
              </a:rPr>
              <a:t>Qué entregar y cómo se evalúa</a:t>
            </a:r>
            <a:endParaRPr lang="en-US" sz="1300" dirty="0"/>
          </a:p>
        </p:txBody>
      </p:sp>
      <p:sp>
        <p:nvSpPr>
          <p:cNvPr id="6" name="Text 4"/>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7" name="Text 5"/>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8" name="Text 6"/>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42 / 47</a:t>
            </a:r>
            <a:endParaRPr lang="en-US" sz="800" dirty="0"/>
          </a:p>
        </p:txBody>
      </p:sp>
      <p:sp>
        <p:nvSpPr>
          <p:cNvPr id="9" name="Text 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0" name="Text 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11" name="Text 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42 / 47</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36  CIERRE</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EL ENTREGABLE</a:t>
            </a:r>
            <a:endParaRPr lang="en-US" sz="3300" dirty="0"/>
          </a:p>
        </p:txBody>
      </p:sp>
      <p:sp>
        <p:nvSpPr>
          <p:cNvPr id="4" name="Shape 2"/>
          <p:cNvSpPr/>
          <p:nvPr/>
        </p:nvSpPr>
        <p:spPr>
          <a:xfrm>
            <a:off x="502920" y="1783080"/>
            <a:ext cx="11185855" cy="1280160"/>
          </a:xfrm>
          <a:prstGeom prst="roundRect">
            <a:avLst>
              <a:gd name="adj" fmla="val 4286"/>
            </a:avLst>
          </a:prstGeom>
          <a:solidFill>
            <a:srgbClr val="1E1E1E"/>
          </a:solidFill>
          <a:ln w="12700">
            <a:solidFill>
              <a:srgbClr val="333333"/>
            </a:solidFill>
            <a:prstDash val="solid"/>
          </a:ln>
        </p:spPr>
      </p:sp>
      <p:sp>
        <p:nvSpPr>
          <p:cNvPr id="5" name="Text 3"/>
          <p:cNvSpPr/>
          <p:nvPr/>
        </p:nvSpPr>
        <p:spPr>
          <a:xfrm>
            <a:off x="731520" y="1965960"/>
            <a:ext cx="2743200" cy="365760"/>
          </a:xfrm>
          <a:prstGeom prst="rect">
            <a:avLst/>
          </a:prstGeom>
          <a:noFill/>
          <a:ln/>
        </p:spPr>
        <p:txBody>
          <a:bodyPr wrap="square" lIns="0" tIns="0" rIns="0" bIns="0" rtlCol="0" anchor="t"/>
          <a:lstStyle/>
          <a:p>
            <a:pPr indent="0" marL="0">
              <a:buNone/>
            </a:pPr>
            <a:r>
              <a:rPr lang="en-US" sz="1200" b="1" dirty="0">
                <a:solidFill>
                  <a:srgbClr val="C6FF00"/>
                </a:solidFill>
                <a:latin typeface="Courier New" pitchFamily="34" charset="0"/>
                <a:ea typeface="Courier New" pitchFamily="34" charset="-122"/>
                <a:cs typeface="Courier New" pitchFamily="34" charset="-120"/>
              </a:rPr>
              <a:t>SEGUIMIENTO</a:t>
            </a:r>
            <a:endParaRPr lang="en-US" sz="1200" dirty="0"/>
          </a:p>
        </p:txBody>
      </p:sp>
      <p:sp>
        <p:nvSpPr>
          <p:cNvPr id="6" name="Text 4"/>
          <p:cNvSpPr/>
          <p:nvPr/>
        </p:nvSpPr>
        <p:spPr>
          <a:xfrm>
            <a:off x="731520" y="2286000"/>
            <a:ext cx="10728655" cy="731520"/>
          </a:xfrm>
          <a:prstGeom prst="rect">
            <a:avLst/>
          </a:prstGeom>
          <a:noFill/>
          <a:ln/>
        </p:spPr>
        <p:txBody>
          <a:bodyPr wrap="square" lIns="0" tIns="0" rIns="0" bIns="0" rtlCol="0" anchor="t"/>
          <a:lstStyle/>
          <a:p>
            <a:pPr indent="0" marL="0">
              <a:buNone/>
            </a:pPr>
            <a:r>
              <a:rPr lang="en-US" sz="2600" dirty="0">
                <a:solidFill>
                  <a:srgbClr val="F4F4F4"/>
                </a:solidFill>
                <a:latin typeface="Arial Black" pitchFamily="34" charset="0"/>
                <a:ea typeface="Arial Black" pitchFamily="34" charset="-122"/>
                <a:cs typeface="Arial Black" pitchFamily="34" charset="-120"/>
              </a:rPr>
              <a:t>LA FICHA DE TU EMPRESA (2–3 PÁGINAS)</a:t>
            </a:r>
            <a:endParaRPr lang="en-US" sz="2600" dirty="0"/>
          </a:p>
        </p:txBody>
      </p:sp>
      <p:sp>
        <p:nvSpPr>
          <p:cNvPr id="7" name="Text 5"/>
          <p:cNvSpPr/>
          <p:nvPr/>
        </p:nvSpPr>
        <p:spPr>
          <a:xfrm>
            <a:off x="502920" y="329184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QUÉ SE HACE</a:t>
            </a:r>
            <a:endParaRPr lang="en-US" sz="1100" dirty="0"/>
          </a:p>
        </p:txBody>
      </p:sp>
      <p:sp>
        <p:nvSpPr>
          <p:cNvPr id="8" name="Text 6"/>
          <p:cNvSpPr/>
          <p:nvPr/>
        </p:nvSpPr>
        <p:spPr>
          <a:xfrm>
            <a:off x="502920" y="3657600"/>
            <a:ext cx="11185855" cy="1280160"/>
          </a:xfrm>
          <a:prstGeom prst="rect">
            <a:avLst/>
          </a:prstGeom>
          <a:noFill/>
          <a:ln/>
        </p:spPr>
        <p:txBody>
          <a:bodyPr wrap="square" lIns="0" tIns="0" rIns="0" bIns="0" rtlCol="0" anchor="t"/>
          <a:lstStyle/>
          <a:p>
            <a:pPr indent="0" marL="0">
              <a:lnSpc>
                <a:spcPct val="112000"/>
              </a:lnSpc>
              <a:buNone/>
            </a:pPr>
            <a:r>
              <a:rPr lang="en-US" sz="1300" dirty="0">
                <a:solidFill>
                  <a:srgbClr val="F4F4F4"/>
                </a:solidFill>
                <a:latin typeface="Arial" pitchFamily="34" charset="0"/>
                <a:ea typeface="Arial" pitchFamily="34" charset="-122"/>
                <a:cs typeface="Arial" pitchFamily="34" charset="-120"/>
              </a:rPr>
              <a:t>Documento breve con: (a) identidad de la empresa, (b) la frase de alcance + tabla dentro/fuera, (c) el proceso foco paso a paso, (d) activos y tecnología (IT/OT), (e) el dolor de negocio, (f) partes interesadas, (g) el argumento de por qué es un CPPS. Modelo: la ficha de La Pradera que acabamos de construir. Se revisa al inicio de la S02.</a:t>
            </a:r>
            <a:endParaRPr lang="en-US" sz="1300" dirty="0"/>
          </a:p>
        </p:txBody>
      </p:sp>
      <p:sp>
        <p:nvSpPr>
          <p:cNvPr id="9" name="Shape 7"/>
          <p:cNvSpPr/>
          <p:nvPr/>
        </p:nvSpPr>
        <p:spPr>
          <a:xfrm>
            <a:off x="502920" y="5358384"/>
            <a:ext cx="5364328" cy="914400"/>
          </a:xfrm>
          <a:prstGeom prst="roundRect">
            <a:avLst>
              <a:gd name="adj" fmla="val 5000"/>
            </a:avLst>
          </a:prstGeom>
          <a:solidFill>
            <a:srgbClr val="151515"/>
          </a:solidFill>
          <a:ln w="12700">
            <a:solidFill>
              <a:srgbClr val="333333"/>
            </a:solidFill>
            <a:prstDash val="solid"/>
          </a:ln>
        </p:spPr>
      </p:sp>
      <p:sp>
        <p:nvSpPr>
          <p:cNvPr id="10" name="Text 8"/>
          <p:cNvSpPr/>
          <p:nvPr/>
        </p:nvSpPr>
        <p:spPr>
          <a:xfrm>
            <a:off x="685800" y="5486400"/>
            <a:ext cx="4998568" cy="320040"/>
          </a:xfrm>
          <a:prstGeom prst="rect">
            <a:avLst/>
          </a:prstGeom>
          <a:noFill/>
          <a:ln/>
        </p:spPr>
        <p:txBody>
          <a:bodyPr wrap="square" lIns="0" tIns="0" rIns="0" bIns="0" rtlCol="0" anchor="ctr"/>
          <a:lstStyle/>
          <a:p>
            <a:pPr indent="0" marL="0">
              <a:buNone/>
            </a:pPr>
            <a:r>
              <a:rPr lang="en-US" sz="950" b="1" dirty="0">
                <a:solidFill>
                  <a:srgbClr val="27E5E5"/>
                </a:solidFill>
                <a:latin typeface="Courier New" pitchFamily="34" charset="0"/>
                <a:ea typeface="Courier New" pitchFamily="34" charset="-122"/>
                <a:cs typeface="Courier New" pitchFamily="34" charset="-120"/>
              </a:rPr>
              <a:t>FORMATO</a:t>
            </a:r>
            <a:endParaRPr lang="en-US" sz="950" dirty="0"/>
          </a:p>
        </p:txBody>
      </p:sp>
      <p:sp>
        <p:nvSpPr>
          <p:cNvPr id="11" name="Text 9"/>
          <p:cNvSpPr/>
          <p:nvPr/>
        </p:nvSpPr>
        <p:spPr>
          <a:xfrm>
            <a:off x="685800"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2–3 páginas · equipos de 3–4</a:t>
            </a:r>
            <a:endParaRPr lang="en-US" sz="1200" dirty="0"/>
          </a:p>
        </p:txBody>
      </p:sp>
      <p:sp>
        <p:nvSpPr>
          <p:cNvPr id="12" name="Shape 10"/>
          <p:cNvSpPr/>
          <p:nvPr/>
        </p:nvSpPr>
        <p:spPr>
          <a:xfrm>
            <a:off x="6324448" y="5358384"/>
            <a:ext cx="5364328" cy="914400"/>
          </a:xfrm>
          <a:prstGeom prst="roundRect">
            <a:avLst>
              <a:gd name="adj" fmla="val 5000"/>
            </a:avLst>
          </a:prstGeom>
          <a:solidFill>
            <a:srgbClr val="151515"/>
          </a:solidFill>
          <a:ln w="12700">
            <a:solidFill>
              <a:srgbClr val="333333"/>
            </a:solidFill>
            <a:prstDash val="solid"/>
          </a:ln>
        </p:spPr>
      </p:sp>
      <p:sp>
        <p:nvSpPr>
          <p:cNvPr id="13" name="Text 11"/>
          <p:cNvSpPr/>
          <p:nvPr/>
        </p:nvSpPr>
        <p:spPr>
          <a:xfrm>
            <a:off x="6507328" y="5486400"/>
            <a:ext cx="4998568" cy="320040"/>
          </a:xfrm>
          <a:prstGeom prst="rect">
            <a:avLst/>
          </a:prstGeom>
          <a:noFill/>
          <a:ln/>
        </p:spPr>
        <p:txBody>
          <a:bodyPr wrap="square" lIns="0" tIns="0" rIns="0" bIns="0" rtlCol="0" anchor="ctr"/>
          <a:lstStyle/>
          <a:p>
            <a:pPr indent="0" marL="0">
              <a:buNone/>
            </a:pPr>
            <a:r>
              <a:rPr lang="en-US" sz="950" b="1" dirty="0">
                <a:solidFill>
                  <a:srgbClr val="FFB000"/>
                </a:solidFill>
                <a:latin typeface="Courier New" pitchFamily="34" charset="0"/>
                <a:ea typeface="Courier New" pitchFamily="34" charset="-122"/>
                <a:cs typeface="Courier New" pitchFamily="34" charset="-120"/>
              </a:rPr>
              <a:t>MODELO</a:t>
            </a:r>
            <a:endParaRPr lang="en-US" sz="950" dirty="0"/>
          </a:p>
        </p:txBody>
      </p:sp>
      <p:sp>
        <p:nvSpPr>
          <p:cNvPr id="14" name="Text 12"/>
          <p:cNvSpPr/>
          <p:nvPr/>
        </p:nvSpPr>
        <p:spPr>
          <a:xfrm>
            <a:off x="6507328"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La ficha de Lácteos La Pradera</a:t>
            </a:r>
            <a:endParaRPr lang="en-US" sz="12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43 / 47</a:t>
            </a:r>
            <a:endParaRPr 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37  CIERRE</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CÓMO SE EVALÚA</a:t>
            </a:r>
            <a:endParaRPr lang="en-US" sz="3300" dirty="0"/>
          </a:p>
        </p:txBody>
      </p:sp>
      <p:sp>
        <p:nvSpPr>
          <p:cNvPr id="4" name="Shape 2"/>
          <p:cNvSpPr/>
          <p:nvPr/>
        </p:nvSpPr>
        <p:spPr>
          <a:xfrm>
            <a:off x="502920" y="1783080"/>
            <a:ext cx="4572000" cy="457200"/>
          </a:xfrm>
          <a:prstGeom prst="rect">
            <a:avLst/>
          </a:prstGeom>
          <a:solidFill>
            <a:srgbClr val="1E1E1E"/>
          </a:solidFill>
          <a:ln w="12700">
            <a:solidFill>
              <a:srgbClr val="333333"/>
            </a:solidFill>
            <a:prstDash val="solid"/>
          </a:ln>
        </p:spPr>
      </p:sp>
      <p:sp>
        <p:nvSpPr>
          <p:cNvPr id="5" name="Text 3"/>
          <p:cNvSpPr/>
          <p:nvPr/>
        </p:nvSpPr>
        <p:spPr>
          <a:xfrm>
            <a:off x="576072" y="1783080"/>
            <a:ext cx="4425696" cy="457200"/>
          </a:xfrm>
          <a:prstGeom prst="rect">
            <a:avLst/>
          </a:prstGeom>
          <a:noFill/>
          <a:ln/>
        </p:spPr>
        <p:txBody>
          <a:bodyPr wrap="square" lIns="0" tIns="0" rIns="0" bIns="0" rtlCol="0" anchor="ctr"/>
          <a:lstStyle/>
          <a:p>
            <a:pPr algn="l" indent="0" marL="0">
              <a:buNone/>
            </a:pPr>
            <a:r>
              <a:rPr lang="en-US" sz="1050" b="1" dirty="0">
                <a:solidFill>
                  <a:srgbClr val="C6FF00"/>
                </a:solidFill>
                <a:latin typeface="Courier New" pitchFamily="34" charset="0"/>
                <a:ea typeface="Courier New" pitchFamily="34" charset="-122"/>
                <a:cs typeface="Courier New" pitchFamily="34" charset="-120"/>
              </a:rPr>
              <a:t>CRITERIO</a:t>
            </a:r>
            <a:endParaRPr lang="en-US" sz="1050" dirty="0"/>
          </a:p>
        </p:txBody>
      </p:sp>
      <p:sp>
        <p:nvSpPr>
          <p:cNvPr id="6" name="Shape 4"/>
          <p:cNvSpPr/>
          <p:nvPr/>
        </p:nvSpPr>
        <p:spPr>
          <a:xfrm>
            <a:off x="5074920" y="1783080"/>
            <a:ext cx="3306928" cy="457200"/>
          </a:xfrm>
          <a:prstGeom prst="rect">
            <a:avLst/>
          </a:prstGeom>
          <a:solidFill>
            <a:srgbClr val="1E1E1E"/>
          </a:solidFill>
          <a:ln w="12700">
            <a:solidFill>
              <a:srgbClr val="333333"/>
            </a:solidFill>
            <a:prstDash val="solid"/>
          </a:ln>
        </p:spPr>
      </p:sp>
      <p:sp>
        <p:nvSpPr>
          <p:cNvPr id="7" name="Text 5"/>
          <p:cNvSpPr/>
          <p:nvPr/>
        </p:nvSpPr>
        <p:spPr>
          <a:xfrm>
            <a:off x="5148072" y="1783080"/>
            <a:ext cx="3160624" cy="457200"/>
          </a:xfrm>
          <a:prstGeom prst="rect">
            <a:avLst/>
          </a:prstGeom>
          <a:noFill/>
          <a:ln/>
        </p:spPr>
        <p:txBody>
          <a:bodyPr wrap="square" lIns="0" tIns="0" rIns="0" bIns="0" rtlCol="0" anchor="ctr"/>
          <a:lstStyle/>
          <a:p>
            <a:pPr algn="ctr" indent="0" marL="0">
              <a:buNone/>
            </a:pPr>
            <a:r>
              <a:rPr lang="en-US" sz="1050" b="1" dirty="0">
                <a:solidFill>
                  <a:srgbClr val="C6FF00"/>
                </a:solidFill>
                <a:latin typeface="Courier New" pitchFamily="34" charset="0"/>
                <a:ea typeface="Courier New" pitchFamily="34" charset="-122"/>
                <a:cs typeface="Courier New" pitchFamily="34" charset="-120"/>
              </a:rPr>
              <a:t>QUÉ BUSCAMOS</a:t>
            </a:r>
            <a:endParaRPr lang="en-US" sz="1050" dirty="0"/>
          </a:p>
        </p:txBody>
      </p:sp>
      <p:sp>
        <p:nvSpPr>
          <p:cNvPr id="8" name="Shape 6"/>
          <p:cNvSpPr/>
          <p:nvPr/>
        </p:nvSpPr>
        <p:spPr>
          <a:xfrm>
            <a:off x="8381848" y="1783080"/>
            <a:ext cx="3306928" cy="457200"/>
          </a:xfrm>
          <a:prstGeom prst="rect">
            <a:avLst/>
          </a:prstGeom>
          <a:solidFill>
            <a:srgbClr val="1E1E1E"/>
          </a:solidFill>
          <a:ln w="12700">
            <a:solidFill>
              <a:srgbClr val="333333"/>
            </a:solidFill>
            <a:prstDash val="solid"/>
          </a:ln>
        </p:spPr>
      </p:sp>
      <p:sp>
        <p:nvSpPr>
          <p:cNvPr id="9" name="Text 7"/>
          <p:cNvSpPr/>
          <p:nvPr/>
        </p:nvSpPr>
        <p:spPr>
          <a:xfrm>
            <a:off x="8455000" y="1783080"/>
            <a:ext cx="3160624" cy="457200"/>
          </a:xfrm>
          <a:prstGeom prst="rect">
            <a:avLst/>
          </a:prstGeom>
          <a:noFill/>
          <a:ln/>
        </p:spPr>
        <p:txBody>
          <a:bodyPr wrap="square" lIns="0" tIns="0" rIns="0" bIns="0" rtlCol="0" anchor="ctr"/>
          <a:lstStyle/>
          <a:p>
            <a:pPr algn="ctr" indent="0" marL="0">
              <a:buNone/>
            </a:pPr>
            <a:r>
              <a:rPr lang="en-US" sz="1050" b="1" dirty="0">
                <a:solidFill>
                  <a:srgbClr val="C6FF00"/>
                </a:solidFill>
                <a:latin typeface="Courier New" pitchFamily="34" charset="0"/>
                <a:ea typeface="Courier New" pitchFamily="34" charset="-122"/>
                <a:cs typeface="Courier New" pitchFamily="34" charset="-120"/>
              </a:rPr>
              <a:t>%</a:t>
            </a:r>
            <a:endParaRPr lang="en-US" sz="1050" dirty="0"/>
          </a:p>
        </p:txBody>
      </p:sp>
      <p:sp>
        <p:nvSpPr>
          <p:cNvPr id="10" name="Shape 8"/>
          <p:cNvSpPr/>
          <p:nvPr/>
        </p:nvSpPr>
        <p:spPr>
          <a:xfrm>
            <a:off x="502920" y="2240280"/>
            <a:ext cx="4572000" cy="566928"/>
          </a:xfrm>
          <a:prstGeom prst="rect">
            <a:avLst/>
          </a:prstGeom>
          <a:solidFill>
            <a:srgbClr val="151515"/>
          </a:solidFill>
          <a:ln w="12700">
            <a:solidFill>
              <a:srgbClr val="242424"/>
            </a:solidFill>
            <a:prstDash val="solid"/>
          </a:ln>
        </p:spPr>
      </p:sp>
      <p:sp>
        <p:nvSpPr>
          <p:cNvPr id="11" name="Text 9"/>
          <p:cNvSpPr/>
          <p:nvPr/>
        </p:nvSpPr>
        <p:spPr>
          <a:xfrm>
            <a:off x="576072" y="2240280"/>
            <a:ext cx="442569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Alcance acotado</a:t>
            </a:r>
            <a:endParaRPr lang="en-US" sz="1150" dirty="0"/>
          </a:p>
        </p:txBody>
      </p:sp>
      <p:sp>
        <p:nvSpPr>
          <p:cNvPr id="12" name="Shape 10"/>
          <p:cNvSpPr/>
          <p:nvPr/>
        </p:nvSpPr>
        <p:spPr>
          <a:xfrm>
            <a:off x="5074920" y="2240280"/>
            <a:ext cx="3306928" cy="566928"/>
          </a:xfrm>
          <a:prstGeom prst="rect">
            <a:avLst/>
          </a:prstGeom>
          <a:solidFill>
            <a:srgbClr val="151515"/>
          </a:solidFill>
          <a:ln w="12700">
            <a:solidFill>
              <a:srgbClr val="242424"/>
            </a:solidFill>
            <a:prstDash val="solid"/>
          </a:ln>
        </p:spPr>
      </p:sp>
      <p:sp>
        <p:nvSpPr>
          <p:cNvPr id="13" name="Text 11"/>
          <p:cNvSpPr/>
          <p:nvPr/>
        </p:nvSpPr>
        <p:spPr>
          <a:xfrm>
            <a:off x="5148072" y="2240280"/>
            <a:ext cx="3160624" cy="566928"/>
          </a:xfrm>
          <a:prstGeom prst="rect">
            <a:avLst/>
          </a:prstGeom>
          <a:noFill/>
          <a:ln/>
        </p:spPr>
        <p:txBody>
          <a:bodyPr wrap="square" lIns="0" tIns="0" rIns="0" bIns="0" rtlCol="0" anchor="ctr"/>
          <a:lstStyle/>
          <a:p>
            <a:pPr algn="ctr" indent="0" marL="0">
              <a:buNone/>
            </a:pPr>
            <a:r>
              <a:rPr lang="en-US" sz="1100" dirty="0">
                <a:solidFill>
                  <a:srgbClr val="C6FF00"/>
                </a:solidFill>
                <a:latin typeface="Courier New" pitchFamily="34" charset="0"/>
                <a:ea typeface="Courier New" pitchFamily="34" charset="-122"/>
                <a:cs typeface="Courier New" pitchFamily="34" charset="-120"/>
              </a:rPr>
              <a:t>Foco claro, en una frase, con in/out</a:t>
            </a:r>
            <a:endParaRPr lang="en-US" sz="1100" dirty="0"/>
          </a:p>
        </p:txBody>
      </p:sp>
      <p:sp>
        <p:nvSpPr>
          <p:cNvPr id="14" name="Shape 12"/>
          <p:cNvSpPr/>
          <p:nvPr/>
        </p:nvSpPr>
        <p:spPr>
          <a:xfrm>
            <a:off x="8381848" y="2240280"/>
            <a:ext cx="3306928" cy="566928"/>
          </a:xfrm>
          <a:prstGeom prst="rect">
            <a:avLst/>
          </a:prstGeom>
          <a:solidFill>
            <a:srgbClr val="151515"/>
          </a:solidFill>
          <a:ln w="12700">
            <a:solidFill>
              <a:srgbClr val="242424"/>
            </a:solidFill>
            <a:prstDash val="solid"/>
          </a:ln>
        </p:spPr>
      </p:sp>
      <p:sp>
        <p:nvSpPr>
          <p:cNvPr id="15" name="Text 13"/>
          <p:cNvSpPr/>
          <p:nvPr/>
        </p:nvSpPr>
        <p:spPr>
          <a:xfrm>
            <a:off x="8455000" y="2240280"/>
            <a:ext cx="316062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35</a:t>
            </a:r>
            <a:endParaRPr lang="en-US" sz="1100" dirty="0"/>
          </a:p>
        </p:txBody>
      </p:sp>
      <p:sp>
        <p:nvSpPr>
          <p:cNvPr id="16" name="Shape 14"/>
          <p:cNvSpPr/>
          <p:nvPr/>
        </p:nvSpPr>
        <p:spPr>
          <a:xfrm>
            <a:off x="502920" y="2807208"/>
            <a:ext cx="4572000" cy="566928"/>
          </a:xfrm>
          <a:prstGeom prst="rect">
            <a:avLst/>
          </a:prstGeom>
          <a:solidFill>
            <a:srgbClr val="0B0B0B"/>
          </a:solidFill>
          <a:ln w="12700">
            <a:solidFill>
              <a:srgbClr val="242424"/>
            </a:solidFill>
            <a:prstDash val="solid"/>
          </a:ln>
        </p:spPr>
      </p:sp>
      <p:sp>
        <p:nvSpPr>
          <p:cNvPr id="17" name="Text 15"/>
          <p:cNvSpPr/>
          <p:nvPr/>
        </p:nvSpPr>
        <p:spPr>
          <a:xfrm>
            <a:off x="576072" y="2807208"/>
            <a:ext cx="442569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Ficha completa</a:t>
            </a:r>
            <a:endParaRPr lang="en-US" sz="1150" dirty="0"/>
          </a:p>
        </p:txBody>
      </p:sp>
      <p:sp>
        <p:nvSpPr>
          <p:cNvPr id="18" name="Shape 16"/>
          <p:cNvSpPr/>
          <p:nvPr/>
        </p:nvSpPr>
        <p:spPr>
          <a:xfrm>
            <a:off x="5074920" y="2807208"/>
            <a:ext cx="3306928" cy="566928"/>
          </a:xfrm>
          <a:prstGeom prst="rect">
            <a:avLst/>
          </a:prstGeom>
          <a:solidFill>
            <a:srgbClr val="0B0B0B"/>
          </a:solidFill>
          <a:ln w="12700">
            <a:solidFill>
              <a:srgbClr val="242424"/>
            </a:solidFill>
            <a:prstDash val="solid"/>
          </a:ln>
        </p:spPr>
      </p:sp>
      <p:sp>
        <p:nvSpPr>
          <p:cNvPr id="19" name="Text 17"/>
          <p:cNvSpPr/>
          <p:nvPr/>
        </p:nvSpPr>
        <p:spPr>
          <a:xfrm>
            <a:off x="5148072" y="2807208"/>
            <a:ext cx="3160624" cy="566928"/>
          </a:xfrm>
          <a:prstGeom prst="rect">
            <a:avLst/>
          </a:prstGeom>
          <a:noFill/>
          <a:ln/>
        </p:spPr>
        <p:txBody>
          <a:bodyPr wrap="square" lIns="0" tIns="0" rIns="0" bIns="0" rtlCol="0" anchor="ctr"/>
          <a:lstStyle/>
          <a:p>
            <a:pPr algn="ctr" indent="0" marL="0">
              <a:buNone/>
            </a:pPr>
            <a:r>
              <a:rPr lang="en-US" sz="1100" dirty="0">
                <a:solidFill>
                  <a:srgbClr val="27E5E5"/>
                </a:solidFill>
                <a:latin typeface="Courier New" pitchFamily="34" charset="0"/>
                <a:ea typeface="Courier New" pitchFamily="34" charset="-122"/>
                <a:cs typeface="Courier New" pitchFamily="34" charset="-120"/>
              </a:rPr>
              <a:t>Los 8 campos, claros y coherentes</a:t>
            </a:r>
            <a:endParaRPr lang="en-US" sz="1100" dirty="0"/>
          </a:p>
        </p:txBody>
      </p:sp>
      <p:sp>
        <p:nvSpPr>
          <p:cNvPr id="20" name="Shape 18"/>
          <p:cNvSpPr/>
          <p:nvPr/>
        </p:nvSpPr>
        <p:spPr>
          <a:xfrm>
            <a:off x="8381848" y="2807208"/>
            <a:ext cx="3306928" cy="566928"/>
          </a:xfrm>
          <a:prstGeom prst="rect">
            <a:avLst/>
          </a:prstGeom>
          <a:solidFill>
            <a:srgbClr val="0B0B0B"/>
          </a:solidFill>
          <a:ln w="12700">
            <a:solidFill>
              <a:srgbClr val="242424"/>
            </a:solidFill>
            <a:prstDash val="solid"/>
          </a:ln>
        </p:spPr>
      </p:sp>
      <p:sp>
        <p:nvSpPr>
          <p:cNvPr id="21" name="Text 19"/>
          <p:cNvSpPr/>
          <p:nvPr/>
        </p:nvSpPr>
        <p:spPr>
          <a:xfrm>
            <a:off x="8455000" y="2807208"/>
            <a:ext cx="316062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30</a:t>
            </a:r>
            <a:endParaRPr lang="en-US" sz="1100" dirty="0"/>
          </a:p>
        </p:txBody>
      </p:sp>
      <p:sp>
        <p:nvSpPr>
          <p:cNvPr id="22" name="Shape 20"/>
          <p:cNvSpPr/>
          <p:nvPr/>
        </p:nvSpPr>
        <p:spPr>
          <a:xfrm>
            <a:off x="502920" y="3374136"/>
            <a:ext cx="4572000" cy="566928"/>
          </a:xfrm>
          <a:prstGeom prst="rect">
            <a:avLst/>
          </a:prstGeom>
          <a:solidFill>
            <a:srgbClr val="151515"/>
          </a:solidFill>
          <a:ln w="12700">
            <a:solidFill>
              <a:srgbClr val="242424"/>
            </a:solidFill>
            <a:prstDash val="solid"/>
          </a:ln>
        </p:spPr>
      </p:sp>
      <p:sp>
        <p:nvSpPr>
          <p:cNvPr id="23" name="Text 21"/>
          <p:cNvSpPr/>
          <p:nvPr/>
        </p:nvSpPr>
        <p:spPr>
          <a:xfrm>
            <a:off x="576072" y="3374136"/>
            <a:ext cx="442569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Argumento CPPS</a:t>
            </a:r>
            <a:endParaRPr lang="en-US" sz="1150" dirty="0"/>
          </a:p>
        </p:txBody>
      </p:sp>
      <p:sp>
        <p:nvSpPr>
          <p:cNvPr id="24" name="Shape 22"/>
          <p:cNvSpPr/>
          <p:nvPr/>
        </p:nvSpPr>
        <p:spPr>
          <a:xfrm>
            <a:off x="5074920" y="3374136"/>
            <a:ext cx="3306928" cy="566928"/>
          </a:xfrm>
          <a:prstGeom prst="rect">
            <a:avLst/>
          </a:prstGeom>
          <a:solidFill>
            <a:srgbClr val="151515"/>
          </a:solidFill>
          <a:ln w="12700">
            <a:solidFill>
              <a:srgbClr val="242424"/>
            </a:solidFill>
            <a:prstDash val="solid"/>
          </a:ln>
        </p:spPr>
      </p:sp>
      <p:sp>
        <p:nvSpPr>
          <p:cNvPr id="25" name="Text 23"/>
          <p:cNvSpPr/>
          <p:nvPr/>
        </p:nvSpPr>
        <p:spPr>
          <a:xfrm>
            <a:off x="5148072" y="3374136"/>
            <a:ext cx="3160624" cy="566928"/>
          </a:xfrm>
          <a:prstGeom prst="rect">
            <a:avLst/>
          </a:prstGeom>
          <a:noFill/>
          <a:ln/>
        </p:spPr>
        <p:txBody>
          <a:bodyPr wrap="square" lIns="0" tIns="0" rIns="0" bIns="0" rtlCol="0" anchor="ctr"/>
          <a:lstStyle/>
          <a:p>
            <a:pPr algn="ctr" indent="0" marL="0">
              <a:buNone/>
            </a:pPr>
            <a:r>
              <a:rPr lang="en-US" sz="1100" dirty="0">
                <a:solidFill>
                  <a:srgbClr val="FFB000"/>
                </a:solidFill>
                <a:latin typeface="Courier New" pitchFamily="34" charset="0"/>
                <a:ea typeface="Courier New" pitchFamily="34" charset="-122"/>
                <a:cs typeface="Courier New" pitchFamily="34" charset="-120"/>
              </a:rPr>
              <a:t>Los 5 puntos, bien justificados</a:t>
            </a:r>
            <a:endParaRPr lang="en-US" sz="1100" dirty="0"/>
          </a:p>
        </p:txBody>
      </p:sp>
      <p:sp>
        <p:nvSpPr>
          <p:cNvPr id="26" name="Shape 24"/>
          <p:cNvSpPr/>
          <p:nvPr/>
        </p:nvSpPr>
        <p:spPr>
          <a:xfrm>
            <a:off x="8381848" y="3374136"/>
            <a:ext cx="3306928" cy="566928"/>
          </a:xfrm>
          <a:prstGeom prst="rect">
            <a:avLst/>
          </a:prstGeom>
          <a:solidFill>
            <a:srgbClr val="151515"/>
          </a:solidFill>
          <a:ln w="12700">
            <a:solidFill>
              <a:srgbClr val="242424"/>
            </a:solidFill>
            <a:prstDash val="solid"/>
          </a:ln>
        </p:spPr>
      </p:sp>
      <p:sp>
        <p:nvSpPr>
          <p:cNvPr id="27" name="Text 25"/>
          <p:cNvSpPr/>
          <p:nvPr/>
        </p:nvSpPr>
        <p:spPr>
          <a:xfrm>
            <a:off x="8455000" y="3374136"/>
            <a:ext cx="316062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20</a:t>
            </a:r>
            <a:endParaRPr lang="en-US" sz="1100" dirty="0"/>
          </a:p>
        </p:txBody>
      </p:sp>
      <p:sp>
        <p:nvSpPr>
          <p:cNvPr id="28" name="Shape 26"/>
          <p:cNvSpPr/>
          <p:nvPr/>
        </p:nvSpPr>
        <p:spPr>
          <a:xfrm>
            <a:off x="502920" y="3941064"/>
            <a:ext cx="4572000" cy="566928"/>
          </a:xfrm>
          <a:prstGeom prst="rect">
            <a:avLst/>
          </a:prstGeom>
          <a:solidFill>
            <a:srgbClr val="0B0B0B"/>
          </a:solidFill>
          <a:ln w="12700">
            <a:solidFill>
              <a:srgbClr val="242424"/>
            </a:solidFill>
            <a:prstDash val="solid"/>
          </a:ln>
        </p:spPr>
      </p:sp>
      <p:sp>
        <p:nvSpPr>
          <p:cNvPr id="29" name="Text 27"/>
          <p:cNvSpPr/>
          <p:nvPr/>
        </p:nvSpPr>
        <p:spPr>
          <a:xfrm>
            <a:off x="576072" y="3941064"/>
            <a:ext cx="442569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Realismo</a:t>
            </a:r>
            <a:endParaRPr lang="en-US" sz="1150" dirty="0"/>
          </a:p>
        </p:txBody>
      </p:sp>
      <p:sp>
        <p:nvSpPr>
          <p:cNvPr id="30" name="Shape 28"/>
          <p:cNvSpPr/>
          <p:nvPr/>
        </p:nvSpPr>
        <p:spPr>
          <a:xfrm>
            <a:off x="5074920" y="3941064"/>
            <a:ext cx="3306928" cy="566928"/>
          </a:xfrm>
          <a:prstGeom prst="rect">
            <a:avLst/>
          </a:prstGeom>
          <a:solidFill>
            <a:srgbClr val="0B0B0B"/>
          </a:solidFill>
          <a:ln w="12700">
            <a:solidFill>
              <a:srgbClr val="242424"/>
            </a:solidFill>
            <a:prstDash val="solid"/>
          </a:ln>
        </p:spPr>
      </p:sp>
      <p:sp>
        <p:nvSpPr>
          <p:cNvPr id="31" name="Text 29"/>
          <p:cNvSpPr/>
          <p:nvPr/>
        </p:nvSpPr>
        <p:spPr>
          <a:xfrm>
            <a:off x="5148072" y="3941064"/>
            <a:ext cx="3160624" cy="566928"/>
          </a:xfrm>
          <a:prstGeom prst="rect">
            <a:avLst/>
          </a:prstGeom>
          <a:noFill/>
          <a:ln/>
        </p:spPr>
        <p:txBody>
          <a:bodyPr wrap="square" lIns="0" tIns="0" rIns="0" bIns="0" rtlCol="0" anchor="ctr"/>
          <a:lstStyle/>
          <a:p>
            <a:pPr algn="ctr" indent="0" marL="0">
              <a:buNone/>
            </a:pPr>
            <a:r>
              <a:rPr lang="en-US" sz="1100" dirty="0">
                <a:solidFill>
                  <a:srgbClr val="22E06B"/>
                </a:solidFill>
                <a:latin typeface="Courier New" pitchFamily="34" charset="0"/>
                <a:ea typeface="Courier New" pitchFamily="34" charset="-122"/>
                <a:cs typeface="Courier New" pitchFamily="34" charset="-120"/>
              </a:rPr>
              <a:t>Empresa y datos creíbles</a:t>
            </a:r>
            <a:endParaRPr lang="en-US" sz="1100" dirty="0"/>
          </a:p>
        </p:txBody>
      </p:sp>
      <p:sp>
        <p:nvSpPr>
          <p:cNvPr id="32" name="Shape 30"/>
          <p:cNvSpPr/>
          <p:nvPr/>
        </p:nvSpPr>
        <p:spPr>
          <a:xfrm>
            <a:off x="8381848" y="3941064"/>
            <a:ext cx="3306928" cy="566928"/>
          </a:xfrm>
          <a:prstGeom prst="rect">
            <a:avLst/>
          </a:prstGeom>
          <a:solidFill>
            <a:srgbClr val="0B0B0B"/>
          </a:solidFill>
          <a:ln w="12700">
            <a:solidFill>
              <a:srgbClr val="242424"/>
            </a:solidFill>
            <a:prstDash val="solid"/>
          </a:ln>
        </p:spPr>
      </p:sp>
      <p:sp>
        <p:nvSpPr>
          <p:cNvPr id="33" name="Text 31"/>
          <p:cNvSpPr/>
          <p:nvPr/>
        </p:nvSpPr>
        <p:spPr>
          <a:xfrm>
            <a:off x="8455000" y="3941064"/>
            <a:ext cx="316062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15</a:t>
            </a:r>
            <a:endParaRPr lang="en-US" sz="1100" dirty="0"/>
          </a:p>
        </p:txBody>
      </p:sp>
      <p:sp>
        <p:nvSpPr>
          <p:cNvPr id="34" name="Text 32"/>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35" name="Text 33"/>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36" name="Text 34"/>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44 / 47</a:t>
            </a:r>
            <a:endParaRPr 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38  CIERRE</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LO QUE SIGUE CON TU EMPRESA</a:t>
            </a:r>
            <a:endParaRPr lang="en-US" sz="3300" dirty="0"/>
          </a:p>
        </p:txBody>
      </p:sp>
      <p:sp>
        <p:nvSpPr>
          <p:cNvPr id="4" name="Shape 2"/>
          <p:cNvSpPr/>
          <p:nvPr/>
        </p:nvSpPr>
        <p:spPr>
          <a:xfrm>
            <a:off x="502920" y="1783080"/>
            <a:ext cx="11185855" cy="1280160"/>
          </a:xfrm>
          <a:prstGeom prst="roundRect">
            <a:avLst>
              <a:gd name="adj" fmla="val 4286"/>
            </a:avLst>
          </a:prstGeom>
          <a:solidFill>
            <a:srgbClr val="1E1E1E"/>
          </a:solidFill>
          <a:ln w="12700">
            <a:solidFill>
              <a:srgbClr val="333333"/>
            </a:solidFill>
            <a:prstDash val="solid"/>
          </a:ln>
        </p:spPr>
      </p:sp>
      <p:sp>
        <p:nvSpPr>
          <p:cNvPr id="5" name="Text 3"/>
          <p:cNvSpPr/>
          <p:nvPr/>
        </p:nvSpPr>
        <p:spPr>
          <a:xfrm>
            <a:off x="731520" y="1965960"/>
            <a:ext cx="2743200" cy="365760"/>
          </a:xfrm>
          <a:prstGeom prst="rect">
            <a:avLst/>
          </a:prstGeom>
          <a:noFill/>
          <a:ln/>
        </p:spPr>
        <p:txBody>
          <a:bodyPr wrap="square" lIns="0" tIns="0" rIns="0" bIns="0" rtlCol="0" anchor="t"/>
          <a:lstStyle/>
          <a:p>
            <a:pPr indent="0" marL="0">
              <a:buNone/>
            </a:pPr>
            <a:r>
              <a:rPr lang="en-US" sz="1200" b="1" dirty="0">
                <a:solidFill>
                  <a:srgbClr val="C6FF00"/>
                </a:solidFill>
                <a:latin typeface="Courier New" pitchFamily="34" charset="0"/>
                <a:ea typeface="Courier New" pitchFamily="34" charset="-122"/>
                <a:cs typeface="Courier New" pitchFamily="34" charset="-120"/>
              </a:rPr>
              <a:t>PROYECTO</a:t>
            </a:r>
            <a:endParaRPr lang="en-US" sz="1200" dirty="0"/>
          </a:p>
        </p:txBody>
      </p:sp>
      <p:sp>
        <p:nvSpPr>
          <p:cNvPr id="6" name="Text 4"/>
          <p:cNvSpPr/>
          <p:nvPr/>
        </p:nvSpPr>
        <p:spPr>
          <a:xfrm>
            <a:off x="731520" y="2286000"/>
            <a:ext cx="10728655" cy="731520"/>
          </a:xfrm>
          <a:prstGeom prst="rect">
            <a:avLst/>
          </a:prstGeom>
          <a:noFill/>
          <a:ln/>
        </p:spPr>
        <p:txBody>
          <a:bodyPr wrap="square" lIns="0" tIns="0" rIns="0" bIns="0" rtlCol="0" anchor="t"/>
          <a:lstStyle/>
          <a:p>
            <a:pPr indent="0" marL="0">
              <a:buNone/>
            </a:pPr>
            <a:r>
              <a:rPr lang="en-US" sz="2600" dirty="0">
                <a:solidFill>
                  <a:srgbClr val="F4F4F4"/>
                </a:solidFill>
                <a:latin typeface="Arial Black" pitchFamily="34" charset="0"/>
                <a:ea typeface="Arial Black" pitchFamily="34" charset="-122"/>
                <a:cs typeface="Arial Black" pitchFamily="34" charset="-120"/>
              </a:rPr>
              <a:t>DE LA FICHA AL PROYECTO INTEGRADOR</a:t>
            </a:r>
            <a:endParaRPr lang="en-US" sz="2600" dirty="0"/>
          </a:p>
        </p:txBody>
      </p:sp>
      <p:sp>
        <p:nvSpPr>
          <p:cNvPr id="7" name="Text 5"/>
          <p:cNvSpPr/>
          <p:nvPr/>
        </p:nvSpPr>
        <p:spPr>
          <a:xfrm>
            <a:off x="502920" y="329184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QUÉ SE HACE</a:t>
            </a:r>
            <a:endParaRPr lang="en-US" sz="1100" dirty="0"/>
          </a:p>
        </p:txBody>
      </p:sp>
      <p:sp>
        <p:nvSpPr>
          <p:cNvPr id="8" name="Text 6"/>
          <p:cNvSpPr/>
          <p:nvPr/>
        </p:nvSpPr>
        <p:spPr>
          <a:xfrm>
            <a:off x="502920" y="3657600"/>
            <a:ext cx="11185855" cy="1280160"/>
          </a:xfrm>
          <a:prstGeom prst="rect">
            <a:avLst/>
          </a:prstGeom>
          <a:noFill/>
          <a:ln/>
        </p:spPr>
        <p:txBody>
          <a:bodyPr wrap="square" lIns="0" tIns="0" rIns="0" bIns="0" rtlCol="0" anchor="t"/>
          <a:lstStyle/>
          <a:p>
            <a:pPr indent="0" marL="0">
              <a:lnSpc>
                <a:spcPct val="112000"/>
              </a:lnSpc>
              <a:buNone/>
            </a:pPr>
            <a:r>
              <a:rPr lang="en-US" sz="1300" dirty="0">
                <a:solidFill>
                  <a:srgbClr val="F4F4F4"/>
                </a:solidFill>
                <a:latin typeface="Arial" pitchFamily="34" charset="0"/>
                <a:ea typeface="Arial" pitchFamily="34" charset="-122"/>
                <a:cs typeface="Arial" pitchFamily="34" charset="-120"/>
              </a:rPr>
              <a:t>La ficha de hoy es la semilla. En S01–02 le sumarán la matriz de derechos de decisión y los principios; en S03–04, la cascada COBIT y el diseño de gobierno (Entregable 1); en U2–U3, la arquitectura y los datos (Entregable 2); en U4, la seguridad y el caso de negocio. Todo crece sobre la empresa que definan hoy.</a:t>
            </a:r>
            <a:endParaRPr lang="en-US" sz="1300" dirty="0"/>
          </a:p>
        </p:txBody>
      </p:sp>
      <p:sp>
        <p:nvSpPr>
          <p:cNvPr id="9" name="Shape 7"/>
          <p:cNvSpPr/>
          <p:nvPr/>
        </p:nvSpPr>
        <p:spPr>
          <a:xfrm>
            <a:off x="502920" y="5358384"/>
            <a:ext cx="5364328" cy="914400"/>
          </a:xfrm>
          <a:prstGeom prst="roundRect">
            <a:avLst>
              <a:gd name="adj" fmla="val 5000"/>
            </a:avLst>
          </a:prstGeom>
          <a:solidFill>
            <a:srgbClr val="151515"/>
          </a:solidFill>
          <a:ln w="12700">
            <a:solidFill>
              <a:srgbClr val="333333"/>
            </a:solidFill>
            <a:prstDash val="solid"/>
          </a:ln>
        </p:spPr>
      </p:sp>
      <p:sp>
        <p:nvSpPr>
          <p:cNvPr id="10" name="Text 8"/>
          <p:cNvSpPr/>
          <p:nvPr/>
        </p:nvSpPr>
        <p:spPr>
          <a:xfrm>
            <a:off x="685800" y="5486400"/>
            <a:ext cx="4998568" cy="320040"/>
          </a:xfrm>
          <a:prstGeom prst="rect">
            <a:avLst/>
          </a:prstGeom>
          <a:noFill/>
          <a:ln/>
        </p:spPr>
        <p:txBody>
          <a:bodyPr wrap="square" lIns="0" tIns="0" rIns="0" bIns="0" rtlCol="0" anchor="ctr"/>
          <a:lstStyle/>
          <a:p>
            <a:pPr indent="0" marL="0">
              <a:buNone/>
            </a:pPr>
            <a:r>
              <a:rPr lang="en-US" sz="950" b="1" dirty="0">
                <a:solidFill>
                  <a:srgbClr val="27E5E5"/>
                </a:solidFill>
                <a:latin typeface="Courier New" pitchFamily="34" charset="0"/>
                <a:ea typeface="Courier New" pitchFamily="34" charset="-122"/>
                <a:cs typeface="Courier New" pitchFamily="34" charset="-120"/>
              </a:rPr>
              <a:t>PRÓXIMO PASO</a:t>
            </a:r>
            <a:endParaRPr lang="en-US" sz="950" dirty="0"/>
          </a:p>
        </p:txBody>
      </p:sp>
      <p:sp>
        <p:nvSpPr>
          <p:cNvPr id="11" name="Text 9"/>
          <p:cNvSpPr/>
          <p:nvPr/>
        </p:nvSpPr>
        <p:spPr>
          <a:xfrm>
            <a:off x="685800"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S02 — principios de ISO/IEC 38500 sobre tu empresa</a:t>
            </a:r>
            <a:endParaRPr lang="en-US" sz="1200" dirty="0"/>
          </a:p>
        </p:txBody>
      </p:sp>
      <p:sp>
        <p:nvSpPr>
          <p:cNvPr id="12" name="Shape 10"/>
          <p:cNvSpPr/>
          <p:nvPr/>
        </p:nvSpPr>
        <p:spPr>
          <a:xfrm>
            <a:off x="6324448" y="5358384"/>
            <a:ext cx="5364328" cy="914400"/>
          </a:xfrm>
          <a:prstGeom prst="roundRect">
            <a:avLst>
              <a:gd name="adj" fmla="val 5000"/>
            </a:avLst>
          </a:prstGeom>
          <a:solidFill>
            <a:srgbClr val="151515"/>
          </a:solidFill>
          <a:ln w="12700">
            <a:solidFill>
              <a:srgbClr val="333333"/>
            </a:solidFill>
            <a:prstDash val="solid"/>
          </a:ln>
        </p:spPr>
      </p:sp>
      <p:sp>
        <p:nvSpPr>
          <p:cNvPr id="13" name="Text 11"/>
          <p:cNvSpPr/>
          <p:nvPr/>
        </p:nvSpPr>
        <p:spPr>
          <a:xfrm>
            <a:off x="6507328" y="5486400"/>
            <a:ext cx="4998568" cy="320040"/>
          </a:xfrm>
          <a:prstGeom prst="rect">
            <a:avLst/>
          </a:prstGeom>
          <a:noFill/>
          <a:ln/>
        </p:spPr>
        <p:txBody>
          <a:bodyPr wrap="square" lIns="0" tIns="0" rIns="0" bIns="0" rtlCol="0" anchor="ctr"/>
          <a:lstStyle/>
          <a:p>
            <a:pPr indent="0" marL="0">
              <a:buNone/>
            </a:pPr>
            <a:r>
              <a:rPr lang="en-US" sz="950" b="1" dirty="0">
                <a:solidFill>
                  <a:srgbClr val="FFB000"/>
                </a:solidFill>
                <a:latin typeface="Courier New" pitchFamily="34" charset="0"/>
                <a:ea typeface="Courier New" pitchFamily="34" charset="-122"/>
                <a:cs typeface="Courier New" pitchFamily="34" charset="-120"/>
              </a:rPr>
              <a:t>GRAN META</a:t>
            </a:r>
            <a:endParaRPr lang="en-US" sz="950" dirty="0"/>
          </a:p>
        </p:txBody>
      </p:sp>
      <p:sp>
        <p:nvSpPr>
          <p:cNvPr id="14" name="Text 12"/>
          <p:cNvSpPr/>
          <p:nvPr/>
        </p:nvSpPr>
        <p:spPr>
          <a:xfrm>
            <a:off x="6507328"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Sustentación del proyecto (semana 16)</a:t>
            </a:r>
            <a:endParaRPr lang="en-US" sz="12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45 / 47</a:t>
            </a:r>
            <a:endParaRPr lang="en-US"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39  CIERRE</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PARA LLEVAR</a:t>
            </a:r>
            <a:endParaRPr lang="en-US" sz="3300" dirty="0"/>
          </a:p>
        </p:txBody>
      </p:sp>
      <p:sp>
        <p:nvSpPr>
          <p:cNvPr id="4" name="Shape 2"/>
          <p:cNvSpPr/>
          <p:nvPr/>
        </p:nvSpPr>
        <p:spPr>
          <a:xfrm>
            <a:off x="502920" y="1783080"/>
            <a:ext cx="11185855" cy="780898"/>
          </a:xfrm>
          <a:prstGeom prst="roundRect">
            <a:avLst>
              <a:gd name="adj" fmla="val 5855"/>
            </a:avLst>
          </a:prstGeom>
          <a:solidFill>
            <a:srgbClr val="151515"/>
          </a:solidFill>
          <a:ln w="12700">
            <a:solidFill>
              <a:srgbClr val="333333"/>
            </a:solidFill>
            <a:prstDash val="solid"/>
          </a:ln>
        </p:spPr>
      </p:sp>
      <p:sp>
        <p:nvSpPr>
          <p:cNvPr id="5" name="Text 3"/>
          <p:cNvSpPr/>
          <p:nvPr/>
        </p:nvSpPr>
        <p:spPr>
          <a:xfrm>
            <a:off x="731520" y="1783080"/>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ACOTEN</a:t>
            </a:r>
            <a:endParaRPr lang="en-US" sz="1200" dirty="0"/>
          </a:p>
        </p:txBody>
      </p:sp>
      <p:sp>
        <p:nvSpPr>
          <p:cNvPr id="6" name="Text 4"/>
          <p:cNvSpPr/>
          <p:nvPr/>
        </p:nvSpPr>
        <p:spPr>
          <a:xfrm>
            <a:off x="4251960" y="1783080"/>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Profundidad sobre un foco pequeño, no superficie sobre todo.</a:t>
            </a:r>
            <a:endParaRPr lang="en-US" sz="1250" dirty="0"/>
          </a:p>
        </p:txBody>
      </p:sp>
      <p:sp>
        <p:nvSpPr>
          <p:cNvPr id="7" name="Shape 5"/>
          <p:cNvSpPr/>
          <p:nvPr/>
        </p:nvSpPr>
        <p:spPr>
          <a:xfrm>
            <a:off x="502920" y="2710282"/>
            <a:ext cx="11185855" cy="780898"/>
          </a:xfrm>
          <a:prstGeom prst="roundRect">
            <a:avLst>
              <a:gd name="adj" fmla="val 5855"/>
            </a:avLst>
          </a:prstGeom>
          <a:solidFill>
            <a:srgbClr val="151515"/>
          </a:solidFill>
          <a:ln w="12700">
            <a:solidFill>
              <a:srgbClr val="333333"/>
            </a:solidFill>
            <a:prstDash val="solid"/>
          </a:ln>
        </p:spPr>
      </p:sp>
      <p:sp>
        <p:nvSpPr>
          <p:cNvPr id="8" name="Text 6"/>
          <p:cNvSpPr/>
          <p:nvPr/>
        </p:nvSpPr>
        <p:spPr>
          <a:xfrm>
            <a:off x="731520" y="2710282"/>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UNA FRASE</a:t>
            </a:r>
            <a:endParaRPr lang="en-US" sz="1200" dirty="0"/>
          </a:p>
        </p:txBody>
      </p:sp>
      <p:sp>
        <p:nvSpPr>
          <p:cNvPr id="9" name="Text 7"/>
          <p:cNvSpPr/>
          <p:nvPr/>
        </p:nvSpPr>
        <p:spPr>
          <a:xfrm>
            <a:off x="4251960" y="2710282"/>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Si no cabe en una frase, aún no está acotado.</a:t>
            </a:r>
            <a:endParaRPr lang="en-US" sz="1250" dirty="0"/>
          </a:p>
        </p:txBody>
      </p:sp>
      <p:sp>
        <p:nvSpPr>
          <p:cNvPr id="10" name="Shape 8"/>
          <p:cNvSpPr/>
          <p:nvPr/>
        </p:nvSpPr>
        <p:spPr>
          <a:xfrm>
            <a:off x="502920" y="3637483"/>
            <a:ext cx="11185855" cy="780898"/>
          </a:xfrm>
          <a:prstGeom prst="roundRect">
            <a:avLst>
              <a:gd name="adj" fmla="val 5855"/>
            </a:avLst>
          </a:prstGeom>
          <a:solidFill>
            <a:srgbClr val="151515"/>
          </a:solidFill>
          <a:ln w="12700">
            <a:solidFill>
              <a:srgbClr val="333333"/>
            </a:solidFill>
            <a:prstDash val="solid"/>
          </a:ln>
        </p:spPr>
      </p:sp>
      <p:sp>
        <p:nvSpPr>
          <p:cNvPr id="11" name="Text 9"/>
          <p:cNvSpPr/>
          <p:nvPr/>
        </p:nvSpPr>
        <p:spPr>
          <a:xfrm>
            <a:off x="731520" y="3637483"/>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CON DOLOR</a:t>
            </a:r>
            <a:endParaRPr lang="en-US" sz="1200" dirty="0"/>
          </a:p>
        </p:txBody>
      </p:sp>
      <p:sp>
        <p:nvSpPr>
          <p:cNvPr id="12" name="Text 10"/>
          <p:cNvSpPr/>
          <p:nvPr/>
        </p:nvSpPr>
        <p:spPr>
          <a:xfrm>
            <a:off x="4251960" y="3637483"/>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Elijan un proceso con un problema real de negocio.</a:t>
            </a:r>
            <a:endParaRPr lang="en-US" sz="1250" dirty="0"/>
          </a:p>
        </p:txBody>
      </p:sp>
      <p:sp>
        <p:nvSpPr>
          <p:cNvPr id="13" name="Shape 11"/>
          <p:cNvSpPr/>
          <p:nvPr/>
        </p:nvSpPr>
        <p:spPr>
          <a:xfrm>
            <a:off x="502920" y="4564685"/>
            <a:ext cx="11185855" cy="780898"/>
          </a:xfrm>
          <a:prstGeom prst="roundRect">
            <a:avLst>
              <a:gd name="adj" fmla="val 5855"/>
            </a:avLst>
          </a:prstGeom>
          <a:solidFill>
            <a:srgbClr val="151515"/>
          </a:solidFill>
          <a:ln w="12700">
            <a:solidFill>
              <a:srgbClr val="333333"/>
            </a:solidFill>
            <a:prstDash val="solid"/>
          </a:ln>
        </p:spPr>
      </p:sp>
      <p:sp>
        <p:nvSpPr>
          <p:cNvPr id="14" name="Text 12"/>
          <p:cNvSpPr/>
          <p:nvPr/>
        </p:nvSpPr>
        <p:spPr>
          <a:xfrm>
            <a:off x="731520" y="4564685"/>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IN Y OUT</a:t>
            </a:r>
            <a:endParaRPr lang="en-US" sz="1200" dirty="0"/>
          </a:p>
        </p:txBody>
      </p:sp>
      <p:sp>
        <p:nvSpPr>
          <p:cNvPr id="15" name="Text 13"/>
          <p:cNvSpPr/>
          <p:nvPr/>
        </p:nvSpPr>
        <p:spPr>
          <a:xfrm>
            <a:off x="4251960" y="4564685"/>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Escriban qué queda fuera; eso es acotar de verdad.</a:t>
            </a:r>
            <a:endParaRPr lang="en-US" sz="1250" dirty="0"/>
          </a:p>
        </p:txBody>
      </p:sp>
      <p:sp>
        <p:nvSpPr>
          <p:cNvPr id="16" name="Shape 14"/>
          <p:cNvSpPr/>
          <p:nvPr/>
        </p:nvSpPr>
        <p:spPr>
          <a:xfrm>
            <a:off x="502920" y="5491886"/>
            <a:ext cx="11185855" cy="780898"/>
          </a:xfrm>
          <a:prstGeom prst="roundRect">
            <a:avLst>
              <a:gd name="adj" fmla="val 5855"/>
            </a:avLst>
          </a:prstGeom>
          <a:solidFill>
            <a:srgbClr val="151515"/>
          </a:solidFill>
          <a:ln w="12700">
            <a:solidFill>
              <a:srgbClr val="333333"/>
            </a:solidFill>
            <a:prstDash val="solid"/>
          </a:ln>
        </p:spPr>
      </p:sp>
      <p:sp>
        <p:nvSpPr>
          <p:cNvPr id="17" name="Text 15"/>
          <p:cNvSpPr/>
          <p:nvPr/>
        </p:nvSpPr>
        <p:spPr>
          <a:xfrm>
            <a:off x="731520" y="5491886"/>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ES LA BASE</a:t>
            </a:r>
            <a:endParaRPr lang="en-US" sz="1200" dirty="0"/>
          </a:p>
        </p:txBody>
      </p:sp>
      <p:sp>
        <p:nvSpPr>
          <p:cNvPr id="18" name="Text 16"/>
          <p:cNvSpPr/>
          <p:nvPr/>
        </p:nvSpPr>
        <p:spPr>
          <a:xfrm>
            <a:off x="4251960" y="5491886"/>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La empresa de hoy sostiene todo el proyecto integrador.</a:t>
            </a:r>
            <a:endParaRPr lang="en-US" sz="1250" dirty="0"/>
          </a:p>
        </p:txBody>
      </p:sp>
      <p:sp>
        <p:nvSpPr>
          <p:cNvPr id="19" name="Text 1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0" name="Text 1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21" name="Text 1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46 / 47</a:t>
            </a:r>
            <a:endParaRPr lang="en-US" sz="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1188720"/>
            <a:ext cx="11185855" cy="548640"/>
          </a:xfrm>
          <a:prstGeom prst="rect">
            <a:avLst/>
          </a:prstGeom>
          <a:noFill/>
          <a:ln/>
        </p:spPr>
        <p:txBody>
          <a:bodyPr wrap="square" lIns="0" tIns="0" rIns="0" bIns="0" rtlCol="0" anchor="ctr"/>
          <a:lstStyle/>
          <a:p>
            <a:pPr indent="0" marL="0">
              <a:buNone/>
            </a:pPr>
            <a:r>
              <a:rPr lang="en-US" sz="1500" spc="200" kern="0" dirty="0">
                <a:solidFill>
                  <a:srgbClr val="8C8C8C"/>
                </a:solidFill>
                <a:latin typeface="Courier New" pitchFamily="34" charset="0"/>
                <a:ea typeface="Courier New" pitchFamily="34" charset="-122"/>
                <a:cs typeface="Courier New" pitchFamily="34" charset="-120"/>
              </a:rPr>
              <a:t>FIN SESIÓN 01</a:t>
            </a:r>
            <a:endParaRPr lang="en-US" sz="1500" dirty="0"/>
          </a:p>
        </p:txBody>
      </p:sp>
      <p:sp>
        <p:nvSpPr>
          <p:cNvPr id="3" name="Text 1"/>
          <p:cNvSpPr/>
          <p:nvPr/>
        </p:nvSpPr>
        <p:spPr>
          <a:xfrm>
            <a:off x="502920" y="2011680"/>
            <a:ext cx="11185855" cy="457200"/>
          </a:xfrm>
          <a:prstGeom prst="rect">
            <a:avLst/>
          </a:prstGeom>
          <a:noFill/>
          <a:ln/>
        </p:spPr>
        <p:txBody>
          <a:bodyPr wrap="square" lIns="0" tIns="0" rIns="0" bIns="0" rtlCol="0" anchor="ctr"/>
          <a:lstStyle/>
          <a:p>
            <a:pPr indent="0" marL="0">
              <a:buNone/>
            </a:pPr>
            <a:r>
              <a:rPr lang="en-US" sz="1300" b="1" spc="200" kern="0" dirty="0">
                <a:solidFill>
                  <a:srgbClr val="C6FF00"/>
                </a:solidFill>
                <a:latin typeface="Courier New" pitchFamily="34" charset="0"/>
                <a:ea typeface="Courier New" pitchFamily="34" charset="-122"/>
                <a:cs typeface="Courier New" pitchFamily="34" charset="-120"/>
              </a:rPr>
              <a:t>PRÓXIMA</a:t>
            </a:r>
            <a:endParaRPr lang="en-US" sz="1300" dirty="0"/>
          </a:p>
        </p:txBody>
      </p:sp>
      <p:sp>
        <p:nvSpPr>
          <p:cNvPr id="4" name="Text 2"/>
          <p:cNvSpPr/>
          <p:nvPr/>
        </p:nvSpPr>
        <p:spPr>
          <a:xfrm>
            <a:off x="502920" y="2377440"/>
            <a:ext cx="11185855" cy="1188720"/>
          </a:xfrm>
          <a:prstGeom prst="rect">
            <a:avLst/>
          </a:prstGeom>
          <a:noFill/>
          <a:ln/>
        </p:spPr>
        <p:txBody>
          <a:bodyPr wrap="square" lIns="0" tIns="0" rIns="0" bIns="0" rtlCol="0" anchor="t"/>
          <a:lstStyle/>
          <a:p>
            <a:pPr indent="0" marL="0">
              <a:buNone/>
            </a:pPr>
            <a:r>
              <a:rPr lang="en-US" sz="4600" dirty="0">
                <a:solidFill>
                  <a:srgbClr val="F4F4F4"/>
                </a:solidFill>
                <a:latin typeface="Arial Black" pitchFamily="34" charset="0"/>
                <a:ea typeface="Arial Black" pitchFamily="34" charset="-122"/>
                <a:cs typeface="Arial Black" pitchFamily="34" charset="-120"/>
              </a:rPr>
              <a:t>SESIÓN 02</a:t>
            </a:r>
            <a:endParaRPr lang="en-US" sz="4600" dirty="0"/>
          </a:p>
        </p:txBody>
      </p:sp>
      <p:sp>
        <p:nvSpPr>
          <p:cNvPr id="5" name="Text 3"/>
          <p:cNvSpPr/>
          <p:nvPr/>
        </p:nvSpPr>
        <p:spPr>
          <a:xfrm>
            <a:off x="502920" y="3657600"/>
            <a:ext cx="11185855" cy="548640"/>
          </a:xfrm>
          <a:prstGeom prst="rect">
            <a:avLst/>
          </a:prstGeom>
          <a:noFill/>
          <a:ln/>
        </p:spPr>
        <p:txBody>
          <a:bodyPr wrap="square" lIns="0" tIns="0" rIns="0" bIns="0" rtlCol="0" anchor="t"/>
          <a:lstStyle/>
          <a:p>
            <a:pPr indent="0" marL="0">
              <a:buNone/>
            </a:pPr>
            <a:r>
              <a:rPr lang="en-US" sz="1500" b="1" dirty="0">
                <a:solidFill>
                  <a:srgbClr val="C6FF00"/>
                </a:solidFill>
                <a:latin typeface="Courier New" pitchFamily="34" charset="0"/>
                <a:ea typeface="Courier New" pitchFamily="34" charset="-122"/>
                <a:cs typeface="Courier New" pitchFamily="34" charset="-120"/>
              </a:rPr>
              <a:t>&gt; </a:t>
            </a:r>
            <a:pPr indent="0" marL="0">
              <a:buNone/>
            </a:pPr>
            <a:r>
              <a:rPr lang="en-US" sz="1500" dirty="0">
                <a:solidFill>
                  <a:srgbClr val="F4F4F4"/>
                </a:solidFill>
                <a:latin typeface="Courier New" pitchFamily="34" charset="0"/>
                <a:ea typeface="Courier New" pitchFamily="34" charset="-122"/>
                <a:cs typeface="Courier New" pitchFamily="34" charset="-120"/>
              </a:rPr>
              <a:t>ISO/IEC 38500 SOBRE TU EMPRESA</a:t>
            </a:r>
            <a:endParaRPr lang="en-US" sz="1500" dirty="0"/>
          </a:p>
        </p:txBody>
      </p:sp>
      <p:sp>
        <p:nvSpPr>
          <p:cNvPr id="6" name="Text 4"/>
          <p:cNvSpPr/>
          <p:nvPr/>
        </p:nvSpPr>
        <p:spPr>
          <a:xfrm>
            <a:off x="502920" y="4160520"/>
            <a:ext cx="11185855" cy="822960"/>
          </a:xfrm>
          <a:prstGeom prst="rect">
            <a:avLst/>
          </a:prstGeom>
          <a:noFill/>
          <a:ln/>
        </p:spPr>
        <p:txBody>
          <a:bodyPr wrap="square" lIns="0" tIns="0" rIns="0" bIns="0" rtlCol="0" anchor="t"/>
          <a:lstStyle/>
          <a:p>
            <a:pPr indent="0" marL="0">
              <a:lnSpc>
                <a:spcPct val="110000"/>
              </a:lnSpc>
              <a:buNone/>
            </a:pPr>
            <a:r>
              <a:rPr lang="en-US" sz="1300" dirty="0">
                <a:solidFill>
                  <a:srgbClr val="8C8C8C"/>
                </a:solidFill>
                <a:latin typeface="Arial" pitchFamily="34" charset="0"/>
                <a:ea typeface="Arial" pitchFamily="34" charset="-122"/>
                <a:cs typeface="Arial" pitchFamily="34" charset="-120"/>
              </a:rPr>
              <a:t>En la S02 aplicarán los seis principios de gobierno a las decisiones tecnológicas de la empresa que definieron hoy.</a:t>
            </a:r>
            <a:endParaRPr lang="en-US" sz="1300" dirty="0"/>
          </a:p>
        </p:txBody>
      </p:sp>
      <p:sp>
        <p:nvSpPr>
          <p:cNvPr id="7" name="Text 5"/>
          <p:cNvSpPr/>
          <p:nvPr/>
        </p:nvSpPr>
        <p:spPr>
          <a:xfrm>
            <a:off x="502920" y="5303520"/>
            <a:ext cx="11185855" cy="457200"/>
          </a:xfrm>
          <a:prstGeom prst="rect">
            <a:avLst/>
          </a:prstGeom>
          <a:noFill/>
          <a:ln/>
        </p:spPr>
        <p:txBody>
          <a:bodyPr wrap="square" lIns="0" tIns="0" rIns="0" bIns="0" rtlCol="0" anchor="ctr"/>
          <a:lstStyle/>
          <a:p>
            <a:pPr indent="0" marL="0">
              <a:buNone/>
            </a:pPr>
            <a:r>
              <a:rPr lang="en-US" sz="1400" dirty="0">
                <a:solidFill>
                  <a:srgbClr val="C6FF00"/>
                </a:solidFill>
                <a:latin typeface="Courier New" pitchFamily="34" charset="0"/>
                <a:ea typeface="Courier New" pitchFamily="34" charset="-122"/>
                <a:cs typeface="Courier New" pitchFamily="34" charset="-120"/>
              </a:rPr>
              <a:t>root@planta:~# empresa --definida ✓  siguiente: gobernar _</a:t>
            </a:r>
            <a:endParaRPr lang="en-US" sz="1400" dirty="0"/>
          </a:p>
        </p:txBody>
      </p:sp>
      <p:sp>
        <p:nvSpPr>
          <p:cNvPr id="8" name="Text 6"/>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9" name="Text 7"/>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S01 · TALLER · EMPRESA</a:t>
            </a:r>
            <a:endParaRPr lang="en-US" sz="800" dirty="0"/>
          </a:p>
        </p:txBody>
      </p:sp>
      <p:sp>
        <p:nvSpPr>
          <p:cNvPr id="10" name="Text 8"/>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47 / 47</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Universidad de San Buenaventura — Medellín (Bello)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GOBIERNO DE TI Y SISTEMAS CIBER-FÍSICOS DE PRODUCCIÓN · 2026-2</dc:title>
  <dc:subject>PptxGenJS Presentation</dc:subject>
  <dc:creator>Jorge Andrés Dapena — MSc.</dc:creator>
  <cp:lastModifiedBy>Jorge Andrés Dapena — MSc.</cp:lastModifiedBy>
  <cp:revision>1</cp:revision>
  <dcterms:created xsi:type="dcterms:W3CDTF">2026-09-18T01:07:41Z</dcterms:created>
  <dcterms:modified xsi:type="dcterms:W3CDTF">2026-09-18T01:07:41Z</dcterms:modified>
</cp:coreProperties>
</file>