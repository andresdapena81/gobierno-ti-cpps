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la Sesión 6 para hacer HOY en clase, en equipos, sin acompañamiento del docente. Todo lo necesario está en estas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formato. Recalcar: la presentación completa S06 está disponible si quieren más detalle. La actividad usa la empresa que definieron en el taller S01.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resultados concretos. Cada uno corresponde a una parte de la actividad. Todo se aplica a SU empresa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4ª revolución no añade una máquina: conecta e informatiza lo que ya existe. La mayoría de las plantas hoy están entre 3.0 y 4.0.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CPPS. Lo importante para la actividad: identificar el proceso de su empresa donde hay cómputo + físico +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5C es la herramienta de la Parte C. Fíjense: es una escalera, no se salta niveles. Ubicar honestamente su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9 pilares son el menú de la Parte D. Regla: elegir el pilar que resuelve el mayor dolor con el menor riesgo, no el más llamativo.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simplificada (basada en Acatech). La usarán en la Parte B para autoevaluar su empresa por dimensiones. La mayoría de pymes está en nivel 1–2.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la actividad. Dar la salida a equipos sin empresa: usar La Pradera. El ejemplo aparece resuelto en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A: calentamiento. Ubicar el punto de partida con honestidad. El ejemplo de La Pradera muestra el nivel de detalle esperado.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B: el corazón del diagnóstico. La tabla de autoevaluación está en la siguiente diapositiva, con el ejemplo resuelto.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la tabla que cada equipo debe llenar para SU empresa. En La Pradera las más débiles son datos y ciberseguridad OT (nivel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C: conecta la madurez con la arquitectura técnica. El siguiente paso realista importa más que la meta lejana.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D: la decisión tecnológica. Debe nacer del dolor, no de la moda. Conectar con el dolor definido en S01.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E: la síntesis. La ruta respeta dependencias (conectar → ver → predecir). Una iniciativa por horizonte para que sea realista.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la tabla de ruta. Cada equipo arma la suya. Nótese que la seguridad va en el primer horizonte, no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antes de armar el entregable. Estos son los errores típicos que bajan la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 amarra las 5 partes. Ajustar la vía de entrega (aula virtual, correo) según lo que use el docente. Es evidencia de que trabajaron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Rúbrica clara para que se autoevalúen. El mayor peso es diagnosticar con honestidad y aplicar bien los conceptos.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conceptual. Estas cinco ideas son lo que debían aprender hoy, y las aplicaron en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entregar la ficha antes de salir. La S07 (ISA-95) construye sobre el proceso foco que diagnosticaron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ACTIVIDAD EN CLASE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ACTIVIDAD · SESIÓN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4.0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TU EMPRESA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Actividad autoguiada: ubica tu empresa en la Industria 4.0 y traza su ruta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· Sistemas ciber-físicos    ·    SEMANA 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FUNCIONA LA CLASE DE HOY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AUTÓNOMA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profesor no está hoy: esta actividad se explica sola, síganla en orden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EQUIPO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trabajen con su equipo del proyecto (3–4); un relator toma nota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90 min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el repaso exprés y hagan las 5 partes; al final arman el entregable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Avancen estas diapositivas a su ritmo. Primero un repaso exprés de los conceptos (para no depender de la clase magistral); luego una actividad de 5 partes aplicada a la empresa de su proyecto. Si necesitan profundizar, abran la presentación completa «S06 — Industria 4.0 y CPS».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VAN A LOGRAR HOY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empresa en las cuatro revoluciones industriales.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madurez digital con una rúbrica simple.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proceso foco en la arquitectura 5C.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de los nueve pilares que atacan su mayor dolor.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ruta de adopción realista por horizontes.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REPASO EXPRÉS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necesitan saber para hacer la actividad (léanlo primero)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CUATRO REVOLUCIONES INDUSTRIALES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MECANIZACIÓN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 y agua. s. XVIII.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 EN MASA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Electricidad, línea. ~1870.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AUTOMATIZACIÓN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Electrónica, PLC, TI. ~1970.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CIBER-FÍSICO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IoT, datos, IA, gemelos. Hoy.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UN SISTEMA CIBER-FÍSICO (CPPS)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System: cómputo + red + proceso físico integrados; el software monitorea y controla lo físico en lazo cerrado.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→ PLC → actuador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Production System: los CPS aplicados a la producción, conectados y colaborando en la fábrica.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línea inteligente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ES…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…un PLC aislado ni un IoT de consumo: el CPPS tiene un modelo de su propio proceso y usa datos para decidir.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Más que 'máquina con wifi'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frase: un CPPS es una parte de la planta donde lo físico y el cómputo trabajan juntos con datos. Ese será el foco de su diagnóstico.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ARQUITECTURA 5C — LA ESCALERA DEL CPPS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niveles, de conectar a auto-ajustarse. Sirve para ubicar QUÉ TAN 4.0 está un proceso.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CONNECTION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Conectar: adquirir datos fiables de máquinas y sensores.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CONVERSION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Convertir: datos en información (indicadores, salud del equipo).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CYBER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Modelar: gemelo digital, memoria, comparación entre máquinas.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Diagnosticar: la información apoya la decisión del humano.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CONFIGURATION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Auto-ajustarse: el sistema se reconfigura y se vuelve resiliente.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SE LEE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sube nivel por nivel: sin datos fiables (1) no hay cognición (4). La mayoría de pymes está en 1–2.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NUEVE PILARES DE INDUSTRIA 4.0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'menú' de tecnologías. Nadie las adopta todas: se eligen según el dolor.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Sensórica y conectividad en planta.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NUBE / EDGE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 el dato y el cómputo.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DATA / 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Analítica, predicción, detección de anomalías.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/ SIMULACIÓN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virtual del proceso.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ROBÓTICA / 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Cobots, AGV, realidad aumentada.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CIBERSEGURIDAD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Aditiva, integración y ciberseguridad (transversal).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NIVELES DE MADUREZ DIGITAL (PARA LA PARTE B)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19456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7480" y="1783080"/>
            <a:ext cx="44956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783080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LLAMA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93128" y="1783080"/>
            <a:ext cx="44956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6280" y="1783080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SIGNIFICA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1945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7480" y="2240280"/>
            <a:ext cx="44956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2240280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Informatizar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93128" y="2240280"/>
            <a:ext cx="44956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6280" y="2240280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 TI, pero aislada y sin conectar.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1945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97480" y="2807208"/>
            <a:ext cx="44956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2807208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93128" y="2807208"/>
            <a:ext cx="44956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6280" y="2807208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Máquinas y sistemas empiezan a comunicarse.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1945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97480" y="3374136"/>
            <a:ext cx="44956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3374136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93128" y="3374136"/>
            <a:ext cx="44956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6280" y="3374136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ve en tiempo real lo que pasa (tableros).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1945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97480" y="3941064"/>
            <a:ext cx="44956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3941064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Entender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93128" y="3941064"/>
            <a:ext cx="44956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6280" y="3941064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sabe POR QUÉ pasa (análisis de causas).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21945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450799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97480" y="4507992"/>
            <a:ext cx="44956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70632" y="4507992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Predecir / adaptar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93128" y="4507992"/>
            <a:ext cx="44956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6280" y="4507992"/>
            <a:ext cx="434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anticipa y el sistema se ajusta.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 DE EMPEZAR LA ACTIVIDAD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PROYECTO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usen la empresa y el proceso foco que definieron en el taller S01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REALISMO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diagnostiquen dónde ESTÁ hoy, no dónde les gustaría que estuviera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parte trae un ejemplo con «Lácteos La Pradera» para guiarse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su equipo aún no fijó la empresa del proyecto, usen «Lácteos La Pradera» (una pyme de yogurt cuyo proceso foco es la Línea 2 de envasado) como caso para hoy. Verán su ejemplo resuelto en cada parte.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ACTIVIDAD — 5 PARTES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Apliquen cada parte a su empresa del proyecto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PARTE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A — ¿EN QUÉ REVOLUCIÓN ESTÁ TU EMPRESA?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UBIQUEN EL PUNTO DE PARTIDA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equipo, decidan en qué revolución vive HOY el proceso foco de su empresa y por qué. La mayoría de la industria real está entre 2.0 y 3.0, avanzando hacia 4.0. Justifiquen con evidencia concreta: ¿hay control automático? ¿hay datos conectados? ¿hay modelos que decidan? Escriban una frase con su nivel y una razón.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«Nuestro proceso está en X.0 porque…»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— LA PRADERA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2 está en 3.0: PLC automatiza el llenado, pero los datos no están conectados.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PARTE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B — DIAGNÓSTICO DE MADUREZ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AUTOEVALÚEN 5 DIMENSIONES (NIVEL 1–5)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escala de madurez del repaso, califiquen su proceso foco (1 a 5) en cinco dimensiones: Conectividad de máquinas, Datos y analítica, Ciberseguridad OT, Procesos digitales y Competencias del equipo. Para cada una, anoten el nivel y una frase de por qué. Luego marquen las 2 dimensiones más débiles: ahí está la oportunidad.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5 dimensiones × nivel + 2 dimensiones débiles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= evidencia, no deseo. Si dudan, es más bajo.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PARTE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PLANTILLA DE DIAGNÓSTICO — EJEMPLO LA PRADERA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257800" y="1783080"/>
            <a:ext cx="32154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0952" y="1783080"/>
            <a:ext cx="306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73288" y="1783080"/>
            <a:ext cx="32154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6440" y="1783080"/>
            <a:ext cx="306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47548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de máquinas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57800" y="2240280"/>
            <a:ext cx="32154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2240280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73288" y="2240280"/>
            <a:ext cx="32154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6440" y="2240280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PLC en la Línea 2, sin red de datos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47548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analítica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57800" y="2807208"/>
            <a:ext cx="32154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2807208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73288" y="2807208"/>
            <a:ext cx="32154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6440" y="2807208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en Excel, sin historiador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47548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 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57800" y="3374136"/>
            <a:ext cx="32154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0952" y="3374136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73288" y="3374136"/>
            <a:ext cx="32154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6440" y="3374136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segmentación IT/OT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47548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digitales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57800" y="3941064"/>
            <a:ext cx="32154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0952" y="3941064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73288" y="3941064"/>
            <a:ext cx="32154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6440" y="3941064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Órdenes en papel + ERP básico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47548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450799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del equipo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57800" y="4507992"/>
            <a:ext cx="32154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0952" y="4507992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73288" y="4507992"/>
            <a:ext cx="32154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6440" y="4507992"/>
            <a:ext cx="306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 es una sola persona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PARTE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C — MAPEA TU PROCESO EN LA 5C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¿HASTA QUÉ NIVEL DE LA 5C LLEGA HOY?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la escalera 5C del repaso, ubiquen su proceso foco: ¿llega solo a Connection (1)? ¿Ya convierte datos en información (2)? ¿Tiene algún modelo o gemelo (3)? Marquen el nivel máximo que alcanza HOY y expliquen qué le falta para subir UN escalón. No busquen llegar al 5: busquen el siguiente paso realista.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5C actual + qué falta para subir uno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— LA PRADERA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a nivel 1 (hay señales en el PLC). Para subir a 2: capturar y graficar el OEE.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PARTE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D — ELIGE TU PILAR (DOLOR → TECNOLOGÍA)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1–2 PILARES QUE ATAQUEN TU MAYOR DOLOR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Recuerden el dolor de negocio de su empresa (del taller S01). De los nueve pilares, elijan 1 o 2 que ataquen ese dolor con el menor riesgo. Justifiquen: ¿qué problema resuelve?, ¿qué datos necesita?, ¿por qué ese y no otro? Eviten elegir 'IA' por moda: elijan lo que resuelve el dolor real.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→ pilar elegido → por qué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— LA PRADERA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Dolor: microparos y trazabilidad. Pilar: IIoT para capturar OEE y trazar lote. IA aún no.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PARTE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E — TRAZA LA RUTA DE ADOPCIÓN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 / SIGUIENTE / DESPUÉS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Ordenen su digitalización en tres horizontes. AHORA (0–6 m): conectar y ver (quick wins) + seguridad básica. SIGUIENTE (6–18 m): analítica o el pilar elegido. DESPUÉS (18+ m): optimización o gemelo. Respeten las dependencias: no hay predicción sin datos, ni datos sin conexión. Una iniciativa por horizonte basta.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horizontes con 1 iniciativa cada uno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— LA PRADERA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conectar Línea 2 + OEE. Siguiente: trazabilidad de lote. Después: predictivo de la selladora.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PARTE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RUTA, EN UNA TABLA — EJEMPLO LA PRADERA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INICIATIVA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 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(0–6 m)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 Línea 2 + tablero OEE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(0–6 m)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Segmentar red IT/OT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(6–18 m)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 de lote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+ OEE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(18+ m)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Predictivo de la selladora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8888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040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históricos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ACTIVIDAD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A EVITAR EN LA ACTIVIDAD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INFLAR EL NIVEL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Diagnostiquen dónde están, no dónde quisieran estar.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SALTAR ESCALONES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analítica sin datos, ni datos sin conexión.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POR MODA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Elijan la tecnología por el dolor, no porque suene bien.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IRREAL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iniciativa por horizonte; respeten dependencias.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OLVIDAR LA SEGURIDAD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ciberseguridad OT va desde el primer horizonte.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 Y 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entregar hoy y cómo se evalúa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ENTREGA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ENTREGABLE DE HOY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FINAL DE LA CLASE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FICHA DE DIAGNÓSTICO 4.0 (1–2 PÁGINAS)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documento por equipo con las 5 partes: (A) revolución actual + razón, (B) tabla de madurez de 5 dimensiones + las 2 más débiles, (C) nivel 5C actual + siguiente paso, (D) dolor → pilar elegido + por qué, (E) tabla de ruta por horizontes. Pongan el nombre de la empresa y de todos los integrantes.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páginas · un documento por equipo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ENTREGAR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Súbanlo al aula virtual / envíenlo al docente hoy mismo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ENTREGA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SE EVALÚA (SEGUIMIENTO)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5720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74920" y="1783080"/>
            <a:ext cx="33069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8072" y="1783080"/>
            <a:ext cx="316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BUSCAMOS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381848" y="1783080"/>
            <a:ext cx="33069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5000" y="1783080"/>
            <a:ext cx="316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45720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honesto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2240280"/>
            <a:ext cx="33069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2240280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 con evidencia, no inflados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81848" y="2240280"/>
            <a:ext cx="33069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5000" y="2240280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45720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los conceptos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4920" y="2807208"/>
            <a:ext cx="33069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2807208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5C, madurez y pilares bien aplicados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81848" y="2807208"/>
            <a:ext cx="33069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5000" y="2807208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45720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→ tecnología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74920" y="3374136"/>
            <a:ext cx="33069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3374136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pilar responde al dolor real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81848" y="3374136"/>
            <a:ext cx="33069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5000" y="3374136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45720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realista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74920" y="3941064"/>
            <a:ext cx="33069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3941064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Horizontes con dependencias correctas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81848" y="3941064"/>
            <a:ext cx="33069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5000" y="3941064"/>
            <a:ext cx="3160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LLEVAR DE LA SESIÓN DE HOY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 4.0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comprar tecnología: es conectar, ver y decidir con datos.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MADUREZ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empieza en nivel 1–2; el valor está en subir un escalón.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sube nivel por nivel: sin datos no hay inteligencia.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DOLOR PRIMERO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se elige por el problema que resuelve.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POR FASES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/ Siguiente / Después, respetando dependencias.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07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 Y LA PIRÁMIDE DE AUTOMATIZACIÓN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próxima sesión modelaremos la arquitectura del proceso por niveles (ISA-95). Traigan su ficha de diagnóstico de hoy.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diagnostico-4.0 --entregado ✓  siguiente: arquitectura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ACTIVIDAD 4.0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2026-09-18T01:07:40Z</dcterms:created>
  <dcterms:modified xsi:type="dcterms:W3CDTF">2026-09-18T01:07:40Z</dcterms:modified>
</cp:coreProperties>
</file>