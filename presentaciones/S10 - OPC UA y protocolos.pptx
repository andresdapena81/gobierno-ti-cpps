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Unidad 3. OPC UA es el estándar que unifica el dato del CPPS. Primer laboratorio práctico de integración.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 torre de Babel de protocolos a OPC UA como idioma común. Sesión técnica con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(IEC 62541) es el estándar clave de interoperabilidad industrial. Su fuerte: modelo semántico y seguridad integrada.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práctico: entender y usar OPC UA como base de la integración del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generaciones conviven. OPC UA es la capa de interoperabilidad, no un reemplazo del control determinista del fieldbus.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que dominarlos todos; sí reconocerlos. Cada fabricante empuja el suyo: fuente de lock-in y de complejidad.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resuelve tres carencias: semántica, seguridad, neutralidad. Por eso es el estándar de interoperabilidad del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destaca por semántica + seguridad. MQTT brilla en telemetría ligera (S11). Se complementan.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interoperabilidad conecta con el gobierno (APO03, adquisición). Exigir OPC UA en compras es una palanca de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redes OT tienen requisitos propios. TSN busca llevar determinismo al Ethernet estándar (sección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información es lo que distingue a OPC UA. Autodescriptivo: el cliente descubre y entiende la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address space es un grafo de nodos y referencias. El cliente lo explora con Browse. Se verá en 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servicios son estándar y ricos. Subscribe (suscripción a cambios) es más eficiente que sondear (polling).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companion specs son el mecanismo de interoperabilidad semántica. umati (máquina-herramienta) es el caso emblemático.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Classic (DCOM) era frágil e inseguro. OPC UA lo moderniza. La migración es común y recomendable.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semántica es el gran diferenciador. Conecta con gobierno del dato (S13): datos con contexto son datos gobernables.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fue diseñado con seguridad desde el inicio, a diferencia de Modbus/PROFINET. Es una ventaja clave para OT conectada.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gobierno: prohibir modo None en producción. El laboratorio del curso lo usa solo en red aislada.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gestión de certificados (PKI) es el reto operativo de la seguridad OPC UA. Certificados vencidos = comunicación caída.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Enlaza con S14. OPC UA seguro es una capa; la segmentación y la DMZ son otra. Defensa en profundidad.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de seguridad para adoptar OPC UA. Los protocolos clásicos asumen red aislada; el mundo conectado los expone.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GDS es clave para operar OPC UA seguro en plantas grandes. Sin gestión centralizada, la PKI colapsa.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política de seguridad OPC UA por entorno. El proyecto puede adoptar una tabla así como control de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PubSub añade el patrón pub/sub al estándar. Puede correr sobre MQTT: semántica UA + eficiencia MQTT.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+ TSN es la visión de una red industrial unificada y determinista. Tendencia fuerte 2024-2026.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companion specs son el ecosistema que hace real la interoperabilidad. umati es el faro; OPC UA FX extiende al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Desactivar el falso debate OPC UA vs MQTT. Se complementan; incluso OPC UA PubSub puede correr sobre MQTT.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 UA se posiciona como estándar transversal del CPPS. Adoptarlo es una decisión de arquitectura (APO03).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muestra lo esencial: conectar, navegar (Browse), leer. En clase se usa UaExpert y/o asyncua contra un servidor simulado.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NodeId y los atributos (calidad, timestamp) son la base de la confianza en el dato. Clave para S13.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Ubica OPC UA en la arquitectura completa. Enlaza S08 (RAMI), S11 (MQTT) y S14 (seguridad).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pila es gratuita/abierta. Permite montar un entorno OPC UA completo sin depender de un fabricante.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Lab 5 hace tangible OPC UA. La captura Wireshark en modo None demuestra por qué cifrar. Guía en el PDF de ejercicios.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prácticas para el proyecto. La interoperabilidad es también una decisión de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Verificar la diferencia entre dato (Modbus) e información con semántica (OPC UA).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Desmontar mitos comunes sobre OPC UA. Es abierto, seguro y moderno. Cierra la sesión con claridad.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S11 complementa OPC UA con MQTT y el Unified Namespace, cerrando la capa de integración.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OPC UA e interoperabilidad.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OPC UA y protocolos industriales.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S11 completa la integración con MQTT y el UNS, la arquitectura de datos moderna de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opcfoundation.org/about/opc-technologies/opc-ua/" TargetMode="External"/><Relationship Id="rId2" Type="http://schemas.openxmlformats.org/officeDocument/2006/relationships/hyperlink" Target="https://reference.opcfoundation.org/" TargetMode="External"/><Relationship Id="rId3" Type="http://schemas.openxmlformats.org/officeDocument/2006/relationships/hyperlink" Target="https://opcfoundation.org/" TargetMode="External"/><Relationship Id="rId4" Type="http://schemas.openxmlformats.org/officeDocument/2006/relationships/hyperlink" Target="https://www.open62541.org/" TargetMode="External"/><Relationship Id="rId5" Type="http://schemas.openxmlformats.org/officeDocument/2006/relationships/hyperlink" Target="https://opcua-asyncio.readthedocs.io/" TargetMode="External"/><Relationship Id="rId6" Type="http://schemas.openxmlformats.org/officeDocument/2006/relationships/hyperlink" Target="https://webstore.iec.ch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10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PROTOCOLOS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Interoperabilidad industrial: el idioma común entre máquinas, IT y 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 · Convergencia IT/OT    ·    SEMANA 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de protocolos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Modbus, PROFINET, EtherNet/IP y compañía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información, espacio de direcciones y servicios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OPC UA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Modos, certificados y perfiles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PubSub, TSN y companion specs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hacia el tiempo real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y cliente OPC UA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la interoperabilidad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OPCUA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UNIFIED ARCHITECTURE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62541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 1-4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Foundation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62541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 a objetos, semántico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Cliente/servidor y PubSub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 SO y fabricante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IT/OT del CPPS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OPCUA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protocolos industriales según su capa y propósito.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información y el espacio de direcciones de OPC UA.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modos y perfiles de seguridad de OPC UA.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cliente/servidor de PubSub y el rol de TSN.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y un cliente OPC UA en el laboratorio.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PANORAMA DE PROTOCOLOS INDUSTRIALES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torre de Babel del piso de planta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PROTOCOLOS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GENERACIONES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FIELDBUS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 de campo clásicos: Modbus, PROFIBUS, DeviceNet. Seriales, deterministas, propietarios.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Modbus RTU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ETHERNET INDUSTRIAL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Ethernet: PROFINET, EtherNet/IP, EtherCAT. Más ancho de banda y determinismo.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IIOT / SEMÁNTICO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y MQTT: interoperables, seguros, con significado del dato.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planta acumula tres generaciones de protocolos coexistiendo. OPC UA no reemplaza los buses de control: los unifica hacia arriba, dándoles un idioma común.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PROTOCOLOS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PROTOCOLOS QUE VERÁS EN PLANTA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zoológico de protocolos industriales más común.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MODBUS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ubicuo, sin seguridad. RTU (serial) y TCP.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PROFINET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industrial de Siemens; muy extendido.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ETHERNET/IP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industrial de Rockwell (CIP).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ETHERCAT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 baja latencia para motion control.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PROFIBUS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Fieldbus serial clásico, aún muy presente.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/ MQTT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y datos hacia IT (S10-11).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PROTOCOLOS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RESUELVE OPC UA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necesitaba un estándar de interoperabilidad.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FRAGMENTACIÓN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protocolo habla distinto; integrar exige convertidores a medida.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SEMÁNTICA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da 'el registro 40001 = 72', pero no qué significa 72.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SEGURIDAD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protocolos clásicos no cifran ni autentican.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RESUELVE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Semántica, seguridad e independencia de plataforma en un solo estándar.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PROTOCOLOS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COMPARACIÓN RÁPIDA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281421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2667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SEMÁNTICA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60338" y="1783080"/>
            <a:ext cx="281421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3490" y="1783080"/>
            <a:ext cx="2667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74557" y="1783080"/>
            <a:ext cx="281421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7709" y="1783080"/>
            <a:ext cx="2667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240280"/>
            <a:ext cx="281421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240280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0338" y="2240280"/>
            <a:ext cx="281421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3490" y="2240280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74557" y="2240280"/>
            <a:ext cx="281421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7709" y="2240280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simple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2807208"/>
            <a:ext cx="281421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807208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60338" y="2807208"/>
            <a:ext cx="281421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3490" y="2807208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74557" y="2807208"/>
            <a:ext cx="281421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7709" y="2807208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374136"/>
            <a:ext cx="281421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374136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60338" y="3374136"/>
            <a:ext cx="281421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3490" y="3374136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74557" y="3374136"/>
            <a:ext cx="281421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47709" y="3374136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Interoperar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41064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9410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46120" y="3941064"/>
            <a:ext cx="281421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3941064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Sparkplug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60338" y="3941064"/>
            <a:ext cx="281421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33490" y="3941064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(TLS)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74557" y="3941064"/>
            <a:ext cx="281421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47709" y="3941064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Telemetría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PROTOCOLOS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INTEROPERABILIDAD COMO DECISIÓN DE GOBIERNO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LOCK-IN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propietarios atan a un fabricante por décadas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ESTÁNDAR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exigir OPC UA reduce dependencia y costo de integración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APO03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 protocolos es arquitectura, no solo ingeniería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protocolos abiertos y semánticos (OPC UA) es una decisión de gobierno de arquitectura (APO03): reduce el lock-in, baja el costo de integración y prepara la planta para la analítica. Dejar que cada área elija su protocolo genera deuda.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PROTOCOLOS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REDES OT FRENTE A REDES 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industrial tiene exigencias distintas a la ofimática.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DETERMINISMO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exige latencia y jitter garantizados; IT tolera variabilidad.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red OT caída detiene la producción; se prioriza sobre todo.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LONGEVIDAD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red OT de 15+ años; IT se renueva cada 3–5.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usa protocolos industriales; IT, TCP/IP genérico. OPC UA los une.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— MODELO DE INFORMACIÓN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solo datos: datos con significado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PILARES DE OPC UA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INFORMACIÓN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datos como objetos con tipos, propiedades y relaciones. Semántica, no solo valores.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bomba es un objeto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ESPACIO DE DIRECCIONES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grafo de nodos navegable donde vive toda la información del servidor.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space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estándar: leer, escribir, suscribirse, llamar métodos, navegar.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Subscribe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gran diferencia de OPC UA: no expone 'registros' sino objetos con significado. Un cliente puede navegar el servidor y entender qué es cada cosa sin documentación externa.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ESPACIO DE DIRECCIONES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OPC UA es un nodo en un grafo navegable.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Objetos, variables, métodos, tipos: cada uno un nodo con NodeId único.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entre nodos (contiene, es-tipo-de, organiza): forman el grafo.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ATRIBUTOS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nodo tiene atributos (valor, tipo de dato, calidad, timestamp).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recorre el grafo (Browse) y descubre la estructura del servidor.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SERVICIOS DE OPC UA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estándar que ofrece un servidor OPC UA.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BROWSE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Navegar el espacio de direcciones.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/ WRITE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y escribir valores de nodos.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SUBSCRIBE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Recibir notificaciones ante cambios (monitored items).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Invocar métodos expuestos por el servidor.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Acceder a datos históricos (HA).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Recibir eventos y alarmas.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MODELADO DE INFORMACIÓN — COMPANION SPECS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SEMÁNTICA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VOCABULARIOS POR DOMINIO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permite definir modelos de información estándar por industria (companion specifications): cómo se representa una máquina-herramienta (umati), una línea de empaque (PackML/OMAC), un robot, un dispositivo de laboratorio. Así, dos máquinas de fabricantes distintos exponen su información de la misma forma: interoperabilidad real.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umati · PackML · OPC UA for Robotics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Plug-and-produce entre fabricantes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FRENTE A OPC CLASSIC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superó las limitaciones del OPC clásico (OPC DA).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CLASSIC (DA)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COM/DCOM de Windows: atado a la plataforma, difícil de asegurar y de cruzar firewalls.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 plataforma, con seguridad integrada, semántica y transporte moderno.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plantas migran de OPC Classic a UA por seguridad e interoperabilidad.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 wrappers/gateways OPC Classic ↔ UA para la transición.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LA SEMÁNTICA CAMBIA EL JUEGO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AUTO-DESCRIPTIVO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entiende el servidor sin documentación externa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MENOS INTEGRACIÓN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companion specs, conectar una máquina nueva es casi plug-and-play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ANALÍTICA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 contexto habilitan IA y gemelos fiables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semántica de OPC UA transforma el dato de 'número anónimo' a 'información con contexto'. Eso reduce el costo de integración, habilita el plug-and-produce y hace posible una analítica confiable. Es la base del gobierno del dato (S13).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DE OPC UA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integrada por diseño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INTEGRADA, NO AÑADIDA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incorpora seguridad en el estándar, no como parche.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aplicación (certificados) y de usuario (usuario/clave, certificado, token).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CIFRADO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mensajes se cifran para confidencialidad en tránsito.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de mensajes para detectar manipulación.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AUTORIZACIÓN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 a nodos por usuario/rol.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AUDITORÍA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de auditoría para trazabilidad.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PKI: cada aplicación tiene su certificado; confianza gestionada.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MODOS DE SEGURIDAD DE MENSAJE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ofrece tres modos según la necesidad.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seguridad. Solo para pruebas en red aislada. Nunca en producción.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firmados: integridad y autenticidad, sin cifrado.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&amp; ENCRYPT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Firmados y cifrados: integridad, autenticidad y confidencialidad. Recomendado.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CERTIFICADOS Y CONFIANZA (PKI)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CONFIANZA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QUIÉN CONFÍA EN QUIÉN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aplicación OPC UA (cliente y servidor) tiene un certificado. Para comunicarse, deben confiar mutuamente en sus certificados. Esto exige una gestión de PKI: emitir, distribuir, renovar y revocar certificados. En una planta con cientos de dispositivos, gestionar la confianza es un reto operativo y de gobierno.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· distribución · renovación · revocación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vencidos que paran la comunicación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OPC UA Y EL MODELO PURDUE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del protocolo no reemplaza la arquitectura de red segura.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DEFENSA EN CAPAS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seguro + segmentación de red + DMZ industrial (S14).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BASTA EL PROTOCOLO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OPC UA cifrado en una red plana sigue siendo vulnerable a movimiento lateral.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MENOR SUPERFICIE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 solo los nodos necesarios; principio de mínimo privilegio.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seguridad OPC UA como parte del programa de ciberseguridad OT.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SEGURIDAD QUE OTROS PROTOCOLOS NO TIENEN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MODBUS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autenticación ni cifrado: cualquiera en la red puede leer/escribir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autenticación, cifrado, firma y auditoría en el estándar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de protocolos inseguros a OPC UA reduce el riesgo 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los protocolos industriales clásicos no tienen seguridad: fueron diseñados para redes aisladas que ya no existen. OPC UA la incorpora nativamente. Migrar hacia OPC UA seguro es una de las mejoras de seguridad OT de mayor impacto.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DESCUBRIMIENTO Y GESTIÓN CENTRALIZADA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OPERACIÓN A ESCALA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GDS Y CONFIANZA GESTIONADA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planta con cientos de aplicaciones OPC UA, gestionar certificados uno a uno es inviable. El Global Discovery Server (GDS) centraliza el descubrimiento de servidores y la gestión de certificados (emisión, renovación, listas de confianza y revocación). Es la pieza que hace operable la seguridad OPC UA a escala.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RESUELVE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 · PKI centralizada · revocación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ÉL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manual inviable a escala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POLÍTICA DE SEGURIDAD OPC UA (MODELO)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29184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ENTORNO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1783080"/>
            <a:ext cx="394700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1783080"/>
            <a:ext cx="380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41768" y="1783080"/>
            <a:ext cx="394700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4920" y="1783080"/>
            <a:ext cx="380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2918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2240280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240280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&amp; Encrypt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41768" y="2240280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4920" y="2240280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Certificado + usuario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2918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2807208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807208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&amp; Encrypt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41768" y="2807208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4920" y="2807208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2918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aislado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3374136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374136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(temporal)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41768" y="3374136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4920" y="3374136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Anónimo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2918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Internet/remoto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94760" y="3941064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3941064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Prohibido directo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41768" y="3941064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4920" y="3941064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Vía VPN/DMZ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HACIA EL TIEMPO REAL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PubSub, TSN y el futuro del estándar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PUBSUB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CLIENTE/SERVIDOR VS PUBSUB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27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CLIENTE/SERVIDOR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punto a punto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Petición-respuesta y suscripción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Bueno para SCADA-máquina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sobrecarga por conexión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tradicional de OPC UA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PUBSUB (PUBLICACIÓN/SUSCRIPCIÓN)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a muchos vía broker/multicast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Desacoplado y escalable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Bueno para telemetría masiva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latencia y sobrecarga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Acerca OPC UA al mundo MQTT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 PubSub puede correr sobre MQTT o UDP/multicast, combinando semántica UA con la eficiencia de pub/sub.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46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PUBSUB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SOBRE TSN — CONTROL DETERMINISTA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REAL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SEMÁNTICA Y DETERMINISMO JUNTOS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TSN (Time-Sensitive Networking) lleva determinismo al Ethernet estándar. OPC UA PubSub sobre TSN permite comunicación con latencia garantizada y semántica rica: apto incluso para control en tiempo real. Es la convergencia hacia una única red industrial que sirve del sensor a la nube.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determinista con semántica UA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TENDENCIA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red del sensor a la nube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46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PUBSUB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COMPANION SPECIFICATIONS DESTACADAS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información estándar por dominio.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UMATI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Máquinas-herramienta: interoperabilidad entre fabricantes.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PACKML / OMAC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de empaque: estados y modos estándar.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ROBOTICS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industriales: datos y capacidades comunes.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automática (RFID, códigos).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FX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eXchange: comunicación controlador-a-controlador.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INDUSTRIA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especificaciones por sector y por dispositivo.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46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PUBSUB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Y MQTT — ¿RIVALES?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estándares que se complementan más de lo que compiten.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 en semántica y seguridad; ideal servidor-máquina y modelado.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MQTT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Ligero y desacoplado; ideal telemetría masiva a la nube (S11).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PubSub puede usar MQTT como transporte: lo mejor de ambos.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'uno u otro': se eligen por caso de uso dentro de la arquitectura.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46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PUBSUB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COMO COLUMNA DEL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sensor (FX) al MES y la nube: un solo estándar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SEMÁNTICA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 significado en toda la pila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integrada de extremo a extremo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PubSub, TSN, FX y companion specs, OPC UA aspira a ser la columna vertebral de datos del CPPS: del control al negocio, con semántica y seguridad. Adoptarlo como estándar de referencia es una decisión de arquitectura estratégica.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46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LABORATORIO — OPC UA EN ACCIÓN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Servidor, cliente y espacio de direcciones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46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EXPLORAR UN SERVIDOR OPC UA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2788920"/>
          </a:xfrm>
          <a:prstGeom prst="roundRect">
            <a:avLst>
              <a:gd name="adj" fmla="val 1639"/>
            </a:avLst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11185855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9110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110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16152" y="19110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78308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asyncua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63721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Cliente OPC UA con la librería asyncua (Python)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asyncua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asyncua import Client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Client('opc.tcp://localhost:4840') as c: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 = c.nodes.root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objs = await c.nodes.objects.get_children()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print(objs)   # descubre el espacio de direcciones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[Temperatura, Presion, Motor, ...]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await c.get_node('ns=2;s=Temperatura').read_value()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72.4  # valor leído con contexto y timestamp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773168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6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laboratorio levanta un servidor OPC UA simulado (Prosys/open62541) y lo explora con un cliente (UaExpert o Python asyncua): navegar el grafo, leer/escribir nodos y suscribirse a cambios.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ANATOMÍA DE UN NODEID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identifica cada nodo del espacio de direcciones.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NAMESPACE (NS)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del espacio de nombres: separa los nodos del servidor de los del estándar.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IDENTIFICADOR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Numérico (i=), cadena (s=), GUID o ByteString. Ej.: ns=2;s=Temperatura.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ATRIBUTOS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DataType, StatusCode (calidad), SourceTimestamp.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valor viene con calidad y timestamp: fundamental para confiar en el dato.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EN LA ARQUITECTURA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encaja OPC UA en lo que ya diseñaron.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 COMMUNICATION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es la capa de comunicación de RAMI (S08).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MÁQUINA → BORDE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máquinas exponen OPC UA; el borde lo consume.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HACIA EL UNS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borde traduce OPC UA a MQTT/Sparkplug (S11).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seguro + segmentación de red (S14).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 DEL LABORATORIO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 abierta para practicar OPC UA sin licencias.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PROSYS SIM 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OPC UA de simulación gratuito para pruebas.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OPEN62541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open source de OPC UA en 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UAEXPERT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gráfico para navegar y probar servidores.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PYTHON-ASYNCUA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 Python para clientes y servidores OPC UA.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WIRESHARK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el tráfico OPC UA (y ver por qué cifrar).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NODE-RED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OPC UA para orquestar flujos (S11).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46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GUÍA DEL LAB 5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OPERAR OPC UA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Levanta un servidor OPC UA simulado. 2) Con UaExpert/asyncua, navega su espacio de direcciones y documenta la estructura. 3) Lee y escribe nodos; configura una suscripción a cambios. 4) Captura tráfico en modo None con Wireshark y compáralo con Sign&amp;Encrypt. Entregable: documentación del servidor + evidencia de la suscripción.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Prosys/open62541 · UaExpert · asyncua · Wireshark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+ evidencia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46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EXIGE OPC UA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 OPC UA en las compras de maquinaria nueva.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COMPANION SPECS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Aprovecha modelos estándar (umati, PackML) si aplican.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CIFRA SIEMPRE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&amp; Encrypt en producción; None solo en laboratorio aislado.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GESTIONA CERTIFICADOS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 la PKI: emisión, renovación y revocación.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 CON MQTT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para máquina, MQTT para telemetría (S11).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46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46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con semántica, seguridad y neutralidad (IEC 62541).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DE INFORMACIÓN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con significado en un espacio de direcciones navegable.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&amp; Encrypt en producción; gestión de certificados.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PUBSUB/TSN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hacia el tiempo real y una red unificada.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COMPANION SPECS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estándar por dominio (umati, PackML).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46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UA — MITOS Y REALIDADES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Aclarar confusiones frecuentes.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'ES LENTO'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Cliente/servidor tiene overhead, pero PubSub/TSN alcanza tiempo real.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'REEMPLAZA A MQTT'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se complementan; incluso corren juntos (S11).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'ES INSEGURO'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contrario: seguridad integrada, a diferencia de Modbus.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'ES SOLO SIEMENS'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estándar abierto y neutral (OPC Foundation).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46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3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· hoy.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 / UNS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 y namespace unificado.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GEMELOS DIGITALES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y réplica.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/ OEE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datos y analítica.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46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Platform Communications Unified Architecture (IEC 62541).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Espacio de direcciones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nodos navegable del servidor.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único de un nodo.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Companion spec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información estándar por dominio.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&amp; Encrypt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seguridad con integridad y confidencialidad.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PubSub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publicación/suscripción de OPC UA.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Time-Sensitive Networking: Ethernet determinista.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umati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spec de máquinas-herramienta.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46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Foundation — OPC UA (tecnología y especificaciones)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https://opcfoundation.org/about/opc-technologies/opc-ua/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— especificaciones online (reference)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https://reference.opcfoundation.org/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Foundation — companion specs (umati, PackML, FX)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https://opcfoundation.org/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open62541 — implementación abierta de OPC UA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https://www.open62541.org/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python-asyncua — librería OPC UA (docs)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https://opcua-asyncio.readthedocs.io/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62541 — OPC UA (texto normativo)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https://webstore.iec.ch/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46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11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MQTT, SPARKPLUG B Y EL UNIFIED NAMESPACE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Publicación/suscripción ligera, Sparkplug B y el diseño del namespace unificado de la planta.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11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· OPC UA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46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