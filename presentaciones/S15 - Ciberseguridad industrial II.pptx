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de ciberseguridad. Del control técnico (S14) a la gestión: riesgo, cumplimiento y continuidad. Lab 9 y Evaluación de caso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gobernar el riesgo (CSF) a cumplir (legal) y a resistir (continuidad).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CSF 2.0 (2024) añadió la función 'Gobernar', alineándose con COBIT. Riesgo, cumplimiento y continuidad son el foco.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entregable: la evaluación de riesgo IT/OT del proyecto, insumo del documento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funciones dan un ciclo completo. 'Gobernar' es nueva en 2.0 (2024) y envuelve a las otras cinco: es el puente con COBIT.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'Gobernar' cierra el círculo del curso: la seguridad es materia de gobierno. Alinea CSF con COBIT y 38500.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función se aterriza en OT. 'Identificar' (el inventario de activos OT) suele ser el punto de partida más débil.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inventario OT es el punto de partida. Su ausencia bloquea todos los demás controles. Debilidad frecuentísima.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completo de marcos de seguridad. Coherencia del curso: gobierno → gestión → técnica.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perfiles del CSF son análogos al diseño a medida de COBIT. La brecha prioriza. Reutiliza la lógica de S04.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impacto OT es multidimensional. La seguridad física puede convertir un riesgo IT 'bajo' en OT 'crítico'.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proceso sigue ISO 31000 / IEC 62443-3-2. Es el mismo ciclo de APO12 (S05), aplicado a 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mapa de calor prioriza. Los riesgos 'Alto' se tratan primero. El proyecto construye el suyo en el Lab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Mapear controles a marcos hace la evaluación auditable. Es lo que se espera en el Entregable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riesgo residual es inevitable. Gobernarlo es aceptarlo conscientemente dentro del apetito. Conecta con EDM03 (S05).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herramientas van del inventario (descubrimiento) al análisis (matriz, ATT&amp;CK) y la comunicación (mapa de calor). MITRE ATT&amp;CK for ICS es el catálogo de referencia.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marco legal colombiano. La Ley 1581 aplica a datos de operarios; la 1273 tipifica los ataques. CONPES 3995 orienta.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cumplimiento se aterriza en controles. La SIC sanciona el incumplimiento de protección de datos. Riesgo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cumplimiento no es solo obligación: habilita negocio (exportar exige trazabilidad y a veces certificaciones).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cumplimiento es gobierno (MEA03, principio 5). Habilita y protege. El proyecto lo incluye en su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consecuencias del incumplimiento son reales: multas de la SIC, riesgo penal y pérdida de contratos. Justifica invertir en cumplimiento.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ciclo de respuesta (NIST SP 800-61 adaptado a OT). En OT, contener puede significar pasar a modo manual, no apagar.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tabletops validan el plan barato. Ensayar el modo manual (Norsk Hydro) es clave en 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RTO (tiempo) y RPO (datos) son las métricas de continuidad. En OT, el modo manual es a menudo el plan de contingencia.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respuesta OT prioriza mantener la operación (modo manual). Los ejercicios de mesa son clave: un plan no ensayado falla.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backup aislado y probado es la red de seguridad final. En OT, respaldar configuraciones de control es vital.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Lab 9 es el núcleo de seguridad del proyecto final. Guía detallada en el PDF de ejercicios.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Recordatorio de la Evaluación de caso 2. Formato de caso de análisis, no memorístico ni de selección múltiple. Cubre U2-U3 + S14.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programa completo integra las seis funciones del CSF. El proyecto debe tocar todas, aunque sea a nivel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Anclar cada control a 62443 y CSF hace la evaluación auditable y defendible. Es lo que se espera en el documento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errores de seguridad OT son mayormente de gobierno. Cierra la coherencia del curso: gobierno primero.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 S16. La seguridad, como toda inversión, se justifica con un caso de negocio. Cierra el arco gobierno-técnica-valor.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Orientaciones para integrar seguridad, cumplimiento y continuidad en el proyecto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y cierre de la ciberseguridad. Verificar las seis funciones del CSF y RTO/RPO.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'higiene básica' resuelve la mayoría del riesgo con poco costo. Antes de comprar herramientas sofisticadas, hacer bien lo básico.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S16 cierra el curso integrando todo en un caso de negocio y una hoja de ruta de adopción.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gestión de riesgo, cumplimiento y continuidad.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gestión de riesgo, cumplimiento colombiano y continuidad.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S16 cierra el curso: cómo justificar y planificar la transformación digital industrial. Recordar la Evaluación de caso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nist.gov/cyberframework" TargetMode="External"/><Relationship Id="rId2" Type="http://schemas.openxmlformats.org/officeDocument/2006/relationships/hyperlink" Target="https://csrc.nist.gov/pubs/sp/800/82/r3/final" TargetMode="External"/><Relationship Id="rId3" Type="http://schemas.openxmlformats.org/officeDocument/2006/relationships/hyperlink" Target="http://www.secretariasenado.gov.co/senado/basedoc/ley_1273_2009.html" TargetMode="External"/><Relationship Id="rId4" Type="http://schemas.openxmlformats.org/officeDocument/2006/relationships/hyperlink" Target="http://www.secretariasenado.gov.co/senado/basedoc/ley_1581_2012.html" TargetMode="External"/><Relationship Id="rId5" Type="http://schemas.openxmlformats.org/officeDocument/2006/relationships/hyperlink" Target="https://www.dnp.gov.co/" TargetMode="External"/><Relationship Id="rId6" Type="http://schemas.openxmlformats.org/officeDocument/2006/relationships/hyperlink" Target="https://www.iso.org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15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CIBERSEGURIDAD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INDUSTRIAL II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CSF 2.0, riesgo IT/OT, cumplimiento y continuidad del negocio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U4 · Riesgo ciber-físico    ·    SEMANA 15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seis funciones y su articulación con COBIT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riesgo IT/OT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Probabilidad, impacto y controles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legal colombiano y sectorial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 del negocio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RTO/RPO y respuesta a incidentes OT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9 y síntesis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 de riesgo del proyecto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y Evaluación de caso 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GESTIÓN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DEL RIESGO OT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FUNCIONES NIST CSF 2.0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P×I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RTO/RPO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CONTINUIDAD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1581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LEY COLOMBIANA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CSF 2.0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Gobernar, Identificar, Proteger, Detectar, Responder, Recuperar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NOVEDAD 2.0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'Gobernar' añadida (2024)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en producción, personas y ambiente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1581, Decreto 1074, CONPES 3995, Ley 1273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CONTINUIDAD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RTO/RPO en líneas de producción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EDM03, APO12, DSS04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GESTIÓN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seis funciones de NIST CSF 2.0 a un entorno OT.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evaluación de riesgo IT/OT con controles.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obligaciones legales aplicables en Colombia.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RTO/RPO y un plan de respuesta a incidentes OT.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registro de riesgos del proyecto (Lab 9).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NIST CYBERSECURITY FRAMEWORK 2.0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 lenguaje común de gestión del riesgo cibernético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CSF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SEIS FUNCIONES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 organiza la ciberseguridad en seis funciones.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GOBERNAR (NUEVA)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Estrategia, roles, política y supervisión del riesgo cibernético.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IDENTIFICAR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Conocer activos, riesgos y contexto (no se protege lo que no se conoce).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PROTEGER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Salvaguardas: acceso, cifrado, segmentación, formación.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eventos y anomalías a tiempo.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Actuar ante un incidente: contener, comunicar, mitigar.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RECUPERAR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Restaurar servicios y aprender del incidente.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CSF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SE AÑADIÓ 'GOBERNAR'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NOVEDAD 2.0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PUENTE CON EL GOBIERNO DE TI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CSF 2.0 (2024) añadió la función Gobernar porque la ciberseguridad no es solo técnica: necesita estrategia, roles, política y supervisión de la dirección. Es exactamente lo que vimos en la Unidad 1 (EDM, apetito de riesgo, responsabilidad). Con 'Gobernar', el CSF se articula naturalmente con COBIT y 38500.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GOBERNAR CUBRE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· roles · política · supervisión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ALINEA CON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 EDM03, ISO 38500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CSF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FUNCIONES APLICADAS A OT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74320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596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FUNCIÓN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46120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UN CPPS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67448" y="1783080"/>
            <a:ext cx="422132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0600" y="1783080"/>
            <a:ext cx="407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Inventario 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67448" y="2240280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0600" y="2240280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Activos, zonas, riesgos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Segmentar/endurecer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67448" y="2807208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0600" y="2807208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DMZ, MFA remoto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46120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Monitoreo OT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467448" y="3374136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0600" y="3374136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 de red 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74320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 de incidentes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67448" y="3941064"/>
            <a:ext cx="422132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0600" y="3941064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Aislar la celda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4507992"/>
            <a:ext cx="274320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" y="4507992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46120" y="4507992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4507992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Continuidad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67448" y="4507992"/>
            <a:ext cx="422132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40600" y="4507992"/>
            <a:ext cx="407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Restaurar desde backup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CSF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INVENTARIO: NO SE PROTEGE LO INVISIBLE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es el cimiento; casi siempre incompleto en 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ACTIVOS OCULTOS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Muchas plantas no tienen inventario completo de sus dispositivos OT.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DESCUBRIMIENTO PASIVO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que mapean OT sin interferir el proceso.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CRITICIDAD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Clasificar cada activo por su impacto en producción y seguridad.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BASE DE TODO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inventario no hay segmentación, ni parcheo, ni respuesta.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CSF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CSF, COBIT Y 62443 — EL MAPA COMPLETO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COBIT/38500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gobierno: apetito, responsabilidad, programa (U1)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NIST CSF 2.0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de gestión del riesgo cibernético (hoy)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IEC 62443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controles técnicos específicos de OT (S14)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tres marcos encajan: COBIT/38500 gobiernan, NIST CSF organiza la gestión del riesgo cibernético, e IEC 62443 da los controles técnicos de OT. El curso los ha recorrido en orden: gobernar (U1), integrar (U2-3) y proteger (U4).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CSF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PERFILES Y NIVELES DEL CSF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CSF se adapta a cada organización con perfiles.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 ACTUAL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está hoy la organización en cada función y categoría.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 OBJETIVO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dónde quiere llegar según su riesgo y recursos.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BRECHA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 entre ambos define el plan de mejora priorizado.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NIVELES (TIERS)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parcial a adaptativo: madurez de la gestión del riesgo.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EVALUACIÓN DE RIESGO IT/OT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Medir el riesgo por su impacto físico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RIESGO OT SE MIDE DISTINTO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impacto no es solo de datos.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EN PRODUCCIÓN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Paradas, pérdida de lote, incumplimiento de entregas.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EN PERSONAS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física: lesiones, incluso vidas (TRITON).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AMBIENTAL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Derrames, emisiones, daño ambiental.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 EN DATOS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clásico de IT: confidencialidad e integridad.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PROCESO DE EVALUACIÓN DE RIESGO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IDENTIFICAR ACTIVOS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y criticidad.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IDENTIFICAR AMENAZAS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STRIDE, actores (S14).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ANALIZAR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× impacto.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con el apetito.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TRATAR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Mitigar, transferir, evitar, aceptar.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MONITOREAR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y actualizar.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DE CALOR — EJEMPLO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47472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77640" y="1783080"/>
            <a:ext cx="257037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792" y="178308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48018" y="1783080"/>
            <a:ext cx="257037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1170" y="178308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18397" y="1783080"/>
            <a:ext cx="257037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91549" y="1783080"/>
            <a:ext cx="24240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34747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4028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IT → OT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77640" y="2240280"/>
            <a:ext cx="25703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2240280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48018" y="2240280"/>
            <a:ext cx="25703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1170" y="2240280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Crítico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18397" y="2240280"/>
            <a:ext cx="25703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91549" y="2240280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07208"/>
            <a:ext cx="34747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07208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remoto sin control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977640" y="2807208"/>
            <a:ext cx="25703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50792" y="2807208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48018" y="2807208"/>
            <a:ext cx="25703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1170" y="2807208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18397" y="2807208"/>
            <a:ext cx="25703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91549" y="2807208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34747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374136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de sensor crítico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77640" y="3374136"/>
            <a:ext cx="25703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0792" y="3374136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48018" y="3374136"/>
            <a:ext cx="25703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21170" y="3374136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118397" y="3374136"/>
            <a:ext cx="257037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91549" y="3374136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41064"/>
            <a:ext cx="34747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941064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Fuga de recetas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977640" y="3941064"/>
            <a:ext cx="25703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50792" y="3941064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Baja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48018" y="3941064"/>
            <a:ext cx="25703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21170" y="3941064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118397" y="3941064"/>
            <a:ext cx="257037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91549" y="3941064"/>
            <a:ext cx="2424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CONTROLES MAPEADOS A LOS MARCOS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control responde a una amenaza y se ancla en un marco.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SEGMENTACIÓN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 y zonas/conductos → IEC 62443-3-3, CSF Proteger.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ACCESO REMOTO SEGURO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VPN, MFA, jump server → CSF Proteger, APO13.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MONITOREO 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de red OT → CSF Detectar, DSS05.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RESPALDOS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probados y aislados → CSF Recuperar, DSS04.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RIESGO SE GOBIERNA, NO SE ELIMINA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CERO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cero no existe: siempre queda un riesgo residual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APETITO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junta decide cuánto riesgo residual acepta (EDM03)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CONSCIENTE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un riesgo sabiéndolo es gobierno; ignorarlo es negligencia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 no es eliminar el riesgo, sino reducirlo a un nivel aceptable (el apetito, fijado por la junta) y aceptar conscientemente lo que queda. La diferencia entre gobierno y negligencia es saber qué riesgo se está corriendo.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HERRAMIENTAS DE EVALUACIÓN DE RIESGO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qué se hace la evaluación en la práctica.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DESCUBRIMIENTO 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Mapeo pasivo de activos sin interferir el proceso.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MATRIZ P×I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 × impacto con escalas definidas.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MITRE ATT&amp;CK ICS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de tácticas y técnicas de ataque a OT.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IEC 62443-3-2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formal de evaluación de riesgo para diseño.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ESCENARIOS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de escenarios de ataque plausibles.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DE CALOR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que prioriza la acción.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CUMPLIMIENTO — MARCO LEGAL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 obligaciones que aplican en Colombia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LEGAL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MARCO LEGAL COLOMBIANO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normas que un CPPS debe cumplir.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LEY 1581 DE 2012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datos personales (incluye datos de empleados).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DECRETO 1074 DE 2015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Reglamenta la protección de datos (registro, responsable).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LEY 1273 DE 2009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Delitos informáticos: tipifica el acceso abusivo y el daño.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CONPES 3995 DE 2020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confianza y seguridad digital.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LEGAL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OBLIGACIONES QUE SE DERIVAN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debe hacer la empresa en la práctica.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REGISTRO Y CONSENTIMIENTO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bases de datos y gestionar el consentimiento (1581).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SEGURIDAD DEL DATO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de seguridad proporcionales al riesgo del dato.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NOTIFICACIÓN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incidentes a la autoridad y a los afectados.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Designar un responsable del tratamiento de datos.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LEGAL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CUMPLIMIENTO SECTORIAL Y ESTÁNDARES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MÁS ALLÁ DE LA LEY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NORMAS PROPIAS DE CADA INDUSTRIA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Además de la ley general, cada sector tiene exigencias: alimentos (trazabilidad, INVIMA, exportación), energía (regulación del sector), farma (BPM). Y estándares voluntarios que el mercado exige: ISO 27001 (SGSI), IEC 62443 (seguridad OT). Cumplir habilita mercados (p. ej. exportar) y reduce el riesgo contractual.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EJEMPLOS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INVIMA · ISO 27001 · IEC 62443 · sectoriales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 mercados y reduce riesgo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LEGAL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CUMPLIR ES GOBIERNO, NO BUROCRACIA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CONFORMIDAD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principio 5 de ISO 38500 y objetivo MEA03 de COBIT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HABILITA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cumplimiento abre mercados (exportación) y contratos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PROTEGE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sanciones, litigios y daño reputacional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cumplimiento es una función de gobierno (conformidad, principio 5 de 38500; MEA03 de COBIT), no un trámite. Bien gestionado, protege de sanciones y habilita mercados. Mal gestionado, es una bomba de tiempo regulatoria y reputacional.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LEGAL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AUTORIDAD Y LAS SANCIONES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CONSECUENCIAS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INCUMPLIMIENTO CUESTA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Colombia, la Superintendencia de Industria y Comercio (SIC) vigila la protección de datos y puede imponer sanciones económicas significativas por incumplir la Ley 1581. A ello se suma el riesgo penal (Ley 1273), el reputacional y el contractual (perder clientes que exigen cumplimiento). El cumplimiento se gobierna con MEA03 y auditoría.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AUTORIDAD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 · reguladores sectoriales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Multas, penal, reputación, contratos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CONTINUIDAD DEL NEGOCIO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Cuando el ataque ocurre: resistir y recuperar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 DE RESPUESTA A INCIDENTES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PREPARAR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roles, ejercicios.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el incidente.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Aislar la zona afectada.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ERRADICAR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la causa.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RECUPERAR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Restaurar desde backups.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APRENDER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Post-mortem sin culpar.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EJERCICIOS DE MESA (TABLETOP)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no ensayado no es un plan.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Simulacros de escritorio: el equipo recorre un escenario de incidente paso a paso.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QUÉ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 vacíos del plan, aclarar roles y entrenar la decisión bajo presión.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FRECUENCIA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anual; tras cambios mayores en la planta.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el escenario 'ransomware IT que amenaza OT' (Norsk Hydro).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45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RTO, RPO Y CONTINUIDAD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Time Objective: cuánto tiempo puede estar caído un servicio antes de daño inaceptable.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Línea: horas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RPO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Point Objective: cuántos datos se puede permitir perder (desde el último respaldo).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Config: minutos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BCP / DRP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continuidad del negocio y de recuperación ante desastres.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Modo manual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 y RPO cuantifican la resiliencia: cuánto tiempo y cuántos datos se puede perder. En una línea de producción, un RTO de horas puede significar pérdidas enormes: la continuidad se diseña antes del incidente.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45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RESPUESTA A INCIDENTES 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actuar cuando el ataque ocurre.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PREPARAR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escrito, roles, contactos y ejercicios de mesa previos.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DETECTAR Y AISLAR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el incidente y contenerlo (aislar la zona afectada).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OPERAR EN CONTINGENCIA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manual o degradado para no parar del todo (Norsk Hydro).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RECUPERAR Y APRENDER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Restaurar desde backups probados; post-mortem sin culpar.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45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RESPALDOS QUE FUNCIONAN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backup es el último recurso; debe ser confiable.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AISLADOS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fuera de línea (offline) que el ransomware no pueda cifrar.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PROBADOS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Restauración ensayada: un backup no probado puede no servir.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CONFIGURACIONES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Respaldar también la configuración de PLC, HMI y red OT.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cómo reconstruir el sistema, no solo restaurar datos.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45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 9 — EVALUACIÓN DE RIESGO DEL PROYECTO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SEGUIMIENTO · 5 %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REGISTRO DE RIESGOS IT/OT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empresa del proyecto: 1) inventaría los activos OT críticos. 2) Identifica amenazas (STRIDE, S14) y evalúa probabilidad × impacto (físico primero). 3) Construye el mapa de calor y prioriza. 4) Propón controles mapeados a IEC 62443 y NIST CSF 2.0, con RTO/RPO para los críticos. Entregable: registro de riesgos + mapa de calor + controles.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riesgos + mapa de calor + controles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ALIMENTA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final del proyecto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45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CONTINUIDAD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EVALUACIÓN DE CASO 2 ESTA SEMANA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U2-U3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CPPS, arquitecturas, integración y datos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S14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 OT y arquitectura defensiva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análisis con preguntas abiertas de reflexión y aplicación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Evaluación de caso 2 (10 %) cubre las Unidades 2 y 3 más la sesión 14. Es un caso de análisis: dada una planta, proponer arquitectura, integración y controles de seguridad. Se evalúa el razonamiento de gobierno, no la memorización.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45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SÍNTESIS DE LA CIBERSEGURIDAD OT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control a la resiliencia gobernada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45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SÍNTESIS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PROGRAMA DE SEGURIDAD OT COMPLETO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GOBERNAR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Apetito de riesgo, roles y política (CSF Gobernar, EDM03).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y evaluación de riesgo IT/OT.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Segmentación, acceso, endurecimiento (62443, S14).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DETECTAR Y RESPONDER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OT y plan de incidentes ensayado.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RECUPERAR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Continuidad, RTO/RPO y backups probados.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45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SÍNTESIS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CADA CONTROL ANCLADO A UN MARCO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47472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328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977640" y="1783080"/>
            <a:ext cx="385556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50792" y="1783080"/>
            <a:ext cx="370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IEC 62443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833208" y="1783080"/>
            <a:ext cx="385556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6360" y="1783080"/>
            <a:ext cx="3709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CSF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4747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/ DMZ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77640" y="2240280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792" y="2240280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FR5 flujo restringido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33208" y="2240280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6360" y="2240280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4747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remoto MFA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77640" y="2807208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50792" y="2807208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FR1 control de acceso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33208" y="2807208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6360" y="2807208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Proteger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47472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OT (IDS)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977640" y="3374136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0792" y="3374136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FR6 respuesta oportuna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833208" y="3374136"/>
            <a:ext cx="385556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6360" y="3374136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Detectar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47472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aislados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977640" y="3941064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0792" y="3941064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FR7 disponibilidad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833208" y="3941064"/>
            <a:ext cx="385556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6360" y="3941064"/>
            <a:ext cx="3709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Recuperar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45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SÍNTESIS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ERRORES FRECUENTES EN SEGURIDAD 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hunde los programas de seguridad industrial.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COPIAR 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controles de IT que rompen el tiempo real o la disponibilidad.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SOLO TÉCNICA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 herramientas sin gobernar (política, roles, procesos).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INVENTARIO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Intentar proteger sin saber qué activos existen.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NO PROBADO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 un plan de continuidad que nunca se ensayó.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45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SÍNTESIS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LA SEGURIDAD AL CASO DE NEGOCIO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PUENTE A S16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SEGURIDAD TAMBIÉN SE JUSTIFICA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OT cuesta; su valor es el riesgo evitado (paradas, sanciones, daño físico). En la práctica hay que justificarla ante la dirección con un caso de negocio: cuánto cuesta el control frente a cuánto cuesta el incidente que previene. La sesión 16 cierra el curso con precisamente esa herramienta: el caso de negocio.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JUSTIFICAR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del control vs costo del incidente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VE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de negocio (S16)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45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SÍNTESIS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IDEAS PARA EL PROYECTO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EL CSF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tu seguridad con las seis funciones.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EVALÚA EL RIESGO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físico primero; mapa de calor (Lab 9).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 las obligaciones legales aplicables.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PLANEA LA CONTINUIDAD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RTO/RPO y backups probados.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 el caso de negocio de la seguridad (S16).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45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45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CSF 2.0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Gobernar, Identificar, Proteger, Detectar, Responder, Recuperar.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físico primero; mapa de calor y controles.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CUMPLIMIENTO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1581, 1273, CONPES 3995; habilita mercados.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RTO/RPO, respuesta ensayada, backups aislados.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seguridad OT es, ante todo, un problema de gobierno.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45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HIGIENE DE SEGURIDAD OT — LO ESENCIAL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controles básicos que rinden lo máximo.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INVENTARIO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Saber qué activos OT existen.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SEGMENTAR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 y zonas/conductos.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y mínimo privilegio; controlar el remoto.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CREDENCIALES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las de fábrica; nada por defecto.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MONITOREO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Detección de anomalías en red OT.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BACKUPS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Aislados, probados, con configuraciones.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45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VAMOS — CIERRE DEL CURSO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 OT 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 y arquitectura.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CIBER OT II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y continuidad · hoy.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S16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NEGOCIO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ruta.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SUSTENTACIÓN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integrador.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45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NIST CSF 2.0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de gestión del riesgo cibernético (6 funciones).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Apetito de riesgo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residual que la empresa acepta.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de calor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probabilidad × impacto.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RTO / RPO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tiempo / punto de recuperación.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BCP / DRP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continuidad / de recuperación ante desastres.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Ley 1581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Protección de datos personales (Colombia).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CONPES 3995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Política de confianza y seguridad digital.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residual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que queda tras aplicar controles.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45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— Cybersecurity Framework (CSF) 2.0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https://www.nist.gov/cyberframework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800-82 Rev.3 — OT Security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https://csrc.nist.gov/pubs/sp/800/82/r3/final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1273 de 2009 — delitos informáticos (Colombia)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http://www.secretariasenado.gov.co/senado/basedoc/ley_1273_2009.html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Ley 1581 de 2012 — protección de datos (Colombia)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http://www.secretariasenado.gov.co/senado/basedoc/ley_1581_2012.html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CONPES 3995 de 2020 — confianza y seguridad digital (DNP)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https://www.dnp.gov.co/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27001 · ISO 22301 · IEC 62443-3-2 (textos normativos)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45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15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16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CASO DE NEGOCIO Y HOJA DE RUTA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curso: del piloto a la escala, caso de negocio (VPN/TIR), hoja de ruta de adopción y gestión del cambio.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--session 16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S15 · CIBER OT II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