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Séptima sesión. El primer estándar de arquitectura del curso. ISA-95 estructura cómo fluye la información entre el ERP y el piso de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 jerarquía clásica (pirámide) a la arquitectura moderna (aplanada), con el gobierno como hilo.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ISA-95 es el estándar de integración vertical más usado. Su corazón es el nivel 3 (MES) y el intercambio ERP↔planta.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entregable de la Unidad 2: modelar la arquitectura ISA-95 del proceso del proyecto (Lab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pirámide clásica. Cada nivel tiene su horizonte temporal: nivel 1 en milisegundos, nivel 4 en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Niveles 0-1 son el dominio OT puro: tiempo real, determinismo, consecuencias físicas. Aquí no se experimenta.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SCADA es el puente entre control (nivel 1) y gestión (nivel 3). El historiador es clave para la analítica (S13).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ISA-95 vive sobre todo en la interfaz nivel 3-4. El MES traduce entre el lenguaje del negocio y el de la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síntesis de la pirámide. El horizonte temporal define las prioridades: nivel 1 no tolera latencia; nivel 4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pirámide es la base del modelo Purdue de seguridad (S14). Marcar la frontera IT/OT entre niveles 3 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concreto que recorre los cinco niveles. Ayuda a fijar la pirámide con un proceso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los tres tipos de control ayuda a modelar el proceso del proyecto. ISA-88 (batch) complementa a ISA-95.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ISA-95 es sobre todo un lenguaje común y una interfaz estándar. Reduce la integración a medida entre ERP y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que memorizar las partes; sí saber que ISA-95 cubre modelos, actividades y transacciones, y que B2MML lo implementa.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jerárquico es la pirámide formalizada. Fija la frontera IT/OT en el estándar.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funcional revela los flujos que hay que integrar. Base para diseñar la integración ERP-MES.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objetos ISA-95 son la base del modelo de datos del MES. Alinean el vocabulario entre ERP y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recursos (personal, equipo, material, proceso) estructuran cualquier operación. El proyecto los identificará.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ISA-95 combate el lock-in de integración. Es una decisión de arquitectura (APO03) con impacto de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integración vertical es bidireccional. El error típico: el ERP 'cree' una cosa y la planta hace otra.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B2MML es la implementación de referencia. Hoy conviven B2MML, APIs REST y modelos de información OPC 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de integración es una decisión de arquitectura y gobierno. El UNS (S11) es la tendencia moderna.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 el modelo Purdue y la DMZ industrial de S14. Integrar y asegurar son la misma conversación.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mensajes son el 'contrato' entre ERP y MES. La genealogía de producto habilita la trazabilidad para exportación.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valor de negocio de ISA-95: trazabilidad, visibilidad y agilidad. Conecta con el caso de exportación de S03.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MES (sistema) de MOM (marco de operaciones). El MES es el traductor plan→ejecución.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áreas MOM. Un MES puede cubrir una o varias. El proyecto identificará cuáles aplican a su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MES es el sistema más rico en datos del nivel 3. De él salen OEE (S13) y trazabilidad (S03).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MES es la mina de datos del CPPS. Sin gobierno de esos datos (S13), la analítica no es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indicadores del MES son la materia prima de la gestión de planta. Se calculan e interpretan en S13.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modernización del MES es una decisión de arquitectura y gobierno. El UNS (S11) es parte de esta evolución.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MES ilustra cómo una decisión técnica (qué MES) es en realidad de gobierno (estrategia, riesgo, dependencia).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pirámide fue diseñada para control, no para datos. La era del dato exige arquitecturas más planas.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UNS es la evolución arquitectónica moderna. Usa ISA-95 como estructura semántica, no como camino obligado del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realidad es híbrida: el control sigue jerárquico (determinismo), pero los datos fluyen planos. No se bota la pirámide.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es gobierno (APO03). Conecta la técnica de la Unidad 2 con la Unidad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la sección: ISA-95 no muere, se transforma. Su valor perdura como vocabulario y semántica.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Verificar que ubican la frontera IT/OT y el rol del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S08 amplía la vista con RAMI 4.0, que añade ciclo de vida y capas a la jerarquía de ISA-95.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arquitectura de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ISA-95 y arquitectura de integración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S08 añade a la jerarquía de ISA-95 los ejes de capas y ciclo de vida con RAMI 4.0.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a.org/standards-and-publications/isa-standards/isa-standards-committees/isa95" TargetMode="External"/><Relationship Id="rId2" Type="http://schemas.openxmlformats.org/officeDocument/2006/relationships/hyperlink" Target="https://www.isa.org/" TargetMode="External"/><Relationship Id="rId3" Type="http://schemas.openxmlformats.org/officeDocument/2006/relationships/hyperlink" Target="https://www.mesa.org/" TargetMode="External"/><Relationship Id="rId4" Type="http://schemas.openxmlformats.org/officeDocument/2006/relationships/hyperlink" Target="https://opcfoundation.org/" TargetMode="External"/><Relationship Id="rId5" Type="http://schemas.openxmlformats.org/officeDocument/2006/relationships/hyperlink" Target="https://learn.umh.app/lesson/chapter-2-the-rise-of-the-unified-namespace/" TargetMode="External"/><Relationship Id="rId6" Type="http://schemas.openxmlformats.org/officeDocument/2006/relationships/hyperlink" Target="https://www.isa.org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07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LA PIRÁMIDE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 de automatización e integración vertical empresa-control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· Sistemas ciber-físicos    ·    SEMANA 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pirámide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niveles 0–4 de la automatización industrial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ISA-95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62264 y sus modelos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vertical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↔ MES y el formato B2MML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/ MOM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operaciones de manufactura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pirámide se aplana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UNS, arquitecturas orientadas a eventos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la arquitectura, glosario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ISA95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62264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 IEC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B2MML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INTERCAMBIO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(International Society of Automation)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IEC/ISO 62264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PROPÓSITO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empresa (ERP) y control (planta)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/ MOM — foco del estándar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jerárquico, funcional, objetos, operaciones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B2MML (XML) para intercambio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ISA95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niveles 0–4 de la pirámide de automatización.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de ISA-95 (jerárquico, funcional, objetos, operaciones).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de información entre ERP y MES (B2MML).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funciones de un MES/MOM.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pirámide se aplana y qué implica para el gobierno.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PIRÁMIDE DE AUTOMATIZACIÓN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Cinco niveles, de la señal al negocio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PIRÁMIDE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CINCO NIVELES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PROCESO FÍSICO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y actuadores.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PLC, RTU, DCS.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SCADA, HMI.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/ MOM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manufactura.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NEGOCIO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planificación.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PIRÁMIDE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0 Y 1 — EL MUNDO FÍSICO Y SU CONTROL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la pirámide: donde la tecnología toca la materia.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0 · PROCESO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físico real: sensores (temperatura, presión, vibración) y actuadores (válvulas, motores).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1 · CONTROL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PLC, RTU y DCS que leen sensores y comandan actuadores en tiempo real (milisegundos).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LAZO DE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PLC ejecuta lógica en lazo cerrado: si temperatura &gt; X, cierra válvula. Determinista.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fallo aquí detiene o daña el proceso. La disponibilidad y el determinismo mandan.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PIRÁMIDE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2 — SUPERVISIÓN (SCADA)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que hace visible y operable el proceso.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Control and Data Acquisition: supervisa y controla varios PLC desde una sala.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HMI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Human-Machine Interface: la pantalla donde el operario ve y opera el proceso.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HISTORIADOR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de series de tiempo que registra las señales del proceso.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ALARMAS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alarmas y eventos para que el operario reaccione a tiempo.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PIRÁMIDE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NIVELES 3 Y 4 — OPERACIONES Y NEGOCIO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cima de la pirámide: donde la producción se planifica y se gestiona.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3 · MES/MOM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la ejecución de la producción: órdenes, lotes, calidad, trazabilidad. Horizonte: turnos y días.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4 · ERP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 el negocio: compras, inventario, finanzas, ventas. Horizonte: días a meses.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BRECHA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ERP (nivel 4) y planta (niveles 0-2) hay una brecha semántica y temporal que el MES cierra.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se centra en la interfaz nivel 3 ↔ nivel 4: qué información cruza y cómo.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PIRÁMIDE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CADA NIVEL, SU HORIZONTE Y TECNOLOGÍA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6032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63240" y="1783080"/>
            <a:ext cx="287517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36392" y="1783080"/>
            <a:ext cx="2728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38418" y="1783080"/>
            <a:ext cx="287517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1570" y="1783080"/>
            <a:ext cx="2728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TECNOLOGÍA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13597" y="1783080"/>
            <a:ext cx="287517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6749" y="1783080"/>
            <a:ext cx="2728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25603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4028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Negocio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63240" y="2240280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2240280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38418" y="2240280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1570" y="2240280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13597" y="2240280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6749" y="2240280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Planificar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07208"/>
            <a:ext cx="25603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0720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MES/MOM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63240" y="2807208"/>
            <a:ext cx="28751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6392" y="2807208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Días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38418" y="2807208"/>
            <a:ext cx="28751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1570" y="2807208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13597" y="2807208"/>
            <a:ext cx="28751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6749" y="2807208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25603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374136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Supervisión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63240" y="3374136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36392" y="3374136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38418" y="3374136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1570" y="3374136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13597" y="3374136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86749" y="3374136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41064"/>
            <a:ext cx="25603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941064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Control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063240" y="3941064"/>
            <a:ext cx="28751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36392" y="3941064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Milisegundos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38418" y="3941064"/>
            <a:ext cx="28751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1570" y="3941064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PLC/DCS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13597" y="3941064"/>
            <a:ext cx="28751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86749" y="3941064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Controlar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4507992"/>
            <a:ext cx="25603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50799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Proceso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063240" y="4507992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4507992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real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38418" y="4507992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1570" y="4507992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13597" y="4507992"/>
            <a:ext cx="28751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86749" y="4507992"/>
            <a:ext cx="2728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PIRÁMIDE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IMPORTA LA PIRÁMIDE AL GOBIERNO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CRITICIDAD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más abajo, más crítico y menos tolerante a fallos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FRONTERA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frontera IT/OT suele estar entre niveles 3 y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DECISIÓN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integra, qué se aísla y quién accede a cada nivel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pirámide da al gobierno un mapa: dónde está lo crítico, dónde la frontera IT/OT y dónde poner controles. La segmentación de seguridad (S14) se diseña sobre esta jerarquía (modelo Purdue).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PIRÁMIDE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PIRÁMIDE EN UNA PLANTA DE BEBIDAS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VÁLVULA AL ERP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0: sensor de caudal y válvula de llenado. Nivel 1: PLC que dosifica el líquido. Nivel 2: SCADA que supervisa la línea de embotellado y alarma si hay atasco. Nivel 3: MES que sigue la orden de 10.000 botellas del lote L-238. Nivel 4: ERP que planificó ese lote según la demanda comercial.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RECORRIDO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PLC → SCADA → MES → ERP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dato cambia de forma en cada nivel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ESTÁNDAR ISA-95 / IEC 62264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 para integrar empresa y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CONTROL DE PROCESO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DISCRETO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unidades contables (piezas, botellas). Manufactura de ensamble.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Autopartes, electrónica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ininterrumpido de material. No hay 'unidades'.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Cemento, química, energía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LOTES (BATCH)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cantidades definidas siguiendo una receta.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Alimentos, farma, pinturas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 aplica a los tres tipos, pero el batch tiene su propio estándar hermano (ISA-88). El tipo de proceso condiciona la arquitectura y los datos.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ISA-95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estándar internacional para la integración de sistemas empresa-control.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PROPÓSITO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la interfaz entre los sistemas de negocio (ERP) y los de manufactura (MES/planta).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IEC 62264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 se adoptó como norma internacional IEC/ISO 62264, en varias partes.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TERMINOLOGÍA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 un vocabulario común entre TI y producción, reduciendo malentendidos.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NEUTRAL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de fabricante: describe QUÉ intercambiar, no con qué producto.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PARTES DE ISA-95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se organiza en varias partes complementarias.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y terminología: jerarquía, funciones y objetos.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los objetos: detalle de los modelos de datos.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actividad de gestión de operaciones (MOM).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y atributos para MOM.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entre negocio y manufactura.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B2MML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XML del estándar para el intercambio real.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JERÁRQUICO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NIVELES FUNCIONALES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 los niveles 0–4 y define dónde ocurre cada tipo de decisión. La frontera clave está entre el nivel 3 (operaciones de manufactura) y el nivel 4 (planificación de negocio). Este modelo es el que da origen a la 'pirámide'.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0–4 y sus fronteras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EN GOBIERNO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para segmentar y decidir accesos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FUNCIONAL Y DE FLUJO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FUNCIONES Y QUÉ DATOS CRUZAN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las funciones empresariales y de manufactura (planificación, programación, control de producción, mantenimiento, calidad, inventario) y los flujos de información entre ellas. Muestra qué datos deben cruzar la frontera nivel 3–4.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y flujos de información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EN GOBIERNO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integrar y con qué prioridad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OBJETOS Y DE OPERACIONES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 3–4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VOCABULARIO DE DATOS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objetos define las entidades de información: personal, equipo, material, proceso, producto. El modelo de operaciones (MOM) organiza la gestión de producción, mantenimiento, calidad e inventario. Juntos dan la estructura de datos estándar del nivel 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· equipo · material · producto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· calidad · mantenimiento · inventario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OBJETOS DE RECURSO DE ISA-95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REPRESENTA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58888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2040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 y roles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8888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2040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Operario, turno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Activos de producción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8888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2040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Línea, máquina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Insumos y productos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8888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2040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 de harina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Proceso/segmento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se produce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8888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2040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Receta, ruta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ESTÁNDAR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ISA-95 REDUCE EL CAOS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ISA-95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integración ERP-MES es a medida, frágil y cara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ISA-95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y objetos comunes; integración estándar y mantenible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de datos deja de depender de un integrador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 estandariza la interfaz más problemática de la planta: ERP↔MES. Sin él, cada proyecto reinventa el vocabulario y la integración se vuelve un riesgo de gobierno (dependencia, fragilidad).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INTEGRACIÓN VERTICAL — ERP ↔ MES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cruza la información la frontera IT/OT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INFORMACIÓN CRUZA LA FRONTERA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intercambio ERP↔MES tiene dos sentidos.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ERP → MES (BAJAR)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producción, recetas, programación, materiales asignados.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→ ERP (SUBIR)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real, consumos, calidad, tiempos, trazabilidad de lote.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SINCRONÍA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ERP planifica; el MES ejecuta y reporta. La brecha temporal se cierra aquí.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inconsistentes entre ERP y planta = decisiones sobre información falsa.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B2MML — EL IDIOMA DEL INTERCAMBIO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 HECHO XML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To Manufacturing Markup Language: un esquema XML que implementa los modelos de ISA-95 para el intercambio real de mensajes entre ERP y MES. Estandariza la estructura de órdenes, respuestas de producción, materiales y calidad. Es la forma práctica de 'hablar ISA-95'.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XML basado en ISA-95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REST, OPC UA (S10)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PATRONES DE INTEGRACIÓN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conectan ERP y MES en la práctica.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 A PUNTO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directa ERP-MES. Simple al inicio, insostenible al crecer.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MIDDLEWARE / ESB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bus de integración media entre sistemas. Escalable y gobernable.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 / BROKER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namespace unificado por el que todos publican/consumen (S11).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API-LED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reutilizables por capas. Común en integraciones modernas.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BATCH VS EVENTO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por lotes programados vs en tiempo real por eventos.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elegido determina mantenibilidad, costo y dependencia.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FRONTERA IT/OT EN LA PRÁCTICA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y cómo se cruza la frontera define riesgo y control.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DMZ INDUSTRIAL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desmilitarizada entre IT y OT: ningún tráfico directo cruza sin control.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HISTORIADOR ESPEJO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del historiador en IT para que el negocio consulte sin tocar 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CONTROLADO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protocolos y puertos autorizados cruzan, en un sentido definido.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autoriza qué cruza la frontera es una decisión de gobierno de riesgo.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MENSAJES ISA-95 TÍPICOS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47472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77640" y="1783080"/>
            <a:ext cx="385556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792" y="1783080"/>
            <a:ext cx="370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33208" y="1783080"/>
            <a:ext cx="385556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6360" y="1783080"/>
            <a:ext cx="370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CONTENIDO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Schedule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77640" y="2240280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2240280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ERP→MES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33208" y="2240280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6360" y="2240280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producir y cuándo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Performance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807208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2807208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MES→ERP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33208" y="2807208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6360" y="2807208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se produjo realmente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Definition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77640" y="3374136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792" y="3374136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ERP→MES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33208" y="3374136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6360" y="3374136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Insumos y recetas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Genealogy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77640" y="3941064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3941064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MES→ERP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33208" y="3941064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6360" y="3941064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Trazabilidad de lote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VALOR DE LA INTEGRACIÓN VERTICAL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TRAZABILIDAD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un lote de la materia prima al cliente final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VISIBILIDAD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ve la producción real, no una estimación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AGILIDAD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replanificar rápido ante desviaciones del piso de planta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integración vertical convierte la planta en información útil para el negocio: trazabilidad para cumplir, visibilidad para decidir y agilidad para reaccionar. Es el primer gran valor de un CPPS bien arquitecturado.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/ MOM — EL CORAZÓN DEL NIVEL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la ejecución de la producción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Y MOM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Execution System: gestiona y sigue la ejecución de la producción en el piso.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del nivel 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Operations Management: concepto más amplio (producción, calidad, mantenimiento, inventario).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 parte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RELACIÓN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MES es el sistema; el MOM es el alcance de operaciones que ISA-95 describe.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⊂ MOM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MES ejecuta y registra la producción en tiempo casi real; el MOM (ISA-95) organiza las cuatro áreas de operaciones. El MES es donde el plan del ERP se vuelve producción real.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48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CUATRO ÁREAS DE OPERACIONES (MOM)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 parte 3 organiza las operaciones en cuatro dominios.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órdenes, seguir el avance, registrar lo producido.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y registrar la calidad; gestionar no conformidades.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MANTENIMIENTO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mantenimiento preventivo, correctivo y predictivo.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materiales, consumos y movimientos en planta.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48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FUNCIONES TÍPICAS DE UN MES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un MES en el día a día del piso.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ÓRDENES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y despacha órdenes de producción del ERP.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SEGUIMIENTO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 el avance en tiempo real (WIP, tiempos).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TRAZABILIDAD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genealogía de lote: qué material, qué máquina, qué operario.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la eficiencia global del equipo en línea.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resultados de calidad y bloquea lotes no conformes.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electrónica de trabajo y registros para auditoría.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48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MES COMO FUENTE DE DATOS DEL CPPS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DONDE NACE LA INTELIGENCIA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MES concentra los datos de ejecución: tiempos, consumos, calidad, genealogía. Es la fuente natural para la analítica del CPPS (OEE, predictivo, optimización). Un MES bien gobernado, con datos de calidad, es el cimiento de los niveles Cyber y Cognition de la 5C.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· trazabilidad · analítica · gemelo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OEE (S13)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48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INDICADORES QUE PRODUCE UN MES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10896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INDICADOR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1880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MIDE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50328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3480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QUE HABILITA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Eficiencia global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50328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3480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Dónde mejorar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Buenas / total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0328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3480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 del proceso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ciclo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11880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 real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50328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3480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Cuellos de botella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11880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Genealogía de lote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50328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3480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y cumplimiento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48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TRADICIONAL VS PLATAFORMA MODERNA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8C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TRADICIONAL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Monolítico y propietario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a medida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de escalar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silos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 lock-in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PLATAFORMA MODERNA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y basada en estándares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vía UNS/APIs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Escalable en nube/borde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disponibles y abiertos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dependencia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tendencia va de MES monolíticos a plataformas modulares centradas en el dato (UNS).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48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MES Y EL GOBIERNO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CRÍTICO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MES cae, la ejecución de la producción se detiene o se ciega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fuente primaria de datos de negocio de la planta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CAMBIO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el MES es una decisión estratégica de 10+ años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MES es un activo de gobierno de primer orden: crítico para operar, fuente del dato y difícil de cambiar. Su selección (adquisición, principio 3 de 38500) y su continuidad (DSS04) son decisiones estratégicas, no técnicas.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48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PIRÁMIDE SE APLANA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jerarquía rígida a la arquitectura orientada a datos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48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APLANAMIENTO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LA PIRÁMIDE YA NO BASTA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jerarquía clásica muestra sus límites en la era del dato.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nivel habla su protocolo; el dato se transforma y se pierde al subir.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LENTITUD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sube nivel por nivel; el negocio la recibe tarde.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NUEVAS NECESIDADES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nube y analítica necesitan el dato crudo, no filtrado por la jerarquía.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RIGIDEZ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una fuente exige tocar varios niveles. Poco ágil.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APLANAMIENTO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UNIFIED NAMESPACE (UNS)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espacio de nombres donde todos los sistemas publican y consumen datos en tiempo real.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 central (MQTT)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vez de subir por la pirámide, cada sistema accede al dato que necesita directamente.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Event-driven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SEMÁNTICA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namespace está organizado por jerarquía física/lógica (empresa/planta/línea/máquina).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 como semántica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UNS no borra ISA-95: usa su jerarquía como semántica del namespace. Se profundiza en S11 (MQTT/Sparkplug).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48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APLANAMIENTO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ARQUITECTURAS EMERGENTES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está reconfigurando la arquitectura de planta.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fluye por eventos en tiempo real, no por consultas jerárquicas.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ORIENTADA A SERVICIOS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expuestas como servicios reutilizables (SOA/microservicios).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EDGE-CENTRIC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en el borde, cerca del proceso (S09).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DATA-CENTRIC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en el centro, no la aplicación. UNS como columna vertebral.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PUBSUB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OT también evoluciona a publicación/suscripción (S10).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HÍBRIDA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 pirámide (control) y UNS (datos): lo mejor de ambas.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48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APLANAMIENTO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DE LA ARQUITECTURA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DECIDIR LA ARQUITECTURA ES GOBERNAR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entre pirámide clásica, UNS o híbrido es una decisión de arquitectura empresarial (APO03) con impacto de 10+ años: afecta mantenibilidad, costo, dependencia, seguridad y capacidad de analítica. El gobierno fija principios de arquitectura y aprueba la evolución, no la improvisa el integrador de turno.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DE GOBIERNO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arquitectura · APO03 · TOGAF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Costo, riesgo y agilidad a 10 años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48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APLANAMIENTO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 SIGUE VIVO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aplanamiento no jubila el estándar: lo reubica.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SEMÁNTICA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jerarquía ISA-95 organiza el namespace del UNS (empresa/planta/línea).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MODELO DE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objetos ISA-95 siguen definiendo qué es un lote, un equipo, un material.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INTEGRACIÓN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B2MML y la interfaz ERP-MES siguen vigentes donde el batch tiene sentido.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LENGUAJE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siendo el vocabulario común entre TI y producción.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48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48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PIRÁMIDE 0–4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Proceso, control, supervisión, MES, negocio.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de integración empresa-control (IEC 62264).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 IT/OT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Suele estar entre niveles 3 y 4.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MES/MOM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producción y es la fuente del dato.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APLANAMIENTO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UNS usa ISA-95 como semántica del dato.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48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2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I4.0 Y CPS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vertical · hoy.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RAMI 4.0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referencia y AAS.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IIOT/EDGE/NUBE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Unidad 2.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48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39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 / IEC 62264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de integración empresa-control.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Pirámide de automatización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0–4 de la arquitectura industrial.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PLC / DCS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Controladores del nivel 1.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SCADA / HMI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Supervisión y interfaz del nivel 2.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/ MOM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y gestión de operaciones (nivel 3).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B2MML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XML de ISA-95.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Historiador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de series de tiempo del proceso.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Namespace: espacio de datos unificado.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48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— Norma ISA-95 (comité, alcance y recursos)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https://www.isa.org/standards-and-publications/isa-standards/isa-standards-committees/isa95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ANSI/ISA-95 / IEC 62264 — texto normativo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International — modelos de MES/MOM (recursos)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https://www.mesa.org/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Foundation — mapeo ISA-95 ↔ OPC UA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https://opcfoundation.org/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Namespace — introducción (UMH Learn)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https://learn.umh.app/lesson/chapter-2-the-rise-of-the-unified-namespace/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Scholten (2007) — The Road to Integration (aplicar ISA-95)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https://www.isa.org/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48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08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RAMI 4.0 Y EL ASSET ADMINISTRATION SHELL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arquitectura de referencia de Industria 4.0 en tres ejes y el 'gemelo administrativo' del activo.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08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· ISA-95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 48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