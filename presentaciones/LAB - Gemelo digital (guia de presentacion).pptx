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Guía para presentar el laboratorio. La tesis de toda la sesión cabe en una frase: la mayoría de los 'gemelos digitales' son tableros de telemetría, y este demo existe para hacer visible la diferencia. Tener el demo YA CORRIENDO antes de empezar (backend + front), porque la primera slide de sección pide mirarlo.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 crítica conceptual (qué NO es un gemelo) a la demostración práctica. El orden importa: si se abre con la demo, los estudiantes ven un dashboard bonito y se pierde el argumento.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dependencias en el backend (fastapi y uvicorn) es una decisión deliberada: la física, el modelo, los residuales y el what-if son Python estándar, legibles enteros sin conocer ninguna librería.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cuarto objetivo es el menos habitual y el más valioso: enseñar que un gemelo honesto declara lo que NO puede saber.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Éste es el mensaje central. Repetirlo tal cual al final. La 'resta' es el residual, y es la prueba de fuego más simple que un estudiante puede aplicar a cualquier gemelo que le muestren.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Definición operativa, deliberadamente exigente. Grieves (2014) y la ISO 23247 usan formulaciones parecidas. Lo importante es que las tres condiciones se puedan verificar en pantalla.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es el índice mental del resto de la sesión. Las secciones 4 y 5 desarrollan las cuatro. La cuarta es la que casi nunca existe en pilotos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Pedirles que apliquen esta tabla al último 'gemelo digital' que hayan visto en una feria o en un video de proveedor. Casi siempre cae del lado derecho.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Kritzinger et al. (2018) proponen esta escala. El demo está en el nivel 3 y NO avanza al 4 a propósito: el nivel 4 es donde el gobierno se vuelve crítico, y ese es el argumento de la sección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Puente con la S02. Este demo es el único del curso donde el ciclo EDM se puede ver funcionando en pantalla, no explicado en una lámina.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Frase para dejar en el aire antes de la sección técnica. Explica por qué el residual del demo se calcula contra el Cv DE PLACA y no contra el estimado: si el modelo se corrigiera solo, el residual se anularía y el gemelo dejaría de avisar.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Estaciones SERIALES, una sola cabeza: el ciclo ideal es la suma (2.30 + 1.10 + 0.45 = 3.85 s), no el máximo. Ese detalle importa para el OEE y se explica dos slides más adelante.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offset del lazo P es un regalo pedagógico: sirve para explicar por qué en planta se usa PI. Y el área pequeña (0.08 m²) es deliberada: hace que cada botella baje el nivel unos 25 mm, así la dinámica SE VE en la gráfica en vez de ser una línea plana.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Ésta es la diferencia entre este simulador y uno que genera números aleatorios. Si un estudiante pregunta '¿por qué no una llenadora por peso?', la respuesta es que una llenadora por peso se autocorrige y ocultaría el desgaste — que es justo lo que queremos que el gemelo descubra.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Enlaza con S13 y el Lab 8. Los estudiantes generan sus propios datos de OEE con este simulador en vez de usar un CSV prestado.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cuarta fila es el plato fuerte y conviene anticiparla: una falla que NO afecta ninguna componente del OEE al principio. Un tablero no ve nada. Ahí se gana el argumento de la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no obvio y muy real en planta: los sistemas de control ocultan degradación hasta que agotan su margen. Es un argumento fuerte a favor de monitorear el ESFUERZO de control, no sólo la variable controlada.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Recalcar que planta y gemelo se podrían poner en dos máquinas distintas sin tocar una línea de lógica. Eso es exactamente la decisión de arquitectura borde/nube de la S09, hecha tangible.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CLAVE. Si un estudiante puede señalar esta frontera, entendió qué es un gemelo. Todo lo que el gemelo sabe del desgaste lo INFIERE del volumen de las botellas. El método `verdad_oculta()` existe sólo para la vista de clase y el gemelo nunca la consulta.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primera y la segunda son argumentos del principio de adquisición de la S02 aplicados a decisiones pequeñas: evitar el lock-in y que toda dependencia sea una decisión consciente, no un reflejo.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Orden de lectura sugerido para quien quiera meterse en el código. Cada archivo abre con un comentario largo que explica su papel y las decisiones detrás.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la limitación en voz alta. Un proveedor que hiciera esta misma simplificación y la vendiera como 'compatible con Sparkplug B' estaría faltando a la verdad, y detectarlo es la clase de escrutinio que exige el principio de adquisición.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Momento de abrir el 'ojo de Dios' y comparar el Cv estimado contra el real. Ver la estimación converger hacia la verdad es lo que hace que caiga la ficha.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en el detalle del código: el residual se calcula contra el Cv de PLACA, nunca contra el estimado. Un modelo que se adapta a todo nunca detecta nada. Es un error de diseño frecuente y sutil.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solo residual no basta para saber QUÉ falló: el desgaste y el sensor desviado producen los dos botellas cortas. Se distinguen por cómo afectan a DOS residuales a la vez. Esto es FDI —detección y aislamiento de fallas— clásico.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MÁS IMPORTANTE DE LA SESIÓN, después de la de la frontera. Es un problema de OBSERVABILIDAD, no de algoritmo: con esta instrumentación no hay forma. El demo lo dice en pantalla y propone qué evidencia externa haría falta. Un gemelo que devuelve una sola causa con 97 % de confianza cuando la física no permite decidir no está informando a quien decide: lo está engañando.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gemelo que entrega únicamente el óptimo le está pidiendo a la dirección un acto de fe. Uno que entrega la curva le entrega el criterio para decidir. La diferencia es gobierno: quien decide necesita la evidencia, no la conclusión.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Cifras verificadas en el demo. Preguntar a la clase: ¿quién debería decidir ese equilibrio, el ingeniero o el gerente? Es una pregunta de derechos de decisión (S01).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gemelo que propone compensaciones sin decir que el deterioro sigue avanzando está desplazando una decisión de mantenimiento hacia el futuro sin que nadie la haya tomado conscientemente. Eso es una falla de gobierno disfrazada de optimización.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único punto del curso donde los estudiantes ven EDM funcionando en vez de explicado. Aprovecharlo: hacer el recorrido completo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matriz de Weill &amp; Ross de la S01, implementada en gobierno.py. La autoridad se gradúa por MAGNITUD del cambio, no por quién esté frente a la pantalla. Tocar la especificación del producto sube hasta gerencia porque es un asunto de conformidad.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Hacer estos cuatro intentos EN VIVO desde el front. El rechazo al operador es el que mejor funciona en clase: los estudiantes esperan que el botón simplemente funcione.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 el paso de monitoreo el ciclo EDM queda cojo: se evalúa y se dirige, pero nunca se comprueba si la decisión sirvió. Es el fallo más común de los comités de tecnología, y la S02 lo llama 'gobierno decorativo'.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Correr `python prueba_rapida.py` como plan B. Sale todo en texto: los cinco diagnósticos con su evidencia y el what-if con el intercambio calidad/desempeño.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Llegar con el demo YA CORRIENDO. Verificar antes de clase que los puertos estén libres: en algunos equipos el 8000 y el 5173 están ocupados por otros proyectos.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tiempos son orientativos. Si hay que recortar, el paso 4 se puede acortar a 8 min, pero NUNCA saltarse el paso 5: es el que justifica toda la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remate es la frase clave: un instrumento mal calibrado no sólo engaña a los tableros, mueve el proceso, porque el lazo de nivel se alimenta del mismo transmisor. La planta se vacía de verdad. Eso conecta con S14-15: la integridad del dato es un problema de seguridad, no sólo de calidad.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última es la más difícil y la más valiosa: obliga a pensar en los límites del método, no en su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Pedirles a los estudiantes que encuentren una limitación más que no esté en esta lista. Es un buen ejercicio y suele salir alguna: por ejemplo, que la API no tiene autenticación y el CORS está abierto.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demo no es una isla: toca seis sesiones. Vale la pena mencionarlo al inicio para que los estudiantes lo vean como la costura de la Unidad 3, no como una actividad suelta.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volviendo a la frase del principio. Si los estudiantes se llevan una sola idea, que sea la primera.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Kritzinger es la referencia para la escala de madurez (modelo / sombra / gemelo). Isermann es la fuente clásica del diagnóstico por residuales y firmas.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Recordar que el laboratorio queda disponible para que lo corran en casa, y que la bitácora de decisiones se exporta como evidencia del Entregable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hyperlink" Target="https://doi.org/10.1016/j.ifacol.2018.08.474" TargetMode="External"/><Relationship Id="rId2" Type="http://schemas.openxmlformats.org/officeDocument/2006/relationships/hyperlink" Target="https://doi.org/10.1109/ACCESS.2020.2970143" TargetMode="External"/><Relationship Id="rId3" Type="http://schemas.openxmlformats.org/officeDocument/2006/relationships/hyperlink" Target="https://www.digitaltwinconsortium.org/" TargetMode="External"/><Relationship Id="rId4" Type="http://schemas.openxmlformats.org/officeDocument/2006/relationships/hyperlink" Target="https://link.springer.com/book/10.1007/3-540-30368-5" TargetMode="External"/><Relationship Id="rId5" Type="http://schemas.openxmlformats.org/officeDocument/2006/relationships/hyperlink" Target="https://www.iso.org/" TargetMode="External"/><Relationship Id="rId6" Type="http://schemas.openxmlformats.org/officeDocument/2006/relationships/slideLayout" Target="../slideLayouts/slideLayout1.xml"/><Relationship Id="rId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20040"/>
            <a:ext cx="11185855" cy="274320"/>
          </a:xfrm>
          <a:prstGeom prst="rect">
            <a:avLst/>
          </a:prstGeom>
          <a:noFill/>
          <a:ln/>
        </p:spPr>
        <p:txBody>
          <a:bodyPr wrap="square" lIns="0" tIns="0" rIns="0" bIns="0" rtlCol="0" anchor="ctr"/>
          <a:lstStyle/>
          <a:p>
            <a:pPr algn="l" indent="0" marL="0">
              <a:buNone/>
            </a:pPr>
            <a:r>
              <a:rPr lang="en-US" sz="950" dirty="0">
                <a:solidFill>
                  <a:srgbClr val="333333"/>
                </a:solidFill>
                <a:latin typeface="Courier New" pitchFamily="34" charset="0"/>
                <a:ea typeface="Courier New" pitchFamily="34" charset="-122"/>
                <a:cs typeface="Courier New" pitchFamily="34" charset="-120"/>
              </a:rPr>
              <a:t>01000111 01001111 01000010 01001001 01000101 01010010 01001110 01001111  01000100 01000101  01010100 01001001</a:t>
            </a:r>
            <a:endParaRPr lang="en-US" sz="950" dirty="0"/>
          </a:p>
        </p:txBody>
      </p:sp>
      <p:sp>
        <p:nvSpPr>
          <p:cNvPr id="3" name="Text 1"/>
          <p:cNvSpPr/>
          <p:nvPr/>
        </p:nvSpPr>
        <p:spPr>
          <a:xfrm>
            <a:off x="502920" y="1051560"/>
            <a:ext cx="7315200" cy="320040"/>
          </a:xfrm>
          <a:prstGeom prst="rect">
            <a:avLst/>
          </a:prstGeom>
          <a:noFill/>
          <a:ln/>
        </p:spPr>
        <p:txBody>
          <a:bodyPr wrap="square" lIns="0" tIns="0" rIns="0" bIns="0" rtlCol="0" anchor="ctr"/>
          <a:lstStyle/>
          <a:p>
            <a:pPr indent="0" marL="0">
              <a:buNone/>
            </a:pPr>
            <a:r>
              <a:rPr lang="en-US" sz="1200" b="1" spc="200" kern="0" dirty="0">
                <a:solidFill>
                  <a:srgbClr val="C6FF00"/>
                </a:solidFill>
                <a:latin typeface="Courier New" pitchFamily="34" charset="0"/>
                <a:ea typeface="Courier New" pitchFamily="34" charset="-122"/>
                <a:cs typeface="Courier New" pitchFamily="34" charset="-120"/>
              </a:rPr>
              <a:t>8 50155-3M · PREGRADO</a:t>
            </a:r>
            <a:endParaRPr lang="en-US" sz="1200" dirty="0"/>
          </a:p>
        </p:txBody>
      </p:sp>
      <p:sp>
        <p:nvSpPr>
          <p:cNvPr id="4" name="Text 2"/>
          <p:cNvSpPr/>
          <p:nvPr/>
        </p:nvSpPr>
        <p:spPr>
          <a:xfrm>
            <a:off x="7116775" y="1051560"/>
            <a:ext cx="4572000" cy="320040"/>
          </a:xfrm>
          <a:prstGeom prst="rect">
            <a:avLst/>
          </a:prstGeom>
          <a:noFill/>
          <a:ln/>
        </p:spPr>
        <p:txBody>
          <a:bodyPr wrap="square" lIns="0" tIns="0" rIns="0" bIns="0" rtlCol="0" anchor="ctr"/>
          <a:lstStyle/>
          <a:p>
            <a:pPr algn="r" indent="0" marL="0">
              <a:buNone/>
            </a:pPr>
            <a:r>
              <a:rPr lang="en-US" sz="1200" spc="100" kern="0" dirty="0">
                <a:solidFill>
                  <a:srgbClr val="8C8C8C"/>
                </a:solidFill>
                <a:latin typeface="Courier New" pitchFamily="34" charset="0"/>
                <a:ea typeface="Courier New" pitchFamily="34" charset="-122"/>
                <a:cs typeface="Courier New" pitchFamily="34" charset="-120"/>
              </a:rPr>
              <a:t>LAB 7 · DEMO</a:t>
            </a:r>
            <a:endParaRPr lang="en-US" sz="1200" dirty="0"/>
          </a:p>
        </p:txBody>
      </p:sp>
      <p:sp>
        <p:nvSpPr>
          <p:cNvPr id="5" name="Text 3"/>
          <p:cNvSpPr/>
          <p:nvPr/>
        </p:nvSpPr>
        <p:spPr>
          <a:xfrm>
            <a:off x="502920" y="1783080"/>
            <a:ext cx="11185855" cy="2011680"/>
          </a:xfrm>
          <a:prstGeom prst="rect">
            <a:avLst/>
          </a:prstGeom>
          <a:noFill/>
          <a:ln/>
        </p:spPr>
        <p:txBody>
          <a:bodyPr wrap="square" lIns="0" tIns="0" rIns="0" bIns="0" rtlCol="0" anchor="t"/>
          <a:lstStyle/>
          <a:p>
            <a:pPr algn="l" indent="0" marL="0">
              <a:lnSpc>
                <a:spcPct val="92000"/>
              </a:lnSpc>
              <a:buNone/>
            </a:pPr>
            <a:r>
              <a:rPr lang="en-US" sz="5200" dirty="0">
                <a:solidFill>
                  <a:srgbClr val="F4F4F4"/>
                </a:solidFill>
                <a:latin typeface="Arial Black" pitchFamily="34" charset="0"/>
                <a:ea typeface="Arial Black" pitchFamily="34" charset="-122"/>
                <a:cs typeface="Arial Black" pitchFamily="34" charset="-120"/>
              </a:rPr>
              <a:t>GEMELO</a:t>
            </a:r>
            <a:endParaRPr lang="en-US" sz="5200" dirty="0"/>
          </a:p>
          <a:p>
            <a:pPr algn="l" indent="0" marL="0">
              <a:lnSpc>
                <a:spcPct val="92000"/>
              </a:lnSpc>
              <a:buNone/>
            </a:pPr>
            <a:r>
              <a:rPr lang="en-US" sz="5200" dirty="0">
                <a:solidFill>
                  <a:srgbClr val="F4F4F4"/>
                </a:solidFill>
                <a:latin typeface="Arial Black" pitchFamily="34" charset="0"/>
                <a:ea typeface="Arial Black" pitchFamily="34" charset="-122"/>
                <a:cs typeface="Arial Black" pitchFamily="34" charset="-120"/>
              </a:rPr>
              <a:t>DIGITAL</a:t>
            </a:r>
            <a:endParaRPr lang="en-US" sz="5200" dirty="0"/>
          </a:p>
        </p:txBody>
      </p:sp>
      <p:sp>
        <p:nvSpPr>
          <p:cNvPr id="6" name="Text 4"/>
          <p:cNvSpPr/>
          <p:nvPr/>
        </p:nvSpPr>
        <p:spPr>
          <a:xfrm>
            <a:off x="502920" y="3977640"/>
            <a:ext cx="11185855" cy="731520"/>
          </a:xfrm>
          <a:prstGeom prst="rect">
            <a:avLst/>
          </a:prstGeom>
          <a:noFill/>
          <a:ln/>
        </p:spPr>
        <p:txBody>
          <a:bodyPr wrap="square" lIns="0" tIns="0" rIns="0" bIns="0" rtlCol="0" anchor="t"/>
          <a:lstStyle/>
          <a:p>
            <a:pPr indent="0" marL="0">
              <a:lnSpc>
                <a:spcPct val="105000"/>
              </a:lnSpc>
              <a:buNone/>
            </a:pPr>
            <a:r>
              <a:rPr lang="en-US" sz="1500" b="1" dirty="0">
                <a:solidFill>
                  <a:srgbClr val="C6FF00"/>
                </a:solidFill>
                <a:latin typeface="Courier New" pitchFamily="34" charset="0"/>
                <a:ea typeface="Courier New" pitchFamily="34" charset="-122"/>
                <a:cs typeface="Courier New" pitchFamily="34" charset="-120"/>
              </a:rPr>
              <a:t>&gt; </a:t>
            </a:r>
            <a:pPr indent="0" marL="0">
              <a:lnSpc>
                <a:spcPct val="105000"/>
              </a:lnSpc>
              <a:buNone/>
            </a:pPr>
            <a:r>
              <a:rPr lang="en-US" sz="1500" dirty="0">
                <a:solidFill>
                  <a:srgbClr val="F4F4F4"/>
                </a:solidFill>
                <a:latin typeface="Courier New" pitchFamily="34" charset="0"/>
                <a:ea typeface="Courier New" pitchFamily="34" charset="-122"/>
                <a:cs typeface="Courier New" pitchFamily="34" charset="-120"/>
              </a:rPr>
              <a:t>Línea de llenado y tapado — de la telemetría al gobierno de la decisión</a:t>
            </a:r>
            <a:endParaRPr lang="en-US" sz="1500" dirty="0"/>
          </a:p>
        </p:txBody>
      </p:sp>
      <p:sp>
        <p:nvSpPr>
          <p:cNvPr id="7" name="Shape 5"/>
          <p:cNvSpPr/>
          <p:nvPr/>
        </p:nvSpPr>
        <p:spPr>
          <a:xfrm>
            <a:off x="502920" y="5074920"/>
            <a:ext cx="11185855" cy="0"/>
          </a:xfrm>
          <a:prstGeom prst="line">
            <a:avLst/>
          </a:prstGeom>
          <a:noFill/>
          <a:ln w="12700">
            <a:solidFill>
              <a:srgbClr val="333333"/>
            </a:solidFill>
            <a:prstDash val="solid"/>
          </a:ln>
        </p:spPr>
      </p:sp>
      <p:sp>
        <p:nvSpPr>
          <p:cNvPr id="8" name="Text 6"/>
          <p:cNvSpPr/>
          <p:nvPr/>
        </p:nvSpPr>
        <p:spPr>
          <a:xfrm>
            <a:off x="502920" y="5257800"/>
            <a:ext cx="1920240" cy="292608"/>
          </a:xfrm>
          <a:prstGeom prst="rect">
            <a:avLst/>
          </a:prstGeom>
          <a:noFill/>
          <a:ln/>
        </p:spPr>
        <p:txBody>
          <a:bodyPr wrap="square" lIns="0" tIns="0" rIns="0" bIns="0" rtlCol="0" anchor="ctr"/>
          <a:lstStyle/>
          <a:p>
            <a:pPr indent="0" marL="0">
              <a:buNone/>
            </a:pPr>
            <a:r>
              <a:rPr lang="en-US" sz="1000" b="1" dirty="0">
                <a:solidFill>
                  <a:srgbClr val="C6FF00"/>
                </a:solidFill>
                <a:latin typeface="Courier New" pitchFamily="34" charset="0"/>
                <a:ea typeface="Courier New" pitchFamily="34" charset="-122"/>
                <a:cs typeface="Courier New" pitchFamily="34" charset="-120"/>
              </a:rPr>
              <a:t>DOCENTE</a:t>
            </a:r>
            <a:endParaRPr lang="en-US" sz="1000" dirty="0"/>
          </a:p>
        </p:txBody>
      </p:sp>
      <p:sp>
        <p:nvSpPr>
          <p:cNvPr id="9" name="Text 7"/>
          <p:cNvSpPr/>
          <p:nvPr/>
        </p:nvSpPr>
        <p:spPr>
          <a:xfrm>
            <a:off x="2468880" y="5257800"/>
            <a:ext cx="9219895" cy="29260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Jorge Andrés Dapena — MSc.</a:t>
            </a:r>
            <a:endParaRPr lang="en-US" sz="1200" dirty="0"/>
          </a:p>
        </p:txBody>
      </p:sp>
      <p:sp>
        <p:nvSpPr>
          <p:cNvPr id="10" name="Text 8"/>
          <p:cNvSpPr/>
          <p:nvPr/>
        </p:nvSpPr>
        <p:spPr>
          <a:xfrm>
            <a:off x="502920" y="5641848"/>
            <a:ext cx="1920240" cy="292608"/>
          </a:xfrm>
          <a:prstGeom prst="rect">
            <a:avLst/>
          </a:prstGeom>
          <a:noFill/>
          <a:ln/>
        </p:spPr>
        <p:txBody>
          <a:bodyPr wrap="square" lIns="0" tIns="0" rIns="0" bIns="0" rtlCol="0" anchor="ctr"/>
          <a:lstStyle/>
          <a:p>
            <a:pPr indent="0" marL="0">
              <a:buNone/>
            </a:pPr>
            <a:r>
              <a:rPr lang="en-US" sz="1000" b="1" dirty="0">
                <a:solidFill>
                  <a:srgbClr val="C6FF00"/>
                </a:solidFill>
                <a:latin typeface="Courier New" pitchFamily="34" charset="0"/>
                <a:ea typeface="Courier New" pitchFamily="34" charset="-122"/>
                <a:cs typeface="Courier New" pitchFamily="34" charset="-120"/>
              </a:rPr>
              <a:t>UNIDAD</a:t>
            </a:r>
            <a:endParaRPr lang="en-US" sz="1000" dirty="0"/>
          </a:p>
        </p:txBody>
      </p:sp>
      <p:sp>
        <p:nvSpPr>
          <p:cNvPr id="11" name="Text 9"/>
          <p:cNvSpPr/>
          <p:nvPr/>
        </p:nvSpPr>
        <p:spPr>
          <a:xfrm>
            <a:off x="2468880" y="5641848"/>
            <a:ext cx="9219895" cy="29260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U3 · Convergencia IT/OT    ·    SEMANA 12</a:t>
            </a:r>
            <a:endParaRPr lang="en-US" sz="1200" dirty="0"/>
          </a:p>
        </p:txBody>
      </p:sp>
      <p:sp>
        <p:nvSpPr>
          <p:cNvPr id="12" name="Text 10"/>
          <p:cNvSpPr/>
          <p:nvPr/>
        </p:nvSpPr>
        <p:spPr>
          <a:xfrm>
            <a:off x="502920" y="6025896"/>
            <a:ext cx="1920240" cy="292608"/>
          </a:xfrm>
          <a:prstGeom prst="rect">
            <a:avLst/>
          </a:prstGeom>
          <a:noFill/>
          <a:ln/>
        </p:spPr>
        <p:txBody>
          <a:bodyPr wrap="square" lIns="0" tIns="0" rIns="0" bIns="0" rtlCol="0" anchor="ctr"/>
          <a:lstStyle/>
          <a:p>
            <a:pPr indent="0" marL="0">
              <a:buNone/>
            </a:pPr>
            <a:r>
              <a:rPr lang="en-US" sz="1000" b="1" dirty="0">
                <a:solidFill>
                  <a:srgbClr val="C6FF00"/>
                </a:solidFill>
                <a:latin typeface="Courier New" pitchFamily="34" charset="0"/>
                <a:ea typeface="Courier New" pitchFamily="34" charset="-122"/>
                <a:cs typeface="Courier New" pitchFamily="34" charset="-120"/>
              </a:rPr>
              <a:t>INSTITUCIÓN</a:t>
            </a:r>
            <a:endParaRPr lang="en-US" sz="1000" dirty="0"/>
          </a:p>
        </p:txBody>
      </p:sp>
      <p:sp>
        <p:nvSpPr>
          <p:cNvPr id="13" name="Text 11"/>
          <p:cNvSpPr/>
          <p:nvPr/>
        </p:nvSpPr>
        <p:spPr>
          <a:xfrm>
            <a:off x="2468880" y="6025896"/>
            <a:ext cx="9219895" cy="29260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Universidad de San Buenaventura — Medellín (Bello)</a:t>
            </a:r>
            <a:endParaRPr lang="en-US" sz="1200" dirty="0"/>
          </a:p>
        </p:txBody>
      </p:sp>
      <p:sp>
        <p:nvSpPr>
          <p:cNvPr id="14" name="Text 12"/>
          <p:cNvSpPr/>
          <p:nvPr/>
        </p:nvSpPr>
        <p:spPr>
          <a:xfrm>
            <a:off x="502920" y="6382512"/>
            <a:ext cx="11185855"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Y SISTEMAS CIBER-FÍSICOS DE PRODUCCIÓN · 2026-2</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01  INICIO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AGENDA DE LA SESIÓN</a:t>
            </a:r>
            <a:endParaRPr lang="en-US" sz="3300" dirty="0"/>
          </a:p>
        </p:txBody>
      </p:sp>
      <p:sp>
        <p:nvSpPr>
          <p:cNvPr id="4" name="Shape 2"/>
          <p:cNvSpPr/>
          <p:nvPr/>
        </p:nvSpPr>
        <p:spPr>
          <a:xfrm>
            <a:off x="502920" y="1828800"/>
            <a:ext cx="5364328" cy="1298448"/>
          </a:xfrm>
          <a:prstGeom prst="roundRect">
            <a:avLst>
              <a:gd name="adj" fmla="val 4225"/>
            </a:avLst>
          </a:prstGeom>
          <a:solidFill>
            <a:srgbClr val="151515"/>
          </a:solidFill>
          <a:ln w="12700">
            <a:solidFill>
              <a:srgbClr val="333333"/>
            </a:solidFill>
            <a:prstDash val="solid"/>
          </a:ln>
        </p:spPr>
      </p:sp>
      <p:sp>
        <p:nvSpPr>
          <p:cNvPr id="5" name="Text 3"/>
          <p:cNvSpPr/>
          <p:nvPr/>
        </p:nvSpPr>
        <p:spPr>
          <a:xfrm>
            <a:off x="667512" y="199339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A</a:t>
            </a:r>
            <a:endParaRPr lang="en-US" sz="2600" dirty="0"/>
          </a:p>
        </p:txBody>
      </p:sp>
      <p:sp>
        <p:nvSpPr>
          <p:cNvPr id="6" name="Text 4"/>
          <p:cNvSpPr/>
          <p:nvPr/>
        </p:nvSpPr>
        <p:spPr>
          <a:xfrm>
            <a:off x="1417320" y="202996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El problema</a:t>
            </a:r>
            <a:endParaRPr lang="en-US" sz="1450" dirty="0"/>
          </a:p>
        </p:txBody>
      </p:sp>
      <p:sp>
        <p:nvSpPr>
          <p:cNvPr id="7" name="Text 5"/>
          <p:cNvSpPr/>
          <p:nvPr/>
        </p:nvSpPr>
        <p:spPr>
          <a:xfrm>
            <a:off x="1417320" y="248716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Por qué casi ningún 'gemelo digital' lo es</a:t>
            </a:r>
            <a:endParaRPr lang="en-US" sz="1050" dirty="0"/>
          </a:p>
        </p:txBody>
      </p:sp>
      <p:sp>
        <p:nvSpPr>
          <p:cNvPr id="8" name="Shape 6"/>
          <p:cNvSpPr/>
          <p:nvPr/>
        </p:nvSpPr>
        <p:spPr>
          <a:xfrm>
            <a:off x="6324448" y="1828800"/>
            <a:ext cx="5364328" cy="1298448"/>
          </a:xfrm>
          <a:prstGeom prst="roundRect">
            <a:avLst>
              <a:gd name="adj" fmla="val 4225"/>
            </a:avLst>
          </a:prstGeom>
          <a:solidFill>
            <a:srgbClr val="151515"/>
          </a:solidFill>
          <a:ln w="12700">
            <a:solidFill>
              <a:srgbClr val="333333"/>
            </a:solidFill>
            <a:prstDash val="solid"/>
          </a:ln>
        </p:spPr>
      </p:sp>
      <p:sp>
        <p:nvSpPr>
          <p:cNvPr id="9" name="Text 7"/>
          <p:cNvSpPr/>
          <p:nvPr/>
        </p:nvSpPr>
        <p:spPr>
          <a:xfrm>
            <a:off x="6489040" y="199339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B</a:t>
            </a:r>
            <a:endParaRPr lang="en-US" sz="2600" dirty="0"/>
          </a:p>
        </p:txBody>
      </p:sp>
      <p:sp>
        <p:nvSpPr>
          <p:cNvPr id="10" name="Text 8"/>
          <p:cNvSpPr/>
          <p:nvPr/>
        </p:nvSpPr>
        <p:spPr>
          <a:xfrm>
            <a:off x="7238848" y="202996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El proceso</a:t>
            </a:r>
            <a:endParaRPr lang="en-US" sz="1450" dirty="0"/>
          </a:p>
        </p:txBody>
      </p:sp>
      <p:sp>
        <p:nvSpPr>
          <p:cNvPr id="11" name="Text 9"/>
          <p:cNvSpPr/>
          <p:nvPr/>
        </p:nvSpPr>
        <p:spPr>
          <a:xfrm>
            <a:off x="7238848" y="248716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La línea de llenado: física, control y fallas</a:t>
            </a:r>
            <a:endParaRPr lang="en-US" sz="1050" dirty="0"/>
          </a:p>
        </p:txBody>
      </p:sp>
      <p:sp>
        <p:nvSpPr>
          <p:cNvPr id="12" name="Shape 10"/>
          <p:cNvSpPr/>
          <p:nvPr/>
        </p:nvSpPr>
        <p:spPr>
          <a:xfrm>
            <a:off x="502920" y="3383280"/>
            <a:ext cx="5364328" cy="1298448"/>
          </a:xfrm>
          <a:prstGeom prst="roundRect">
            <a:avLst>
              <a:gd name="adj" fmla="val 4225"/>
            </a:avLst>
          </a:prstGeom>
          <a:solidFill>
            <a:srgbClr val="151515"/>
          </a:solidFill>
          <a:ln w="12700">
            <a:solidFill>
              <a:srgbClr val="333333"/>
            </a:solidFill>
            <a:prstDash val="solid"/>
          </a:ln>
        </p:spPr>
      </p:sp>
      <p:sp>
        <p:nvSpPr>
          <p:cNvPr id="13" name="Text 11"/>
          <p:cNvSpPr/>
          <p:nvPr/>
        </p:nvSpPr>
        <p:spPr>
          <a:xfrm>
            <a:off x="667512" y="354787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C</a:t>
            </a:r>
            <a:endParaRPr lang="en-US" sz="2600" dirty="0"/>
          </a:p>
        </p:txBody>
      </p:sp>
      <p:sp>
        <p:nvSpPr>
          <p:cNvPr id="14" name="Text 12"/>
          <p:cNvSpPr/>
          <p:nvPr/>
        </p:nvSpPr>
        <p:spPr>
          <a:xfrm>
            <a:off x="1417320" y="358444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La construcción</a:t>
            </a:r>
            <a:endParaRPr lang="en-US" sz="1450" dirty="0"/>
          </a:p>
        </p:txBody>
      </p:sp>
      <p:sp>
        <p:nvSpPr>
          <p:cNvPr id="15" name="Text 13"/>
          <p:cNvSpPr/>
          <p:nvPr/>
        </p:nvSpPr>
        <p:spPr>
          <a:xfrm>
            <a:off x="1417320" y="404164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Arquitectura, frontera planta/gemelo y stack</a:t>
            </a:r>
            <a:endParaRPr lang="en-US" sz="1050" dirty="0"/>
          </a:p>
        </p:txBody>
      </p:sp>
      <p:sp>
        <p:nvSpPr>
          <p:cNvPr id="16" name="Shape 14"/>
          <p:cNvSpPr/>
          <p:nvPr/>
        </p:nvSpPr>
        <p:spPr>
          <a:xfrm>
            <a:off x="6324448" y="3383280"/>
            <a:ext cx="5364328" cy="1298448"/>
          </a:xfrm>
          <a:prstGeom prst="roundRect">
            <a:avLst>
              <a:gd name="adj" fmla="val 4225"/>
            </a:avLst>
          </a:prstGeom>
          <a:solidFill>
            <a:srgbClr val="151515"/>
          </a:solidFill>
          <a:ln w="12700">
            <a:solidFill>
              <a:srgbClr val="333333"/>
            </a:solidFill>
            <a:prstDash val="solid"/>
          </a:ln>
        </p:spPr>
      </p:sp>
      <p:sp>
        <p:nvSpPr>
          <p:cNvPr id="17" name="Text 15"/>
          <p:cNvSpPr/>
          <p:nvPr/>
        </p:nvSpPr>
        <p:spPr>
          <a:xfrm>
            <a:off x="6489040" y="354787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D</a:t>
            </a:r>
            <a:endParaRPr lang="en-US" sz="2600" dirty="0"/>
          </a:p>
        </p:txBody>
      </p:sp>
      <p:sp>
        <p:nvSpPr>
          <p:cNvPr id="18" name="Text 16"/>
          <p:cNvSpPr/>
          <p:nvPr/>
        </p:nvSpPr>
        <p:spPr>
          <a:xfrm>
            <a:off x="7238848" y="358444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Las cuatro capacidades</a:t>
            </a:r>
            <a:endParaRPr lang="en-US" sz="1450" dirty="0"/>
          </a:p>
        </p:txBody>
      </p:sp>
      <p:sp>
        <p:nvSpPr>
          <p:cNvPr id="19" name="Text 17"/>
          <p:cNvSpPr/>
          <p:nvPr/>
        </p:nvSpPr>
        <p:spPr>
          <a:xfrm>
            <a:off x="7238848" y="404164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Modelo, residual, diagnóstico y what-if</a:t>
            </a:r>
            <a:endParaRPr lang="en-US" sz="1050" dirty="0"/>
          </a:p>
        </p:txBody>
      </p:sp>
      <p:sp>
        <p:nvSpPr>
          <p:cNvPr id="20" name="Shape 18"/>
          <p:cNvSpPr/>
          <p:nvPr/>
        </p:nvSpPr>
        <p:spPr>
          <a:xfrm>
            <a:off x="502920" y="4937760"/>
            <a:ext cx="5364328" cy="1298448"/>
          </a:xfrm>
          <a:prstGeom prst="roundRect">
            <a:avLst>
              <a:gd name="adj" fmla="val 4225"/>
            </a:avLst>
          </a:prstGeom>
          <a:solidFill>
            <a:srgbClr val="151515"/>
          </a:solidFill>
          <a:ln w="12700">
            <a:solidFill>
              <a:srgbClr val="333333"/>
            </a:solidFill>
            <a:prstDash val="solid"/>
          </a:ln>
        </p:spPr>
      </p:sp>
      <p:sp>
        <p:nvSpPr>
          <p:cNvPr id="21" name="Text 19"/>
          <p:cNvSpPr/>
          <p:nvPr/>
        </p:nvSpPr>
        <p:spPr>
          <a:xfrm>
            <a:off x="667512" y="510235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E</a:t>
            </a:r>
            <a:endParaRPr lang="en-US" sz="2600" dirty="0"/>
          </a:p>
        </p:txBody>
      </p:sp>
      <p:sp>
        <p:nvSpPr>
          <p:cNvPr id="22" name="Text 20"/>
          <p:cNvSpPr/>
          <p:nvPr/>
        </p:nvSpPr>
        <p:spPr>
          <a:xfrm>
            <a:off x="1417320" y="513892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El gobierno</a:t>
            </a:r>
            <a:endParaRPr lang="en-US" sz="1450" dirty="0"/>
          </a:p>
        </p:txBody>
      </p:sp>
      <p:sp>
        <p:nvSpPr>
          <p:cNvPr id="23" name="Text 21"/>
          <p:cNvSpPr/>
          <p:nvPr/>
        </p:nvSpPr>
        <p:spPr>
          <a:xfrm>
            <a:off x="1417320" y="559612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EDM en pantalla: evaluar, dirigir, monitorear</a:t>
            </a:r>
            <a:endParaRPr lang="en-US" sz="1050" dirty="0"/>
          </a:p>
        </p:txBody>
      </p:sp>
      <p:sp>
        <p:nvSpPr>
          <p:cNvPr id="24" name="Shape 22"/>
          <p:cNvSpPr/>
          <p:nvPr/>
        </p:nvSpPr>
        <p:spPr>
          <a:xfrm>
            <a:off x="6324448" y="4937760"/>
            <a:ext cx="5364328" cy="1298448"/>
          </a:xfrm>
          <a:prstGeom prst="roundRect">
            <a:avLst>
              <a:gd name="adj" fmla="val 4225"/>
            </a:avLst>
          </a:prstGeom>
          <a:solidFill>
            <a:srgbClr val="151515"/>
          </a:solidFill>
          <a:ln w="12700">
            <a:solidFill>
              <a:srgbClr val="333333"/>
            </a:solidFill>
            <a:prstDash val="solid"/>
          </a:ln>
        </p:spPr>
      </p:sp>
      <p:sp>
        <p:nvSpPr>
          <p:cNvPr id="25" name="Text 23"/>
          <p:cNvSpPr/>
          <p:nvPr/>
        </p:nvSpPr>
        <p:spPr>
          <a:xfrm>
            <a:off x="6489040" y="510235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F</a:t>
            </a:r>
            <a:endParaRPr lang="en-US" sz="2600" dirty="0"/>
          </a:p>
        </p:txBody>
      </p:sp>
      <p:sp>
        <p:nvSpPr>
          <p:cNvPr id="26" name="Text 24"/>
          <p:cNvSpPr/>
          <p:nvPr/>
        </p:nvSpPr>
        <p:spPr>
          <a:xfrm>
            <a:off x="7238848" y="513892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Guion de demo</a:t>
            </a:r>
            <a:endParaRPr lang="en-US" sz="1450" dirty="0"/>
          </a:p>
        </p:txBody>
      </p:sp>
      <p:sp>
        <p:nvSpPr>
          <p:cNvPr id="27" name="Text 25"/>
          <p:cNvSpPr/>
          <p:nvPr/>
        </p:nvSpPr>
        <p:spPr>
          <a:xfrm>
            <a:off x="7238848" y="559612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Cómo correrlo y en qué orden mostrarlo</a:t>
            </a:r>
            <a:endParaRPr lang="en-US" sz="1050" dirty="0"/>
          </a:p>
        </p:txBody>
      </p:sp>
      <p:sp>
        <p:nvSpPr>
          <p:cNvPr id="28" name="Text 2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9" name="Text 2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30" name="Text 2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02 / 49</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02  LAB</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EL LABORATORIO EN CIFRAS</a:t>
            </a:r>
            <a:endParaRPr lang="en-US" sz="3300" dirty="0"/>
          </a:p>
        </p:txBody>
      </p:sp>
      <p:sp>
        <p:nvSpPr>
          <p:cNvPr id="4" name="Shape 2"/>
          <p:cNvSpPr/>
          <p:nvPr/>
        </p:nvSpPr>
        <p:spPr>
          <a:xfrm>
            <a:off x="502920" y="1783080"/>
            <a:ext cx="2590724" cy="1371600"/>
          </a:xfrm>
          <a:prstGeom prst="roundRect">
            <a:avLst>
              <a:gd name="adj" fmla="val 4000"/>
            </a:avLst>
          </a:prstGeom>
          <a:solidFill>
            <a:srgbClr val="151515"/>
          </a:solidFill>
          <a:ln w="12700">
            <a:solidFill>
              <a:srgbClr val="333333"/>
            </a:solidFill>
            <a:prstDash val="solid"/>
          </a:ln>
        </p:spPr>
      </p:sp>
      <p:sp>
        <p:nvSpPr>
          <p:cNvPr id="5" name="Text 3"/>
          <p:cNvSpPr/>
          <p:nvPr/>
        </p:nvSpPr>
        <p:spPr>
          <a:xfrm>
            <a:off x="502920" y="1874520"/>
            <a:ext cx="2590724" cy="777240"/>
          </a:xfrm>
          <a:prstGeom prst="rect">
            <a:avLst/>
          </a:prstGeom>
          <a:noFill/>
          <a:ln/>
        </p:spPr>
        <p:txBody>
          <a:bodyPr wrap="square" lIns="0" tIns="0" rIns="0" bIns="0" rtlCol="0" anchor="ctr"/>
          <a:lstStyle/>
          <a:p>
            <a:pPr algn="ctr" indent="0" marL="0">
              <a:buNone/>
            </a:pPr>
            <a:r>
              <a:rPr lang="en-US" sz="4000" dirty="0">
                <a:solidFill>
                  <a:srgbClr val="C6FF00"/>
                </a:solidFill>
                <a:latin typeface="Arial Black" pitchFamily="34" charset="0"/>
                <a:ea typeface="Arial Black" pitchFamily="34" charset="-122"/>
                <a:cs typeface="Arial Black" pitchFamily="34" charset="-120"/>
              </a:rPr>
              <a:t>4</a:t>
            </a:r>
            <a:endParaRPr lang="en-US" sz="4000" dirty="0"/>
          </a:p>
        </p:txBody>
      </p:sp>
      <p:sp>
        <p:nvSpPr>
          <p:cNvPr id="6" name="Text 4"/>
          <p:cNvSpPr/>
          <p:nvPr/>
        </p:nvSpPr>
        <p:spPr>
          <a:xfrm>
            <a:off x="502920" y="2679192"/>
            <a:ext cx="2590724" cy="365760"/>
          </a:xfrm>
          <a:prstGeom prst="rect">
            <a:avLst/>
          </a:prstGeom>
          <a:noFill/>
          <a:ln/>
        </p:spPr>
        <p:txBody>
          <a:bodyPr wrap="square" lIns="0" tIns="0" rIns="0" bIns="0" rtlCol="0" anchor="ctr"/>
          <a:lstStyle/>
          <a:p>
            <a:pPr algn="ctr" indent="0" marL="0">
              <a:buNone/>
            </a:pPr>
            <a:r>
              <a:rPr lang="en-US" sz="950" dirty="0">
                <a:solidFill>
                  <a:srgbClr val="8C8C8C"/>
                </a:solidFill>
                <a:latin typeface="Courier New" pitchFamily="34" charset="0"/>
                <a:ea typeface="Courier New" pitchFamily="34" charset="-122"/>
                <a:cs typeface="Courier New" pitchFamily="34" charset="-120"/>
              </a:rPr>
              <a:t>CAPACIDADES</a:t>
            </a:r>
            <a:endParaRPr lang="en-US" sz="950" dirty="0"/>
          </a:p>
        </p:txBody>
      </p:sp>
      <p:sp>
        <p:nvSpPr>
          <p:cNvPr id="7" name="Shape 5"/>
          <p:cNvSpPr/>
          <p:nvPr/>
        </p:nvSpPr>
        <p:spPr>
          <a:xfrm>
            <a:off x="3367964" y="1783080"/>
            <a:ext cx="2590724" cy="1371600"/>
          </a:xfrm>
          <a:prstGeom prst="roundRect">
            <a:avLst>
              <a:gd name="adj" fmla="val 4000"/>
            </a:avLst>
          </a:prstGeom>
          <a:solidFill>
            <a:srgbClr val="151515"/>
          </a:solidFill>
          <a:ln w="12700">
            <a:solidFill>
              <a:srgbClr val="333333"/>
            </a:solidFill>
            <a:prstDash val="solid"/>
          </a:ln>
        </p:spPr>
      </p:sp>
      <p:sp>
        <p:nvSpPr>
          <p:cNvPr id="8" name="Text 6"/>
          <p:cNvSpPr/>
          <p:nvPr/>
        </p:nvSpPr>
        <p:spPr>
          <a:xfrm>
            <a:off x="3367964" y="1874520"/>
            <a:ext cx="2590724" cy="777240"/>
          </a:xfrm>
          <a:prstGeom prst="rect">
            <a:avLst/>
          </a:prstGeom>
          <a:noFill/>
          <a:ln/>
        </p:spPr>
        <p:txBody>
          <a:bodyPr wrap="square" lIns="0" tIns="0" rIns="0" bIns="0" rtlCol="0" anchor="ctr"/>
          <a:lstStyle/>
          <a:p>
            <a:pPr algn="ctr" indent="0" marL="0">
              <a:buNone/>
            </a:pPr>
            <a:r>
              <a:rPr lang="en-US" sz="4000" dirty="0">
                <a:solidFill>
                  <a:srgbClr val="C6FF00"/>
                </a:solidFill>
                <a:latin typeface="Arial Black" pitchFamily="34" charset="0"/>
                <a:ea typeface="Arial Black" pitchFamily="34" charset="-122"/>
                <a:cs typeface="Arial Black" pitchFamily="34" charset="-120"/>
              </a:rPr>
              <a:t>5</a:t>
            </a:r>
            <a:endParaRPr lang="en-US" sz="4000" dirty="0"/>
          </a:p>
        </p:txBody>
      </p:sp>
      <p:sp>
        <p:nvSpPr>
          <p:cNvPr id="9" name="Text 7"/>
          <p:cNvSpPr/>
          <p:nvPr/>
        </p:nvSpPr>
        <p:spPr>
          <a:xfrm>
            <a:off x="3367964" y="2679192"/>
            <a:ext cx="2590724" cy="365760"/>
          </a:xfrm>
          <a:prstGeom prst="rect">
            <a:avLst/>
          </a:prstGeom>
          <a:noFill/>
          <a:ln/>
        </p:spPr>
        <p:txBody>
          <a:bodyPr wrap="square" lIns="0" tIns="0" rIns="0" bIns="0" rtlCol="0" anchor="ctr"/>
          <a:lstStyle/>
          <a:p>
            <a:pPr algn="ctr" indent="0" marL="0">
              <a:buNone/>
            </a:pPr>
            <a:r>
              <a:rPr lang="en-US" sz="950" dirty="0">
                <a:solidFill>
                  <a:srgbClr val="8C8C8C"/>
                </a:solidFill>
                <a:latin typeface="Courier New" pitchFamily="34" charset="0"/>
                <a:ea typeface="Courier New" pitchFamily="34" charset="-122"/>
                <a:cs typeface="Courier New" pitchFamily="34" charset="-120"/>
              </a:rPr>
              <a:t>MODOS DE FALLA</a:t>
            </a:r>
            <a:endParaRPr lang="en-US" sz="950" dirty="0"/>
          </a:p>
        </p:txBody>
      </p:sp>
      <p:sp>
        <p:nvSpPr>
          <p:cNvPr id="10" name="Shape 8"/>
          <p:cNvSpPr/>
          <p:nvPr/>
        </p:nvSpPr>
        <p:spPr>
          <a:xfrm>
            <a:off x="6233008" y="1783080"/>
            <a:ext cx="2590724" cy="1371600"/>
          </a:xfrm>
          <a:prstGeom prst="roundRect">
            <a:avLst>
              <a:gd name="adj" fmla="val 4000"/>
            </a:avLst>
          </a:prstGeom>
          <a:solidFill>
            <a:srgbClr val="151515"/>
          </a:solidFill>
          <a:ln w="12700">
            <a:solidFill>
              <a:srgbClr val="333333"/>
            </a:solidFill>
            <a:prstDash val="solid"/>
          </a:ln>
        </p:spPr>
      </p:sp>
      <p:sp>
        <p:nvSpPr>
          <p:cNvPr id="11" name="Text 9"/>
          <p:cNvSpPr/>
          <p:nvPr/>
        </p:nvSpPr>
        <p:spPr>
          <a:xfrm>
            <a:off x="6233008" y="1874520"/>
            <a:ext cx="2590724" cy="777240"/>
          </a:xfrm>
          <a:prstGeom prst="rect">
            <a:avLst/>
          </a:prstGeom>
          <a:noFill/>
          <a:ln/>
        </p:spPr>
        <p:txBody>
          <a:bodyPr wrap="square" lIns="0" tIns="0" rIns="0" bIns="0" rtlCol="0" anchor="ctr"/>
          <a:lstStyle/>
          <a:p>
            <a:pPr algn="ctr" indent="0" marL="0">
              <a:buNone/>
            </a:pPr>
            <a:r>
              <a:rPr lang="en-US" sz="4000" dirty="0">
                <a:solidFill>
                  <a:srgbClr val="C6FF00"/>
                </a:solidFill>
                <a:latin typeface="Arial Black" pitchFamily="34" charset="0"/>
                <a:ea typeface="Arial Black" pitchFamily="34" charset="-122"/>
                <a:cs typeface="Arial Black" pitchFamily="34" charset="-120"/>
              </a:rPr>
              <a:t>2</a:t>
            </a:r>
            <a:endParaRPr lang="en-US" sz="4000" dirty="0"/>
          </a:p>
        </p:txBody>
      </p:sp>
      <p:sp>
        <p:nvSpPr>
          <p:cNvPr id="12" name="Text 10"/>
          <p:cNvSpPr/>
          <p:nvPr/>
        </p:nvSpPr>
        <p:spPr>
          <a:xfrm>
            <a:off x="6233008" y="2679192"/>
            <a:ext cx="2590724" cy="365760"/>
          </a:xfrm>
          <a:prstGeom prst="rect">
            <a:avLst/>
          </a:prstGeom>
          <a:noFill/>
          <a:ln/>
        </p:spPr>
        <p:txBody>
          <a:bodyPr wrap="square" lIns="0" tIns="0" rIns="0" bIns="0" rtlCol="0" anchor="ctr"/>
          <a:lstStyle/>
          <a:p>
            <a:pPr algn="ctr" indent="0" marL="0">
              <a:buNone/>
            </a:pPr>
            <a:r>
              <a:rPr lang="en-US" sz="950" dirty="0">
                <a:solidFill>
                  <a:srgbClr val="8C8C8C"/>
                </a:solidFill>
                <a:latin typeface="Courier New" pitchFamily="34" charset="0"/>
                <a:ea typeface="Courier New" pitchFamily="34" charset="-122"/>
                <a:cs typeface="Courier New" pitchFamily="34" charset="-120"/>
              </a:rPr>
              <a:t>DEPENDENCIAS</a:t>
            </a:r>
            <a:endParaRPr lang="en-US" sz="950" dirty="0"/>
          </a:p>
        </p:txBody>
      </p:sp>
      <p:sp>
        <p:nvSpPr>
          <p:cNvPr id="13" name="Shape 11"/>
          <p:cNvSpPr/>
          <p:nvPr/>
        </p:nvSpPr>
        <p:spPr>
          <a:xfrm>
            <a:off x="9098051" y="1783080"/>
            <a:ext cx="2590724" cy="1371600"/>
          </a:xfrm>
          <a:prstGeom prst="roundRect">
            <a:avLst>
              <a:gd name="adj" fmla="val 4000"/>
            </a:avLst>
          </a:prstGeom>
          <a:solidFill>
            <a:srgbClr val="151515"/>
          </a:solidFill>
          <a:ln w="12700">
            <a:solidFill>
              <a:srgbClr val="333333"/>
            </a:solidFill>
            <a:prstDash val="solid"/>
          </a:ln>
        </p:spPr>
      </p:sp>
      <p:sp>
        <p:nvSpPr>
          <p:cNvPr id="14" name="Text 12"/>
          <p:cNvSpPr/>
          <p:nvPr/>
        </p:nvSpPr>
        <p:spPr>
          <a:xfrm>
            <a:off x="9098051" y="1874520"/>
            <a:ext cx="2590724" cy="777240"/>
          </a:xfrm>
          <a:prstGeom prst="rect">
            <a:avLst/>
          </a:prstGeom>
          <a:noFill/>
          <a:ln/>
        </p:spPr>
        <p:txBody>
          <a:bodyPr wrap="square" lIns="0" tIns="0" rIns="0" bIns="0" rtlCol="0" anchor="ctr"/>
          <a:lstStyle/>
          <a:p>
            <a:pPr algn="ctr" indent="0" marL="0">
              <a:buNone/>
            </a:pPr>
            <a:r>
              <a:rPr lang="en-US" sz="4000" dirty="0">
                <a:solidFill>
                  <a:srgbClr val="C6FF00"/>
                </a:solidFill>
                <a:latin typeface="Arial Black" pitchFamily="34" charset="0"/>
                <a:ea typeface="Arial Black" pitchFamily="34" charset="-122"/>
                <a:cs typeface="Arial Black" pitchFamily="34" charset="-120"/>
              </a:rPr>
              <a:t>~1400</a:t>
            </a:r>
            <a:endParaRPr lang="en-US" sz="4000" dirty="0"/>
          </a:p>
        </p:txBody>
      </p:sp>
      <p:sp>
        <p:nvSpPr>
          <p:cNvPr id="15" name="Text 13"/>
          <p:cNvSpPr/>
          <p:nvPr/>
        </p:nvSpPr>
        <p:spPr>
          <a:xfrm>
            <a:off x="9098051" y="2679192"/>
            <a:ext cx="2590724" cy="365760"/>
          </a:xfrm>
          <a:prstGeom prst="rect">
            <a:avLst/>
          </a:prstGeom>
          <a:noFill/>
          <a:ln/>
        </p:spPr>
        <p:txBody>
          <a:bodyPr wrap="square" lIns="0" tIns="0" rIns="0" bIns="0" rtlCol="0" anchor="ctr"/>
          <a:lstStyle/>
          <a:p>
            <a:pPr algn="ctr" indent="0" marL="0">
              <a:buNone/>
            </a:pPr>
            <a:r>
              <a:rPr lang="en-US" sz="950" dirty="0">
                <a:solidFill>
                  <a:srgbClr val="8C8C8C"/>
                </a:solidFill>
                <a:latin typeface="Courier New" pitchFamily="34" charset="0"/>
                <a:ea typeface="Courier New" pitchFamily="34" charset="-122"/>
                <a:cs typeface="Courier New" pitchFamily="34" charset="-120"/>
              </a:rPr>
              <a:t>LÍNEAS</a:t>
            </a:r>
            <a:endParaRPr lang="en-US" sz="950" dirty="0"/>
          </a:p>
        </p:txBody>
      </p:sp>
      <p:sp>
        <p:nvSpPr>
          <p:cNvPr id="16" name="Text 14"/>
          <p:cNvSpPr/>
          <p:nvPr/>
        </p:nvSpPr>
        <p:spPr>
          <a:xfrm>
            <a:off x="502920" y="3383280"/>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SESIÓN</a:t>
            </a:r>
            <a:endParaRPr lang="en-US" sz="1050" dirty="0"/>
          </a:p>
        </p:txBody>
      </p:sp>
      <p:sp>
        <p:nvSpPr>
          <p:cNvPr id="17" name="Text 15"/>
          <p:cNvSpPr/>
          <p:nvPr/>
        </p:nvSpPr>
        <p:spPr>
          <a:xfrm>
            <a:off x="3291840" y="3383280"/>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S12 · Gemelos digitales (Semana 12)</a:t>
            </a:r>
            <a:endParaRPr lang="en-US" sz="1200" dirty="0"/>
          </a:p>
        </p:txBody>
      </p:sp>
      <p:sp>
        <p:nvSpPr>
          <p:cNvPr id="18" name="Text 16"/>
          <p:cNvSpPr/>
          <p:nvPr/>
        </p:nvSpPr>
        <p:spPr>
          <a:xfrm>
            <a:off x="6324448" y="3383280"/>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ALIMENTA</a:t>
            </a:r>
            <a:endParaRPr lang="en-US" sz="1050" dirty="0"/>
          </a:p>
        </p:txBody>
      </p:sp>
      <p:sp>
        <p:nvSpPr>
          <p:cNvPr id="19" name="Text 17"/>
          <p:cNvSpPr/>
          <p:nvPr/>
        </p:nvSpPr>
        <p:spPr>
          <a:xfrm>
            <a:off x="9113368" y="3383280"/>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Lab 8 — OEE (S13)</a:t>
            </a:r>
            <a:endParaRPr lang="en-US" sz="1200" dirty="0"/>
          </a:p>
        </p:txBody>
      </p:sp>
      <p:sp>
        <p:nvSpPr>
          <p:cNvPr id="20" name="Text 18"/>
          <p:cNvSpPr/>
          <p:nvPr/>
        </p:nvSpPr>
        <p:spPr>
          <a:xfrm>
            <a:off x="502920" y="4096512"/>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BACKEND</a:t>
            </a:r>
            <a:endParaRPr lang="en-US" sz="1050" dirty="0"/>
          </a:p>
        </p:txBody>
      </p:sp>
      <p:sp>
        <p:nvSpPr>
          <p:cNvPr id="21" name="Text 19"/>
          <p:cNvSpPr/>
          <p:nvPr/>
        </p:nvSpPr>
        <p:spPr>
          <a:xfrm>
            <a:off x="3291840" y="4096512"/>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Python · FastAPI · sin numpy</a:t>
            </a:r>
            <a:endParaRPr lang="en-US" sz="1200" dirty="0"/>
          </a:p>
        </p:txBody>
      </p:sp>
      <p:sp>
        <p:nvSpPr>
          <p:cNvPr id="22" name="Text 20"/>
          <p:cNvSpPr/>
          <p:nvPr/>
        </p:nvSpPr>
        <p:spPr>
          <a:xfrm>
            <a:off x="6324448" y="4096512"/>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FRONT</a:t>
            </a:r>
            <a:endParaRPr lang="en-US" sz="1050" dirty="0"/>
          </a:p>
        </p:txBody>
      </p:sp>
      <p:sp>
        <p:nvSpPr>
          <p:cNvPr id="23" name="Text 21"/>
          <p:cNvSpPr/>
          <p:nvPr/>
        </p:nvSpPr>
        <p:spPr>
          <a:xfrm>
            <a:off x="9113368" y="4096512"/>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React + Vite · SVG a mano</a:t>
            </a:r>
            <a:endParaRPr lang="en-US" sz="1200" dirty="0"/>
          </a:p>
        </p:txBody>
      </p:sp>
      <p:sp>
        <p:nvSpPr>
          <p:cNvPr id="24" name="Text 22"/>
          <p:cNvSpPr/>
          <p:nvPr/>
        </p:nvSpPr>
        <p:spPr>
          <a:xfrm>
            <a:off x="502920" y="4809744"/>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TRANSPORTE</a:t>
            </a:r>
            <a:endParaRPr lang="en-US" sz="1050" dirty="0"/>
          </a:p>
        </p:txBody>
      </p:sp>
      <p:sp>
        <p:nvSpPr>
          <p:cNvPr id="25" name="Text 23"/>
          <p:cNvSpPr/>
          <p:nvPr/>
        </p:nvSpPr>
        <p:spPr>
          <a:xfrm>
            <a:off x="3291840" y="4809744"/>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En memoria o MQTT Sparkplug</a:t>
            </a:r>
            <a:endParaRPr lang="en-US" sz="1200" dirty="0"/>
          </a:p>
        </p:txBody>
      </p:sp>
      <p:sp>
        <p:nvSpPr>
          <p:cNvPr id="26" name="Text 24"/>
          <p:cNvSpPr/>
          <p:nvPr/>
        </p:nvSpPr>
        <p:spPr>
          <a:xfrm>
            <a:off x="6324448" y="4809744"/>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INSTALACIÓN</a:t>
            </a:r>
            <a:endParaRPr lang="en-US" sz="1050" dirty="0"/>
          </a:p>
        </p:txBody>
      </p:sp>
      <p:sp>
        <p:nvSpPr>
          <p:cNvPr id="27" name="Text 25"/>
          <p:cNvSpPr/>
          <p:nvPr/>
        </p:nvSpPr>
        <p:spPr>
          <a:xfrm>
            <a:off x="9113368" y="4809744"/>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pip install + npm install</a:t>
            </a:r>
            <a:endParaRPr lang="en-US" sz="1200" dirty="0"/>
          </a:p>
        </p:txBody>
      </p:sp>
      <p:sp>
        <p:nvSpPr>
          <p:cNvPr id="28" name="Text 2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9" name="Text 2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30" name="Text 2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03 / 49</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03  LAB</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QUÉ DEBE QUEDAR CLARO</a:t>
            </a:r>
            <a:endParaRPr lang="en-US" sz="3300" dirty="0"/>
          </a:p>
        </p:txBody>
      </p:sp>
      <p:sp>
        <p:nvSpPr>
          <p:cNvPr id="4" name="Shape 2"/>
          <p:cNvSpPr/>
          <p:nvPr/>
        </p:nvSpPr>
        <p:spPr>
          <a:xfrm>
            <a:off x="502920" y="1783080"/>
            <a:ext cx="11185855" cy="766267"/>
          </a:xfrm>
          <a:prstGeom prst="roundRect">
            <a:avLst>
              <a:gd name="adj" fmla="val 5967"/>
            </a:avLst>
          </a:prstGeom>
          <a:solidFill>
            <a:srgbClr val="151515"/>
          </a:solidFill>
          <a:ln w="12700">
            <a:solidFill>
              <a:srgbClr val="333333"/>
            </a:solidFill>
            <a:prstDash val="solid"/>
          </a:ln>
        </p:spPr>
      </p:sp>
      <p:sp>
        <p:nvSpPr>
          <p:cNvPr id="5" name="Text 3"/>
          <p:cNvSpPr/>
          <p:nvPr/>
        </p:nvSpPr>
        <p:spPr>
          <a:xfrm>
            <a:off x="685800" y="1783080"/>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01</a:t>
            </a:r>
            <a:endParaRPr lang="en-US" sz="2600" dirty="0"/>
          </a:p>
        </p:txBody>
      </p:sp>
      <p:sp>
        <p:nvSpPr>
          <p:cNvPr id="6" name="Text 4"/>
          <p:cNvSpPr/>
          <p:nvPr/>
        </p:nvSpPr>
        <p:spPr>
          <a:xfrm>
            <a:off x="1691640" y="1783080"/>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Distinguir  </a:t>
            </a:r>
            <a:pPr indent="0" marL="0">
              <a:buNone/>
            </a:pPr>
            <a:r>
              <a:rPr lang="en-US" sz="1350" dirty="0">
                <a:solidFill>
                  <a:srgbClr val="F4F4F4"/>
                </a:solidFill>
                <a:latin typeface="Arial" pitchFamily="34" charset="0"/>
                <a:ea typeface="Arial" pitchFamily="34" charset="-122"/>
                <a:cs typeface="Arial" pitchFamily="34" charset="-120"/>
              </a:rPr>
              <a:t>un gemelo digital de un tablero de telemetría.</a:t>
            </a:r>
            <a:endParaRPr lang="en-US" sz="1350" dirty="0"/>
          </a:p>
        </p:txBody>
      </p:sp>
      <p:sp>
        <p:nvSpPr>
          <p:cNvPr id="7" name="Shape 5"/>
          <p:cNvSpPr/>
          <p:nvPr/>
        </p:nvSpPr>
        <p:spPr>
          <a:xfrm>
            <a:off x="502920" y="2713939"/>
            <a:ext cx="11185855" cy="766267"/>
          </a:xfrm>
          <a:prstGeom prst="roundRect">
            <a:avLst>
              <a:gd name="adj" fmla="val 5967"/>
            </a:avLst>
          </a:prstGeom>
          <a:solidFill>
            <a:srgbClr val="151515"/>
          </a:solidFill>
          <a:ln w="12700">
            <a:solidFill>
              <a:srgbClr val="333333"/>
            </a:solidFill>
            <a:prstDash val="solid"/>
          </a:ln>
        </p:spPr>
      </p:sp>
      <p:sp>
        <p:nvSpPr>
          <p:cNvPr id="8" name="Text 6"/>
          <p:cNvSpPr/>
          <p:nvPr/>
        </p:nvSpPr>
        <p:spPr>
          <a:xfrm>
            <a:off x="685800" y="2713939"/>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02</a:t>
            </a:r>
            <a:endParaRPr lang="en-US" sz="2600" dirty="0"/>
          </a:p>
        </p:txBody>
      </p:sp>
      <p:sp>
        <p:nvSpPr>
          <p:cNvPr id="9" name="Text 7"/>
          <p:cNvSpPr/>
          <p:nvPr/>
        </p:nvSpPr>
        <p:spPr>
          <a:xfrm>
            <a:off x="1691640" y="2713939"/>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Identificar  </a:t>
            </a:r>
            <a:pPr indent="0" marL="0">
              <a:buNone/>
            </a:pPr>
            <a:r>
              <a:rPr lang="en-US" sz="1350" dirty="0">
                <a:solidFill>
                  <a:srgbClr val="F4F4F4"/>
                </a:solidFill>
                <a:latin typeface="Arial" pitchFamily="34" charset="0"/>
                <a:ea typeface="Arial" pitchFamily="34" charset="-122"/>
                <a:cs typeface="Arial" pitchFamily="34" charset="-120"/>
              </a:rPr>
              <a:t>la frontera entre el activo físico y su modelo.</a:t>
            </a:r>
            <a:endParaRPr lang="en-US" sz="1350" dirty="0"/>
          </a:p>
        </p:txBody>
      </p:sp>
      <p:sp>
        <p:nvSpPr>
          <p:cNvPr id="10" name="Shape 8"/>
          <p:cNvSpPr/>
          <p:nvPr/>
        </p:nvSpPr>
        <p:spPr>
          <a:xfrm>
            <a:off x="502920" y="3644798"/>
            <a:ext cx="11185855" cy="766267"/>
          </a:xfrm>
          <a:prstGeom prst="roundRect">
            <a:avLst>
              <a:gd name="adj" fmla="val 5967"/>
            </a:avLst>
          </a:prstGeom>
          <a:solidFill>
            <a:srgbClr val="151515"/>
          </a:solidFill>
          <a:ln w="12700">
            <a:solidFill>
              <a:srgbClr val="333333"/>
            </a:solidFill>
            <a:prstDash val="solid"/>
          </a:ln>
        </p:spPr>
      </p:sp>
      <p:sp>
        <p:nvSpPr>
          <p:cNvPr id="11" name="Text 9"/>
          <p:cNvSpPr/>
          <p:nvPr/>
        </p:nvSpPr>
        <p:spPr>
          <a:xfrm>
            <a:off x="685800" y="3644798"/>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03</a:t>
            </a:r>
            <a:endParaRPr lang="en-US" sz="2600" dirty="0"/>
          </a:p>
        </p:txBody>
      </p:sp>
      <p:sp>
        <p:nvSpPr>
          <p:cNvPr id="12" name="Text 10"/>
          <p:cNvSpPr/>
          <p:nvPr/>
        </p:nvSpPr>
        <p:spPr>
          <a:xfrm>
            <a:off x="1691640" y="3644798"/>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Explicar  </a:t>
            </a:r>
            <a:pPr indent="0" marL="0">
              <a:buNone/>
            </a:pPr>
            <a:r>
              <a:rPr lang="en-US" sz="1350" dirty="0">
                <a:solidFill>
                  <a:srgbClr val="F4F4F4"/>
                </a:solidFill>
                <a:latin typeface="Arial" pitchFamily="34" charset="0"/>
                <a:ea typeface="Arial" pitchFamily="34" charset="-122"/>
                <a:cs typeface="Arial" pitchFamily="34" charset="-120"/>
              </a:rPr>
              <a:t>qué es un residual y por qué avisa antes que el OEE.</a:t>
            </a:r>
            <a:endParaRPr lang="en-US" sz="1350" dirty="0"/>
          </a:p>
        </p:txBody>
      </p:sp>
      <p:sp>
        <p:nvSpPr>
          <p:cNvPr id="13" name="Shape 11"/>
          <p:cNvSpPr/>
          <p:nvPr/>
        </p:nvSpPr>
        <p:spPr>
          <a:xfrm>
            <a:off x="502920" y="4575658"/>
            <a:ext cx="11185855" cy="766267"/>
          </a:xfrm>
          <a:prstGeom prst="roundRect">
            <a:avLst>
              <a:gd name="adj" fmla="val 5967"/>
            </a:avLst>
          </a:prstGeom>
          <a:solidFill>
            <a:srgbClr val="151515"/>
          </a:solidFill>
          <a:ln w="12700">
            <a:solidFill>
              <a:srgbClr val="333333"/>
            </a:solidFill>
            <a:prstDash val="solid"/>
          </a:ln>
        </p:spPr>
      </p:sp>
      <p:sp>
        <p:nvSpPr>
          <p:cNvPr id="14" name="Text 12"/>
          <p:cNvSpPr/>
          <p:nvPr/>
        </p:nvSpPr>
        <p:spPr>
          <a:xfrm>
            <a:off x="685800" y="4575658"/>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04</a:t>
            </a:r>
            <a:endParaRPr lang="en-US" sz="2600" dirty="0"/>
          </a:p>
        </p:txBody>
      </p:sp>
      <p:sp>
        <p:nvSpPr>
          <p:cNvPr id="15" name="Text 13"/>
          <p:cNvSpPr/>
          <p:nvPr/>
        </p:nvSpPr>
        <p:spPr>
          <a:xfrm>
            <a:off x="1691640" y="4575658"/>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Reconocer  </a:t>
            </a:r>
            <a:pPr indent="0" marL="0">
              <a:buNone/>
            </a:pPr>
            <a:r>
              <a:rPr lang="en-US" sz="1350" dirty="0">
                <a:solidFill>
                  <a:srgbClr val="F4F4F4"/>
                </a:solidFill>
                <a:latin typeface="Arial" pitchFamily="34" charset="0"/>
                <a:ea typeface="Arial" pitchFamily="34" charset="-122"/>
                <a:cs typeface="Arial" pitchFamily="34" charset="-120"/>
              </a:rPr>
              <a:t>los límites de observabilidad de un diagnóstico.</a:t>
            </a:r>
            <a:endParaRPr lang="en-US" sz="1350" dirty="0"/>
          </a:p>
        </p:txBody>
      </p:sp>
      <p:sp>
        <p:nvSpPr>
          <p:cNvPr id="16" name="Shape 14"/>
          <p:cNvSpPr/>
          <p:nvPr/>
        </p:nvSpPr>
        <p:spPr>
          <a:xfrm>
            <a:off x="502920" y="5506517"/>
            <a:ext cx="11185855" cy="766267"/>
          </a:xfrm>
          <a:prstGeom prst="roundRect">
            <a:avLst>
              <a:gd name="adj" fmla="val 5967"/>
            </a:avLst>
          </a:prstGeom>
          <a:solidFill>
            <a:srgbClr val="151515"/>
          </a:solidFill>
          <a:ln w="12700">
            <a:solidFill>
              <a:srgbClr val="333333"/>
            </a:solidFill>
            <a:prstDash val="solid"/>
          </a:ln>
        </p:spPr>
      </p:sp>
      <p:sp>
        <p:nvSpPr>
          <p:cNvPr id="17" name="Text 15"/>
          <p:cNvSpPr/>
          <p:nvPr/>
        </p:nvSpPr>
        <p:spPr>
          <a:xfrm>
            <a:off x="685800" y="5506517"/>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05</a:t>
            </a:r>
            <a:endParaRPr lang="en-US" sz="2600" dirty="0"/>
          </a:p>
        </p:txBody>
      </p:sp>
      <p:sp>
        <p:nvSpPr>
          <p:cNvPr id="18" name="Text 16"/>
          <p:cNvSpPr/>
          <p:nvPr/>
        </p:nvSpPr>
        <p:spPr>
          <a:xfrm>
            <a:off x="1691640" y="5506517"/>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Aplicar  </a:t>
            </a:r>
            <a:pPr indent="0" marL="0">
              <a:buNone/>
            </a:pPr>
            <a:r>
              <a:rPr lang="en-US" sz="1350" dirty="0">
                <a:solidFill>
                  <a:srgbClr val="F4F4F4"/>
                </a:solidFill>
                <a:latin typeface="Arial" pitchFamily="34" charset="0"/>
                <a:ea typeface="Arial" pitchFamily="34" charset="-122"/>
                <a:cs typeface="Arial" pitchFamily="34" charset="-120"/>
              </a:rPr>
              <a:t>el ciclo EDM de ISO/IEC 38500 a una decisión automatizada.</a:t>
            </a:r>
            <a:endParaRPr lang="en-US" sz="1350" dirty="0"/>
          </a:p>
        </p:txBody>
      </p:sp>
      <p:sp>
        <p:nvSpPr>
          <p:cNvPr id="19" name="Text 1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0" name="Text 1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21" name="Text 1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04 / 49</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01</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EL PROBLEMA</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Por qué casi ningún "gemelo digital" lo es</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05 / 49</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05 / 49</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04  PROBLEMA</a:t>
            </a:r>
            <a:endParaRPr lang="en-US" sz="1100" dirty="0"/>
          </a:p>
        </p:txBody>
      </p:sp>
      <p:sp>
        <p:nvSpPr>
          <p:cNvPr id="3" name="Shape 1"/>
          <p:cNvSpPr/>
          <p:nvPr/>
        </p:nvSpPr>
        <p:spPr>
          <a:xfrm>
            <a:off x="502920" y="1554480"/>
            <a:ext cx="11185855" cy="4206240"/>
          </a:xfrm>
          <a:prstGeom prst="roundRect">
            <a:avLst>
              <a:gd name="adj" fmla="val 1304"/>
            </a:avLst>
          </a:prstGeom>
          <a:solidFill>
            <a:srgbClr val="160B0B"/>
          </a:solidFill>
          <a:ln w="19050">
            <a:solidFill>
              <a:srgbClr val="FF3B30"/>
            </a:solidFill>
            <a:prstDash val="solid"/>
          </a:ln>
        </p:spPr>
      </p:sp>
      <p:sp>
        <p:nvSpPr>
          <p:cNvPr id="4" name="Text 2"/>
          <p:cNvSpPr/>
          <p:nvPr/>
        </p:nvSpPr>
        <p:spPr>
          <a:xfrm>
            <a:off x="868680" y="1874520"/>
            <a:ext cx="10454335" cy="640080"/>
          </a:xfrm>
          <a:prstGeom prst="rect">
            <a:avLst/>
          </a:prstGeom>
          <a:noFill/>
          <a:ln/>
        </p:spPr>
        <p:txBody>
          <a:bodyPr wrap="square" lIns="0" tIns="0" rIns="0" bIns="0" rtlCol="0" anchor="t"/>
          <a:lstStyle/>
          <a:p>
            <a:pPr indent="0" marL="0">
              <a:buNone/>
            </a:pPr>
            <a:r>
              <a:rPr lang="en-US" sz="2600" dirty="0">
                <a:solidFill>
                  <a:srgbClr val="FFB000"/>
                </a:solidFill>
                <a:latin typeface="Arial Black" pitchFamily="34" charset="0"/>
                <a:ea typeface="Arial Black" pitchFamily="34" charset="-122"/>
                <a:cs typeface="Arial Black" pitchFamily="34" charset="-120"/>
              </a:rPr>
              <a:t>⚠  </a:t>
            </a:r>
            <a:pPr indent="0" marL="0">
              <a:buNone/>
            </a:pPr>
            <a:r>
              <a:rPr lang="en-US" sz="2600" dirty="0">
                <a:solidFill>
                  <a:srgbClr val="F4F4F4"/>
                </a:solidFill>
                <a:latin typeface="Arial Black" pitchFamily="34" charset="0"/>
                <a:ea typeface="Arial Black" pitchFamily="34" charset="-122"/>
                <a:cs typeface="Arial Black" pitchFamily="34" charset="-120"/>
              </a:rPr>
              <a:t>LA TRAMPA DEL TABLERO BONITO</a:t>
            </a:r>
            <a:endParaRPr lang="en-US" sz="2600" dirty="0"/>
          </a:p>
        </p:txBody>
      </p:sp>
      <p:sp>
        <p:nvSpPr>
          <p:cNvPr id="5" name="Text 3"/>
          <p:cNvSpPr/>
          <p:nvPr/>
        </p:nvSpPr>
        <p:spPr>
          <a:xfrm>
            <a:off x="868680" y="2697480"/>
            <a:ext cx="10454335" cy="2011680"/>
          </a:xfrm>
          <a:prstGeom prst="rect">
            <a:avLst/>
          </a:prstGeom>
          <a:noFill/>
          <a:ln/>
        </p:spPr>
        <p:txBody>
          <a:bodyPr wrap="square" lIns="0" tIns="0" rIns="0" bIns="0" rtlCol="0" anchor="t"/>
          <a:lstStyle/>
          <a:p>
            <a:pPr indent="0" marL="0">
              <a:lnSpc>
                <a:spcPct val="112000"/>
              </a:lnSpc>
              <a:spcAft>
                <a:spcPts val="1200"/>
              </a:spcAft>
              <a:buNone/>
            </a:pPr>
            <a:r>
              <a:rPr lang="en-US" sz="1400" dirty="0">
                <a:solidFill>
                  <a:srgbClr val="F4F4F4"/>
                </a:solidFill>
                <a:latin typeface="Arial" pitchFamily="34" charset="0"/>
                <a:ea typeface="Arial" pitchFamily="34" charset="-122"/>
                <a:cs typeface="Arial" pitchFamily="34" charset="-120"/>
              </a:rPr>
              <a:t>El 90 % de los gemelos digitales que se entregan en un curso —y buena parte de los que se venden— son TABLEROS DE TELEMETRÍA: leen sensores y los pintan en tiempo real. Se ven espectaculares en una demo de diez minutos.</a:t>
            </a:r>
            <a:endParaRPr lang="en-US" sz="1400" dirty="0"/>
          </a:p>
          <a:p>
            <a:pPr indent="0" marL="0">
              <a:lnSpc>
                <a:spcPct val="112000"/>
              </a:lnSpc>
              <a:spcAft>
                <a:spcPts val="1200"/>
              </a:spcAft>
              <a:buNone/>
            </a:pPr>
            <a:r>
              <a:rPr lang="en-US" sz="1400" dirty="0">
                <a:solidFill>
                  <a:srgbClr val="F4F4F4"/>
                </a:solidFill>
                <a:latin typeface="Arial" pitchFamily="34" charset="0"/>
                <a:ea typeface="Arial" pitchFamily="34" charset="-122"/>
                <a:cs typeface="Arial" pitchFamily="34" charset="-120"/>
              </a:rPr>
              <a:t>Pero un tablero sólo sabe decir QUÉ PASÓ. No predice, no sabe si sigue siendo válido, no puede responder qué pasaría si, y no tiene forma de devolver una decisión al proceso.</a:t>
            </a:r>
            <a:endParaRPr lang="en-US" sz="1400" dirty="0"/>
          </a:p>
        </p:txBody>
      </p:sp>
      <p:sp>
        <p:nvSpPr>
          <p:cNvPr id="6" name="Text 4"/>
          <p:cNvSpPr/>
          <p:nvPr/>
        </p:nvSpPr>
        <p:spPr>
          <a:xfrm>
            <a:off x="868680" y="5029200"/>
            <a:ext cx="10454335" cy="64008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i="1" dirty="0">
                <a:solidFill>
                  <a:srgbClr val="C6FF00"/>
                </a:solidFill>
                <a:latin typeface="Courier New" pitchFamily="34" charset="0"/>
                <a:ea typeface="Courier New" pitchFamily="34" charset="-122"/>
                <a:cs typeface="Courier New" pitchFamily="34" charset="-120"/>
              </a:rPr>
              <a:t>Si no hay una resta entre lo medido y lo predicho, no hay gemelo.</a:t>
            </a:r>
            <a:endParaRPr lang="en-US" sz="1300" dirty="0"/>
          </a:p>
        </p:txBody>
      </p:sp>
      <p:sp>
        <p:nvSpPr>
          <p:cNvPr id="7" name="Text 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8" name="Text 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9" name="Text 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06 / 49</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05  PROBLEMA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QUÉ ES UN GEMELO DIGITAL</a:t>
            </a:r>
            <a:endParaRPr lang="en-US" sz="3300" dirty="0"/>
          </a:p>
        </p:txBody>
      </p:sp>
      <p:sp>
        <p:nvSpPr>
          <p:cNvPr id="4" name="Shape 2"/>
          <p:cNvSpPr/>
          <p:nvPr/>
        </p:nvSpPr>
        <p:spPr>
          <a:xfrm>
            <a:off x="502920"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5" name="Text 3"/>
          <p:cNvSpPr/>
          <p:nvPr/>
        </p:nvSpPr>
        <p:spPr>
          <a:xfrm>
            <a:off x="685800" y="1965960"/>
            <a:ext cx="3179978" cy="457200"/>
          </a:xfrm>
          <a:prstGeom prst="rect">
            <a:avLst/>
          </a:prstGeom>
          <a:noFill/>
          <a:ln/>
        </p:spPr>
        <p:txBody>
          <a:bodyPr wrap="square" lIns="0" tIns="0" rIns="0" bIns="0" rtlCol="0" anchor="t"/>
          <a:lstStyle/>
          <a:p>
            <a:pPr indent="0" marL="0">
              <a:buNone/>
            </a:pPr>
            <a:r>
              <a:rPr lang="en-US" sz="1700" dirty="0">
                <a:solidFill>
                  <a:srgbClr val="C6FF00"/>
                </a:solidFill>
                <a:latin typeface="Arial Black" pitchFamily="34" charset="0"/>
                <a:ea typeface="Arial Black" pitchFamily="34" charset="-122"/>
                <a:cs typeface="Arial Black" pitchFamily="34" charset="-120"/>
              </a:rPr>
              <a:t>RÉPLICA</a:t>
            </a:r>
            <a:endParaRPr lang="en-US" sz="1700" dirty="0"/>
          </a:p>
        </p:txBody>
      </p:sp>
      <p:sp>
        <p:nvSpPr>
          <p:cNvPr id="6" name="Text 4"/>
          <p:cNvSpPr/>
          <p:nvPr/>
        </p:nvSpPr>
        <p:spPr>
          <a:xfrm>
            <a:off x="685800"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Un modelo computacional de un activo físico que reproduce su comportamiento, no sólo su apariencia.</a:t>
            </a:r>
            <a:endParaRPr lang="en-US" sz="1150" dirty="0"/>
          </a:p>
        </p:txBody>
      </p:sp>
      <p:sp>
        <p:nvSpPr>
          <p:cNvPr id="7" name="Text 5"/>
          <p:cNvSpPr/>
          <p:nvPr/>
        </p:nvSpPr>
        <p:spPr>
          <a:xfrm>
            <a:off x="685800"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Física, no dibujo</a:t>
            </a:r>
            <a:endParaRPr lang="en-US" sz="950" dirty="0"/>
          </a:p>
        </p:txBody>
      </p:sp>
      <p:sp>
        <p:nvSpPr>
          <p:cNvPr id="8" name="Shape 6"/>
          <p:cNvSpPr/>
          <p:nvPr/>
        </p:nvSpPr>
        <p:spPr>
          <a:xfrm>
            <a:off x="4322978"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505858" y="1965960"/>
            <a:ext cx="3179978" cy="457200"/>
          </a:xfrm>
          <a:prstGeom prst="rect">
            <a:avLst/>
          </a:prstGeom>
          <a:noFill/>
          <a:ln/>
        </p:spPr>
        <p:txBody>
          <a:bodyPr wrap="square" lIns="0" tIns="0" rIns="0" bIns="0" rtlCol="0" anchor="t"/>
          <a:lstStyle/>
          <a:p>
            <a:pPr indent="0" marL="0">
              <a:buNone/>
            </a:pPr>
            <a:r>
              <a:rPr lang="en-US" sz="1700" dirty="0">
                <a:solidFill>
                  <a:srgbClr val="27E5E5"/>
                </a:solidFill>
                <a:latin typeface="Arial Black" pitchFamily="34" charset="0"/>
                <a:ea typeface="Arial Black" pitchFamily="34" charset="-122"/>
                <a:cs typeface="Arial Black" pitchFamily="34" charset="-120"/>
              </a:rPr>
              <a:t>VINCULADO</a:t>
            </a:r>
            <a:endParaRPr lang="en-US" sz="1700" dirty="0"/>
          </a:p>
        </p:txBody>
      </p:sp>
      <p:sp>
        <p:nvSpPr>
          <p:cNvPr id="10" name="Text 8"/>
          <p:cNvSpPr/>
          <p:nvPr/>
        </p:nvSpPr>
        <p:spPr>
          <a:xfrm>
            <a:off x="4505858"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Conectado al activo por un flujo de datos vivo: el modelo se sincroniza con la realidad.</a:t>
            </a:r>
            <a:endParaRPr lang="en-US" sz="1150" dirty="0"/>
          </a:p>
        </p:txBody>
      </p:sp>
      <p:sp>
        <p:nvSpPr>
          <p:cNvPr id="11" name="Text 9"/>
          <p:cNvSpPr/>
          <p:nvPr/>
        </p:nvSpPr>
        <p:spPr>
          <a:xfrm>
            <a:off x="4505858"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Telemetría continua</a:t>
            </a:r>
            <a:endParaRPr lang="en-US" sz="950" dirty="0"/>
          </a:p>
        </p:txBody>
      </p:sp>
      <p:sp>
        <p:nvSpPr>
          <p:cNvPr id="12" name="Shape 10"/>
          <p:cNvSpPr/>
          <p:nvPr/>
        </p:nvSpPr>
        <p:spPr>
          <a:xfrm>
            <a:off x="8143037"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3" name="Text 11"/>
          <p:cNvSpPr/>
          <p:nvPr/>
        </p:nvSpPr>
        <p:spPr>
          <a:xfrm>
            <a:off x="8325917" y="1965960"/>
            <a:ext cx="3179978" cy="457200"/>
          </a:xfrm>
          <a:prstGeom prst="rect">
            <a:avLst/>
          </a:prstGeom>
          <a:noFill/>
          <a:ln/>
        </p:spPr>
        <p:txBody>
          <a:bodyPr wrap="square" lIns="0" tIns="0" rIns="0" bIns="0" rtlCol="0" anchor="t"/>
          <a:lstStyle/>
          <a:p>
            <a:pPr indent="0" marL="0">
              <a:buNone/>
            </a:pPr>
            <a:r>
              <a:rPr lang="en-US" sz="1700" dirty="0">
                <a:solidFill>
                  <a:srgbClr val="FFB000"/>
                </a:solidFill>
                <a:latin typeface="Arial Black" pitchFamily="34" charset="0"/>
                <a:ea typeface="Arial Black" pitchFamily="34" charset="-122"/>
                <a:cs typeface="Arial Black" pitchFamily="34" charset="-120"/>
              </a:rPr>
              <a:t>ACCIONABLE</a:t>
            </a:r>
            <a:endParaRPr lang="en-US" sz="1700" dirty="0"/>
          </a:p>
        </p:txBody>
      </p:sp>
      <p:sp>
        <p:nvSpPr>
          <p:cNvPr id="14" name="Text 12"/>
          <p:cNvSpPr/>
          <p:nvPr/>
        </p:nvSpPr>
        <p:spPr>
          <a:xfrm>
            <a:off x="8325917"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Capaz de simular futuros alternativos y devolver decisiones al proceso.</a:t>
            </a:r>
            <a:endParaRPr lang="en-US" sz="1150" dirty="0"/>
          </a:p>
        </p:txBody>
      </p:sp>
      <p:sp>
        <p:nvSpPr>
          <p:cNvPr id="15" name="Text 13"/>
          <p:cNvSpPr/>
          <p:nvPr/>
        </p:nvSpPr>
        <p:spPr>
          <a:xfrm>
            <a:off x="8325917"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What-if y comando</a:t>
            </a:r>
            <a:endParaRPr lang="en-US" sz="950" dirty="0"/>
          </a:p>
        </p:txBody>
      </p:sp>
      <p:sp>
        <p:nvSpPr>
          <p:cNvPr id="16" name="Text 14"/>
          <p:cNvSpPr/>
          <p:nvPr/>
        </p:nvSpPr>
        <p:spPr>
          <a:xfrm>
            <a:off x="502920" y="4297680"/>
            <a:ext cx="11185855" cy="1097280"/>
          </a:xfrm>
          <a:prstGeom prst="rect">
            <a:avLst/>
          </a:prstGeom>
          <a:noFill/>
          <a:ln/>
        </p:spPr>
        <p:txBody>
          <a:bodyPr wrap="square" lIns="0" tIns="0" rIns="0" bIns="0" rtlCol="0" anchor="t"/>
          <a:lstStyle/>
          <a:p>
            <a:pPr indent="0" marL="0">
              <a:lnSpc>
                <a:spcPct val="110000"/>
              </a:lnSpc>
              <a:buNone/>
            </a:pPr>
            <a:r>
              <a:rPr lang="en-US" sz="1250" dirty="0">
                <a:solidFill>
                  <a:srgbClr val="F4F4F4"/>
                </a:solidFill>
                <a:latin typeface="Arial" pitchFamily="34" charset="0"/>
                <a:ea typeface="Arial" pitchFamily="34" charset="-122"/>
                <a:cs typeface="Arial" pitchFamily="34" charset="-120"/>
              </a:rPr>
              <a:t>Las tres condiciones son necesarias. Un modelo sin vínculo es una simulación; un vínculo sin modelo es un tablero; y sin capacidad de acción, es sólo un observador.</a:t>
            </a:r>
            <a:endParaRPr lang="en-US" sz="125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07 / 49</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06  PROBLEMA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LAS CUATRO CAPACIDADES</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Quitá cualquiera de las cuatro y lo que queda es un dashboard.</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300" dirty="0">
                <a:solidFill>
                  <a:srgbClr val="C6FF00"/>
                </a:solidFill>
                <a:latin typeface="Arial Black" pitchFamily="34" charset="0"/>
                <a:ea typeface="Arial Black" pitchFamily="34" charset="-122"/>
                <a:cs typeface="Arial Black" pitchFamily="34" charset="-120"/>
              </a:rPr>
              <a:t>1 · MODELO QUE PREDICE</a:t>
            </a:r>
            <a:endParaRPr lang="en-US" sz="13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Réplica de la física con parámetros de placa. Dice qué DEBERÍA estar pasando ahora mismo.</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2 · RESIDUAL</a:t>
            </a:r>
            <a:endParaRPr lang="en-US" sz="16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La resta entre lo medido y lo predicho. Es la única forma de saber si el modelo sigue siendo válido.</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3 · WHAT-IF</a:t>
            </a:r>
            <a:endParaRPr lang="en-US" sz="16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Simular futuros alternativos más rápido que el tiempo real, sin tocar el proceso.</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300" dirty="0">
                <a:solidFill>
                  <a:srgbClr val="FF6B35"/>
                </a:solidFill>
                <a:latin typeface="Arial Black" pitchFamily="34" charset="0"/>
                <a:ea typeface="Arial Black" pitchFamily="34" charset="-122"/>
                <a:cs typeface="Arial Black" pitchFamily="34" charset="-120"/>
              </a:rPr>
              <a:t>4 · CAMINO DE VUELTA</a:t>
            </a:r>
            <a:endParaRPr lang="en-US" sz="13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La decisión llega al proceso — y ahí aparece el problema de gobierno: ¿quién la autoriza?</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08 / 49</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07  PROBLEMA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TABLERO FRENTE A GEMELO</a:t>
            </a:r>
            <a:endParaRPr lang="en-US" sz="3300" dirty="0"/>
          </a:p>
        </p:txBody>
      </p:sp>
      <p:sp>
        <p:nvSpPr>
          <p:cNvPr id="4" name="Shape 2"/>
          <p:cNvSpPr/>
          <p:nvPr/>
        </p:nvSpPr>
        <p:spPr>
          <a:xfrm>
            <a:off x="502920" y="1783080"/>
            <a:ext cx="5364328" cy="4489704"/>
          </a:xfrm>
          <a:prstGeom prst="roundRect">
            <a:avLst>
              <a:gd name="adj" fmla="val 1018"/>
            </a:avLst>
          </a:prstGeom>
          <a:solidFill>
            <a:srgbClr val="151515"/>
          </a:solidFill>
          <a:ln w="15875">
            <a:solidFill>
              <a:srgbClr val="C6FF00"/>
            </a:solidFill>
            <a:prstDash val="solid"/>
          </a:ln>
        </p:spPr>
      </p:sp>
      <p:sp>
        <p:nvSpPr>
          <p:cNvPr id="5" name="Text 3"/>
          <p:cNvSpPr/>
          <p:nvPr/>
        </p:nvSpPr>
        <p:spPr>
          <a:xfrm>
            <a:off x="704088" y="1947672"/>
            <a:ext cx="4961992" cy="457200"/>
          </a:xfrm>
          <a:prstGeom prst="rect">
            <a:avLst/>
          </a:prstGeom>
          <a:noFill/>
          <a:ln/>
        </p:spPr>
        <p:txBody>
          <a:bodyPr wrap="square" lIns="0" tIns="0" rIns="0" bIns="0" rtlCol="0" anchor="t"/>
          <a:lstStyle/>
          <a:p>
            <a:pPr indent="0" marL="0">
              <a:buNone/>
            </a:pPr>
            <a:r>
              <a:rPr lang="en-US" sz="1500" dirty="0">
                <a:solidFill>
                  <a:srgbClr val="C6FF00"/>
                </a:solidFill>
                <a:latin typeface="Arial Black" pitchFamily="34" charset="0"/>
                <a:ea typeface="Arial Black" pitchFamily="34" charset="-122"/>
                <a:cs typeface="Arial Black" pitchFamily="34" charset="-120"/>
              </a:rPr>
              <a:t>UN GEMELO DIGITAL</a:t>
            </a:r>
            <a:endParaRPr lang="en-US" sz="1500" dirty="0"/>
          </a:p>
        </p:txBody>
      </p:sp>
      <p:sp>
        <p:nvSpPr>
          <p:cNvPr id="6" name="Text 4"/>
          <p:cNvSpPr/>
          <p:nvPr/>
        </p:nvSpPr>
        <p:spPr>
          <a:xfrm>
            <a:off x="704088" y="2496312"/>
            <a:ext cx="4961992" cy="3621024"/>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Predice el estado esperado</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Detecta divergencia modelo–planta</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Estima parámetros no medidos</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Simula escenarios alternativos</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Declara lo que no puede saber</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Cierra el lazo con una decisión</a:t>
            </a:r>
            <a:endParaRPr lang="en-US" sz="1200" dirty="0"/>
          </a:p>
        </p:txBody>
      </p:sp>
      <p:sp>
        <p:nvSpPr>
          <p:cNvPr id="7" name="Shape 5"/>
          <p:cNvSpPr/>
          <p:nvPr/>
        </p:nvSpPr>
        <p:spPr>
          <a:xfrm>
            <a:off x="6324448" y="1783080"/>
            <a:ext cx="5364328" cy="4489704"/>
          </a:xfrm>
          <a:prstGeom prst="roundRect">
            <a:avLst>
              <a:gd name="adj" fmla="val 1018"/>
            </a:avLst>
          </a:prstGeom>
          <a:solidFill>
            <a:srgbClr val="151515"/>
          </a:solidFill>
          <a:ln w="15875">
            <a:solidFill>
              <a:srgbClr val="FF3B30"/>
            </a:solidFill>
            <a:prstDash val="solid"/>
          </a:ln>
        </p:spPr>
      </p:sp>
      <p:sp>
        <p:nvSpPr>
          <p:cNvPr id="8" name="Text 6"/>
          <p:cNvSpPr/>
          <p:nvPr/>
        </p:nvSpPr>
        <p:spPr>
          <a:xfrm>
            <a:off x="6525616" y="1947672"/>
            <a:ext cx="4961992" cy="457200"/>
          </a:xfrm>
          <a:prstGeom prst="rect">
            <a:avLst/>
          </a:prstGeom>
          <a:noFill/>
          <a:ln/>
        </p:spPr>
        <p:txBody>
          <a:bodyPr wrap="square" lIns="0" tIns="0" rIns="0" bIns="0" rtlCol="0" anchor="t"/>
          <a:lstStyle/>
          <a:p>
            <a:pPr indent="0" marL="0">
              <a:buNone/>
            </a:pPr>
            <a:r>
              <a:rPr lang="en-US" sz="1500" dirty="0">
                <a:solidFill>
                  <a:srgbClr val="FF3B30"/>
                </a:solidFill>
                <a:latin typeface="Arial Black" pitchFamily="34" charset="0"/>
                <a:ea typeface="Arial Black" pitchFamily="34" charset="-122"/>
                <a:cs typeface="Arial Black" pitchFamily="34" charset="-120"/>
              </a:rPr>
              <a:t>UN TABLERO DE TELEMETRÍA</a:t>
            </a:r>
            <a:endParaRPr lang="en-US" sz="1500" dirty="0"/>
          </a:p>
        </p:txBody>
      </p:sp>
      <p:sp>
        <p:nvSpPr>
          <p:cNvPr id="9" name="Text 7"/>
          <p:cNvSpPr/>
          <p:nvPr/>
        </p:nvSpPr>
        <p:spPr>
          <a:xfrm>
            <a:off x="6525616" y="2496312"/>
            <a:ext cx="4961992" cy="3621024"/>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Grafica lo que ya ocurrió</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Alarma cuando se cruza un límite</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Sólo conoce lo que hay sensado</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No puede responder '¿y si...?'</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Presenta todo con igual certeza</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Termina en la pantalla</a:t>
            </a:r>
            <a:endParaRPr lang="en-US" sz="1200" dirty="0"/>
          </a:p>
        </p:txBody>
      </p:sp>
      <p:sp>
        <p:nvSpPr>
          <p:cNvPr id="10" name="Text 8"/>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1" name="Text 9"/>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2" name="Text 10"/>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09 / 49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08  PROBLEMA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NIVELES DE MADUREZ</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No todo lo que se llama gemelo está en el mismo nivel.</a:t>
            </a:r>
            <a:endParaRPr lang="en-US" sz="1250" dirty="0"/>
          </a:p>
        </p:txBody>
      </p:sp>
      <p:sp>
        <p:nvSpPr>
          <p:cNvPr id="5" name="Shape 3"/>
          <p:cNvSpPr/>
          <p:nvPr/>
        </p:nvSpPr>
        <p:spPr>
          <a:xfrm>
            <a:off x="502920" y="2240280"/>
            <a:ext cx="2625014" cy="1554480"/>
          </a:xfrm>
          <a:prstGeom prst="roundRect">
            <a:avLst>
              <a:gd name="adj" fmla="val 3529"/>
            </a:avLst>
          </a:prstGeom>
          <a:solidFill>
            <a:srgbClr val="151515"/>
          </a:solidFill>
          <a:ln w="12700">
            <a:solidFill>
              <a:srgbClr val="333333"/>
            </a:solidFill>
            <a:prstDash val="solid"/>
          </a:ln>
        </p:spPr>
      </p:sp>
      <p:sp>
        <p:nvSpPr>
          <p:cNvPr id="6" name="Text 4"/>
          <p:cNvSpPr/>
          <p:nvPr/>
        </p:nvSpPr>
        <p:spPr>
          <a:xfrm>
            <a:off x="649224" y="2350008"/>
            <a:ext cx="914400" cy="502920"/>
          </a:xfrm>
          <a:prstGeom prst="rect">
            <a:avLst/>
          </a:prstGeom>
          <a:noFill/>
          <a:ln/>
        </p:spPr>
        <p:txBody>
          <a:bodyPr wrap="square" lIns="0" tIns="0" rIns="0" bIns="0" rtlCol="0" anchor="t"/>
          <a:lstStyle/>
          <a:p>
            <a:pPr indent="0" marL="0">
              <a:buNone/>
            </a:pPr>
            <a:r>
              <a:rPr lang="en-US" sz="2200" dirty="0">
                <a:solidFill>
                  <a:srgbClr val="8C8C8C"/>
                </a:solidFill>
                <a:latin typeface="Arial Black" pitchFamily="34" charset="0"/>
                <a:ea typeface="Arial Black" pitchFamily="34" charset="-122"/>
                <a:cs typeface="Arial Black" pitchFamily="34" charset="-120"/>
              </a:rPr>
              <a:t>01</a:t>
            </a:r>
            <a:endParaRPr lang="en-US" sz="2200" dirty="0"/>
          </a:p>
        </p:txBody>
      </p:sp>
      <p:sp>
        <p:nvSpPr>
          <p:cNvPr id="7" name="Text 5"/>
          <p:cNvSpPr/>
          <p:nvPr/>
        </p:nvSpPr>
        <p:spPr>
          <a:xfrm>
            <a:off x="649224" y="28437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MODELO DIGITAL</a:t>
            </a:r>
            <a:endParaRPr lang="en-US" sz="1100" dirty="0"/>
          </a:p>
        </p:txBody>
      </p:sp>
      <p:sp>
        <p:nvSpPr>
          <p:cNvPr id="8" name="Text 6"/>
          <p:cNvSpPr/>
          <p:nvPr/>
        </p:nvSpPr>
        <p:spPr>
          <a:xfrm>
            <a:off x="649224" y="32095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Réplica sin conexión de datos. Se actualiza a mano.</a:t>
            </a:r>
            <a:endParaRPr lang="en-US" sz="1000" dirty="0"/>
          </a:p>
        </p:txBody>
      </p:sp>
      <p:sp>
        <p:nvSpPr>
          <p:cNvPr id="9" name="Shape 7"/>
          <p:cNvSpPr/>
          <p:nvPr/>
        </p:nvSpPr>
        <p:spPr>
          <a:xfrm>
            <a:off x="3356534" y="2240280"/>
            <a:ext cx="2625014" cy="1554480"/>
          </a:xfrm>
          <a:prstGeom prst="roundRect">
            <a:avLst>
              <a:gd name="adj" fmla="val 3529"/>
            </a:avLst>
          </a:prstGeom>
          <a:solidFill>
            <a:srgbClr val="151515"/>
          </a:solidFill>
          <a:ln w="12700">
            <a:solidFill>
              <a:srgbClr val="333333"/>
            </a:solidFill>
            <a:prstDash val="solid"/>
          </a:ln>
        </p:spPr>
      </p:sp>
      <p:sp>
        <p:nvSpPr>
          <p:cNvPr id="10" name="Text 8"/>
          <p:cNvSpPr/>
          <p:nvPr/>
        </p:nvSpPr>
        <p:spPr>
          <a:xfrm>
            <a:off x="3502838" y="2350008"/>
            <a:ext cx="914400" cy="502920"/>
          </a:xfrm>
          <a:prstGeom prst="rect">
            <a:avLst/>
          </a:prstGeom>
          <a:noFill/>
          <a:ln/>
        </p:spPr>
        <p:txBody>
          <a:bodyPr wrap="square" lIns="0" tIns="0" rIns="0" bIns="0" rtlCol="0" anchor="t"/>
          <a:lstStyle/>
          <a:p>
            <a:pPr indent="0" marL="0">
              <a:buNone/>
            </a:pPr>
            <a:r>
              <a:rPr lang="en-US" sz="2200" dirty="0">
                <a:solidFill>
                  <a:srgbClr val="FFB000"/>
                </a:solidFill>
                <a:latin typeface="Arial Black" pitchFamily="34" charset="0"/>
                <a:ea typeface="Arial Black" pitchFamily="34" charset="-122"/>
                <a:cs typeface="Arial Black" pitchFamily="34" charset="-120"/>
              </a:rPr>
              <a:t>02</a:t>
            </a:r>
            <a:endParaRPr lang="en-US" sz="2200" dirty="0"/>
          </a:p>
        </p:txBody>
      </p:sp>
      <p:sp>
        <p:nvSpPr>
          <p:cNvPr id="11" name="Text 9"/>
          <p:cNvSpPr/>
          <p:nvPr/>
        </p:nvSpPr>
        <p:spPr>
          <a:xfrm>
            <a:off x="3502838" y="28437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SOMBRA DIGITAL</a:t>
            </a:r>
            <a:endParaRPr lang="en-US" sz="1100" dirty="0"/>
          </a:p>
        </p:txBody>
      </p:sp>
      <p:sp>
        <p:nvSpPr>
          <p:cNvPr id="12" name="Text 10"/>
          <p:cNvSpPr/>
          <p:nvPr/>
        </p:nvSpPr>
        <p:spPr>
          <a:xfrm>
            <a:off x="3502838" y="32095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Flujo automático planta → modelo. Sólo observa.</a:t>
            </a:r>
            <a:endParaRPr lang="en-US" sz="1000" dirty="0"/>
          </a:p>
        </p:txBody>
      </p:sp>
      <p:sp>
        <p:nvSpPr>
          <p:cNvPr id="13" name="Shape 11"/>
          <p:cNvSpPr/>
          <p:nvPr/>
        </p:nvSpPr>
        <p:spPr>
          <a:xfrm>
            <a:off x="6210148" y="2240280"/>
            <a:ext cx="2625014" cy="1554480"/>
          </a:xfrm>
          <a:prstGeom prst="roundRect">
            <a:avLst>
              <a:gd name="adj" fmla="val 3529"/>
            </a:avLst>
          </a:prstGeom>
          <a:solidFill>
            <a:srgbClr val="151515"/>
          </a:solidFill>
          <a:ln w="12700">
            <a:solidFill>
              <a:srgbClr val="333333"/>
            </a:solidFill>
            <a:prstDash val="solid"/>
          </a:ln>
        </p:spPr>
      </p:sp>
      <p:sp>
        <p:nvSpPr>
          <p:cNvPr id="14" name="Text 12"/>
          <p:cNvSpPr/>
          <p:nvPr/>
        </p:nvSpPr>
        <p:spPr>
          <a:xfrm>
            <a:off x="6356452" y="2350008"/>
            <a:ext cx="914400" cy="502920"/>
          </a:xfrm>
          <a:prstGeom prst="rect">
            <a:avLst/>
          </a:prstGeom>
          <a:noFill/>
          <a:ln/>
        </p:spPr>
        <p:txBody>
          <a:bodyPr wrap="square" lIns="0" tIns="0" rIns="0" bIns="0" rtlCol="0" anchor="t"/>
          <a:lstStyle/>
          <a:p>
            <a:pPr indent="0" marL="0">
              <a:buNone/>
            </a:pPr>
            <a:r>
              <a:rPr lang="en-US" sz="2200" dirty="0">
                <a:solidFill>
                  <a:srgbClr val="C6FF00"/>
                </a:solidFill>
                <a:latin typeface="Arial Black" pitchFamily="34" charset="0"/>
                <a:ea typeface="Arial Black" pitchFamily="34" charset="-122"/>
                <a:cs typeface="Arial Black" pitchFamily="34" charset="-120"/>
              </a:rPr>
              <a:t>03</a:t>
            </a:r>
            <a:endParaRPr lang="en-US" sz="2200" dirty="0"/>
          </a:p>
        </p:txBody>
      </p:sp>
      <p:sp>
        <p:nvSpPr>
          <p:cNvPr id="15" name="Text 13"/>
          <p:cNvSpPr/>
          <p:nvPr/>
        </p:nvSpPr>
        <p:spPr>
          <a:xfrm>
            <a:off x="6356452" y="28437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GEMELO DIGITAL</a:t>
            </a:r>
            <a:endParaRPr lang="en-US" sz="1100" dirty="0"/>
          </a:p>
        </p:txBody>
      </p:sp>
      <p:sp>
        <p:nvSpPr>
          <p:cNvPr id="16" name="Text 14"/>
          <p:cNvSpPr/>
          <p:nvPr/>
        </p:nvSpPr>
        <p:spPr>
          <a:xfrm>
            <a:off x="6356452" y="32095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Flujo en los dos sentidos. Puede actuar.</a:t>
            </a:r>
            <a:endParaRPr lang="en-US" sz="1000" dirty="0"/>
          </a:p>
        </p:txBody>
      </p:sp>
      <p:sp>
        <p:nvSpPr>
          <p:cNvPr id="17" name="Shape 15"/>
          <p:cNvSpPr/>
          <p:nvPr/>
        </p:nvSpPr>
        <p:spPr>
          <a:xfrm>
            <a:off x="9063761" y="2240280"/>
            <a:ext cx="2625014" cy="1554480"/>
          </a:xfrm>
          <a:prstGeom prst="roundRect">
            <a:avLst>
              <a:gd name="adj" fmla="val 3529"/>
            </a:avLst>
          </a:prstGeom>
          <a:solidFill>
            <a:srgbClr val="151515"/>
          </a:solidFill>
          <a:ln w="12700">
            <a:solidFill>
              <a:srgbClr val="333333"/>
            </a:solidFill>
            <a:prstDash val="solid"/>
          </a:ln>
        </p:spPr>
      </p:sp>
      <p:sp>
        <p:nvSpPr>
          <p:cNvPr id="18" name="Text 16"/>
          <p:cNvSpPr/>
          <p:nvPr/>
        </p:nvSpPr>
        <p:spPr>
          <a:xfrm>
            <a:off x="9210065" y="2350008"/>
            <a:ext cx="914400" cy="502920"/>
          </a:xfrm>
          <a:prstGeom prst="rect">
            <a:avLst/>
          </a:prstGeom>
          <a:noFill/>
          <a:ln/>
        </p:spPr>
        <p:txBody>
          <a:bodyPr wrap="square" lIns="0" tIns="0" rIns="0" bIns="0" rtlCol="0" anchor="t"/>
          <a:lstStyle/>
          <a:p>
            <a:pPr indent="0" marL="0">
              <a:buNone/>
            </a:pPr>
            <a:r>
              <a:rPr lang="en-US" sz="2200" dirty="0">
                <a:solidFill>
                  <a:srgbClr val="FF3B30"/>
                </a:solidFill>
                <a:latin typeface="Arial Black" pitchFamily="34" charset="0"/>
                <a:ea typeface="Arial Black" pitchFamily="34" charset="-122"/>
                <a:cs typeface="Arial Black" pitchFamily="34" charset="-120"/>
              </a:rPr>
              <a:t>04</a:t>
            </a:r>
            <a:endParaRPr lang="en-US" sz="2200" dirty="0"/>
          </a:p>
        </p:txBody>
      </p:sp>
      <p:sp>
        <p:nvSpPr>
          <p:cNvPr id="19" name="Text 17"/>
          <p:cNvSpPr/>
          <p:nvPr/>
        </p:nvSpPr>
        <p:spPr>
          <a:xfrm>
            <a:off x="9210065" y="28437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GEMELO AUTÓNOMO</a:t>
            </a:r>
            <a:endParaRPr lang="en-US" sz="1100" dirty="0"/>
          </a:p>
        </p:txBody>
      </p:sp>
      <p:sp>
        <p:nvSpPr>
          <p:cNvPr id="20" name="Text 18"/>
          <p:cNvSpPr/>
          <p:nvPr/>
        </p:nvSpPr>
        <p:spPr>
          <a:xfrm>
            <a:off x="9210065" y="32095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Decide y actúa sin humano en el lazo.</a:t>
            </a:r>
            <a:endParaRPr lang="en-US" sz="1000" dirty="0"/>
          </a:p>
        </p:txBody>
      </p:sp>
      <p:sp>
        <p:nvSpPr>
          <p:cNvPr id="21" name="Text 19"/>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2" name="Text 20"/>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23" name="Text 21"/>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10 / 49</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09  PROBLEMA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EL PROBLEMA DE GOBIERNO</a:t>
            </a:r>
            <a:endParaRPr lang="en-US" sz="3300" dirty="0"/>
          </a:p>
        </p:txBody>
      </p:sp>
      <p:sp>
        <p:nvSpPr>
          <p:cNvPr id="4" name="Shape 2"/>
          <p:cNvSpPr/>
          <p:nvPr/>
        </p:nvSpPr>
        <p:spPr>
          <a:xfrm>
            <a:off x="502920" y="1783080"/>
            <a:ext cx="3545738" cy="1828800"/>
          </a:xfrm>
          <a:prstGeom prst="roundRect">
            <a:avLst>
              <a:gd name="adj" fmla="val 3000"/>
            </a:avLst>
          </a:prstGeom>
          <a:solidFill>
            <a:srgbClr val="151515"/>
          </a:solidFill>
          <a:ln w="12700">
            <a:solidFill>
              <a:srgbClr val="333333"/>
            </a:solidFill>
            <a:prstDash val="solid"/>
          </a:ln>
        </p:spPr>
      </p:sp>
      <p:sp>
        <p:nvSpPr>
          <p:cNvPr id="5" name="Text 3"/>
          <p:cNvSpPr/>
          <p:nvPr/>
        </p:nvSpPr>
        <p:spPr>
          <a:xfrm>
            <a:off x="640080" y="1965960"/>
            <a:ext cx="3271418" cy="868680"/>
          </a:xfrm>
          <a:prstGeom prst="rect">
            <a:avLst/>
          </a:prstGeom>
          <a:noFill/>
          <a:ln/>
        </p:spPr>
        <p:txBody>
          <a:bodyPr wrap="square" lIns="0" tIns="0" rIns="0" bIns="0" rtlCol="0" anchor="ctr"/>
          <a:lstStyle/>
          <a:p>
            <a:pPr algn="ctr" indent="0" marL="0">
              <a:buNone/>
            </a:pPr>
            <a:r>
              <a:rPr lang="en-US" sz="3800" dirty="0">
                <a:solidFill>
                  <a:srgbClr val="C6FF00"/>
                </a:solidFill>
                <a:latin typeface="Arial Black" pitchFamily="34" charset="0"/>
                <a:ea typeface="Arial Black" pitchFamily="34" charset="-122"/>
                <a:cs typeface="Arial Black" pitchFamily="34" charset="-120"/>
              </a:rPr>
              <a:t>AUTORIZA</a:t>
            </a:r>
            <a:endParaRPr lang="en-US" sz="3800" dirty="0"/>
          </a:p>
        </p:txBody>
      </p:sp>
      <p:sp>
        <p:nvSpPr>
          <p:cNvPr id="6" name="Text 4"/>
          <p:cNvSpPr/>
          <p:nvPr/>
        </p:nvSpPr>
        <p:spPr>
          <a:xfrm>
            <a:off x="685800"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¿quién permite que la recomendación se aplique a una línea en marcha?</a:t>
            </a:r>
            <a:endParaRPr lang="en-US" sz="1100" dirty="0"/>
          </a:p>
        </p:txBody>
      </p:sp>
      <p:sp>
        <p:nvSpPr>
          <p:cNvPr id="7" name="Shape 5"/>
          <p:cNvSpPr/>
          <p:nvPr/>
        </p:nvSpPr>
        <p:spPr>
          <a:xfrm>
            <a:off x="4322978" y="1783080"/>
            <a:ext cx="3545738" cy="1828800"/>
          </a:xfrm>
          <a:prstGeom prst="roundRect">
            <a:avLst>
              <a:gd name="adj" fmla="val 3000"/>
            </a:avLst>
          </a:prstGeom>
          <a:solidFill>
            <a:srgbClr val="151515"/>
          </a:solidFill>
          <a:ln w="12700">
            <a:solidFill>
              <a:srgbClr val="333333"/>
            </a:solidFill>
            <a:prstDash val="solid"/>
          </a:ln>
        </p:spPr>
      </p:sp>
      <p:sp>
        <p:nvSpPr>
          <p:cNvPr id="8" name="Text 6"/>
          <p:cNvSpPr/>
          <p:nvPr/>
        </p:nvSpPr>
        <p:spPr>
          <a:xfrm>
            <a:off x="4460138" y="1965960"/>
            <a:ext cx="3271418" cy="868680"/>
          </a:xfrm>
          <a:prstGeom prst="rect">
            <a:avLst/>
          </a:prstGeom>
          <a:noFill/>
          <a:ln/>
        </p:spPr>
        <p:txBody>
          <a:bodyPr wrap="square" lIns="0" tIns="0" rIns="0" bIns="0" rtlCol="0" anchor="ctr"/>
          <a:lstStyle/>
          <a:p>
            <a:pPr algn="ctr" indent="0" marL="0">
              <a:buNone/>
            </a:pPr>
            <a:r>
              <a:rPr lang="en-US" sz="3800" dirty="0">
                <a:solidFill>
                  <a:srgbClr val="27E5E5"/>
                </a:solidFill>
                <a:latin typeface="Arial Black" pitchFamily="34" charset="0"/>
                <a:ea typeface="Arial Black" pitchFamily="34" charset="-122"/>
                <a:cs typeface="Arial Black" pitchFamily="34" charset="-120"/>
              </a:rPr>
              <a:t>EVIDENCIA</a:t>
            </a:r>
            <a:endParaRPr lang="en-US" sz="3800" dirty="0"/>
          </a:p>
        </p:txBody>
      </p:sp>
      <p:sp>
        <p:nvSpPr>
          <p:cNvPr id="9" name="Text 7"/>
          <p:cNvSpPr/>
          <p:nvPr/>
        </p:nvSpPr>
        <p:spPr>
          <a:xfrm>
            <a:off x="4505858"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¿en qué se sustenta la decisión, y dónde queda registrada?</a:t>
            </a:r>
            <a:endParaRPr lang="en-US" sz="1100" dirty="0"/>
          </a:p>
        </p:txBody>
      </p:sp>
      <p:sp>
        <p:nvSpPr>
          <p:cNvPr id="10" name="Shape 8"/>
          <p:cNvSpPr/>
          <p:nvPr/>
        </p:nvSpPr>
        <p:spPr>
          <a:xfrm>
            <a:off x="8143037" y="1783080"/>
            <a:ext cx="3545738" cy="1828800"/>
          </a:xfrm>
          <a:prstGeom prst="roundRect">
            <a:avLst>
              <a:gd name="adj" fmla="val 3000"/>
            </a:avLst>
          </a:prstGeom>
          <a:solidFill>
            <a:srgbClr val="151515"/>
          </a:solidFill>
          <a:ln w="12700">
            <a:solidFill>
              <a:srgbClr val="333333"/>
            </a:solidFill>
            <a:prstDash val="solid"/>
          </a:ln>
        </p:spPr>
      </p:sp>
      <p:sp>
        <p:nvSpPr>
          <p:cNvPr id="11" name="Text 9"/>
          <p:cNvSpPr/>
          <p:nvPr/>
        </p:nvSpPr>
        <p:spPr>
          <a:xfrm>
            <a:off x="8280197" y="1965960"/>
            <a:ext cx="3271418" cy="868680"/>
          </a:xfrm>
          <a:prstGeom prst="rect">
            <a:avLst/>
          </a:prstGeom>
          <a:noFill/>
          <a:ln/>
        </p:spPr>
        <p:txBody>
          <a:bodyPr wrap="square" lIns="0" tIns="0" rIns="0" bIns="0" rtlCol="0" anchor="ctr"/>
          <a:lstStyle/>
          <a:p>
            <a:pPr algn="ctr" indent="0" marL="0">
              <a:buNone/>
            </a:pPr>
            <a:r>
              <a:rPr lang="en-US" sz="3800" dirty="0">
                <a:solidFill>
                  <a:srgbClr val="FF3B30"/>
                </a:solidFill>
                <a:latin typeface="Arial Black" pitchFamily="34" charset="0"/>
                <a:ea typeface="Arial Black" pitchFamily="34" charset="-122"/>
                <a:cs typeface="Arial Black" pitchFamily="34" charset="-120"/>
              </a:rPr>
              <a:t>RESPONDE</a:t>
            </a:r>
            <a:endParaRPr lang="en-US" sz="3800" dirty="0"/>
          </a:p>
        </p:txBody>
      </p:sp>
      <p:sp>
        <p:nvSpPr>
          <p:cNvPr id="12" name="Text 10"/>
          <p:cNvSpPr/>
          <p:nvPr/>
        </p:nvSpPr>
        <p:spPr>
          <a:xfrm>
            <a:off x="8325917"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¿quién rinde cuentas: el modelo, el integrador o la dirección?</a:t>
            </a:r>
            <a:endParaRPr lang="en-US" sz="1100" dirty="0"/>
          </a:p>
        </p:txBody>
      </p:sp>
      <p:sp>
        <p:nvSpPr>
          <p:cNvPr id="13" name="Text 11"/>
          <p:cNvSpPr/>
          <p:nvPr/>
        </p:nvSpPr>
        <p:spPr>
          <a:xfrm>
            <a:off x="502920" y="388620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LECTURA CLAVE</a:t>
            </a:r>
            <a:endParaRPr lang="en-US" sz="1100" dirty="0"/>
          </a:p>
        </p:txBody>
      </p:sp>
      <p:sp>
        <p:nvSpPr>
          <p:cNvPr id="14" name="Text 12"/>
          <p:cNvSpPr/>
          <p:nvPr/>
        </p:nvSpPr>
        <p:spPr>
          <a:xfrm>
            <a:off x="502920" y="4270248"/>
            <a:ext cx="11185855" cy="1463040"/>
          </a:xfrm>
          <a:prstGeom prst="rect">
            <a:avLst/>
          </a:prstGeom>
          <a:noFill/>
          <a:ln/>
        </p:spPr>
        <p:txBody>
          <a:bodyPr wrap="square" lIns="0" tIns="0" rIns="0" bIns="0" rtlCol="0" anchor="t"/>
          <a:lstStyle/>
          <a:p>
            <a:pPr indent="0" marL="0">
              <a:lnSpc>
                <a:spcPct val="110000"/>
              </a:lnSpc>
              <a:buNone/>
            </a:pPr>
            <a:r>
              <a:rPr lang="en-US" sz="1300" dirty="0">
                <a:solidFill>
                  <a:srgbClr val="F4F4F4"/>
                </a:solidFill>
                <a:latin typeface="Arial" pitchFamily="34" charset="0"/>
                <a:ea typeface="Arial" pitchFamily="34" charset="-122"/>
                <a:cs typeface="Arial" pitchFamily="34" charset="-120"/>
              </a:rPr>
              <a:t>Un gemelo que puede ESCRIBIR sobre el proceso deja de ser un problema de ingeniería y pasa a ser uno de gobierno. La pregunta ya no es si el modelo acierta, sino quién responde cuando se equivoca. ISO/IEC 38500 tiene una respuesta: el gobierno no se delega.</a:t>
            </a:r>
            <a:endParaRPr lang="en-US" sz="13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11 / 49</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10  PROBLEMA</a:t>
            </a:r>
            <a:endParaRPr lang="en-US" sz="1100" dirty="0"/>
          </a:p>
        </p:txBody>
      </p:sp>
      <p:sp>
        <p:nvSpPr>
          <p:cNvPr id="3" name="Text 1"/>
          <p:cNvSpPr/>
          <p:nvPr/>
        </p:nvSpPr>
        <p:spPr>
          <a:xfrm>
            <a:off x="1005840" y="1920240"/>
            <a:ext cx="10180015" cy="2743200"/>
          </a:xfrm>
          <a:prstGeom prst="rect">
            <a:avLst/>
          </a:prstGeom>
          <a:noFill/>
          <a:ln/>
        </p:spPr>
        <p:txBody>
          <a:bodyPr wrap="square" lIns="0" tIns="0" rIns="0" bIns="0" rtlCol="0" anchor="ctr"/>
          <a:lstStyle/>
          <a:p>
            <a:pPr algn="l" indent="0" marL="0">
              <a:lnSpc>
                <a:spcPct val="105000"/>
              </a:lnSpc>
              <a:buNone/>
            </a:pPr>
            <a:r>
              <a:rPr lang="en-US" sz="2800" dirty="0">
                <a:solidFill>
                  <a:srgbClr val="C6FF00"/>
                </a:solidFill>
                <a:latin typeface="Arial Black" pitchFamily="34" charset="0"/>
                <a:ea typeface="Arial Black" pitchFamily="34" charset="-122"/>
                <a:cs typeface="Arial Black" pitchFamily="34" charset="-120"/>
              </a:rPr>
              <a:t>“</a:t>
            </a:r>
            <a:pPr algn="l" indent="0" marL="0">
              <a:lnSpc>
                <a:spcPct val="105000"/>
              </a:lnSpc>
              <a:buNone/>
            </a:pPr>
            <a:r>
              <a:rPr lang="en-US" sz="2800" dirty="0">
                <a:solidFill>
                  <a:srgbClr val="F4F4F4"/>
                </a:solidFill>
                <a:latin typeface="Arial Black" pitchFamily="34" charset="0"/>
                <a:ea typeface="Arial Black" pitchFamily="34" charset="-122"/>
                <a:cs typeface="Arial Black" pitchFamily="34" charset="-120"/>
              </a:rPr>
              <a:t>Un modelo que se adapta a todo nunca detecta nada.</a:t>
            </a:r>
            <a:pPr algn="l" indent="0" marL="0">
              <a:lnSpc>
                <a:spcPct val="105000"/>
              </a:lnSpc>
              <a:buNone/>
            </a:pPr>
            <a:r>
              <a:rPr lang="en-US" sz="2800" dirty="0">
                <a:solidFill>
                  <a:srgbClr val="C6FF00"/>
                </a:solidFill>
                <a:latin typeface="Arial Black" pitchFamily="34" charset="0"/>
                <a:ea typeface="Arial Black" pitchFamily="34" charset="-122"/>
                <a:cs typeface="Arial Black" pitchFamily="34" charset="-120"/>
              </a:rPr>
              <a:t>”</a:t>
            </a:r>
            <a:endParaRPr lang="en-US" sz="2800" dirty="0"/>
          </a:p>
        </p:txBody>
      </p:sp>
      <p:sp>
        <p:nvSpPr>
          <p:cNvPr id="4" name="Text 2"/>
          <p:cNvSpPr/>
          <p:nvPr/>
        </p:nvSpPr>
        <p:spPr>
          <a:xfrm>
            <a:off x="1005840" y="4846320"/>
            <a:ext cx="10180015" cy="457200"/>
          </a:xfrm>
          <a:prstGeom prst="rect">
            <a:avLst/>
          </a:prstGeom>
          <a:noFill/>
          <a:ln/>
        </p:spPr>
        <p:txBody>
          <a:bodyPr wrap="square" lIns="0" tIns="0" rIns="0" bIns="0" rtlCol="0" anchor="ctr"/>
          <a:lstStyle/>
          <a:p>
            <a:pPr indent="0" marL="0">
              <a:buNone/>
            </a:pPr>
            <a:r>
              <a:rPr lang="en-US" sz="1200" dirty="0">
                <a:solidFill>
                  <a:srgbClr val="8C8C8C"/>
                </a:solidFill>
                <a:latin typeface="Courier New" pitchFamily="34" charset="0"/>
                <a:ea typeface="Courier New" pitchFamily="34" charset="-122"/>
                <a:cs typeface="Courier New" pitchFamily="34" charset="-120"/>
              </a:rPr>
              <a:t>— Principio de diseño del residual</a:t>
            </a:r>
            <a:endParaRPr lang="en-US" sz="12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6" name="Text 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7" name="Text 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12 / 49</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02</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EL PROCESO MODELADO</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Una línea de llenado y tapado, con física de verdad</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13 / 49</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13 / 49</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11  PROCESO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CUATRO ESTACIONES EN SERIE</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Un proceso híbrido: física continua más eventos discretos.</a:t>
            </a:r>
            <a:endParaRPr lang="en-US" sz="1250" dirty="0"/>
          </a:p>
        </p:txBody>
      </p:sp>
      <p:sp>
        <p:nvSpPr>
          <p:cNvPr id="5" name="Shape 3"/>
          <p:cNvSpPr/>
          <p:nvPr/>
        </p:nvSpPr>
        <p:spPr>
          <a:xfrm>
            <a:off x="502920" y="2240280"/>
            <a:ext cx="2625014" cy="1554480"/>
          </a:xfrm>
          <a:prstGeom prst="roundRect">
            <a:avLst>
              <a:gd name="adj" fmla="val 3529"/>
            </a:avLst>
          </a:prstGeom>
          <a:solidFill>
            <a:srgbClr val="151515"/>
          </a:solidFill>
          <a:ln w="12700">
            <a:solidFill>
              <a:srgbClr val="333333"/>
            </a:solidFill>
            <a:prstDash val="solid"/>
          </a:ln>
        </p:spPr>
      </p:sp>
      <p:sp>
        <p:nvSpPr>
          <p:cNvPr id="6" name="Text 4"/>
          <p:cNvSpPr/>
          <p:nvPr/>
        </p:nvSpPr>
        <p:spPr>
          <a:xfrm>
            <a:off x="649224" y="2350008"/>
            <a:ext cx="914400" cy="502920"/>
          </a:xfrm>
          <a:prstGeom prst="rect">
            <a:avLst/>
          </a:prstGeom>
          <a:noFill/>
          <a:ln/>
        </p:spPr>
        <p:txBody>
          <a:bodyPr wrap="square" lIns="0" tIns="0" rIns="0" bIns="0" rtlCol="0" anchor="t"/>
          <a:lstStyle/>
          <a:p>
            <a:pPr indent="0" marL="0">
              <a:buNone/>
            </a:pPr>
            <a:r>
              <a:rPr lang="en-US" sz="2200" dirty="0">
                <a:solidFill>
                  <a:srgbClr val="27E5E5"/>
                </a:solidFill>
                <a:latin typeface="Arial Black" pitchFamily="34" charset="0"/>
                <a:ea typeface="Arial Black" pitchFamily="34" charset="-122"/>
                <a:cs typeface="Arial Black" pitchFamily="34" charset="-120"/>
              </a:rPr>
              <a:t>01</a:t>
            </a:r>
            <a:endParaRPr lang="en-US" sz="2200" dirty="0"/>
          </a:p>
        </p:txBody>
      </p:sp>
      <p:sp>
        <p:nvSpPr>
          <p:cNvPr id="7" name="Text 5"/>
          <p:cNvSpPr/>
          <p:nvPr/>
        </p:nvSpPr>
        <p:spPr>
          <a:xfrm>
            <a:off x="649224" y="28437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DEPÓSITO</a:t>
            </a:r>
            <a:endParaRPr lang="en-US" sz="1100" dirty="0"/>
          </a:p>
        </p:txBody>
      </p:sp>
      <p:sp>
        <p:nvSpPr>
          <p:cNvPr id="8" name="Text 6"/>
          <p:cNvSpPr/>
          <p:nvPr/>
        </p:nvSpPr>
        <p:spPr>
          <a:xfrm>
            <a:off x="649224" y="32095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Tanque con lazo P de nivel y bomba de reposición.</a:t>
            </a:r>
            <a:endParaRPr lang="en-US" sz="1000" dirty="0"/>
          </a:p>
        </p:txBody>
      </p:sp>
      <p:sp>
        <p:nvSpPr>
          <p:cNvPr id="9" name="Shape 7"/>
          <p:cNvSpPr/>
          <p:nvPr/>
        </p:nvSpPr>
        <p:spPr>
          <a:xfrm>
            <a:off x="3356534" y="2240280"/>
            <a:ext cx="2625014" cy="1554480"/>
          </a:xfrm>
          <a:prstGeom prst="roundRect">
            <a:avLst>
              <a:gd name="adj" fmla="val 3529"/>
            </a:avLst>
          </a:prstGeom>
          <a:solidFill>
            <a:srgbClr val="151515"/>
          </a:solidFill>
          <a:ln w="12700">
            <a:solidFill>
              <a:srgbClr val="333333"/>
            </a:solidFill>
            <a:prstDash val="solid"/>
          </a:ln>
        </p:spPr>
      </p:sp>
      <p:sp>
        <p:nvSpPr>
          <p:cNvPr id="10" name="Text 8"/>
          <p:cNvSpPr/>
          <p:nvPr/>
        </p:nvSpPr>
        <p:spPr>
          <a:xfrm>
            <a:off x="3502838" y="2350008"/>
            <a:ext cx="914400" cy="502920"/>
          </a:xfrm>
          <a:prstGeom prst="rect">
            <a:avLst/>
          </a:prstGeom>
          <a:noFill/>
          <a:ln/>
        </p:spPr>
        <p:txBody>
          <a:bodyPr wrap="square" lIns="0" tIns="0" rIns="0" bIns="0" rtlCol="0" anchor="t"/>
          <a:lstStyle/>
          <a:p>
            <a:pPr indent="0" marL="0">
              <a:buNone/>
            </a:pPr>
            <a:r>
              <a:rPr lang="en-US" sz="2200" dirty="0">
                <a:solidFill>
                  <a:srgbClr val="C6FF00"/>
                </a:solidFill>
                <a:latin typeface="Arial Black" pitchFamily="34" charset="0"/>
                <a:ea typeface="Arial Black" pitchFamily="34" charset="-122"/>
                <a:cs typeface="Arial Black" pitchFamily="34" charset="-120"/>
              </a:rPr>
              <a:t>02</a:t>
            </a:r>
            <a:endParaRPr lang="en-US" sz="2200" dirty="0"/>
          </a:p>
        </p:txBody>
      </p:sp>
      <p:sp>
        <p:nvSpPr>
          <p:cNvPr id="11" name="Text 9"/>
          <p:cNvSpPr/>
          <p:nvPr/>
        </p:nvSpPr>
        <p:spPr>
          <a:xfrm>
            <a:off x="3502838" y="28437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LLENADORA</a:t>
            </a:r>
            <a:endParaRPr lang="en-US" sz="1100" dirty="0"/>
          </a:p>
        </p:txBody>
      </p:sp>
      <p:sp>
        <p:nvSpPr>
          <p:cNvPr id="12" name="Text 10"/>
          <p:cNvSpPr/>
          <p:nvPr/>
        </p:nvSpPr>
        <p:spPr>
          <a:xfrm>
            <a:off x="3502838" y="32095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Volumétrica por TIEMPO: abre la válvula t_set segundos.</a:t>
            </a:r>
            <a:endParaRPr lang="en-US" sz="1000" dirty="0"/>
          </a:p>
        </p:txBody>
      </p:sp>
      <p:sp>
        <p:nvSpPr>
          <p:cNvPr id="13" name="Shape 11"/>
          <p:cNvSpPr/>
          <p:nvPr/>
        </p:nvSpPr>
        <p:spPr>
          <a:xfrm>
            <a:off x="6210148" y="2240280"/>
            <a:ext cx="2625014" cy="1554480"/>
          </a:xfrm>
          <a:prstGeom prst="roundRect">
            <a:avLst>
              <a:gd name="adj" fmla="val 3529"/>
            </a:avLst>
          </a:prstGeom>
          <a:solidFill>
            <a:srgbClr val="151515"/>
          </a:solidFill>
          <a:ln w="12700">
            <a:solidFill>
              <a:srgbClr val="333333"/>
            </a:solidFill>
            <a:prstDash val="solid"/>
          </a:ln>
        </p:spPr>
      </p:sp>
      <p:sp>
        <p:nvSpPr>
          <p:cNvPr id="14" name="Text 12"/>
          <p:cNvSpPr/>
          <p:nvPr/>
        </p:nvSpPr>
        <p:spPr>
          <a:xfrm>
            <a:off x="6356452" y="2350008"/>
            <a:ext cx="914400" cy="502920"/>
          </a:xfrm>
          <a:prstGeom prst="rect">
            <a:avLst/>
          </a:prstGeom>
          <a:noFill/>
          <a:ln/>
        </p:spPr>
        <p:txBody>
          <a:bodyPr wrap="square" lIns="0" tIns="0" rIns="0" bIns="0" rtlCol="0" anchor="t"/>
          <a:lstStyle/>
          <a:p>
            <a:pPr indent="0" marL="0">
              <a:buNone/>
            </a:pPr>
            <a:r>
              <a:rPr lang="en-US" sz="2200" dirty="0">
                <a:solidFill>
                  <a:srgbClr val="FFB000"/>
                </a:solidFill>
                <a:latin typeface="Arial Black" pitchFamily="34" charset="0"/>
                <a:ea typeface="Arial Black" pitchFamily="34" charset="-122"/>
                <a:cs typeface="Arial Black" pitchFamily="34" charset="-120"/>
              </a:rPr>
              <a:t>03</a:t>
            </a:r>
            <a:endParaRPr lang="en-US" sz="2200" dirty="0"/>
          </a:p>
        </p:txBody>
      </p:sp>
      <p:sp>
        <p:nvSpPr>
          <p:cNvPr id="15" name="Text 13"/>
          <p:cNvSpPr/>
          <p:nvPr/>
        </p:nvSpPr>
        <p:spPr>
          <a:xfrm>
            <a:off x="6356452" y="28437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TAPADORA</a:t>
            </a:r>
            <a:endParaRPr lang="en-US" sz="1100" dirty="0"/>
          </a:p>
        </p:txBody>
      </p:sp>
      <p:sp>
        <p:nvSpPr>
          <p:cNvPr id="16" name="Text 14"/>
          <p:cNvSpPr/>
          <p:nvPr/>
        </p:nvSpPr>
        <p:spPr>
          <a:xfrm>
            <a:off x="6356452" y="32095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Tiempo fijo con dispersión. Puede atascarse.</a:t>
            </a:r>
            <a:endParaRPr lang="en-US" sz="1000" dirty="0"/>
          </a:p>
        </p:txBody>
      </p:sp>
      <p:sp>
        <p:nvSpPr>
          <p:cNvPr id="17" name="Shape 15"/>
          <p:cNvSpPr/>
          <p:nvPr/>
        </p:nvSpPr>
        <p:spPr>
          <a:xfrm>
            <a:off x="9063761" y="2240280"/>
            <a:ext cx="2625014" cy="1554480"/>
          </a:xfrm>
          <a:prstGeom prst="roundRect">
            <a:avLst>
              <a:gd name="adj" fmla="val 3529"/>
            </a:avLst>
          </a:prstGeom>
          <a:solidFill>
            <a:srgbClr val="151515"/>
          </a:solidFill>
          <a:ln w="12700">
            <a:solidFill>
              <a:srgbClr val="333333"/>
            </a:solidFill>
            <a:prstDash val="solid"/>
          </a:ln>
        </p:spPr>
      </p:sp>
      <p:sp>
        <p:nvSpPr>
          <p:cNvPr id="18" name="Text 16"/>
          <p:cNvSpPr/>
          <p:nvPr/>
        </p:nvSpPr>
        <p:spPr>
          <a:xfrm>
            <a:off x="9210065" y="2350008"/>
            <a:ext cx="914400" cy="502920"/>
          </a:xfrm>
          <a:prstGeom prst="rect">
            <a:avLst/>
          </a:prstGeom>
          <a:noFill/>
          <a:ln/>
        </p:spPr>
        <p:txBody>
          <a:bodyPr wrap="square" lIns="0" tIns="0" rIns="0" bIns="0" rtlCol="0" anchor="t"/>
          <a:lstStyle/>
          <a:p>
            <a:pPr indent="0" marL="0">
              <a:buNone/>
            </a:pPr>
            <a:r>
              <a:rPr lang="en-US" sz="2200" dirty="0">
                <a:solidFill>
                  <a:srgbClr val="22E06B"/>
                </a:solidFill>
                <a:latin typeface="Arial Black" pitchFamily="34" charset="0"/>
                <a:ea typeface="Arial Black" pitchFamily="34" charset="-122"/>
                <a:cs typeface="Arial Black" pitchFamily="34" charset="-120"/>
              </a:rPr>
              <a:t>04</a:t>
            </a:r>
            <a:endParaRPr lang="en-US" sz="2200" dirty="0"/>
          </a:p>
        </p:txBody>
      </p:sp>
      <p:sp>
        <p:nvSpPr>
          <p:cNvPr id="19" name="Text 17"/>
          <p:cNvSpPr/>
          <p:nvPr/>
        </p:nvSpPr>
        <p:spPr>
          <a:xfrm>
            <a:off x="9210065" y="28437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INSPECCIÓN</a:t>
            </a:r>
            <a:endParaRPr lang="en-US" sz="1100" dirty="0"/>
          </a:p>
        </p:txBody>
      </p:sp>
      <p:sp>
        <p:nvSpPr>
          <p:cNvPr id="20" name="Text 18"/>
          <p:cNvSpPr/>
          <p:nvPr/>
        </p:nvSpPr>
        <p:spPr>
          <a:xfrm>
            <a:off x="9210065" y="32095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Rechaza toda botella fuera de tolerancia.</a:t>
            </a:r>
            <a:endParaRPr lang="en-US" sz="1000" dirty="0"/>
          </a:p>
        </p:txBody>
      </p:sp>
      <p:sp>
        <p:nvSpPr>
          <p:cNvPr id="21" name="Text 19"/>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2" name="Text 20"/>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23" name="Text 21"/>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14 / 49</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12  PROCESO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LA FÍSICA — DOS ECUACIONES</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MODELO CONTINUO</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TORRICELLI MÁS BALANCE DE MASA</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El caudal por la válvula sigue Q = Cv·√L, donde Cv es el coeficiente de descarga y L el nivel del tanque. El tanque, a su vez, obedece dL/dt = (Q_bomba − Q_salida)/A. La bomba la comanda un lazo proporcional: Q_bomba = sat(K·(L_sp − L), 0, Q_max). Es control P puro, así que tiene OFFSET: el nivel se estabiliza cerca de 1.10 m frente a una consigna de 1.19 m.</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PARÁMETROS DE PLACA</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Cv = 0.829 · t_set = 2.30 s · A = 0.08 m²</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PUNTO DE OPERACIÓN</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2.00 L por botella a 1.10 m</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15 / 49</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13  PROCESO</a:t>
            </a:r>
            <a:endParaRPr lang="en-US" sz="1100" dirty="0"/>
          </a:p>
        </p:txBody>
      </p:sp>
      <p:sp>
        <p:nvSpPr>
          <p:cNvPr id="3" name="Shape 1"/>
          <p:cNvSpPr/>
          <p:nvPr/>
        </p:nvSpPr>
        <p:spPr>
          <a:xfrm>
            <a:off x="502920" y="1554480"/>
            <a:ext cx="11185855" cy="4206240"/>
          </a:xfrm>
          <a:prstGeom prst="roundRect">
            <a:avLst>
              <a:gd name="adj" fmla="val 1304"/>
            </a:avLst>
          </a:prstGeom>
          <a:solidFill>
            <a:srgbClr val="160B0B"/>
          </a:solidFill>
          <a:ln w="19050">
            <a:solidFill>
              <a:srgbClr val="FF3B30"/>
            </a:solidFill>
            <a:prstDash val="solid"/>
          </a:ln>
        </p:spPr>
      </p:sp>
      <p:sp>
        <p:nvSpPr>
          <p:cNvPr id="4" name="Text 2"/>
          <p:cNvSpPr/>
          <p:nvPr/>
        </p:nvSpPr>
        <p:spPr>
          <a:xfrm>
            <a:off x="868680" y="1874520"/>
            <a:ext cx="10454335" cy="640080"/>
          </a:xfrm>
          <a:prstGeom prst="rect">
            <a:avLst/>
          </a:prstGeom>
          <a:noFill/>
          <a:ln/>
        </p:spPr>
        <p:txBody>
          <a:bodyPr wrap="square" lIns="0" tIns="0" rIns="0" bIns="0" rtlCol="0" anchor="t"/>
          <a:lstStyle/>
          <a:p>
            <a:pPr indent="0" marL="0">
              <a:buNone/>
            </a:pPr>
            <a:r>
              <a:rPr lang="en-US" sz="2600" dirty="0">
                <a:solidFill>
                  <a:srgbClr val="FFB000"/>
                </a:solidFill>
                <a:latin typeface="Arial Black" pitchFamily="34" charset="0"/>
                <a:ea typeface="Arial Black" pitchFamily="34" charset="-122"/>
                <a:cs typeface="Arial Black" pitchFamily="34" charset="-120"/>
              </a:rPr>
              <a:t>⚠  </a:t>
            </a:r>
            <a:pPr indent="0" marL="0">
              <a:buNone/>
            </a:pPr>
            <a:r>
              <a:rPr lang="en-US" sz="2600" dirty="0">
                <a:solidFill>
                  <a:srgbClr val="F4F4F4"/>
                </a:solidFill>
                <a:latin typeface="Arial Black" pitchFamily="34" charset="0"/>
                <a:ea typeface="Arial Black" pitchFamily="34" charset="-122"/>
                <a:cs typeface="Arial Black" pitchFamily="34" charset="-120"/>
              </a:rPr>
              <a:t>POR QUÉ LA LLENADORA ES POR TIEMPO</a:t>
            </a:r>
            <a:endParaRPr lang="en-US" sz="2600" dirty="0"/>
          </a:p>
        </p:txBody>
      </p:sp>
      <p:sp>
        <p:nvSpPr>
          <p:cNvPr id="5" name="Text 3"/>
          <p:cNvSpPr/>
          <p:nvPr/>
        </p:nvSpPr>
        <p:spPr>
          <a:xfrm>
            <a:off x="868680" y="2697480"/>
            <a:ext cx="10454335" cy="2011680"/>
          </a:xfrm>
          <a:prstGeom prst="rect">
            <a:avLst/>
          </a:prstGeom>
          <a:noFill/>
          <a:ln/>
        </p:spPr>
        <p:txBody>
          <a:bodyPr wrap="square" lIns="0" tIns="0" rIns="0" bIns="0" rtlCol="0" anchor="t"/>
          <a:lstStyle/>
          <a:p>
            <a:pPr indent="0" marL="0">
              <a:lnSpc>
                <a:spcPct val="112000"/>
              </a:lnSpc>
              <a:spcAft>
                <a:spcPts val="1200"/>
              </a:spcAft>
              <a:buNone/>
            </a:pPr>
            <a:r>
              <a:rPr lang="en-US" sz="1400" dirty="0">
                <a:solidFill>
                  <a:srgbClr val="F4F4F4"/>
                </a:solidFill>
                <a:latin typeface="Arial" pitchFamily="34" charset="0"/>
                <a:ea typeface="Arial" pitchFamily="34" charset="-122"/>
                <a:cs typeface="Arial" pitchFamily="34" charset="-120"/>
              </a:rPr>
              <a:t>Una llenadora volumétrica POR TIEMPO abre la válvula durante t_set segundos y confía en que el caudal sea el nominal. Es lo común en plantas pequeñas — y es la elección clave de este laboratorio.</a:t>
            </a:r>
            <a:endParaRPr lang="en-US" sz="1400" dirty="0"/>
          </a:p>
          <a:p>
            <a:pPr indent="0" marL="0">
              <a:lnSpc>
                <a:spcPct val="112000"/>
              </a:lnSpc>
              <a:spcAft>
                <a:spcPts val="1200"/>
              </a:spcAft>
              <a:buNone/>
            </a:pPr>
            <a:r>
              <a:rPr lang="en-US" sz="1400" dirty="0">
                <a:solidFill>
                  <a:srgbClr val="F4F4F4"/>
                </a:solidFill>
                <a:latin typeface="Arial" pitchFamily="34" charset="0"/>
                <a:ea typeface="Arial" pitchFamily="34" charset="-122"/>
                <a:cs typeface="Arial" pitchFamily="34" charset="-120"/>
              </a:rPr>
              <a:t>El motivo: acopla la física con la calidad. Si el caudal cae (válvula desgastada o tanque bajo), la botella queda CORTA y la rechaza inspección. La calidad del producto se degrada por una causa física rastreable, no por un contador inventado.</a:t>
            </a:r>
            <a:endParaRPr lang="en-US" sz="1400" dirty="0"/>
          </a:p>
        </p:txBody>
      </p:sp>
      <p:sp>
        <p:nvSpPr>
          <p:cNvPr id="6" name="Text 4"/>
          <p:cNvSpPr/>
          <p:nvPr/>
        </p:nvSpPr>
        <p:spPr>
          <a:xfrm>
            <a:off x="868680" y="5029200"/>
            <a:ext cx="10454335" cy="64008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i="1" dirty="0">
                <a:solidFill>
                  <a:srgbClr val="C6FF00"/>
                </a:solidFill>
                <a:latin typeface="Courier New" pitchFamily="34" charset="0"/>
                <a:ea typeface="Courier New" pitchFamily="34" charset="-122"/>
                <a:cs typeface="Courier New" pitchFamily="34" charset="-120"/>
              </a:rPr>
              <a:t>Cada punto de OEE perdido se puede rastrear hasta una variable física.</a:t>
            </a:r>
            <a:endParaRPr lang="en-US" sz="1300" dirty="0"/>
          </a:p>
        </p:txBody>
      </p:sp>
      <p:sp>
        <p:nvSpPr>
          <p:cNvPr id="7" name="Text 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8" name="Text 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9" name="Text 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16 / 49</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14  PROCESO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DEL MODELO FÍSICO AL OEE</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Las tres componentes salen del MISMO modelo, no de tres contadores.</a:t>
            </a:r>
            <a:endParaRPr lang="en-US" sz="1250" dirty="0"/>
          </a:p>
        </p:txBody>
      </p:sp>
      <p:sp>
        <p:nvSpPr>
          <p:cNvPr id="5" name="Shape 3"/>
          <p:cNvSpPr/>
          <p:nvPr/>
        </p:nvSpPr>
        <p:spPr>
          <a:xfrm>
            <a:off x="502920"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3192170"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DISPONIBILIDAD</a:t>
            </a:r>
            <a:endParaRPr lang="en-US" sz="1600" dirty="0"/>
          </a:p>
        </p:txBody>
      </p:sp>
      <p:sp>
        <p:nvSpPr>
          <p:cNvPr id="7" name="Text 5"/>
          <p:cNvSpPr/>
          <p:nvPr/>
        </p:nvSpPr>
        <p:spPr>
          <a:xfrm>
            <a:off x="685800"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Cae por atascos de tapadora y por paradas de protección cuando el tanque llega al nivel mínimo.</a:t>
            </a:r>
            <a:endParaRPr lang="en-US" sz="1100" dirty="0"/>
          </a:p>
        </p:txBody>
      </p:sp>
      <p:sp>
        <p:nvSpPr>
          <p:cNvPr id="8" name="Shape 6"/>
          <p:cNvSpPr/>
          <p:nvPr/>
        </p:nvSpPr>
        <p:spPr>
          <a:xfrm>
            <a:off x="4316882"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499762" y="2066544"/>
            <a:ext cx="3192170" cy="411480"/>
          </a:xfrm>
          <a:prstGeom prst="rect">
            <a:avLst/>
          </a:prstGeom>
          <a:noFill/>
          <a:ln/>
        </p:spPr>
        <p:txBody>
          <a:bodyPr wrap="square" lIns="0" tIns="0" rIns="0" bIns="0" rtlCol="0" anchor="t"/>
          <a:lstStyle/>
          <a:p>
            <a:pPr indent="0" marL="0">
              <a:buNone/>
            </a:pPr>
            <a:r>
              <a:rPr lang="en-US" sz="1600" dirty="0">
                <a:solidFill>
                  <a:srgbClr val="9D6BFF"/>
                </a:solidFill>
                <a:latin typeface="Arial Black" pitchFamily="34" charset="0"/>
                <a:ea typeface="Arial Black" pitchFamily="34" charset="-122"/>
                <a:cs typeface="Arial Black" pitchFamily="34" charset="-120"/>
              </a:rPr>
              <a:t>DESEMPEÑO</a:t>
            </a:r>
            <a:endParaRPr lang="en-US" sz="1600" dirty="0"/>
          </a:p>
        </p:txBody>
      </p:sp>
      <p:sp>
        <p:nvSpPr>
          <p:cNvPr id="10" name="Text 8"/>
          <p:cNvSpPr/>
          <p:nvPr/>
        </p:nvSpPr>
        <p:spPr>
          <a:xfrm>
            <a:off x="4499762"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Cae cuando el ciclo real supera al ideal — por ejemplo, al alargar t_set para compensar un desgaste.</a:t>
            </a:r>
            <a:endParaRPr lang="en-US" sz="1100" dirty="0"/>
          </a:p>
        </p:txBody>
      </p:sp>
      <p:sp>
        <p:nvSpPr>
          <p:cNvPr id="11" name="Shape 9"/>
          <p:cNvSpPr/>
          <p:nvPr/>
        </p:nvSpPr>
        <p:spPr>
          <a:xfrm>
            <a:off x="8130845"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8313725" y="2066544"/>
            <a:ext cx="3192170"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CALIDAD</a:t>
            </a:r>
            <a:endParaRPr lang="en-US" sz="1600" dirty="0"/>
          </a:p>
        </p:txBody>
      </p:sp>
      <p:sp>
        <p:nvSpPr>
          <p:cNvPr id="13" name="Text 11"/>
          <p:cNvSpPr/>
          <p:nvPr/>
        </p:nvSpPr>
        <p:spPr>
          <a:xfrm>
            <a:off x="8313725"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Cae cuando el caudal baja y las botellas salen fuera de la tolerancia de volumen.</a:t>
            </a:r>
            <a:endParaRPr lang="en-US" sz="1100" dirty="0"/>
          </a:p>
        </p:txBody>
      </p:sp>
      <p:sp>
        <p:nvSpPr>
          <p:cNvPr id="14" name="Text 12"/>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5" name="Text 13"/>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6" name="Text 14"/>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17 / 49</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15  PROCESO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LOS CINCO MODOS DE FALLA</a:t>
            </a:r>
            <a:endParaRPr lang="en-US" sz="3300" dirty="0"/>
          </a:p>
        </p:txBody>
      </p:sp>
      <p:sp>
        <p:nvSpPr>
          <p:cNvPr id="4" name="Shape 2"/>
          <p:cNvSpPr/>
          <p:nvPr/>
        </p:nvSpPr>
        <p:spPr>
          <a:xfrm>
            <a:off x="502920" y="1783080"/>
            <a:ext cx="3108960" cy="457200"/>
          </a:xfrm>
          <a:prstGeom prst="rect">
            <a:avLst/>
          </a:prstGeom>
          <a:solidFill>
            <a:srgbClr val="1E1E1E"/>
          </a:solidFill>
          <a:ln w="12700">
            <a:solidFill>
              <a:srgbClr val="333333"/>
            </a:solidFill>
            <a:prstDash val="solid"/>
          </a:ln>
        </p:spPr>
      </p:sp>
      <p:sp>
        <p:nvSpPr>
          <p:cNvPr id="5" name="Text 3"/>
          <p:cNvSpPr/>
          <p:nvPr/>
        </p:nvSpPr>
        <p:spPr>
          <a:xfrm>
            <a:off x="576072" y="1783080"/>
            <a:ext cx="2962656" cy="457200"/>
          </a:xfrm>
          <a:prstGeom prst="rect">
            <a:avLst/>
          </a:prstGeom>
          <a:noFill/>
          <a:ln/>
        </p:spPr>
        <p:txBody>
          <a:bodyPr wrap="square" lIns="0" tIns="0" rIns="0" bIns="0" rtlCol="0" anchor="ctr"/>
          <a:lstStyle/>
          <a:p>
            <a:pPr algn="l" indent="0" marL="0">
              <a:buNone/>
            </a:pPr>
            <a:r>
              <a:rPr lang="en-US" sz="1050" b="1" dirty="0">
                <a:solidFill>
                  <a:srgbClr val="C6FF00"/>
                </a:solidFill>
                <a:latin typeface="Courier New" pitchFamily="34" charset="0"/>
                <a:ea typeface="Courier New" pitchFamily="34" charset="-122"/>
                <a:cs typeface="Courier New" pitchFamily="34" charset="-120"/>
              </a:rPr>
              <a:t>FALLA INYECTABLE</a:t>
            </a:r>
            <a:endParaRPr lang="en-US" sz="1050" dirty="0"/>
          </a:p>
        </p:txBody>
      </p:sp>
      <p:sp>
        <p:nvSpPr>
          <p:cNvPr id="6" name="Shape 4"/>
          <p:cNvSpPr/>
          <p:nvPr/>
        </p:nvSpPr>
        <p:spPr>
          <a:xfrm>
            <a:off x="3611880" y="1783080"/>
            <a:ext cx="4038448" cy="457200"/>
          </a:xfrm>
          <a:prstGeom prst="rect">
            <a:avLst/>
          </a:prstGeom>
          <a:solidFill>
            <a:srgbClr val="1E1E1E"/>
          </a:solidFill>
          <a:ln w="12700">
            <a:solidFill>
              <a:srgbClr val="333333"/>
            </a:solidFill>
            <a:prstDash val="solid"/>
          </a:ln>
        </p:spPr>
      </p:sp>
      <p:sp>
        <p:nvSpPr>
          <p:cNvPr id="7" name="Text 5"/>
          <p:cNvSpPr/>
          <p:nvPr/>
        </p:nvSpPr>
        <p:spPr>
          <a:xfrm>
            <a:off x="3685032" y="1783080"/>
            <a:ext cx="389214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QUÉ TOCA EN LA FÍSICA</a:t>
            </a:r>
            <a:endParaRPr lang="en-US" sz="1050" dirty="0"/>
          </a:p>
        </p:txBody>
      </p:sp>
      <p:sp>
        <p:nvSpPr>
          <p:cNvPr id="8" name="Shape 6"/>
          <p:cNvSpPr/>
          <p:nvPr/>
        </p:nvSpPr>
        <p:spPr>
          <a:xfrm>
            <a:off x="7650328" y="1783080"/>
            <a:ext cx="4038448" cy="457200"/>
          </a:xfrm>
          <a:prstGeom prst="rect">
            <a:avLst/>
          </a:prstGeom>
          <a:solidFill>
            <a:srgbClr val="1E1E1E"/>
          </a:solidFill>
          <a:ln w="12700">
            <a:solidFill>
              <a:srgbClr val="333333"/>
            </a:solidFill>
            <a:prstDash val="solid"/>
          </a:ln>
        </p:spPr>
      </p:sp>
      <p:sp>
        <p:nvSpPr>
          <p:cNvPr id="9" name="Text 7"/>
          <p:cNvSpPr/>
          <p:nvPr/>
        </p:nvSpPr>
        <p:spPr>
          <a:xfrm>
            <a:off x="7723480" y="1783080"/>
            <a:ext cx="389214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COMPONENTE OEE</a:t>
            </a:r>
            <a:endParaRPr lang="en-US" sz="1050" dirty="0"/>
          </a:p>
        </p:txBody>
      </p:sp>
      <p:sp>
        <p:nvSpPr>
          <p:cNvPr id="10" name="Shape 8"/>
          <p:cNvSpPr/>
          <p:nvPr/>
        </p:nvSpPr>
        <p:spPr>
          <a:xfrm>
            <a:off x="502920" y="2240280"/>
            <a:ext cx="3108960" cy="566928"/>
          </a:xfrm>
          <a:prstGeom prst="rect">
            <a:avLst/>
          </a:prstGeom>
          <a:solidFill>
            <a:srgbClr val="151515"/>
          </a:solidFill>
          <a:ln w="12700">
            <a:solidFill>
              <a:srgbClr val="242424"/>
            </a:solidFill>
            <a:prstDash val="solid"/>
          </a:ln>
        </p:spPr>
      </p:sp>
      <p:sp>
        <p:nvSpPr>
          <p:cNvPr id="11" name="Text 9"/>
          <p:cNvSpPr/>
          <p:nvPr/>
        </p:nvSpPr>
        <p:spPr>
          <a:xfrm>
            <a:off x="576072" y="2240280"/>
            <a:ext cx="29626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Desgaste de válvula</a:t>
            </a:r>
            <a:endParaRPr lang="en-US" sz="1150" dirty="0"/>
          </a:p>
        </p:txBody>
      </p:sp>
      <p:sp>
        <p:nvSpPr>
          <p:cNvPr id="12" name="Shape 10"/>
          <p:cNvSpPr/>
          <p:nvPr/>
        </p:nvSpPr>
        <p:spPr>
          <a:xfrm>
            <a:off x="3611880" y="2240280"/>
            <a:ext cx="4038448" cy="566928"/>
          </a:xfrm>
          <a:prstGeom prst="rect">
            <a:avLst/>
          </a:prstGeom>
          <a:solidFill>
            <a:srgbClr val="151515"/>
          </a:solidFill>
          <a:ln w="12700">
            <a:solidFill>
              <a:srgbClr val="242424"/>
            </a:solidFill>
            <a:prstDash val="solid"/>
          </a:ln>
        </p:spPr>
      </p:sp>
      <p:sp>
        <p:nvSpPr>
          <p:cNvPr id="13" name="Text 11"/>
          <p:cNvSpPr/>
          <p:nvPr/>
        </p:nvSpPr>
        <p:spPr>
          <a:xfrm>
            <a:off x="3685032" y="2240280"/>
            <a:ext cx="3892144"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Cv cae ~0.6 %/min</a:t>
            </a:r>
            <a:endParaRPr lang="en-US" sz="1100" dirty="0"/>
          </a:p>
        </p:txBody>
      </p:sp>
      <p:sp>
        <p:nvSpPr>
          <p:cNvPr id="14" name="Shape 12"/>
          <p:cNvSpPr/>
          <p:nvPr/>
        </p:nvSpPr>
        <p:spPr>
          <a:xfrm>
            <a:off x="7650328" y="2240280"/>
            <a:ext cx="4038448" cy="566928"/>
          </a:xfrm>
          <a:prstGeom prst="rect">
            <a:avLst/>
          </a:prstGeom>
          <a:solidFill>
            <a:srgbClr val="151515"/>
          </a:solidFill>
          <a:ln w="12700">
            <a:solidFill>
              <a:srgbClr val="242424"/>
            </a:solidFill>
            <a:prstDash val="solid"/>
          </a:ln>
        </p:spPr>
      </p:sp>
      <p:sp>
        <p:nvSpPr>
          <p:cNvPr id="15" name="Text 13"/>
          <p:cNvSpPr/>
          <p:nvPr/>
        </p:nvSpPr>
        <p:spPr>
          <a:xfrm>
            <a:off x="7723480" y="2240280"/>
            <a:ext cx="3892144" cy="566928"/>
          </a:xfrm>
          <a:prstGeom prst="rect">
            <a:avLst/>
          </a:prstGeom>
          <a:noFill/>
          <a:ln/>
        </p:spPr>
        <p:txBody>
          <a:bodyPr wrap="square" lIns="0" tIns="0" rIns="0" bIns="0" rtlCol="0" anchor="ctr"/>
          <a:lstStyle/>
          <a:p>
            <a:pPr algn="ctr" indent="0" marL="0">
              <a:buNone/>
            </a:pPr>
            <a:r>
              <a:rPr lang="en-US" sz="1100" dirty="0">
                <a:solidFill>
                  <a:srgbClr val="22E06B"/>
                </a:solidFill>
                <a:latin typeface="Courier New" pitchFamily="34" charset="0"/>
                <a:ea typeface="Courier New" pitchFamily="34" charset="-122"/>
                <a:cs typeface="Courier New" pitchFamily="34" charset="-120"/>
              </a:rPr>
              <a:t>Calidad</a:t>
            </a:r>
            <a:endParaRPr lang="en-US" sz="1100" dirty="0"/>
          </a:p>
        </p:txBody>
      </p:sp>
      <p:sp>
        <p:nvSpPr>
          <p:cNvPr id="16" name="Shape 14"/>
          <p:cNvSpPr/>
          <p:nvPr/>
        </p:nvSpPr>
        <p:spPr>
          <a:xfrm>
            <a:off x="502920" y="2807208"/>
            <a:ext cx="3108960" cy="566928"/>
          </a:xfrm>
          <a:prstGeom prst="rect">
            <a:avLst/>
          </a:prstGeom>
          <a:solidFill>
            <a:srgbClr val="0B0B0B"/>
          </a:solidFill>
          <a:ln w="12700">
            <a:solidFill>
              <a:srgbClr val="242424"/>
            </a:solidFill>
            <a:prstDash val="solid"/>
          </a:ln>
        </p:spPr>
      </p:sp>
      <p:sp>
        <p:nvSpPr>
          <p:cNvPr id="17" name="Text 15"/>
          <p:cNvSpPr/>
          <p:nvPr/>
        </p:nvSpPr>
        <p:spPr>
          <a:xfrm>
            <a:off x="576072" y="2807208"/>
            <a:ext cx="29626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Bomba degradada</a:t>
            </a:r>
            <a:endParaRPr lang="en-US" sz="1150" dirty="0"/>
          </a:p>
        </p:txBody>
      </p:sp>
      <p:sp>
        <p:nvSpPr>
          <p:cNvPr id="18" name="Shape 16"/>
          <p:cNvSpPr/>
          <p:nvPr/>
        </p:nvSpPr>
        <p:spPr>
          <a:xfrm>
            <a:off x="3611880" y="2807208"/>
            <a:ext cx="4038448" cy="566928"/>
          </a:xfrm>
          <a:prstGeom prst="rect">
            <a:avLst/>
          </a:prstGeom>
          <a:solidFill>
            <a:srgbClr val="0B0B0B"/>
          </a:solidFill>
          <a:ln w="12700">
            <a:solidFill>
              <a:srgbClr val="242424"/>
            </a:solidFill>
            <a:prstDash val="solid"/>
          </a:ln>
        </p:spPr>
      </p:sp>
      <p:sp>
        <p:nvSpPr>
          <p:cNvPr id="19" name="Text 17"/>
          <p:cNvSpPr/>
          <p:nvPr/>
        </p:nvSpPr>
        <p:spPr>
          <a:xfrm>
            <a:off x="3685032" y="2807208"/>
            <a:ext cx="3892144" cy="566928"/>
          </a:xfrm>
          <a:prstGeom prst="rect">
            <a:avLst/>
          </a:prstGeom>
          <a:noFill/>
          <a:ln/>
        </p:spPr>
        <p:txBody>
          <a:bodyPr wrap="square" lIns="0" tIns="0" rIns="0" bIns="0" rtlCol="0" anchor="ctr"/>
          <a:lstStyle/>
          <a:p>
            <a:pPr algn="ctr" indent="0" marL="0">
              <a:buNone/>
            </a:pPr>
            <a:r>
              <a:rPr lang="en-US" sz="1100" dirty="0">
                <a:solidFill>
                  <a:srgbClr val="27E5E5"/>
                </a:solidFill>
                <a:latin typeface="Courier New" pitchFamily="34" charset="0"/>
                <a:ea typeface="Courier New" pitchFamily="34" charset="-122"/>
                <a:cs typeface="Courier New" pitchFamily="34" charset="-120"/>
              </a:rPr>
              <a:t>Capacidad de reposición</a:t>
            </a:r>
            <a:endParaRPr lang="en-US" sz="1100" dirty="0"/>
          </a:p>
        </p:txBody>
      </p:sp>
      <p:sp>
        <p:nvSpPr>
          <p:cNvPr id="20" name="Shape 18"/>
          <p:cNvSpPr/>
          <p:nvPr/>
        </p:nvSpPr>
        <p:spPr>
          <a:xfrm>
            <a:off x="7650328" y="2807208"/>
            <a:ext cx="4038448" cy="566928"/>
          </a:xfrm>
          <a:prstGeom prst="rect">
            <a:avLst/>
          </a:prstGeom>
          <a:solidFill>
            <a:srgbClr val="0B0B0B"/>
          </a:solidFill>
          <a:ln w="12700">
            <a:solidFill>
              <a:srgbClr val="242424"/>
            </a:solidFill>
            <a:prstDash val="solid"/>
          </a:ln>
        </p:spPr>
      </p:sp>
      <p:sp>
        <p:nvSpPr>
          <p:cNvPr id="21" name="Text 19"/>
          <p:cNvSpPr/>
          <p:nvPr/>
        </p:nvSpPr>
        <p:spPr>
          <a:xfrm>
            <a:off x="7723480" y="2807208"/>
            <a:ext cx="3892144" cy="566928"/>
          </a:xfrm>
          <a:prstGeom prst="rect">
            <a:avLst/>
          </a:prstGeom>
          <a:noFill/>
          <a:ln/>
        </p:spPr>
        <p:txBody>
          <a:bodyPr wrap="square" lIns="0" tIns="0" rIns="0" bIns="0" rtlCol="0" anchor="ctr"/>
          <a:lstStyle/>
          <a:p>
            <a:pPr algn="ctr" indent="0" marL="0">
              <a:buNone/>
            </a:pPr>
            <a:r>
              <a:rPr lang="en-US" sz="1100" dirty="0">
                <a:solidFill>
                  <a:srgbClr val="FFB000"/>
                </a:solidFill>
                <a:latin typeface="Courier New" pitchFamily="34" charset="0"/>
                <a:ea typeface="Courier New" pitchFamily="34" charset="-122"/>
                <a:cs typeface="Courier New" pitchFamily="34" charset="-120"/>
              </a:rPr>
              <a:t>Calidad → Disponib.</a:t>
            </a:r>
            <a:endParaRPr lang="en-US" sz="1100" dirty="0"/>
          </a:p>
        </p:txBody>
      </p:sp>
      <p:sp>
        <p:nvSpPr>
          <p:cNvPr id="22" name="Shape 20"/>
          <p:cNvSpPr/>
          <p:nvPr/>
        </p:nvSpPr>
        <p:spPr>
          <a:xfrm>
            <a:off x="502920" y="3374136"/>
            <a:ext cx="3108960" cy="566928"/>
          </a:xfrm>
          <a:prstGeom prst="rect">
            <a:avLst/>
          </a:prstGeom>
          <a:solidFill>
            <a:srgbClr val="151515"/>
          </a:solidFill>
          <a:ln w="12700">
            <a:solidFill>
              <a:srgbClr val="242424"/>
            </a:solidFill>
            <a:prstDash val="solid"/>
          </a:ln>
        </p:spPr>
      </p:sp>
      <p:sp>
        <p:nvSpPr>
          <p:cNvPr id="23" name="Text 21"/>
          <p:cNvSpPr/>
          <p:nvPr/>
        </p:nvSpPr>
        <p:spPr>
          <a:xfrm>
            <a:off x="576072" y="3374136"/>
            <a:ext cx="29626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Atasco de tapadora</a:t>
            </a:r>
            <a:endParaRPr lang="en-US" sz="1150" dirty="0"/>
          </a:p>
        </p:txBody>
      </p:sp>
      <p:sp>
        <p:nvSpPr>
          <p:cNvPr id="24" name="Shape 22"/>
          <p:cNvSpPr/>
          <p:nvPr/>
        </p:nvSpPr>
        <p:spPr>
          <a:xfrm>
            <a:off x="3611880" y="3374136"/>
            <a:ext cx="4038448" cy="566928"/>
          </a:xfrm>
          <a:prstGeom prst="rect">
            <a:avLst/>
          </a:prstGeom>
          <a:solidFill>
            <a:srgbClr val="151515"/>
          </a:solidFill>
          <a:ln w="12700">
            <a:solidFill>
              <a:srgbClr val="242424"/>
            </a:solidFill>
            <a:prstDash val="solid"/>
          </a:ln>
        </p:spPr>
      </p:sp>
      <p:sp>
        <p:nvSpPr>
          <p:cNvPr id="25" name="Text 23"/>
          <p:cNvSpPr/>
          <p:nvPr/>
        </p:nvSpPr>
        <p:spPr>
          <a:xfrm>
            <a:off x="3685032" y="3374136"/>
            <a:ext cx="3892144" cy="566928"/>
          </a:xfrm>
          <a:prstGeom prst="rect">
            <a:avLst/>
          </a:prstGeom>
          <a:noFill/>
          <a:ln/>
        </p:spPr>
        <p:txBody>
          <a:bodyPr wrap="square" lIns="0" tIns="0" rIns="0" bIns="0" rtlCol="0" anchor="ctr"/>
          <a:lstStyle/>
          <a:p>
            <a:pPr algn="ctr" indent="0" marL="0">
              <a:buNone/>
            </a:pPr>
            <a:r>
              <a:rPr lang="en-US" sz="1100" dirty="0">
                <a:solidFill>
                  <a:srgbClr val="FFB000"/>
                </a:solidFill>
                <a:latin typeface="Courier New" pitchFamily="34" charset="0"/>
                <a:ea typeface="Courier New" pitchFamily="34" charset="-122"/>
                <a:cs typeface="Courier New" pitchFamily="34" charset="-120"/>
              </a:rPr>
              <a:t>Micro-paradas Poisson</a:t>
            </a:r>
            <a:endParaRPr lang="en-US" sz="1100" dirty="0"/>
          </a:p>
        </p:txBody>
      </p:sp>
      <p:sp>
        <p:nvSpPr>
          <p:cNvPr id="26" name="Shape 24"/>
          <p:cNvSpPr/>
          <p:nvPr/>
        </p:nvSpPr>
        <p:spPr>
          <a:xfrm>
            <a:off x="7650328" y="3374136"/>
            <a:ext cx="4038448" cy="566928"/>
          </a:xfrm>
          <a:prstGeom prst="rect">
            <a:avLst/>
          </a:prstGeom>
          <a:solidFill>
            <a:srgbClr val="151515"/>
          </a:solidFill>
          <a:ln w="12700">
            <a:solidFill>
              <a:srgbClr val="242424"/>
            </a:solidFill>
            <a:prstDash val="solid"/>
          </a:ln>
        </p:spPr>
      </p:sp>
      <p:sp>
        <p:nvSpPr>
          <p:cNvPr id="27" name="Text 25"/>
          <p:cNvSpPr/>
          <p:nvPr/>
        </p:nvSpPr>
        <p:spPr>
          <a:xfrm>
            <a:off x="7723480" y="3374136"/>
            <a:ext cx="3892144" cy="566928"/>
          </a:xfrm>
          <a:prstGeom prst="rect">
            <a:avLst/>
          </a:prstGeom>
          <a:noFill/>
          <a:ln/>
        </p:spPr>
        <p:txBody>
          <a:bodyPr wrap="square" lIns="0" tIns="0" rIns="0" bIns="0" rtlCol="0" anchor="ctr"/>
          <a:lstStyle/>
          <a:p>
            <a:pPr algn="ctr" indent="0" marL="0">
              <a:buNone/>
            </a:pPr>
            <a:r>
              <a:rPr lang="en-US" sz="1100" dirty="0">
                <a:solidFill>
                  <a:srgbClr val="27E5E5"/>
                </a:solidFill>
                <a:latin typeface="Courier New" pitchFamily="34" charset="0"/>
                <a:ea typeface="Courier New" pitchFamily="34" charset="-122"/>
                <a:cs typeface="Courier New" pitchFamily="34" charset="-120"/>
              </a:rPr>
              <a:t>Disponibilidad</a:t>
            </a:r>
            <a:endParaRPr lang="en-US" sz="1100" dirty="0"/>
          </a:p>
        </p:txBody>
      </p:sp>
      <p:sp>
        <p:nvSpPr>
          <p:cNvPr id="28" name="Shape 26"/>
          <p:cNvSpPr/>
          <p:nvPr/>
        </p:nvSpPr>
        <p:spPr>
          <a:xfrm>
            <a:off x="502920" y="3941064"/>
            <a:ext cx="3108960" cy="566928"/>
          </a:xfrm>
          <a:prstGeom prst="rect">
            <a:avLst/>
          </a:prstGeom>
          <a:solidFill>
            <a:srgbClr val="0B0B0B"/>
          </a:solidFill>
          <a:ln w="12700">
            <a:solidFill>
              <a:srgbClr val="242424"/>
            </a:solidFill>
            <a:prstDash val="solid"/>
          </a:ln>
        </p:spPr>
      </p:sp>
      <p:sp>
        <p:nvSpPr>
          <p:cNvPr id="29" name="Text 27"/>
          <p:cNvSpPr/>
          <p:nvPr/>
        </p:nvSpPr>
        <p:spPr>
          <a:xfrm>
            <a:off x="576072" y="3941064"/>
            <a:ext cx="29626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Transmisor desviado</a:t>
            </a:r>
            <a:endParaRPr lang="en-US" sz="1150" dirty="0"/>
          </a:p>
        </p:txBody>
      </p:sp>
      <p:sp>
        <p:nvSpPr>
          <p:cNvPr id="30" name="Shape 28"/>
          <p:cNvSpPr/>
          <p:nvPr/>
        </p:nvSpPr>
        <p:spPr>
          <a:xfrm>
            <a:off x="3611880" y="3941064"/>
            <a:ext cx="4038448" cy="566928"/>
          </a:xfrm>
          <a:prstGeom prst="rect">
            <a:avLst/>
          </a:prstGeom>
          <a:solidFill>
            <a:srgbClr val="0B0B0B"/>
          </a:solidFill>
          <a:ln w="12700">
            <a:solidFill>
              <a:srgbClr val="242424"/>
            </a:solidFill>
            <a:prstDash val="solid"/>
          </a:ln>
        </p:spPr>
      </p:sp>
      <p:sp>
        <p:nvSpPr>
          <p:cNvPr id="31" name="Text 29"/>
          <p:cNvSpPr/>
          <p:nvPr/>
        </p:nvSpPr>
        <p:spPr>
          <a:xfrm>
            <a:off x="3685032" y="3941064"/>
            <a:ext cx="3892144" cy="566928"/>
          </a:xfrm>
          <a:prstGeom prst="rect">
            <a:avLst/>
          </a:prstGeom>
          <a:noFill/>
          <a:ln/>
        </p:spPr>
        <p:txBody>
          <a:bodyPr wrap="square" lIns="0" tIns="0" rIns="0" bIns="0" rtlCol="0" anchor="ctr"/>
          <a:lstStyle/>
          <a:p>
            <a:pPr algn="ctr" indent="0" marL="0">
              <a:buNone/>
            </a:pPr>
            <a:r>
              <a:rPr lang="en-US" sz="1100" dirty="0">
                <a:solidFill>
                  <a:srgbClr val="FF3B30"/>
                </a:solidFill>
                <a:latin typeface="Courier New" pitchFamily="34" charset="0"/>
                <a:ea typeface="Courier New" pitchFamily="34" charset="-122"/>
                <a:cs typeface="Courier New" pitchFamily="34" charset="-120"/>
              </a:rPr>
              <a:t>+0.35 m en el sensor</a:t>
            </a:r>
            <a:endParaRPr lang="en-US" sz="1100" dirty="0"/>
          </a:p>
        </p:txBody>
      </p:sp>
      <p:sp>
        <p:nvSpPr>
          <p:cNvPr id="32" name="Shape 30"/>
          <p:cNvSpPr/>
          <p:nvPr/>
        </p:nvSpPr>
        <p:spPr>
          <a:xfrm>
            <a:off x="7650328" y="3941064"/>
            <a:ext cx="4038448" cy="566928"/>
          </a:xfrm>
          <a:prstGeom prst="rect">
            <a:avLst/>
          </a:prstGeom>
          <a:solidFill>
            <a:srgbClr val="0B0B0B"/>
          </a:solidFill>
          <a:ln w="12700">
            <a:solidFill>
              <a:srgbClr val="242424"/>
            </a:solidFill>
            <a:prstDash val="solid"/>
          </a:ln>
        </p:spPr>
      </p:sp>
      <p:sp>
        <p:nvSpPr>
          <p:cNvPr id="33" name="Text 31"/>
          <p:cNvSpPr/>
          <p:nvPr/>
        </p:nvSpPr>
        <p:spPr>
          <a:xfrm>
            <a:off x="7723480" y="3941064"/>
            <a:ext cx="3892144" cy="566928"/>
          </a:xfrm>
          <a:prstGeom prst="rect">
            <a:avLst/>
          </a:prstGeom>
          <a:noFill/>
          <a:ln/>
        </p:spPr>
        <p:txBody>
          <a:bodyPr wrap="square" lIns="0" tIns="0" rIns="0" bIns="0" rtlCol="0" anchor="ctr"/>
          <a:lstStyle/>
          <a:p>
            <a:pPr algn="ctr" indent="0" marL="0">
              <a:buNone/>
            </a:pPr>
            <a:r>
              <a:rPr lang="en-US" sz="1100" dirty="0">
                <a:solidFill>
                  <a:srgbClr val="FF3B30"/>
                </a:solidFill>
                <a:latin typeface="Courier New" pitchFamily="34" charset="0"/>
                <a:ea typeface="Courier New" pitchFamily="34" charset="-122"/>
                <a:cs typeface="Courier New" pitchFamily="34" charset="-120"/>
              </a:rPr>
              <a:t>Ninguna, al principio</a:t>
            </a:r>
            <a:endParaRPr lang="en-US" sz="1100" dirty="0"/>
          </a:p>
        </p:txBody>
      </p:sp>
      <p:sp>
        <p:nvSpPr>
          <p:cNvPr id="34" name="Shape 32"/>
          <p:cNvSpPr/>
          <p:nvPr/>
        </p:nvSpPr>
        <p:spPr>
          <a:xfrm>
            <a:off x="502920" y="4507992"/>
            <a:ext cx="3108960" cy="566928"/>
          </a:xfrm>
          <a:prstGeom prst="rect">
            <a:avLst/>
          </a:prstGeom>
          <a:solidFill>
            <a:srgbClr val="151515"/>
          </a:solidFill>
          <a:ln w="12700">
            <a:solidFill>
              <a:srgbClr val="242424"/>
            </a:solidFill>
            <a:prstDash val="solid"/>
          </a:ln>
        </p:spPr>
      </p:sp>
      <p:sp>
        <p:nvSpPr>
          <p:cNvPr id="35" name="Text 33"/>
          <p:cNvSpPr/>
          <p:nvPr/>
        </p:nvSpPr>
        <p:spPr>
          <a:xfrm>
            <a:off x="576072" y="4507992"/>
            <a:ext cx="29626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Sin falla</a:t>
            </a:r>
            <a:endParaRPr lang="en-US" sz="1150" dirty="0"/>
          </a:p>
        </p:txBody>
      </p:sp>
      <p:sp>
        <p:nvSpPr>
          <p:cNvPr id="36" name="Shape 34"/>
          <p:cNvSpPr/>
          <p:nvPr/>
        </p:nvSpPr>
        <p:spPr>
          <a:xfrm>
            <a:off x="3611880" y="4507992"/>
            <a:ext cx="4038448" cy="566928"/>
          </a:xfrm>
          <a:prstGeom prst="rect">
            <a:avLst/>
          </a:prstGeom>
          <a:solidFill>
            <a:srgbClr val="151515"/>
          </a:solidFill>
          <a:ln w="12700">
            <a:solidFill>
              <a:srgbClr val="242424"/>
            </a:solidFill>
            <a:prstDash val="solid"/>
          </a:ln>
        </p:spPr>
      </p:sp>
      <p:sp>
        <p:nvSpPr>
          <p:cNvPr id="37" name="Text 35"/>
          <p:cNvSpPr/>
          <p:nvPr/>
        </p:nvSpPr>
        <p:spPr>
          <a:xfrm>
            <a:off x="3685032" y="4507992"/>
            <a:ext cx="389214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Operación nominal</a:t>
            </a:r>
            <a:endParaRPr lang="en-US" sz="1100" dirty="0"/>
          </a:p>
        </p:txBody>
      </p:sp>
      <p:sp>
        <p:nvSpPr>
          <p:cNvPr id="38" name="Shape 36"/>
          <p:cNvSpPr/>
          <p:nvPr/>
        </p:nvSpPr>
        <p:spPr>
          <a:xfrm>
            <a:off x="7650328" y="4507992"/>
            <a:ext cx="4038448" cy="566928"/>
          </a:xfrm>
          <a:prstGeom prst="rect">
            <a:avLst/>
          </a:prstGeom>
          <a:solidFill>
            <a:srgbClr val="151515"/>
          </a:solidFill>
          <a:ln w="12700">
            <a:solidFill>
              <a:srgbClr val="242424"/>
            </a:solidFill>
            <a:prstDash val="solid"/>
          </a:ln>
        </p:spPr>
      </p:sp>
      <p:sp>
        <p:nvSpPr>
          <p:cNvPr id="39" name="Text 37"/>
          <p:cNvSpPr/>
          <p:nvPr/>
        </p:nvSpPr>
        <p:spPr>
          <a:xfrm>
            <a:off x="7723480" y="4507992"/>
            <a:ext cx="389214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a:t>
            </a:r>
            <a:endParaRPr lang="en-US" sz="1100" dirty="0"/>
          </a:p>
        </p:txBody>
      </p:sp>
      <p:sp>
        <p:nvSpPr>
          <p:cNvPr id="40" name="Text 38"/>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41" name="Text 39"/>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42" name="Text 40"/>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18 / 49</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16  PROCESO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LA FALLA LATENTE — BOMBA DEGRADADA</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CASO INSTRUCTIVO</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CUANDO EL CONTROL ESCONDE EL PROBLEMA</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La bomba pierde capacidad poco a poco. Mientras siga por encima del consumo (~0.52 L/s), el lazo de nivel lo compensa solo y NO SE NOTA NADA: ni el nivel, ni el OEE, ni el operador. Cuando la capacidad cruza ese umbral, el lazo satura y el tanque empieza a vaciarse de golpe.</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LO QUE ENSEÑA</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Un lazo de control bien sintonizado enmascara deterioro</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POR QUÉ IMPORTA</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El síntoma aparece tarde y de golpe</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19 / 49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03</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CÓMO ESTÁ CONSTRUIDO</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Arquitectura, frontera y decisiones de diseño</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20 / 49</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20 / 49</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17  CÓMO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ARQUITECTURA EN CUATRO PIEZAS</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FLUJO DE DATOS</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PLANTA → TRANSPORTE → GEMELO → INTERFAZ</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El simulador (planta/) integra la física a 20 Hz y publica telemetría. El transporte (transporte/) la lleva, en memoria o por MQTT. El gemelo (gemelo/) la consume y mantiene su modelo. FastAPI sirve el estado al front por WebSocket cada 250 ms. Los tres bucles corren concurrentes en asyncio.</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SEPARABLES</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Planta y gemelo hablan SÓLO por el transporte</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CONECTA CON</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Frontera borde/nube (S09)</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21 / 49</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18  CÓMO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2700" dirty="0">
                <a:solidFill>
                  <a:srgbClr val="F4F4F4"/>
                </a:solidFill>
                <a:latin typeface="Arial Black" pitchFamily="34" charset="0"/>
                <a:ea typeface="Arial Black" pitchFamily="34" charset="-122"/>
                <a:cs typeface="Arial Black" pitchFamily="34" charset="-120"/>
              </a:rPr>
              <a:t>LA FRONTERA — LO MÁS IMPORTANTE DEL CÓDIGO</a:t>
            </a:r>
            <a:endParaRPr lang="en-US" sz="2700" dirty="0"/>
          </a:p>
        </p:txBody>
      </p:sp>
      <p:sp>
        <p:nvSpPr>
          <p:cNvPr id="4" name="Shape 2"/>
          <p:cNvSpPr/>
          <p:nvPr/>
        </p:nvSpPr>
        <p:spPr>
          <a:xfrm>
            <a:off x="502920" y="1783080"/>
            <a:ext cx="5364328" cy="4489704"/>
          </a:xfrm>
          <a:prstGeom prst="roundRect">
            <a:avLst>
              <a:gd name="adj" fmla="val 1018"/>
            </a:avLst>
          </a:prstGeom>
          <a:solidFill>
            <a:srgbClr val="151515"/>
          </a:solidFill>
          <a:ln w="12700">
            <a:solidFill>
              <a:srgbClr val="333333"/>
            </a:solidFill>
            <a:prstDash val="solid"/>
          </a:ln>
        </p:spPr>
      </p:sp>
      <p:sp>
        <p:nvSpPr>
          <p:cNvPr id="5" name="Text 3"/>
          <p:cNvSpPr/>
          <p:nvPr/>
        </p:nvSpPr>
        <p:spPr>
          <a:xfrm>
            <a:off x="704088" y="1947672"/>
            <a:ext cx="4961992" cy="411480"/>
          </a:xfrm>
          <a:prstGeom prst="rect">
            <a:avLst/>
          </a:prstGeom>
          <a:noFill/>
          <a:ln/>
        </p:spPr>
        <p:txBody>
          <a:bodyPr wrap="square" lIns="0" tIns="0" rIns="0" bIns="0" rtlCol="0" anchor="t"/>
          <a:lstStyle/>
          <a:p>
            <a:pPr indent="0" marL="0">
              <a:buNone/>
            </a:pPr>
            <a:r>
              <a:rPr lang="en-US" sz="1400" dirty="0">
                <a:solidFill>
                  <a:srgbClr val="C6FF00"/>
                </a:solidFill>
                <a:latin typeface="Arial Black" pitchFamily="34" charset="0"/>
                <a:ea typeface="Arial Black" pitchFamily="34" charset="-122"/>
                <a:cs typeface="Arial Black" pitchFamily="34" charset="-120"/>
              </a:rPr>
              <a:t>LO QUE EL GEMELO VE</a:t>
            </a:r>
            <a:endParaRPr lang="en-US" sz="1400" dirty="0"/>
          </a:p>
        </p:txBody>
      </p:sp>
      <p:sp>
        <p:nvSpPr>
          <p:cNvPr id="6" name="Text 4"/>
          <p:cNvSpPr/>
          <p:nvPr/>
        </p:nvSpPr>
        <p:spPr>
          <a:xfrm>
            <a:off x="704088" y="2441448"/>
            <a:ext cx="4961992" cy="3666744"/>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Nivel medido por el transmisor</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Caudal instantáneo</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Estación actual de la línea</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Contadores de botellas</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Volumen de la última botella</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Tiempos de turno y parada</a:t>
            </a:r>
            <a:endParaRPr lang="en-US" sz="1200" dirty="0"/>
          </a:p>
        </p:txBody>
      </p:sp>
      <p:sp>
        <p:nvSpPr>
          <p:cNvPr id="7" name="Shape 5"/>
          <p:cNvSpPr/>
          <p:nvPr/>
        </p:nvSpPr>
        <p:spPr>
          <a:xfrm>
            <a:off x="6324448" y="1783080"/>
            <a:ext cx="5364328" cy="4489704"/>
          </a:xfrm>
          <a:prstGeom prst="roundRect">
            <a:avLst>
              <a:gd name="adj" fmla="val 1018"/>
            </a:avLst>
          </a:prstGeom>
          <a:solidFill>
            <a:srgbClr val="151515"/>
          </a:solidFill>
          <a:ln w="12700">
            <a:solidFill>
              <a:srgbClr val="333333"/>
            </a:solidFill>
            <a:prstDash val="solid"/>
          </a:ln>
        </p:spPr>
      </p:sp>
      <p:sp>
        <p:nvSpPr>
          <p:cNvPr id="8" name="Text 6"/>
          <p:cNvSpPr/>
          <p:nvPr/>
        </p:nvSpPr>
        <p:spPr>
          <a:xfrm>
            <a:off x="6525616" y="1947672"/>
            <a:ext cx="4961992" cy="411480"/>
          </a:xfrm>
          <a:prstGeom prst="rect">
            <a:avLst/>
          </a:prstGeom>
          <a:noFill/>
          <a:ln/>
        </p:spPr>
        <p:txBody>
          <a:bodyPr wrap="square" lIns="0" tIns="0" rIns="0" bIns="0" rtlCol="0" anchor="t"/>
          <a:lstStyle/>
          <a:p>
            <a:pPr indent="0" marL="0">
              <a:buNone/>
            </a:pPr>
            <a:r>
              <a:rPr lang="en-US" sz="1400" dirty="0">
                <a:solidFill>
                  <a:srgbClr val="FF3B30"/>
                </a:solidFill>
                <a:latin typeface="Arial Black" pitchFamily="34" charset="0"/>
                <a:ea typeface="Arial Black" pitchFamily="34" charset="-122"/>
                <a:cs typeface="Arial Black" pitchFamily="34" charset="-120"/>
              </a:rPr>
              <a:t>LO QUE EL GEMELO NO VE</a:t>
            </a:r>
            <a:endParaRPr lang="en-US" sz="1400" dirty="0"/>
          </a:p>
        </p:txBody>
      </p:sp>
      <p:sp>
        <p:nvSpPr>
          <p:cNvPr id="9" name="Text 7"/>
          <p:cNvSpPr/>
          <p:nvPr/>
        </p:nvSpPr>
        <p:spPr>
          <a:xfrm>
            <a:off x="6525616" y="2441448"/>
            <a:ext cx="4961992" cy="3666744"/>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El Cv real de la válvula</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El nivel real del tanque</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La capacidad real de la bomba</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El sesgo del transmisor</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Qué falla está inyectada</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Nada del estado interno</a:t>
            </a:r>
            <a:endParaRPr lang="en-US" sz="1200" dirty="0"/>
          </a:p>
        </p:txBody>
      </p:sp>
      <p:sp>
        <p:nvSpPr>
          <p:cNvPr id="10" name="Text 8"/>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1" name="Text 9"/>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2" name="Text 10"/>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22 / 49</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19  CÓMO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DECISIONES DE DISEÑO EXPLICABLES</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Cada una es una conversación de clase, no un detalle técnico.</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300" dirty="0">
                <a:solidFill>
                  <a:srgbClr val="C6FF00"/>
                </a:solidFill>
                <a:latin typeface="Arial Black" pitchFamily="34" charset="0"/>
                <a:ea typeface="Arial Black" pitchFamily="34" charset="-122"/>
                <a:cs typeface="Arial Black" pitchFamily="34" charset="-120"/>
              </a:rPr>
              <a:t>SIN LIBRERÍA DE GRÁFICAS</a:t>
            </a:r>
            <a:endParaRPr lang="en-US" sz="13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Las gráficas son SVG a mano. Recharts añadiría 150 kB y un árbol de dependencias que auditar. Toda dependencia es una deuda.</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300" dirty="0">
                <a:solidFill>
                  <a:srgbClr val="27E5E5"/>
                </a:solidFill>
                <a:latin typeface="Arial Black" pitchFamily="34" charset="0"/>
                <a:ea typeface="Arial Black" pitchFamily="34" charset="-122"/>
                <a:cs typeface="Arial Black" pitchFamily="34" charset="-120"/>
              </a:rPr>
              <a:t>TRANSPORTE INTERCAMBIABLE</a:t>
            </a:r>
            <a:endParaRPr lang="en-US" sz="13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En memoria por defecto, MQTT con una bandera. Si el broker no levanta el día del lab, la clase sigue.</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SIN NUMPY</a:t>
            </a:r>
            <a:endParaRPr lang="en-US" sz="16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La física es Python estándar, legible entera sin conocer ninguna librería de terceros.</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300" dirty="0">
                <a:solidFill>
                  <a:srgbClr val="22E06B"/>
                </a:solidFill>
                <a:latin typeface="Arial Black" pitchFamily="34" charset="0"/>
                <a:ea typeface="Arial Black" pitchFamily="34" charset="-122"/>
                <a:cs typeface="Arial Black" pitchFamily="34" charset="-120"/>
              </a:rPr>
              <a:t>DIAGNÓSTICO POR REGLAS</a:t>
            </a:r>
            <a:endParaRPr lang="en-US" sz="13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Reglas explícitas derivadas de la física, no un clasificador entrenado. Se pueden leer, discutir y refutar.</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23 / 49</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20  CÓMO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MAPA DE ARCHIVOS</a:t>
            </a:r>
            <a:endParaRPr lang="en-US" sz="3300" dirty="0"/>
          </a:p>
        </p:txBody>
      </p:sp>
      <p:sp>
        <p:nvSpPr>
          <p:cNvPr id="4" name="Shape 2"/>
          <p:cNvSpPr/>
          <p:nvPr/>
        </p:nvSpPr>
        <p:spPr>
          <a:xfrm>
            <a:off x="502920" y="1783080"/>
            <a:ext cx="3108960" cy="457200"/>
          </a:xfrm>
          <a:prstGeom prst="rect">
            <a:avLst/>
          </a:prstGeom>
          <a:solidFill>
            <a:srgbClr val="1E1E1E"/>
          </a:solidFill>
          <a:ln w="12700">
            <a:solidFill>
              <a:srgbClr val="333333"/>
            </a:solidFill>
            <a:prstDash val="solid"/>
          </a:ln>
        </p:spPr>
      </p:sp>
      <p:sp>
        <p:nvSpPr>
          <p:cNvPr id="5" name="Text 3"/>
          <p:cNvSpPr/>
          <p:nvPr/>
        </p:nvSpPr>
        <p:spPr>
          <a:xfrm>
            <a:off x="576072" y="1783080"/>
            <a:ext cx="2962656" cy="457200"/>
          </a:xfrm>
          <a:prstGeom prst="rect">
            <a:avLst/>
          </a:prstGeom>
          <a:noFill/>
          <a:ln/>
        </p:spPr>
        <p:txBody>
          <a:bodyPr wrap="square" lIns="0" tIns="0" rIns="0" bIns="0" rtlCol="0" anchor="ctr"/>
          <a:lstStyle/>
          <a:p>
            <a:pPr algn="l" indent="0" marL="0">
              <a:buNone/>
            </a:pPr>
            <a:r>
              <a:rPr lang="en-US" sz="1050" b="1" dirty="0">
                <a:solidFill>
                  <a:srgbClr val="C6FF00"/>
                </a:solidFill>
                <a:latin typeface="Courier New" pitchFamily="34" charset="0"/>
                <a:ea typeface="Courier New" pitchFamily="34" charset="-122"/>
                <a:cs typeface="Courier New" pitchFamily="34" charset="-120"/>
              </a:rPr>
              <a:t>ARCHIVO</a:t>
            </a:r>
            <a:endParaRPr lang="en-US" sz="1050" dirty="0"/>
          </a:p>
        </p:txBody>
      </p:sp>
      <p:sp>
        <p:nvSpPr>
          <p:cNvPr id="6" name="Shape 4"/>
          <p:cNvSpPr/>
          <p:nvPr/>
        </p:nvSpPr>
        <p:spPr>
          <a:xfrm>
            <a:off x="3611880" y="1783080"/>
            <a:ext cx="4038448" cy="457200"/>
          </a:xfrm>
          <a:prstGeom prst="rect">
            <a:avLst/>
          </a:prstGeom>
          <a:solidFill>
            <a:srgbClr val="1E1E1E"/>
          </a:solidFill>
          <a:ln w="12700">
            <a:solidFill>
              <a:srgbClr val="333333"/>
            </a:solidFill>
            <a:prstDash val="solid"/>
          </a:ln>
        </p:spPr>
      </p:sp>
      <p:sp>
        <p:nvSpPr>
          <p:cNvPr id="7" name="Text 5"/>
          <p:cNvSpPr/>
          <p:nvPr/>
        </p:nvSpPr>
        <p:spPr>
          <a:xfrm>
            <a:off x="3685032" y="1783080"/>
            <a:ext cx="389214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PAPEL</a:t>
            </a:r>
            <a:endParaRPr lang="en-US" sz="1050" dirty="0"/>
          </a:p>
        </p:txBody>
      </p:sp>
      <p:sp>
        <p:nvSpPr>
          <p:cNvPr id="8" name="Shape 6"/>
          <p:cNvSpPr/>
          <p:nvPr/>
        </p:nvSpPr>
        <p:spPr>
          <a:xfrm>
            <a:off x="7650328" y="1783080"/>
            <a:ext cx="4038448" cy="457200"/>
          </a:xfrm>
          <a:prstGeom prst="rect">
            <a:avLst/>
          </a:prstGeom>
          <a:solidFill>
            <a:srgbClr val="1E1E1E"/>
          </a:solidFill>
          <a:ln w="12700">
            <a:solidFill>
              <a:srgbClr val="333333"/>
            </a:solidFill>
            <a:prstDash val="solid"/>
          </a:ln>
        </p:spPr>
      </p:sp>
      <p:sp>
        <p:nvSpPr>
          <p:cNvPr id="9" name="Text 7"/>
          <p:cNvSpPr/>
          <p:nvPr/>
        </p:nvSpPr>
        <p:spPr>
          <a:xfrm>
            <a:off x="7723480" y="1783080"/>
            <a:ext cx="389214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QUÉ MIRAR</a:t>
            </a:r>
            <a:endParaRPr lang="en-US" sz="1050" dirty="0"/>
          </a:p>
        </p:txBody>
      </p:sp>
      <p:sp>
        <p:nvSpPr>
          <p:cNvPr id="10" name="Shape 8"/>
          <p:cNvSpPr/>
          <p:nvPr/>
        </p:nvSpPr>
        <p:spPr>
          <a:xfrm>
            <a:off x="502920" y="2240280"/>
            <a:ext cx="3108960" cy="566928"/>
          </a:xfrm>
          <a:prstGeom prst="rect">
            <a:avLst/>
          </a:prstGeom>
          <a:solidFill>
            <a:srgbClr val="151515"/>
          </a:solidFill>
          <a:ln w="12700">
            <a:solidFill>
              <a:srgbClr val="242424"/>
            </a:solidFill>
            <a:prstDash val="solid"/>
          </a:ln>
        </p:spPr>
      </p:sp>
      <p:sp>
        <p:nvSpPr>
          <p:cNvPr id="11" name="Text 9"/>
          <p:cNvSpPr/>
          <p:nvPr/>
        </p:nvSpPr>
        <p:spPr>
          <a:xfrm>
            <a:off x="576072" y="2240280"/>
            <a:ext cx="29626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planta/proceso.py</a:t>
            </a:r>
            <a:endParaRPr lang="en-US" sz="1150" dirty="0"/>
          </a:p>
        </p:txBody>
      </p:sp>
      <p:sp>
        <p:nvSpPr>
          <p:cNvPr id="12" name="Shape 10"/>
          <p:cNvSpPr/>
          <p:nvPr/>
        </p:nvSpPr>
        <p:spPr>
          <a:xfrm>
            <a:off x="3611880" y="2240280"/>
            <a:ext cx="4038448" cy="566928"/>
          </a:xfrm>
          <a:prstGeom prst="rect">
            <a:avLst/>
          </a:prstGeom>
          <a:solidFill>
            <a:srgbClr val="151515"/>
          </a:solidFill>
          <a:ln w="12700">
            <a:solidFill>
              <a:srgbClr val="242424"/>
            </a:solidFill>
            <a:prstDash val="solid"/>
          </a:ln>
        </p:spPr>
      </p:sp>
      <p:sp>
        <p:nvSpPr>
          <p:cNvPr id="13" name="Text 11"/>
          <p:cNvSpPr/>
          <p:nvPr/>
        </p:nvSpPr>
        <p:spPr>
          <a:xfrm>
            <a:off x="3685032" y="2240280"/>
            <a:ext cx="3892144" cy="566928"/>
          </a:xfrm>
          <a:prstGeom prst="rect">
            <a:avLst/>
          </a:prstGeom>
          <a:noFill/>
          <a:ln/>
        </p:spPr>
        <p:txBody>
          <a:bodyPr wrap="square" lIns="0" tIns="0" rIns="0" bIns="0" rtlCol="0" anchor="ctr"/>
          <a:lstStyle/>
          <a:p>
            <a:pPr algn="ctr" indent="0" marL="0">
              <a:buNone/>
            </a:pPr>
            <a:r>
              <a:rPr lang="en-US" sz="1100" dirty="0">
                <a:solidFill>
                  <a:srgbClr val="FF3B30"/>
                </a:solidFill>
                <a:latin typeface="Courier New" pitchFamily="34" charset="0"/>
                <a:ea typeface="Courier New" pitchFamily="34" charset="-122"/>
                <a:cs typeface="Courier New" pitchFamily="34" charset="-120"/>
              </a:rPr>
              <a:t>El activo físico</a:t>
            </a:r>
            <a:endParaRPr lang="en-US" sz="1100" dirty="0"/>
          </a:p>
        </p:txBody>
      </p:sp>
      <p:sp>
        <p:nvSpPr>
          <p:cNvPr id="14" name="Shape 12"/>
          <p:cNvSpPr/>
          <p:nvPr/>
        </p:nvSpPr>
        <p:spPr>
          <a:xfrm>
            <a:off x="7650328" y="2240280"/>
            <a:ext cx="4038448" cy="566928"/>
          </a:xfrm>
          <a:prstGeom prst="rect">
            <a:avLst/>
          </a:prstGeom>
          <a:solidFill>
            <a:srgbClr val="151515"/>
          </a:solidFill>
          <a:ln w="12700">
            <a:solidFill>
              <a:srgbClr val="242424"/>
            </a:solidFill>
            <a:prstDash val="solid"/>
          </a:ln>
        </p:spPr>
      </p:sp>
      <p:sp>
        <p:nvSpPr>
          <p:cNvPr id="15" name="Text 13"/>
          <p:cNvSpPr/>
          <p:nvPr/>
        </p:nvSpPr>
        <p:spPr>
          <a:xfrm>
            <a:off x="7723480" y="2240280"/>
            <a:ext cx="389214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telemetria() y verdad_oculta()</a:t>
            </a:r>
            <a:endParaRPr lang="en-US" sz="1100" dirty="0"/>
          </a:p>
        </p:txBody>
      </p:sp>
      <p:sp>
        <p:nvSpPr>
          <p:cNvPr id="16" name="Shape 14"/>
          <p:cNvSpPr/>
          <p:nvPr/>
        </p:nvSpPr>
        <p:spPr>
          <a:xfrm>
            <a:off x="502920" y="2807208"/>
            <a:ext cx="3108960" cy="566928"/>
          </a:xfrm>
          <a:prstGeom prst="rect">
            <a:avLst/>
          </a:prstGeom>
          <a:solidFill>
            <a:srgbClr val="0B0B0B"/>
          </a:solidFill>
          <a:ln w="12700">
            <a:solidFill>
              <a:srgbClr val="242424"/>
            </a:solidFill>
            <a:prstDash val="solid"/>
          </a:ln>
        </p:spPr>
      </p:sp>
      <p:sp>
        <p:nvSpPr>
          <p:cNvPr id="17" name="Text 15"/>
          <p:cNvSpPr/>
          <p:nvPr/>
        </p:nvSpPr>
        <p:spPr>
          <a:xfrm>
            <a:off x="576072" y="2807208"/>
            <a:ext cx="29626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gemelo/modelo.py</a:t>
            </a:r>
            <a:endParaRPr lang="en-US" sz="1150" dirty="0"/>
          </a:p>
        </p:txBody>
      </p:sp>
      <p:sp>
        <p:nvSpPr>
          <p:cNvPr id="18" name="Shape 16"/>
          <p:cNvSpPr/>
          <p:nvPr/>
        </p:nvSpPr>
        <p:spPr>
          <a:xfrm>
            <a:off x="3611880" y="2807208"/>
            <a:ext cx="4038448" cy="566928"/>
          </a:xfrm>
          <a:prstGeom prst="rect">
            <a:avLst/>
          </a:prstGeom>
          <a:solidFill>
            <a:srgbClr val="0B0B0B"/>
          </a:solidFill>
          <a:ln w="12700">
            <a:solidFill>
              <a:srgbClr val="242424"/>
            </a:solidFill>
            <a:prstDash val="solid"/>
          </a:ln>
        </p:spPr>
      </p:sp>
      <p:sp>
        <p:nvSpPr>
          <p:cNvPr id="19" name="Text 17"/>
          <p:cNvSpPr/>
          <p:nvPr/>
        </p:nvSpPr>
        <p:spPr>
          <a:xfrm>
            <a:off x="3685032" y="2807208"/>
            <a:ext cx="3892144"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Física de placa</a:t>
            </a:r>
            <a:endParaRPr lang="en-US" sz="1100" dirty="0"/>
          </a:p>
        </p:txBody>
      </p:sp>
      <p:sp>
        <p:nvSpPr>
          <p:cNvPr id="20" name="Shape 18"/>
          <p:cNvSpPr/>
          <p:nvPr/>
        </p:nvSpPr>
        <p:spPr>
          <a:xfrm>
            <a:off x="7650328" y="2807208"/>
            <a:ext cx="4038448" cy="566928"/>
          </a:xfrm>
          <a:prstGeom prst="rect">
            <a:avLst/>
          </a:prstGeom>
          <a:solidFill>
            <a:srgbClr val="0B0B0B"/>
          </a:solidFill>
          <a:ln w="12700">
            <a:solidFill>
              <a:srgbClr val="242424"/>
            </a:solidFill>
            <a:prstDash val="solid"/>
          </a:ln>
        </p:spPr>
      </p:sp>
      <p:sp>
        <p:nvSpPr>
          <p:cNvPr id="21" name="Text 19"/>
          <p:cNvSpPr/>
          <p:nvPr/>
        </p:nvSpPr>
        <p:spPr>
          <a:xfrm>
            <a:off x="7723480" y="2807208"/>
            <a:ext cx="389214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cv_implicito(): problema inverso</a:t>
            </a:r>
            <a:endParaRPr lang="en-US" sz="1100" dirty="0"/>
          </a:p>
        </p:txBody>
      </p:sp>
      <p:sp>
        <p:nvSpPr>
          <p:cNvPr id="22" name="Shape 20"/>
          <p:cNvSpPr/>
          <p:nvPr/>
        </p:nvSpPr>
        <p:spPr>
          <a:xfrm>
            <a:off x="502920" y="3374136"/>
            <a:ext cx="3108960" cy="566928"/>
          </a:xfrm>
          <a:prstGeom prst="rect">
            <a:avLst/>
          </a:prstGeom>
          <a:solidFill>
            <a:srgbClr val="151515"/>
          </a:solidFill>
          <a:ln w="12700">
            <a:solidFill>
              <a:srgbClr val="242424"/>
            </a:solidFill>
            <a:prstDash val="solid"/>
          </a:ln>
        </p:spPr>
      </p:sp>
      <p:sp>
        <p:nvSpPr>
          <p:cNvPr id="23" name="Text 21"/>
          <p:cNvSpPr/>
          <p:nvPr/>
        </p:nvSpPr>
        <p:spPr>
          <a:xfrm>
            <a:off x="576072" y="3374136"/>
            <a:ext cx="29626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gemelo/residual.py</a:t>
            </a:r>
            <a:endParaRPr lang="en-US" sz="1150" dirty="0"/>
          </a:p>
        </p:txBody>
      </p:sp>
      <p:sp>
        <p:nvSpPr>
          <p:cNvPr id="24" name="Shape 22"/>
          <p:cNvSpPr/>
          <p:nvPr/>
        </p:nvSpPr>
        <p:spPr>
          <a:xfrm>
            <a:off x="3611880" y="3374136"/>
            <a:ext cx="4038448" cy="566928"/>
          </a:xfrm>
          <a:prstGeom prst="rect">
            <a:avLst/>
          </a:prstGeom>
          <a:solidFill>
            <a:srgbClr val="151515"/>
          </a:solidFill>
          <a:ln w="12700">
            <a:solidFill>
              <a:srgbClr val="242424"/>
            </a:solidFill>
            <a:prstDash val="solid"/>
          </a:ln>
        </p:spPr>
      </p:sp>
      <p:sp>
        <p:nvSpPr>
          <p:cNvPr id="25" name="Text 23"/>
          <p:cNvSpPr/>
          <p:nvPr/>
        </p:nvSpPr>
        <p:spPr>
          <a:xfrm>
            <a:off x="3685032" y="3374136"/>
            <a:ext cx="3892144" cy="566928"/>
          </a:xfrm>
          <a:prstGeom prst="rect">
            <a:avLst/>
          </a:prstGeom>
          <a:noFill/>
          <a:ln/>
        </p:spPr>
        <p:txBody>
          <a:bodyPr wrap="square" lIns="0" tIns="0" rIns="0" bIns="0" rtlCol="0" anchor="ctr"/>
          <a:lstStyle/>
          <a:p>
            <a:pPr algn="ctr" indent="0" marL="0">
              <a:buNone/>
            </a:pPr>
            <a:r>
              <a:rPr lang="en-US" sz="1100" dirty="0">
                <a:solidFill>
                  <a:srgbClr val="27E5E5"/>
                </a:solidFill>
                <a:latin typeface="Courier New" pitchFamily="34" charset="0"/>
                <a:ea typeface="Courier New" pitchFamily="34" charset="-122"/>
                <a:cs typeface="Courier New" pitchFamily="34" charset="-120"/>
              </a:rPr>
              <a:t>El corazón</a:t>
            </a:r>
            <a:endParaRPr lang="en-US" sz="1100" dirty="0"/>
          </a:p>
        </p:txBody>
      </p:sp>
      <p:sp>
        <p:nvSpPr>
          <p:cNvPr id="26" name="Shape 24"/>
          <p:cNvSpPr/>
          <p:nvPr/>
        </p:nvSpPr>
        <p:spPr>
          <a:xfrm>
            <a:off x="7650328" y="3374136"/>
            <a:ext cx="4038448" cy="566928"/>
          </a:xfrm>
          <a:prstGeom prst="rect">
            <a:avLst/>
          </a:prstGeom>
          <a:solidFill>
            <a:srgbClr val="151515"/>
          </a:solidFill>
          <a:ln w="12700">
            <a:solidFill>
              <a:srgbClr val="242424"/>
            </a:solidFill>
            <a:prstDash val="solid"/>
          </a:ln>
        </p:spPr>
      </p:sp>
      <p:sp>
        <p:nvSpPr>
          <p:cNvPr id="27" name="Text 25"/>
          <p:cNvSpPr/>
          <p:nvPr/>
        </p:nvSpPr>
        <p:spPr>
          <a:xfrm>
            <a:off x="7723480" y="3374136"/>
            <a:ext cx="389214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La tabla de firmas de falla</a:t>
            </a:r>
            <a:endParaRPr lang="en-US" sz="1100" dirty="0"/>
          </a:p>
        </p:txBody>
      </p:sp>
      <p:sp>
        <p:nvSpPr>
          <p:cNvPr id="28" name="Shape 26"/>
          <p:cNvSpPr/>
          <p:nvPr/>
        </p:nvSpPr>
        <p:spPr>
          <a:xfrm>
            <a:off x="502920" y="3941064"/>
            <a:ext cx="3108960" cy="566928"/>
          </a:xfrm>
          <a:prstGeom prst="rect">
            <a:avLst/>
          </a:prstGeom>
          <a:solidFill>
            <a:srgbClr val="0B0B0B"/>
          </a:solidFill>
          <a:ln w="12700">
            <a:solidFill>
              <a:srgbClr val="242424"/>
            </a:solidFill>
            <a:prstDash val="solid"/>
          </a:ln>
        </p:spPr>
      </p:sp>
      <p:sp>
        <p:nvSpPr>
          <p:cNvPr id="29" name="Text 27"/>
          <p:cNvSpPr/>
          <p:nvPr/>
        </p:nvSpPr>
        <p:spPr>
          <a:xfrm>
            <a:off x="576072" y="3941064"/>
            <a:ext cx="29626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gemelo/whatif.py</a:t>
            </a:r>
            <a:endParaRPr lang="en-US" sz="1150" dirty="0"/>
          </a:p>
        </p:txBody>
      </p:sp>
      <p:sp>
        <p:nvSpPr>
          <p:cNvPr id="30" name="Shape 28"/>
          <p:cNvSpPr/>
          <p:nvPr/>
        </p:nvSpPr>
        <p:spPr>
          <a:xfrm>
            <a:off x="3611880" y="3941064"/>
            <a:ext cx="4038448" cy="566928"/>
          </a:xfrm>
          <a:prstGeom prst="rect">
            <a:avLst/>
          </a:prstGeom>
          <a:solidFill>
            <a:srgbClr val="0B0B0B"/>
          </a:solidFill>
          <a:ln w="12700">
            <a:solidFill>
              <a:srgbClr val="242424"/>
            </a:solidFill>
            <a:prstDash val="solid"/>
          </a:ln>
        </p:spPr>
      </p:sp>
      <p:sp>
        <p:nvSpPr>
          <p:cNvPr id="31" name="Text 29"/>
          <p:cNvSpPr/>
          <p:nvPr/>
        </p:nvSpPr>
        <p:spPr>
          <a:xfrm>
            <a:off x="3685032" y="3941064"/>
            <a:ext cx="3892144" cy="566928"/>
          </a:xfrm>
          <a:prstGeom prst="rect">
            <a:avLst/>
          </a:prstGeom>
          <a:noFill/>
          <a:ln/>
        </p:spPr>
        <p:txBody>
          <a:bodyPr wrap="square" lIns="0" tIns="0" rIns="0" bIns="0" rtlCol="0" anchor="ctr"/>
          <a:lstStyle/>
          <a:p>
            <a:pPr algn="ctr" indent="0" marL="0">
              <a:buNone/>
            </a:pPr>
            <a:r>
              <a:rPr lang="en-US" sz="1100" dirty="0">
                <a:solidFill>
                  <a:srgbClr val="FFB000"/>
                </a:solidFill>
                <a:latin typeface="Courier New" pitchFamily="34" charset="0"/>
                <a:ea typeface="Courier New" pitchFamily="34" charset="-122"/>
                <a:cs typeface="Courier New" pitchFamily="34" charset="-120"/>
              </a:rPr>
              <a:t>Simular futuros</a:t>
            </a:r>
            <a:endParaRPr lang="en-US" sz="1100" dirty="0"/>
          </a:p>
        </p:txBody>
      </p:sp>
      <p:sp>
        <p:nvSpPr>
          <p:cNvPr id="32" name="Shape 30"/>
          <p:cNvSpPr/>
          <p:nvPr/>
        </p:nvSpPr>
        <p:spPr>
          <a:xfrm>
            <a:off x="7650328" y="3941064"/>
            <a:ext cx="4038448" cy="566928"/>
          </a:xfrm>
          <a:prstGeom prst="rect">
            <a:avLst/>
          </a:prstGeom>
          <a:solidFill>
            <a:srgbClr val="0B0B0B"/>
          </a:solidFill>
          <a:ln w="12700">
            <a:solidFill>
              <a:srgbClr val="242424"/>
            </a:solidFill>
            <a:prstDash val="solid"/>
          </a:ln>
        </p:spPr>
      </p:sp>
      <p:sp>
        <p:nvSpPr>
          <p:cNvPr id="33" name="Text 31"/>
          <p:cNvSpPr/>
          <p:nvPr/>
        </p:nvSpPr>
        <p:spPr>
          <a:xfrm>
            <a:off x="7723480" y="3941064"/>
            <a:ext cx="389214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Devuelve la curva, no el óptimo</a:t>
            </a:r>
            <a:endParaRPr lang="en-US" sz="1100" dirty="0"/>
          </a:p>
        </p:txBody>
      </p:sp>
      <p:sp>
        <p:nvSpPr>
          <p:cNvPr id="34" name="Shape 32"/>
          <p:cNvSpPr/>
          <p:nvPr/>
        </p:nvSpPr>
        <p:spPr>
          <a:xfrm>
            <a:off x="502920" y="4507992"/>
            <a:ext cx="3108960" cy="566928"/>
          </a:xfrm>
          <a:prstGeom prst="rect">
            <a:avLst/>
          </a:prstGeom>
          <a:solidFill>
            <a:srgbClr val="151515"/>
          </a:solidFill>
          <a:ln w="12700">
            <a:solidFill>
              <a:srgbClr val="242424"/>
            </a:solidFill>
            <a:prstDash val="solid"/>
          </a:ln>
        </p:spPr>
      </p:sp>
      <p:sp>
        <p:nvSpPr>
          <p:cNvPr id="35" name="Text 33"/>
          <p:cNvSpPr/>
          <p:nvPr/>
        </p:nvSpPr>
        <p:spPr>
          <a:xfrm>
            <a:off x="576072" y="4507992"/>
            <a:ext cx="29626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gemelo/gobierno.py</a:t>
            </a:r>
            <a:endParaRPr lang="en-US" sz="1150" dirty="0"/>
          </a:p>
        </p:txBody>
      </p:sp>
      <p:sp>
        <p:nvSpPr>
          <p:cNvPr id="36" name="Shape 34"/>
          <p:cNvSpPr/>
          <p:nvPr/>
        </p:nvSpPr>
        <p:spPr>
          <a:xfrm>
            <a:off x="3611880" y="4507992"/>
            <a:ext cx="4038448" cy="566928"/>
          </a:xfrm>
          <a:prstGeom prst="rect">
            <a:avLst/>
          </a:prstGeom>
          <a:solidFill>
            <a:srgbClr val="151515"/>
          </a:solidFill>
          <a:ln w="12700">
            <a:solidFill>
              <a:srgbClr val="242424"/>
            </a:solidFill>
            <a:prstDash val="solid"/>
          </a:ln>
        </p:spPr>
      </p:sp>
      <p:sp>
        <p:nvSpPr>
          <p:cNvPr id="37" name="Text 35"/>
          <p:cNvSpPr/>
          <p:nvPr/>
        </p:nvSpPr>
        <p:spPr>
          <a:xfrm>
            <a:off x="3685032" y="4507992"/>
            <a:ext cx="3892144" cy="566928"/>
          </a:xfrm>
          <a:prstGeom prst="rect">
            <a:avLst/>
          </a:prstGeom>
          <a:noFill/>
          <a:ln/>
        </p:spPr>
        <p:txBody>
          <a:bodyPr wrap="square" lIns="0" tIns="0" rIns="0" bIns="0" rtlCol="0" anchor="ctr"/>
          <a:lstStyle/>
          <a:p>
            <a:pPr algn="ctr" indent="0" marL="0">
              <a:buNone/>
            </a:pPr>
            <a:r>
              <a:rPr lang="en-US" sz="1100" dirty="0">
                <a:solidFill>
                  <a:srgbClr val="9D6BFF"/>
                </a:solidFill>
                <a:latin typeface="Courier New" pitchFamily="34" charset="0"/>
                <a:ea typeface="Courier New" pitchFamily="34" charset="-122"/>
                <a:cs typeface="Courier New" pitchFamily="34" charset="-120"/>
              </a:rPr>
              <a:t>EDM en código</a:t>
            </a:r>
            <a:endParaRPr lang="en-US" sz="1100" dirty="0"/>
          </a:p>
        </p:txBody>
      </p:sp>
      <p:sp>
        <p:nvSpPr>
          <p:cNvPr id="38" name="Shape 36"/>
          <p:cNvSpPr/>
          <p:nvPr/>
        </p:nvSpPr>
        <p:spPr>
          <a:xfrm>
            <a:off x="7650328" y="4507992"/>
            <a:ext cx="4038448" cy="566928"/>
          </a:xfrm>
          <a:prstGeom prst="rect">
            <a:avLst/>
          </a:prstGeom>
          <a:solidFill>
            <a:srgbClr val="151515"/>
          </a:solidFill>
          <a:ln w="12700">
            <a:solidFill>
              <a:srgbClr val="242424"/>
            </a:solidFill>
            <a:prstDash val="solid"/>
          </a:ln>
        </p:spPr>
      </p:sp>
      <p:sp>
        <p:nvSpPr>
          <p:cNvPr id="39" name="Text 37"/>
          <p:cNvSpPr/>
          <p:nvPr/>
        </p:nvSpPr>
        <p:spPr>
          <a:xfrm>
            <a:off x="7723480" y="4507992"/>
            <a:ext cx="389214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Matriz de derechos y bitácora</a:t>
            </a:r>
            <a:endParaRPr lang="en-US" sz="1100" dirty="0"/>
          </a:p>
        </p:txBody>
      </p:sp>
      <p:sp>
        <p:nvSpPr>
          <p:cNvPr id="40" name="Shape 38"/>
          <p:cNvSpPr/>
          <p:nvPr/>
        </p:nvSpPr>
        <p:spPr>
          <a:xfrm>
            <a:off x="502920" y="5074920"/>
            <a:ext cx="3108960" cy="566928"/>
          </a:xfrm>
          <a:prstGeom prst="rect">
            <a:avLst/>
          </a:prstGeom>
          <a:solidFill>
            <a:srgbClr val="0B0B0B"/>
          </a:solidFill>
          <a:ln w="12700">
            <a:solidFill>
              <a:srgbClr val="242424"/>
            </a:solidFill>
            <a:prstDash val="solid"/>
          </a:ln>
        </p:spPr>
      </p:sp>
      <p:sp>
        <p:nvSpPr>
          <p:cNvPr id="41" name="Text 39"/>
          <p:cNvSpPr/>
          <p:nvPr/>
        </p:nvSpPr>
        <p:spPr>
          <a:xfrm>
            <a:off x="576072" y="5074920"/>
            <a:ext cx="29626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main.py</a:t>
            </a:r>
            <a:endParaRPr lang="en-US" sz="1150" dirty="0"/>
          </a:p>
        </p:txBody>
      </p:sp>
      <p:sp>
        <p:nvSpPr>
          <p:cNvPr id="42" name="Shape 40"/>
          <p:cNvSpPr/>
          <p:nvPr/>
        </p:nvSpPr>
        <p:spPr>
          <a:xfrm>
            <a:off x="3611880" y="5074920"/>
            <a:ext cx="4038448" cy="566928"/>
          </a:xfrm>
          <a:prstGeom prst="rect">
            <a:avLst/>
          </a:prstGeom>
          <a:solidFill>
            <a:srgbClr val="0B0B0B"/>
          </a:solidFill>
          <a:ln w="12700">
            <a:solidFill>
              <a:srgbClr val="242424"/>
            </a:solidFill>
            <a:prstDash val="solid"/>
          </a:ln>
        </p:spPr>
      </p:sp>
      <p:sp>
        <p:nvSpPr>
          <p:cNvPr id="43" name="Text 41"/>
          <p:cNvSpPr/>
          <p:nvPr/>
        </p:nvSpPr>
        <p:spPr>
          <a:xfrm>
            <a:off x="3685032" y="5074920"/>
            <a:ext cx="3892144" cy="566928"/>
          </a:xfrm>
          <a:prstGeom prst="rect">
            <a:avLst/>
          </a:prstGeom>
          <a:noFill/>
          <a:ln/>
        </p:spPr>
        <p:txBody>
          <a:bodyPr wrap="square" lIns="0" tIns="0" rIns="0" bIns="0" rtlCol="0" anchor="ctr"/>
          <a:lstStyle/>
          <a:p>
            <a:pPr algn="ctr" indent="0" marL="0">
              <a:buNone/>
            </a:pPr>
            <a:r>
              <a:rPr lang="en-US" sz="1100" dirty="0">
                <a:solidFill>
                  <a:srgbClr val="22E06B"/>
                </a:solidFill>
                <a:latin typeface="Courier New" pitchFamily="34" charset="0"/>
                <a:ea typeface="Courier New" pitchFamily="34" charset="-122"/>
                <a:cs typeface="Courier New" pitchFamily="34" charset="-120"/>
              </a:rPr>
              <a:t>Los tres bucles</a:t>
            </a:r>
            <a:endParaRPr lang="en-US" sz="1100" dirty="0"/>
          </a:p>
        </p:txBody>
      </p:sp>
      <p:sp>
        <p:nvSpPr>
          <p:cNvPr id="44" name="Shape 42"/>
          <p:cNvSpPr/>
          <p:nvPr/>
        </p:nvSpPr>
        <p:spPr>
          <a:xfrm>
            <a:off x="7650328" y="5074920"/>
            <a:ext cx="4038448" cy="566928"/>
          </a:xfrm>
          <a:prstGeom prst="rect">
            <a:avLst/>
          </a:prstGeom>
          <a:solidFill>
            <a:srgbClr val="0B0B0B"/>
          </a:solidFill>
          <a:ln w="12700">
            <a:solidFill>
              <a:srgbClr val="242424"/>
            </a:solidFill>
            <a:prstDash val="solid"/>
          </a:ln>
        </p:spPr>
      </p:sp>
      <p:sp>
        <p:nvSpPr>
          <p:cNvPr id="45" name="Text 43"/>
          <p:cNvSpPr/>
          <p:nvPr/>
        </p:nvSpPr>
        <p:spPr>
          <a:xfrm>
            <a:off x="7723480" y="5074920"/>
            <a:ext cx="389214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Planta, gemelo y API en asyncio</a:t>
            </a:r>
            <a:endParaRPr lang="en-US" sz="1100" dirty="0"/>
          </a:p>
        </p:txBody>
      </p:sp>
      <p:sp>
        <p:nvSpPr>
          <p:cNvPr id="46" name="Text 4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47" name="Text 4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48" name="Text 4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24 / 49</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21  CÓMO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EL NOMBRADO DE TÓPICOS (MODO MQTT)</a:t>
            </a:r>
            <a:endParaRPr lang="en-US" sz="3300" dirty="0"/>
          </a:p>
        </p:txBody>
      </p:sp>
      <p:sp>
        <p:nvSpPr>
          <p:cNvPr id="4" name="Shape 2"/>
          <p:cNvSpPr/>
          <p:nvPr/>
        </p:nvSpPr>
        <p:spPr>
          <a:xfrm>
            <a:off x="502920" y="1783080"/>
            <a:ext cx="11185855" cy="2788920"/>
          </a:xfrm>
          <a:prstGeom prst="roundRect">
            <a:avLst>
              <a:gd name="adj" fmla="val 1639"/>
            </a:avLst>
          </a:prstGeom>
          <a:solidFill>
            <a:srgbClr val="0A0A0A"/>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5" name="Shape 3"/>
          <p:cNvSpPr/>
          <p:nvPr/>
        </p:nvSpPr>
        <p:spPr>
          <a:xfrm>
            <a:off x="502920" y="1783080"/>
            <a:ext cx="11185855" cy="365760"/>
          </a:xfrm>
          <a:prstGeom prst="rect">
            <a:avLst/>
          </a:prstGeom>
          <a:solidFill>
            <a:srgbClr val="1E1E1E"/>
          </a:solidFill>
          <a:ln w="12700">
            <a:solidFill>
              <a:srgbClr val="333333"/>
            </a:solidFill>
            <a:prstDash val="solid"/>
          </a:ln>
        </p:spPr>
      </p:sp>
      <p:sp>
        <p:nvSpPr>
          <p:cNvPr id="6" name="Shape 4"/>
          <p:cNvSpPr/>
          <p:nvPr/>
        </p:nvSpPr>
        <p:spPr>
          <a:xfrm>
            <a:off x="704088" y="1911096"/>
            <a:ext cx="118872" cy="118872"/>
          </a:xfrm>
          <a:prstGeom prst="ellipse">
            <a:avLst/>
          </a:prstGeom>
          <a:solidFill>
            <a:srgbClr val="FF5F56"/>
          </a:solidFill>
          <a:ln/>
        </p:spPr>
      </p:sp>
      <p:sp>
        <p:nvSpPr>
          <p:cNvPr id="7" name="Shape 5"/>
          <p:cNvSpPr/>
          <p:nvPr/>
        </p:nvSpPr>
        <p:spPr>
          <a:xfrm>
            <a:off x="960120" y="1911096"/>
            <a:ext cx="118872" cy="118872"/>
          </a:xfrm>
          <a:prstGeom prst="ellipse">
            <a:avLst/>
          </a:prstGeom>
          <a:solidFill>
            <a:srgbClr val="FFBD2E"/>
          </a:solidFill>
          <a:ln/>
        </p:spPr>
      </p:sp>
      <p:sp>
        <p:nvSpPr>
          <p:cNvPr id="8" name="Shape 6"/>
          <p:cNvSpPr/>
          <p:nvPr/>
        </p:nvSpPr>
        <p:spPr>
          <a:xfrm>
            <a:off x="1216152" y="1911096"/>
            <a:ext cx="118872" cy="118872"/>
          </a:xfrm>
          <a:prstGeom prst="ellipse">
            <a:avLst/>
          </a:prstGeom>
          <a:solidFill>
            <a:srgbClr val="27C93F"/>
          </a:solidFill>
          <a:ln/>
        </p:spPr>
      </p:sp>
      <p:sp>
        <p:nvSpPr>
          <p:cNvPr id="9" name="Text 7"/>
          <p:cNvSpPr/>
          <p:nvPr/>
        </p:nvSpPr>
        <p:spPr>
          <a:xfrm>
            <a:off x="1691640" y="1783080"/>
            <a:ext cx="9814255" cy="365760"/>
          </a:xfrm>
          <a:prstGeom prst="rect">
            <a:avLst/>
          </a:prstGeom>
          <a:noFill/>
          <a:ln/>
        </p:spPr>
        <p:txBody>
          <a:bodyPr wrap="square" lIns="0" tIns="0" rIns="0" bIns="0" rtlCol="0" anchor="ctr"/>
          <a:lstStyle/>
          <a:p>
            <a:pPr indent="0" marL="0">
              <a:buNone/>
            </a:pPr>
            <a:r>
              <a:rPr lang="en-US" sz="950" dirty="0">
                <a:solidFill>
                  <a:srgbClr val="8C8C8C"/>
                </a:solidFill>
                <a:latin typeface="Courier New" pitchFamily="34" charset="0"/>
                <a:ea typeface="Courier New" pitchFamily="34" charset="-122"/>
                <a:cs typeface="Courier New" pitchFamily="34" charset="-120"/>
              </a:rPr>
              <a:t>root@planta:~# mosquitto_sub -t 'spBv1.0/#' -v</a:t>
            </a:r>
            <a:endParaRPr lang="en-US" sz="950" dirty="0"/>
          </a:p>
        </p:txBody>
      </p:sp>
      <p:sp>
        <p:nvSpPr>
          <p:cNvPr id="10" name="Text 8"/>
          <p:cNvSpPr/>
          <p:nvPr/>
        </p:nvSpPr>
        <p:spPr>
          <a:xfrm>
            <a:off x="777240" y="2286000"/>
            <a:ext cx="10637215" cy="2148840"/>
          </a:xfrm>
          <a:prstGeom prst="rect">
            <a:avLst/>
          </a:prstGeom>
          <a:noFill/>
          <a:ln/>
        </p:spPr>
        <p:txBody>
          <a:bodyPr wrap="square" lIns="0" tIns="0" rIns="0" bIns="0" rtlCol="0" anchor="t"/>
          <a:lstStyle/>
          <a:p>
            <a:pPr indent="0" marL="0">
              <a:lnSpc>
                <a:spcPct val="112000"/>
              </a:lnSpc>
              <a:buNone/>
            </a:pPr>
            <a:r>
              <a:rPr lang="en-US" sz="1150" dirty="0">
                <a:solidFill>
                  <a:srgbClr val="27E5E5"/>
                </a:solidFill>
                <a:latin typeface="Courier New" pitchFamily="34" charset="0"/>
                <a:ea typeface="Courier New" pitchFamily="34" charset="-122"/>
                <a:cs typeface="Courier New" pitchFamily="34" charset="-120"/>
              </a:rPr>
              <a:t>spBv1.0/usb_bello/DBIRTH/linea1/llenadora01</a:t>
            </a:r>
            <a:endParaRPr lang="en-US" sz="1150" dirty="0"/>
          </a:p>
          <a:p>
            <a:pPr indent="0" marL="0">
              <a:lnSpc>
                <a:spcPct val="112000"/>
              </a:lnSpc>
              <a:buNone/>
            </a:pPr>
            <a:r>
              <a:rPr lang="en-US" sz="1150" dirty="0">
                <a:solidFill>
                  <a:srgbClr val="8C8C8C"/>
                </a:solidFill>
                <a:latin typeface="Courier New" pitchFamily="34" charset="0"/>
                <a:ea typeface="Courier New" pitchFamily="34" charset="-122"/>
                <a:cs typeface="Courier New" pitchFamily="34" charset="-120"/>
              </a:rPr>
              <a:t>  {"estado":"ONLINE","dispositivo":"Línea de llenado 01",</a:t>
            </a:r>
            <a:endParaRPr lang="en-US" sz="1150" dirty="0"/>
          </a:p>
          <a:p>
            <a:pPr indent="0" marL="0">
              <a:lnSpc>
                <a:spcPct val="112000"/>
              </a:lnSpc>
              <a:buNone/>
            </a:pPr>
            <a:r>
              <a:rPr lang="en-US" sz="1150" dirty="0">
                <a:solidFill>
                  <a:srgbClr val="8C8C8C"/>
                </a:solidFill>
                <a:latin typeface="Courier New" pitchFamily="34" charset="0"/>
                <a:ea typeface="Courier New" pitchFamily="34" charset="-122"/>
                <a:cs typeface="Courier New" pitchFamily="34" charset="-120"/>
              </a:rPr>
              <a:t>   "metricas":["nivel_tanque","caudal_instantaneo", ...]}</a:t>
            </a:r>
            <a:endParaRPr lang="en-US" sz="1150" dirty="0"/>
          </a:p>
          <a:p>
            <a:pPr indent="0" marL="0">
              <a:lnSpc>
                <a:spcPct val="112000"/>
              </a:lnSpc>
              <a:buNone/>
            </a:pPr>
            <a:r>
              <a:rPr lang="en-US" sz="1150" dirty="0">
                <a:solidFill>
                  <a:srgbClr val="8C8C8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C6FF00"/>
                </a:solidFill>
                <a:latin typeface="Courier New" pitchFamily="34" charset="0"/>
                <a:ea typeface="Courier New" pitchFamily="34" charset="-122"/>
                <a:cs typeface="Courier New" pitchFamily="34" charset="-120"/>
              </a:rPr>
              <a:t>spBv1.0/usb_bello/DDATA/linea1/llenadora01</a:t>
            </a:r>
            <a:endParaRPr lang="en-US" sz="1150" dirty="0"/>
          </a:p>
          <a:p>
            <a:pPr indent="0" marL="0">
              <a:lnSpc>
                <a:spcPct val="112000"/>
              </a:lnSpc>
              <a:buNone/>
            </a:pPr>
            <a:r>
              <a:rPr lang="en-US" sz="1150" dirty="0">
                <a:solidFill>
                  <a:srgbClr val="8C8C8C"/>
                </a:solidFill>
                <a:latin typeface="Courier New" pitchFamily="34" charset="0"/>
                <a:ea typeface="Courier New" pitchFamily="34" charset="-122"/>
                <a:cs typeface="Courier New" pitchFamily="34" charset="-120"/>
              </a:rPr>
              <a:t>  {"t":412.6,"nivel_tanque":1.108,"caudal_instantaneo":0.873,</a:t>
            </a:r>
            <a:endParaRPr lang="en-US" sz="1150" dirty="0"/>
          </a:p>
          <a:p>
            <a:pPr indent="0" marL="0">
              <a:lnSpc>
                <a:spcPct val="112000"/>
              </a:lnSpc>
              <a:buNone/>
            </a:pPr>
            <a:r>
              <a:rPr lang="en-US" sz="1150" dirty="0">
                <a:solidFill>
                  <a:srgbClr val="8C8C8C"/>
                </a:solidFill>
                <a:latin typeface="Courier New" pitchFamily="34" charset="0"/>
                <a:ea typeface="Courier New" pitchFamily="34" charset="-122"/>
                <a:cs typeface="Courier New" pitchFamily="34" charset="-120"/>
              </a:rPr>
              <a:t>   "estacion":"llenando","botellas_totales":98, ...}</a:t>
            </a:r>
            <a:endParaRPr lang="en-US" sz="1150" dirty="0"/>
          </a:p>
          <a:p>
            <a:pPr indent="0" marL="0">
              <a:lnSpc>
                <a:spcPct val="112000"/>
              </a:lnSpc>
              <a:buNone/>
            </a:pPr>
            <a:r>
              <a:rPr lang="en-US" sz="1150" dirty="0">
                <a:solidFill>
                  <a:srgbClr val="8C8C8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5A5A5A"/>
                </a:solidFill>
                <a:latin typeface="Courier New" pitchFamily="34" charset="0"/>
                <a:ea typeface="Courier New" pitchFamily="34" charset="-122"/>
                <a:cs typeface="Courier New" pitchFamily="34" charset="-120"/>
              </a:rPr>
              <a:t># jerarquía: spBv1.0/{grupo}/{tipo}/{nodo_borde}/{dispositivo}</a:t>
            </a:r>
            <a:endParaRPr lang="en-US" sz="1150" dirty="0"/>
          </a:p>
        </p:txBody>
      </p:sp>
      <p:sp>
        <p:nvSpPr>
          <p:cNvPr id="11" name="Text 9"/>
          <p:cNvSpPr/>
          <p:nvPr/>
        </p:nvSpPr>
        <p:spPr>
          <a:xfrm>
            <a:off x="502920" y="4773168"/>
            <a:ext cx="11185855" cy="1097280"/>
          </a:xfrm>
          <a:prstGeom prst="rect">
            <a:avLst/>
          </a:prstGeom>
          <a:noFill/>
          <a:ln/>
        </p:spPr>
        <p:txBody>
          <a:bodyPr wrap="square" lIns="0" tIns="0" rIns="0" bIns="0" rtlCol="0" anchor="t"/>
          <a:lstStyle/>
          <a:p>
            <a:pPr indent="0" marL="0">
              <a:lnSpc>
                <a:spcPct val="110000"/>
              </a:lnSpc>
              <a:buNone/>
            </a:pPr>
            <a:r>
              <a:rPr lang="en-US" sz="1250" b="1" dirty="0">
                <a:solidFill>
                  <a:srgbClr val="C6FF00"/>
                </a:solidFill>
                <a:latin typeface="Arial" pitchFamily="34" charset="0"/>
                <a:ea typeface="Arial" pitchFamily="34" charset="-122"/>
                <a:cs typeface="Arial" pitchFamily="34" charset="-120"/>
              </a:rPr>
              <a:t>ALCANCE HONESTO  </a:t>
            </a:r>
            <a:pPr indent="0" marL="0">
              <a:lnSpc>
                <a:spcPct val="110000"/>
              </a:lnSpc>
              <a:buNone/>
            </a:pPr>
            <a:r>
              <a:rPr lang="en-US" sz="1250" dirty="0">
                <a:solidFill>
                  <a:srgbClr val="F4F4F4"/>
                </a:solidFill>
                <a:latin typeface="Arial" pitchFamily="34" charset="0"/>
                <a:ea typeface="Arial" pitchFamily="34" charset="-122"/>
                <a:cs typeface="Arial" pitchFamily="34" charset="-120"/>
              </a:rPr>
              <a:t>Se usa el NOMBRADO de Sparkplug B (jerarquía, DBIRTH, last will), pero la carga va en JSON y no en protobuf, y no se llevan los contadores de secuencia. Esto es nombrado Sparkplug, NO conformidad Sparkplug.</a:t>
            </a:r>
            <a:endParaRPr lang="en-US" sz="1250" dirty="0"/>
          </a:p>
        </p:txBody>
      </p:sp>
      <p:sp>
        <p:nvSpPr>
          <p:cNvPr id="12" name="Text 10"/>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3" name="Text 11"/>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4" name="Text 12"/>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25 / 49</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04</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LAS CUATRO CAPACIDADES</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Modelo, residual, diagnóstico y what-if</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26 / 49</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26 / 49</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22  CAPACIDADES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1 · EL MODELO Y LA ESTIMACIÓN</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CAPACIDAD 1 / 4</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INFERIR LO QUE NINGÚN SENSOR MIDE</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El gemelo replica la física con los parámetros de PLACA. Pero además resuelve el problema inverso: dado el volumen que realmente salió y el nivel medido, ¿qué Cv lo explica? Una bisección de 40 iteraciones invierte la ecuación, y un promedio exponencial suaviza el resultado. Así el gemelo estima el desgaste de la válvula SIN que ningún instrumento lo mida.</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EN PANTALLA</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Cv de placa 0.8290 · Cv estimado, en caída</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VERIFICADO</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Error de estimación ~2 %</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27 / 49</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23  CAPACIDADES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2 · EL RESIDUAL</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CAPACIDAD 2 / 4</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LA RESTA QUE DELATA AL MODELO</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Dos residuales, a dos escalas de tiempo. El de VOLUMEN se calcula una vez por botella y compara lo medido con lo que predice el modelo de placa. El de BALANCE DE MASA se calcula en cada muestra y verifica que el nivel del tanque evolucione como permite la física. Mientras ambos se queden dentro de su umbral, el modelo describe bien a la planta.</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POR QUÉ CONTRA PLACA</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Si el modelo se corrigiera solo, el residual se anularía</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VENTAJA</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Avisa antes que el OEE acumulado</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28 / 49</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24  CAPACIDADES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3 · DIAGNÓSTICO POR FIRMA</a:t>
            </a:r>
            <a:endParaRPr lang="en-US" sz="3300" dirty="0"/>
          </a:p>
        </p:txBody>
      </p:sp>
      <p:sp>
        <p:nvSpPr>
          <p:cNvPr id="4" name="Shape 2"/>
          <p:cNvSpPr/>
          <p:nvPr/>
        </p:nvSpPr>
        <p:spPr>
          <a:xfrm>
            <a:off x="502920" y="1783080"/>
            <a:ext cx="3200400" cy="457200"/>
          </a:xfrm>
          <a:prstGeom prst="rect">
            <a:avLst/>
          </a:prstGeom>
          <a:solidFill>
            <a:srgbClr val="1E1E1E"/>
          </a:solidFill>
          <a:ln w="12700">
            <a:solidFill>
              <a:srgbClr val="333333"/>
            </a:solidFill>
            <a:prstDash val="solid"/>
          </a:ln>
        </p:spPr>
      </p:sp>
      <p:sp>
        <p:nvSpPr>
          <p:cNvPr id="5" name="Text 3"/>
          <p:cNvSpPr/>
          <p:nvPr/>
        </p:nvSpPr>
        <p:spPr>
          <a:xfrm>
            <a:off x="576072" y="1783080"/>
            <a:ext cx="3054096" cy="457200"/>
          </a:xfrm>
          <a:prstGeom prst="rect">
            <a:avLst/>
          </a:prstGeom>
          <a:noFill/>
          <a:ln/>
        </p:spPr>
        <p:txBody>
          <a:bodyPr wrap="square" lIns="0" tIns="0" rIns="0" bIns="0" rtlCol="0" anchor="ctr"/>
          <a:lstStyle/>
          <a:p>
            <a:pPr algn="l" indent="0" marL="0">
              <a:buNone/>
            </a:pPr>
            <a:r>
              <a:rPr lang="en-US" sz="1050" b="1" dirty="0">
                <a:solidFill>
                  <a:srgbClr val="C6FF00"/>
                </a:solidFill>
                <a:latin typeface="Courier New" pitchFamily="34" charset="0"/>
                <a:ea typeface="Courier New" pitchFamily="34" charset="-122"/>
                <a:cs typeface="Courier New" pitchFamily="34" charset="-120"/>
              </a:rPr>
              <a:t>FALLA</a:t>
            </a:r>
            <a:endParaRPr lang="en-US" sz="1050" dirty="0"/>
          </a:p>
        </p:txBody>
      </p:sp>
      <p:sp>
        <p:nvSpPr>
          <p:cNvPr id="6" name="Shape 4"/>
          <p:cNvSpPr/>
          <p:nvPr/>
        </p:nvSpPr>
        <p:spPr>
          <a:xfrm>
            <a:off x="3703320" y="1783080"/>
            <a:ext cx="3992728" cy="457200"/>
          </a:xfrm>
          <a:prstGeom prst="rect">
            <a:avLst/>
          </a:prstGeom>
          <a:solidFill>
            <a:srgbClr val="1E1E1E"/>
          </a:solidFill>
          <a:ln w="12700">
            <a:solidFill>
              <a:srgbClr val="333333"/>
            </a:solidFill>
            <a:prstDash val="solid"/>
          </a:ln>
        </p:spPr>
      </p:sp>
      <p:sp>
        <p:nvSpPr>
          <p:cNvPr id="7" name="Text 5"/>
          <p:cNvSpPr/>
          <p:nvPr/>
        </p:nvSpPr>
        <p:spPr>
          <a:xfrm>
            <a:off x="3776472" y="1783080"/>
            <a:ext cx="384642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RESIDUAL DE VOLUMEN</a:t>
            </a:r>
            <a:endParaRPr lang="en-US" sz="1050" dirty="0"/>
          </a:p>
        </p:txBody>
      </p:sp>
      <p:sp>
        <p:nvSpPr>
          <p:cNvPr id="8" name="Shape 6"/>
          <p:cNvSpPr/>
          <p:nvPr/>
        </p:nvSpPr>
        <p:spPr>
          <a:xfrm>
            <a:off x="7696048" y="1783080"/>
            <a:ext cx="3992728" cy="457200"/>
          </a:xfrm>
          <a:prstGeom prst="rect">
            <a:avLst/>
          </a:prstGeom>
          <a:solidFill>
            <a:srgbClr val="1E1E1E"/>
          </a:solidFill>
          <a:ln w="12700">
            <a:solidFill>
              <a:srgbClr val="333333"/>
            </a:solidFill>
            <a:prstDash val="solid"/>
          </a:ln>
        </p:spPr>
      </p:sp>
      <p:sp>
        <p:nvSpPr>
          <p:cNvPr id="9" name="Text 7"/>
          <p:cNvSpPr/>
          <p:nvPr/>
        </p:nvSpPr>
        <p:spPr>
          <a:xfrm>
            <a:off x="7769200" y="1783080"/>
            <a:ext cx="384642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BALANCE DE MASA</a:t>
            </a:r>
            <a:endParaRPr lang="en-US" sz="1050" dirty="0"/>
          </a:p>
        </p:txBody>
      </p:sp>
      <p:sp>
        <p:nvSpPr>
          <p:cNvPr id="10" name="Shape 8"/>
          <p:cNvSpPr/>
          <p:nvPr/>
        </p:nvSpPr>
        <p:spPr>
          <a:xfrm>
            <a:off x="502920" y="2240280"/>
            <a:ext cx="3200400" cy="566928"/>
          </a:xfrm>
          <a:prstGeom prst="rect">
            <a:avLst/>
          </a:prstGeom>
          <a:solidFill>
            <a:srgbClr val="151515"/>
          </a:solidFill>
          <a:ln w="12700">
            <a:solidFill>
              <a:srgbClr val="242424"/>
            </a:solidFill>
            <a:prstDash val="solid"/>
          </a:ln>
        </p:spPr>
      </p:sp>
      <p:sp>
        <p:nvSpPr>
          <p:cNvPr id="11" name="Text 9"/>
          <p:cNvSpPr/>
          <p:nvPr/>
        </p:nvSpPr>
        <p:spPr>
          <a:xfrm>
            <a:off x="576072" y="2240280"/>
            <a:ext cx="30540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Sin anomalía</a:t>
            </a:r>
            <a:endParaRPr lang="en-US" sz="1150" dirty="0"/>
          </a:p>
        </p:txBody>
      </p:sp>
      <p:sp>
        <p:nvSpPr>
          <p:cNvPr id="12" name="Shape 10"/>
          <p:cNvSpPr/>
          <p:nvPr/>
        </p:nvSpPr>
        <p:spPr>
          <a:xfrm>
            <a:off x="3703320" y="2240280"/>
            <a:ext cx="3992728" cy="566928"/>
          </a:xfrm>
          <a:prstGeom prst="rect">
            <a:avLst/>
          </a:prstGeom>
          <a:solidFill>
            <a:srgbClr val="151515"/>
          </a:solidFill>
          <a:ln w="12700">
            <a:solidFill>
              <a:srgbClr val="242424"/>
            </a:solidFill>
            <a:prstDash val="solid"/>
          </a:ln>
        </p:spPr>
      </p:sp>
      <p:sp>
        <p:nvSpPr>
          <p:cNvPr id="13" name="Text 11"/>
          <p:cNvSpPr/>
          <p:nvPr/>
        </p:nvSpPr>
        <p:spPr>
          <a:xfrm>
            <a:off x="3776472" y="2240280"/>
            <a:ext cx="3846424" cy="566928"/>
          </a:xfrm>
          <a:prstGeom prst="rect">
            <a:avLst/>
          </a:prstGeom>
          <a:noFill/>
          <a:ln/>
        </p:spPr>
        <p:txBody>
          <a:bodyPr wrap="square" lIns="0" tIns="0" rIns="0" bIns="0" rtlCol="0" anchor="ctr"/>
          <a:lstStyle/>
          <a:p>
            <a:pPr algn="ctr" indent="0" marL="0">
              <a:buNone/>
            </a:pPr>
            <a:r>
              <a:rPr lang="en-US" sz="1100" dirty="0">
                <a:solidFill>
                  <a:srgbClr val="22E06B"/>
                </a:solidFill>
                <a:latin typeface="Courier New" pitchFamily="34" charset="0"/>
                <a:ea typeface="Courier New" pitchFamily="34" charset="-122"/>
                <a:cs typeface="Courier New" pitchFamily="34" charset="-120"/>
              </a:rPr>
              <a:t>≈ 0</a:t>
            </a:r>
            <a:endParaRPr lang="en-US" sz="1100" dirty="0"/>
          </a:p>
        </p:txBody>
      </p:sp>
      <p:sp>
        <p:nvSpPr>
          <p:cNvPr id="14" name="Shape 12"/>
          <p:cNvSpPr/>
          <p:nvPr/>
        </p:nvSpPr>
        <p:spPr>
          <a:xfrm>
            <a:off x="7696048" y="2240280"/>
            <a:ext cx="3992728" cy="566928"/>
          </a:xfrm>
          <a:prstGeom prst="rect">
            <a:avLst/>
          </a:prstGeom>
          <a:solidFill>
            <a:srgbClr val="151515"/>
          </a:solidFill>
          <a:ln w="12700">
            <a:solidFill>
              <a:srgbClr val="242424"/>
            </a:solidFill>
            <a:prstDash val="solid"/>
          </a:ln>
        </p:spPr>
      </p:sp>
      <p:sp>
        <p:nvSpPr>
          <p:cNvPr id="15" name="Text 13"/>
          <p:cNvSpPr/>
          <p:nvPr/>
        </p:nvSpPr>
        <p:spPr>
          <a:xfrm>
            <a:off x="7769200" y="2240280"/>
            <a:ext cx="3846424" cy="566928"/>
          </a:xfrm>
          <a:prstGeom prst="rect">
            <a:avLst/>
          </a:prstGeom>
          <a:noFill/>
          <a:ln/>
        </p:spPr>
        <p:txBody>
          <a:bodyPr wrap="square" lIns="0" tIns="0" rIns="0" bIns="0" rtlCol="0" anchor="ctr"/>
          <a:lstStyle/>
          <a:p>
            <a:pPr algn="ctr" indent="0" marL="0">
              <a:buNone/>
            </a:pPr>
            <a:r>
              <a:rPr lang="en-US" sz="1100" dirty="0">
                <a:solidFill>
                  <a:srgbClr val="22E06B"/>
                </a:solidFill>
                <a:latin typeface="Courier New" pitchFamily="34" charset="0"/>
                <a:ea typeface="Courier New" pitchFamily="34" charset="-122"/>
                <a:cs typeface="Courier New" pitchFamily="34" charset="-120"/>
              </a:rPr>
              <a:t>≈ 0</a:t>
            </a:r>
            <a:endParaRPr lang="en-US" sz="1100" dirty="0"/>
          </a:p>
        </p:txBody>
      </p:sp>
      <p:sp>
        <p:nvSpPr>
          <p:cNvPr id="16" name="Shape 14"/>
          <p:cNvSpPr/>
          <p:nvPr/>
        </p:nvSpPr>
        <p:spPr>
          <a:xfrm>
            <a:off x="502920" y="2807208"/>
            <a:ext cx="3200400" cy="566928"/>
          </a:xfrm>
          <a:prstGeom prst="rect">
            <a:avLst/>
          </a:prstGeom>
          <a:solidFill>
            <a:srgbClr val="0B0B0B"/>
          </a:solidFill>
          <a:ln w="12700">
            <a:solidFill>
              <a:srgbClr val="242424"/>
            </a:solidFill>
            <a:prstDash val="solid"/>
          </a:ln>
        </p:spPr>
      </p:sp>
      <p:sp>
        <p:nvSpPr>
          <p:cNvPr id="17" name="Text 15"/>
          <p:cNvSpPr/>
          <p:nvPr/>
        </p:nvSpPr>
        <p:spPr>
          <a:xfrm>
            <a:off x="576072" y="2807208"/>
            <a:ext cx="30540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Desgaste de válvula</a:t>
            </a:r>
            <a:endParaRPr lang="en-US" sz="1150" dirty="0"/>
          </a:p>
        </p:txBody>
      </p:sp>
      <p:sp>
        <p:nvSpPr>
          <p:cNvPr id="18" name="Shape 16"/>
          <p:cNvSpPr/>
          <p:nvPr/>
        </p:nvSpPr>
        <p:spPr>
          <a:xfrm>
            <a:off x="3703320" y="2807208"/>
            <a:ext cx="3992728" cy="566928"/>
          </a:xfrm>
          <a:prstGeom prst="rect">
            <a:avLst/>
          </a:prstGeom>
          <a:solidFill>
            <a:srgbClr val="0B0B0B"/>
          </a:solidFill>
          <a:ln w="12700">
            <a:solidFill>
              <a:srgbClr val="242424"/>
            </a:solidFill>
            <a:prstDash val="solid"/>
          </a:ln>
        </p:spPr>
      </p:sp>
      <p:sp>
        <p:nvSpPr>
          <p:cNvPr id="19" name="Text 17"/>
          <p:cNvSpPr/>
          <p:nvPr/>
        </p:nvSpPr>
        <p:spPr>
          <a:xfrm>
            <a:off x="3776472" y="2807208"/>
            <a:ext cx="3846424"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negativo, lento</a:t>
            </a:r>
            <a:endParaRPr lang="en-US" sz="1100" dirty="0"/>
          </a:p>
        </p:txBody>
      </p:sp>
      <p:sp>
        <p:nvSpPr>
          <p:cNvPr id="20" name="Shape 18"/>
          <p:cNvSpPr/>
          <p:nvPr/>
        </p:nvSpPr>
        <p:spPr>
          <a:xfrm>
            <a:off x="7696048" y="2807208"/>
            <a:ext cx="3992728" cy="566928"/>
          </a:xfrm>
          <a:prstGeom prst="rect">
            <a:avLst/>
          </a:prstGeom>
          <a:solidFill>
            <a:srgbClr val="0B0B0B"/>
          </a:solidFill>
          <a:ln w="12700">
            <a:solidFill>
              <a:srgbClr val="242424"/>
            </a:solidFill>
            <a:prstDash val="solid"/>
          </a:ln>
        </p:spPr>
      </p:sp>
      <p:sp>
        <p:nvSpPr>
          <p:cNvPr id="21" name="Text 19"/>
          <p:cNvSpPr/>
          <p:nvPr/>
        </p:nvSpPr>
        <p:spPr>
          <a:xfrm>
            <a:off x="7769200" y="2807208"/>
            <a:ext cx="3846424" cy="566928"/>
          </a:xfrm>
          <a:prstGeom prst="rect">
            <a:avLst/>
          </a:prstGeom>
          <a:noFill/>
          <a:ln/>
        </p:spPr>
        <p:txBody>
          <a:bodyPr wrap="square" lIns="0" tIns="0" rIns="0" bIns="0" rtlCol="0" anchor="ctr"/>
          <a:lstStyle/>
          <a:p>
            <a:pPr algn="ctr" indent="0" marL="0">
              <a:buNone/>
            </a:pPr>
            <a:r>
              <a:rPr lang="en-US" sz="1100" dirty="0">
                <a:solidFill>
                  <a:srgbClr val="22E06B"/>
                </a:solidFill>
                <a:latin typeface="Courier New" pitchFamily="34" charset="0"/>
                <a:ea typeface="Courier New" pitchFamily="34" charset="-122"/>
                <a:cs typeface="Courier New" pitchFamily="34" charset="-120"/>
              </a:rPr>
              <a:t>≈ 0</a:t>
            </a:r>
            <a:endParaRPr lang="en-US" sz="1100" dirty="0"/>
          </a:p>
        </p:txBody>
      </p:sp>
      <p:sp>
        <p:nvSpPr>
          <p:cNvPr id="22" name="Shape 20"/>
          <p:cNvSpPr/>
          <p:nvPr/>
        </p:nvSpPr>
        <p:spPr>
          <a:xfrm>
            <a:off x="502920" y="3374136"/>
            <a:ext cx="3200400" cy="566928"/>
          </a:xfrm>
          <a:prstGeom prst="rect">
            <a:avLst/>
          </a:prstGeom>
          <a:solidFill>
            <a:srgbClr val="151515"/>
          </a:solidFill>
          <a:ln w="12700">
            <a:solidFill>
              <a:srgbClr val="242424"/>
            </a:solidFill>
            <a:prstDash val="solid"/>
          </a:ln>
        </p:spPr>
      </p:sp>
      <p:sp>
        <p:nvSpPr>
          <p:cNvPr id="23" name="Text 21"/>
          <p:cNvSpPr/>
          <p:nvPr/>
        </p:nvSpPr>
        <p:spPr>
          <a:xfrm>
            <a:off x="576072" y="3374136"/>
            <a:ext cx="30540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Bomba degradada</a:t>
            </a:r>
            <a:endParaRPr lang="en-US" sz="1150" dirty="0"/>
          </a:p>
        </p:txBody>
      </p:sp>
      <p:sp>
        <p:nvSpPr>
          <p:cNvPr id="24" name="Shape 22"/>
          <p:cNvSpPr/>
          <p:nvPr/>
        </p:nvSpPr>
        <p:spPr>
          <a:xfrm>
            <a:off x="3703320" y="3374136"/>
            <a:ext cx="3992728" cy="566928"/>
          </a:xfrm>
          <a:prstGeom prst="rect">
            <a:avLst/>
          </a:prstGeom>
          <a:solidFill>
            <a:srgbClr val="151515"/>
          </a:solidFill>
          <a:ln w="12700">
            <a:solidFill>
              <a:srgbClr val="242424"/>
            </a:solidFill>
            <a:prstDash val="solid"/>
          </a:ln>
        </p:spPr>
      </p:sp>
      <p:sp>
        <p:nvSpPr>
          <p:cNvPr id="25" name="Text 23"/>
          <p:cNvSpPr/>
          <p:nvPr/>
        </p:nvSpPr>
        <p:spPr>
          <a:xfrm>
            <a:off x="3776472" y="3374136"/>
            <a:ext cx="3846424" cy="566928"/>
          </a:xfrm>
          <a:prstGeom prst="rect">
            <a:avLst/>
          </a:prstGeom>
          <a:noFill/>
          <a:ln/>
        </p:spPr>
        <p:txBody>
          <a:bodyPr wrap="square" lIns="0" tIns="0" rIns="0" bIns="0" rtlCol="0" anchor="ctr"/>
          <a:lstStyle/>
          <a:p>
            <a:pPr algn="ctr" indent="0" marL="0">
              <a:buNone/>
            </a:pPr>
            <a:r>
              <a:rPr lang="en-US" sz="1100" dirty="0">
                <a:solidFill>
                  <a:srgbClr val="FFB000"/>
                </a:solidFill>
                <a:latin typeface="Courier New" pitchFamily="34" charset="0"/>
                <a:ea typeface="Courier New" pitchFamily="34" charset="-122"/>
                <a:cs typeface="Courier New" pitchFamily="34" charset="-120"/>
              </a:rPr>
              <a:t>negativo</a:t>
            </a:r>
            <a:endParaRPr lang="en-US" sz="1100" dirty="0"/>
          </a:p>
        </p:txBody>
      </p:sp>
      <p:sp>
        <p:nvSpPr>
          <p:cNvPr id="26" name="Shape 24"/>
          <p:cNvSpPr/>
          <p:nvPr/>
        </p:nvSpPr>
        <p:spPr>
          <a:xfrm>
            <a:off x="7696048" y="3374136"/>
            <a:ext cx="3992728" cy="566928"/>
          </a:xfrm>
          <a:prstGeom prst="rect">
            <a:avLst/>
          </a:prstGeom>
          <a:solidFill>
            <a:srgbClr val="151515"/>
          </a:solidFill>
          <a:ln w="12700">
            <a:solidFill>
              <a:srgbClr val="242424"/>
            </a:solidFill>
            <a:prstDash val="solid"/>
          </a:ln>
        </p:spPr>
      </p:sp>
      <p:sp>
        <p:nvSpPr>
          <p:cNvPr id="27" name="Text 25"/>
          <p:cNvSpPr/>
          <p:nvPr/>
        </p:nvSpPr>
        <p:spPr>
          <a:xfrm>
            <a:off x="7769200" y="3374136"/>
            <a:ext cx="3846424" cy="566928"/>
          </a:xfrm>
          <a:prstGeom prst="rect">
            <a:avLst/>
          </a:prstGeom>
          <a:noFill/>
          <a:ln/>
        </p:spPr>
        <p:txBody>
          <a:bodyPr wrap="square" lIns="0" tIns="0" rIns="0" bIns="0" rtlCol="0" anchor="ctr"/>
          <a:lstStyle/>
          <a:p>
            <a:pPr algn="ctr" indent="0" marL="0">
              <a:buNone/>
            </a:pPr>
            <a:r>
              <a:rPr lang="en-US" sz="1100" dirty="0">
                <a:solidFill>
                  <a:srgbClr val="FFB000"/>
                </a:solidFill>
                <a:latin typeface="Courier New" pitchFamily="34" charset="0"/>
                <a:ea typeface="Courier New" pitchFamily="34" charset="-122"/>
                <a:cs typeface="Courier New" pitchFamily="34" charset="-120"/>
              </a:rPr>
              <a:t>negativo sostenido</a:t>
            </a:r>
            <a:endParaRPr lang="en-US" sz="1100" dirty="0"/>
          </a:p>
        </p:txBody>
      </p:sp>
      <p:sp>
        <p:nvSpPr>
          <p:cNvPr id="28" name="Shape 26"/>
          <p:cNvSpPr/>
          <p:nvPr/>
        </p:nvSpPr>
        <p:spPr>
          <a:xfrm>
            <a:off x="502920" y="3941064"/>
            <a:ext cx="3200400" cy="566928"/>
          </a:xfrm>
          <a:prstGeom prst="rect">
            <a:avLst/>
          </a:prstGeom>
          <a:solidFill>
            <a:srgbClr val="0B0B0B"/>
          </a:solidFill>
          <a:ln w="12700">
            <a:solidFill>
              <a:srgbClr val="242424"/>
            </a:solidFill>
            <a:prstDash val="solid"/>
          </a:ln>
        </p:spPr>
      </p:sp>
      <p:sp>
        <p:nvSpPr>
          <p:cNvPr id="29" name="Text 27"/>
          <p:cNvSpPr/>
          <p:nvPr/>
        </p:nvSpPr>
        <p:spPr>
          <a:xfrm>
            <a:off x="576072" y="3941064"/>
            <a:ext cx="30540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Atasco de tapadora</a:t>
            </a:r>
            <a:endParaRPr lang="en-US" sz="1150" dirty="0"/>
          </a:p>
        </p:txBody>
      </p:sp>
      <p:sp>
        <p:nvSpPr>
          <p:cNvPr id="30" name="Shape 28"/>
          <p:cNvSpPr/>
          <p:nvPr/>
        </p:nvSpPr>
        <p:spPr>
          <a:xfrm>
            <a:off x="3703320" y="3941064"/>
            <a:ext cx="3992728" cy="566928"/>
          </a:xfrm>
          <a:prstGeom prst="rect">
            <a:avLst/>
          </a:prstGeom>
          <a:solidFill>
            <a:srgbClr val="0B0B0B"/>
          </a:solidFill>
          <a:ln w="12700">
            <a:solidFill>
              <a:srgbClr val="242424"/>
            </a:solidFill>
            <a:prstDash val="solid"/>
          </a:ln>
        </p:spPr>
      </p:sp>
      <p:sp>
        <p:nvSpPr>
          <p:cNvPr id="31" name="Text 29"/>
          <p:cNvSpPr/>
          <p:nvPr/>
        </p:nvSpPr>
        <p:spPr>
          <a:xfrm>
            <a:off x="3776472" y="3941064"/>
            <a:ext cx="3846424" cy="566928"/>
          </a:xfrm>
          <a:prstGeom prst="rect">
            <a:avLst/>
          </a:prstGeom>
          <a:noFill/>
          <a:ln/>
        </p:spPr>
        <p:txBody>
          <a:bodyPr wrap="square" lIns="0" tIns="0" rIns="0" bIns="0" rtlCol="0" anchor="ctr"/>
          <a:lstStyle/>
          <a:p>
            <a:pPr algn="ctr" indent="0" marL="0">
              <a:buNone/>
            </a:pPr>
            <a:r>
              <a:rPr lang="en-US" sz="1100" dirty="0">
                <a:solidFill>
                  <a:srgbClr val="22E06B"/>
                </a:solidFill>
                <a:latin typeface="Courier New" pitchFamily="34" charset="0"/>
                <a:ea typeface="Courier New" pitchFamily="34" charset="-122"/>
                <a:cs typeface="Courier New" pitchFamily="34" charset="-120"/>
              </a:rPr>
              <a:t>≈ 0</a:t>
            </a:r>
            <a:endParaRPr lang="en-US" sz="1100" dirty="0"/>
          </a:p>
        </p:txBody>
      </p:sp>
      <p:sp>
        <p:nvSpPr>
          <p:cNvPr id="32" name="Shape 30"/>
          <p:cNvSpPr/>
          <p:nvPr/>
        </p:nvSpPr>
        <p:spPr>
          <a:xfrm>
            <a:off x="7696048" y="3941064"/>
            <a:ext cx="3992728" cy="566928"/>
          </a:xfrm>
          <a:prstGeom prst="rect">
            <a:avLst/>
          </a:prstGeom>
          <a:solidFill>
            <a:srgbClr val="0B0B0B"/>
          </a:solidFill>
          <a:ln w="12700">
            <a:solidFill>
              <a:srgbClr val="242424"/>
            </a:solidFill>
            <a:prstDash val="solid"/>
          </a:ln>
        </p:spPr>
      </p:sp>
      <p:sp>
        <p:nvSpPr>
          <p:cNvPr id="33" name="Text 31"/>
          <p:cNvSpPr/>
          <p:nvPr/>
        </p:nvSpPr>
        <p:spPr>
          <a:xfrm>
            <a:off x="7769200" y="3941064"/>
            <a:ext cx="3846424" cy="566928"/>
          </a:xfrm>
          <a:prstGeom prst="rect">
            <a:avLst/>
          </a:prstGeom>
          <a:noFill/>
          <a:ln/>
        </p:spPr>
        <p:txBody>
          <a:bodyPr wrap="square" lIns="0" tIns="0" rIns="0" bIns="0" rtlCol="0" anchor="ctr"/>
          <a:lstStyle/>
          <a:p>
            <a:pPr algn="ctr" indent="0" marL="0">
              <a:buNone/>
            </a:pPr>
            <a:r>
              <a:rPr lang="en-US" sz="1100" dirty="0">
                <a:solidFill>
                  <a:srgbClr val="22E06B"/>
                </a:solidFill>
                <a:latin typeface="Courier New" pitchFamily="34" charset="0"/>
                <a:ea typeface="Courier New" pitchFamily="34" charset="-122"/>
                <a:cs typeface="Courier New" pitchFamily="34" charset="-120"/>
              </a:rPr>
              <a:t>≈ 0</a:t>
            </a:r>
            <a:endParaRPr lang="en-US" sz="1100" dirty="0"/>
          </a:p>
        </p:txBody>
      </p:sp>
      <p:sp>
        <p:nvSpPr>
          <p:cNvPr id="34" name="Shape 32"/>
          <p:cNvSpPr/>
          <p:nvPr/>
        </p:nvSpPr>
        <p:spPr>
          <a:xfrm>
            <a:off x="502920" y="4507992"/>
            <a:ext cx="3200400" cy="566928"/>
          </a:xfrm>
          <a:prstGeom prst="rect">
            <a:avLst/>
          </a:prstGeom>
          <a:solidFill>
            <a:srgbClr val="151515"/>
          </a:solidFill>
          <a:ln w="12700">
            <a:solidFill>
              <a:srgbClr val="242424"/>
            </a:solidFill>
            <a:prstDash val="solid"/>
          </a:ln>
        </p:spPr>
      </p:sp>
      <p:sp>
        <p:nvSpPr>
          <p:cNvPr id="35" name="Text 33"/>
          <p:cNvSpPr/>
          <p:nvPr/>
        </p:nvSpPr>
        <p:spPr>
          <a:xfrm>
            <a:off x="576072" y="4507992"/>
            <a:ext cx="30540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Transmisor desviado</a:t>
            </a:r>
            <a:endParaRPr lang="en-US" sz="1150" dirty="0"/>
          </a:p>
        </p:txBody>
      </p:sp>
      <p:sp>
        <p:nvSpPr>
          <p:cNvPr id="36" name="Shape 34"/>
          <p:cNvSpPr/>
          <p:nvPr/>
        </p:nvSpPr>
        <p:spPr>
          <a:xfrm>
            <a:off x="3703320" y="4507992"/>
            <a:ext cx="3992728" cy="566928"/>
          </a:xfrm>
          <a:prstGeom prst="rect">
            <a:avLst/>
          </a:prstGeom>
          <a:solidFill>
            <a:srgbClr val="151515"/>
          </a:solidFill>
          <a:ln w="12700">
            <a:solidFill>
              <a:srgbClr val="242424"/>
            </a:solidFill>
            <a:prstDash val="solid"/>
          </a:ln>
        </p:spPr>
      </p:sp>
      <p:sp>
        <p:nvSpPr>
          <p:cNvPr id="37" name="Text 35"/>
          <p:cNvSpPr/>
          <p:nvPr/>
        </p:nvSpPr>
        <p:spPr>
          <a:xfrm>
            <a:off x="3776472" y="4507992"/>
            <a:ext cx="3846424" cy="566928"/>
          </a:xfrm>
          <a:prstGeom prst="rect">
            <a:avLst/>
          </a:prstGeom>
          <a:noFill/>
          <a:ln/>
        </p:spPr>
        <p:txBody>
          <a:bodyPr wrap="square" lIns="0" tIns="0" rIns="0" bIns="0" rtlCol="0" anchor="ctr"/>
          <a:lstStyle/>
          <a:p>
            <a:pPr algn="ctr" indent="0" marL="0">
              <a:buNone/>
            </a:pPr>
            <a:r>
              <a:rPr lang="en-US" sz="1100" dirty="0">
                <a:solidFill>
                  <a:srgbClr val="FF3B30"/>
                </a:solidFill>
                <a:latin typeface="Courier New" pitchFamily="34" charset="0"/>
                <a:ea typeface="Courier New" pitchFamily="34" charset="-122"/>
                <a:cs typeface="Courier New" pitchFamily="34" charset="-120"/>
              </a:rPr>
              <a:t>negativo</a:t>
            </a:r>
            <a:endParaRPr lang="en-US" sz="1100" dirty="0"/>
          </a:p>
        </p:txBody>
      </p:sp>
      <p:sp>
        <p:nvSpPr>
          <p:cNvPr id="38" name="Shape 36"/>
          <p:cNvSpPr/>
          <p:nvPr/>
        </p:nvSpPr>
        <p:spPr>
          <a:xfrm>
            <a:off x="7696048" y="4507992"/>
            <a:ext cx="3992728" cy="566928"/>
          </a:xfrm>
          <a:prstGeom prst="rect">
            <a:avLst/>
          </a:prstGeom>
          <a:solidFill>
            <a:srgbClr val="151515"/>
          </a:solidFill>
          <a:ln w="12700">
            <a:solidFill>
              <a:srgbClr val="242424"/>
            </a:solidFill>
            <a:prstDash val="solid"/>
          </a:ln>
        </p:spPr>
      </p:sp>
      <p:sp>
        <p:nvSpPr>
          <p:cNvPr id="39" name="Text 37"/>
          <p:cNvSpPr/>
          <p:nvPr/>
        </p:nvSpPr>
        <p:spPr>
          <a:xfrm>
            <a:off x="7769200" y="4507992"/>
            <a:ext cx="3846424" cy="566928"/>
          </a:xfrm>
          <a:prstGeom prst="rect">
            <a:avLst/>
          </a:prstGeom>
          <a:noFill/>
          <a:ln/>
        </p:spPr>
        <p:txBody>
          <a:bodyPr wrap="square" lIns="0" tIns="0" rIns="0" bIns="0" rtlCol="0" anchor="ctr"/>
          <a:lstStyle/>
          <a:p>
            <a:pPr algn="ctr" indent="0" marL="0">
              <a:buNone/>
            </a:pPr>
            <a:r>
              <a:rPr lang="en-US" sz="1100" dirty="0">
                <a:solidFill>
                  <a:srgbClr val="FF3B30"/>
                </a:solidFill>
                <a:latin typeface="Courier New" pitchFamily="34" charset="0"/>
                <a:ea typeface="Courier New" pitchFamily="34" charset="-122"/>
                <a:cs typeface="Courier New" pitchFamily="34" charset="-120"/>
              </a:rPr>
              <a:t>SALTO, luego ≈ 0</a:t>
            </a:r>
            <a:endParaRPr lang="en-US" sz="1100" dirty="0"/>
          </a:p>
        </p:txBody>
      </p:sp>
      <p:sp>
        <p:nvSpPr>
          <p:cNvPr id="40" name="Text 38"/>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41" name="Text 39"/>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42" name="Text 40"/>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29 / 49</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25  CAPACIDADES</a:t>
            </a:r>
            <a:endParaRPr lang="en-US" sz="1100" dirty="0"/>
          </a:p>
        </p:txBody>
      </p:sp>
      <p:sp>
        <p:nvSpPr>
          <p:cNvPr id="3" name="Shape 1"/>
          <p:cNvSpPr/>
          <p:nvPr/>
        </p:nvSpPr>
        <p:spPr>
          <a:xfrm>
            <a:off x="502920" y="1554480"/>
            <a:ext cx="11185855" cy="4206240"/>
          </a:xfrm>
          <a:prstGeom prst="roundRect">
            <a:avLst>
              <a:gd name="adj" fmla="val 1304"/>
            </a:avLst>
          </a:prstGeom>
          <a:solidFill>
            <a:srgbClr val="160B0B"/>
          </a:solidFill>
          <a:ln w="19050">
            <a:solidFill>
              <a:srgbClr val="FF3B30"/>
            </a:solidFill>
            <a:prstDash val="solid"/>
          </a:ln>
        </p:spPr>
      </p:sp>
      <p:sp>
        <p:nvSpPr>
          <p:cNvPr id="4" name="Text 2"/>
          <p:cNvSpPr/>
          <p:nvPr/>
        </p:nvSpPr>
        <p:spPr>
          <a:xfrm>
            <a:off x="868680" y="1874520"/>
            <a:ext cx="10454335" cy="640080"/>
          </a:xfrm>
          <a:prstGeom prst="rect">
            <a:avLst/>
          </a:prstGeom>
          <a:noFill/>
          <a:ln/>
        </p:spPr>
        <p:txBody>
          <a:bodyPr wrap="square" lIns="0" tIns="0" rIns="0" bIns="0" rtlCol="0" anchor="t"/>
          <a:lstStyle/>
          <a:p>
            <a:pPr indent="0" marL="0">
              <a:buNone/>
            </a:pPr>
            <a:r>
              <a:rPr lang="en-US" sz="2600" dirty="0">
                <a:solidFill>
                  <a:srgbClr val="FFB000"/>
                </a:solidFill>
                <a:latin typeface="Arial Black" pitchFamily="34" charset="0"/>
                <a:ea typeface="Arial Black" pitchFamily="34" charset="-122"/>
                <a:cs typeface="Arial Black" pitchFamily="34" charset="-120"/>
              </a:rPr>
              <a:t>⚠  </a:t>
            </a:r>
            <a:pPr indent="0" marL="0">
              <a:buNone/>
            </a:pPr>
            <a:r>
              <a:rPr lang="en-US" sz="2600" dirty="0">
                <a:solidFill>
                  <a:srgbClr val="F4F4F4"/>
                </a:solidFill>
                <a:latin typeface="Arial Black" pitchFamily="34" charset="0"/>
                <a:ea typeface="Arial Black" pitchFamily="34" charset="-122"/>
                <a:cs typeface="Arial Black" pitchFamily="34" charset="-120"/>
              </a:rPr>
              <a:t>EL LÍMITE QUE HAY QUE ENSEÑAR</a:t>
            </a:r>
            <a:endParaRPr lang="en-US" sz="2600" dirty="0"/>
          </a:p>
        </p:txBody>
      </p:sp>
      <p:sp>
        <p:nvSpPr>
          <p:cNvPr id="5" name="Text 3"/>
          <p:cNvSpPr/>
          <p:nvPr/>
        </p:nvSpPr>
        <p:spPr>
          <a:xfrm>
            <a:off x="868680" y="2697480"/>
            <a:ext cx="10454335" cy="2011680"/>
          </a:xfrm>
          <a:prstGeom prst="rect">
            <a:avLst/>
          </a:prstGeom>
          <a:noFill/>
          <a:ln/>
        </p:spPr>
        <p:txBody>
          <a:bodyPr wrap="square" lIns="0" tIns="0" rIns="0" bIns="0" rtlCol="0" anchor="t"/>
          <a:lstStyle/>
          <a:p>
            <a:pPr indent="0" marL="0">
              <a:lnSpc>
                <a:spcPct val="112000"/>
              </a:lnSpc>
              <a:spcAft>
                <a:spcPts val="1200"/>
              </a:spcAft>
              <a:buNone/>
            </a:pPr>
            <a:r>
              <a:rPr lang="en-US" sz="1400" dirty="0">
                <a:solidFill>
                  <a:srgbClr val="F4F4F4"/>
                </a:solidFill>
                <a:latin typeface="Arial" pitchFamily="34" charset="0"/>
                <a:ea typeface="Arial" pitchFamily="34" charset="-122"/>
                <a:cs typeface="Arial" pitchFamily="34" charset="-120"/>
              </a:rPr>
              <a:t>Mirá la última fila de la tabla anterior: pasado el transitorio, el balance de masa vuelve a cuadrar. La razón es que el gemelo alimenta su modelo con el MISMO transmisor desviado, así que predicción y medida se equivocan juntas.</a:t>
            </a:r>
            <a:endParaRPr lang="en-US" sz="1400" dirty="0"/>
          </a:p>
          <a:p>
            <a:pPr indent="0" marL="0">
              <a:lnSpc>
                <a:spcPct val="112000"/>
              </a:lnSpc>
              <a:spcAft>
                <a:spcPts val="1200"/>
              </a:spcAft>
              <a:buNone/>
            </a:pPr>
            <a:r>
              <a:rPr lang="en-US" sz="1400" dirty="0">
                <a:solidFill>
                  <a:srgbClr val="F4F4F4"/>
                </a:solidFill>
                <a:latin typeface="Arial" pitchFamily="34" charset="0"/>
                <a:ea typeface="Arial" pitchFamily="34" charset="-122"/>
                <a:cs typeface="Arial" pitchFamily="34" charset="-120"/>
              </a:rPr>
              <a:t>Consecuencia incómoda y verdadera: en régimen permanente, un transmisor desviado y una válvula desgastada son OBSERVACIONALMENTE EQUIVALENTES con esta instrumentación. No se pueden distinguir. Sólo se separan si se atrapa el salto — por eso el detector queda enclavado.</a:t>
            </a:r>
            <a:endParaRPr lang="en-US" sz="1400" dirty="0"/>
          </a:p>
        </p:txBody>
      </p:sp>
      <p:sp>
        <p:nvSpPr>
          <p:cNvPr id="6" name="Text 4"/>
          <p:cNvSpPr/>
          <p:nvPr/>
        </p:nvSpPr>
        <p:spPr>
          <a:xfrm>
            <a:off x="868680" y="5029200"/>
            <a:ext cx="10454335" cy="64008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i="1" dirty="0">
                <a:solidFill>
                  <a:srgbClr val="C6FF00"/>
                </a:solidFill>
                <a:latin typeface="Courier New" pitchFamily="34" charset="0"/>
                <a:ea typeface="Courier New" pitchFamily="34" charset="-122"/>
                <a:cs typeface="Courier New" pitchFamily="34" charset="-120"/>
              </a:rPr>
              <a:t>Un gemelo honesto declara lo que no puede saber.</a:t>
            </a:r>
            <a:endParaRPr lang="en-US" sz="1300" dirty="0"/>
          </a:p>
        </p:txBody>
      </p:sp>
      <p:sp>
        <p:nvSpPr>
          <p:cNvPr id="7" name="Text 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8" name="Text 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9" name="Text 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30 / 49</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26  CAPACIDADES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4 · EL WHAT-IF</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CAPACIDAD 4 / 4</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UN EXPERIMENTO CARO CONVERTIDO EN UNO BARATO</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El gemelo barre 49 consignas distintas sobre su modelo y proyecta el OEE de la próxima media hora para cada una. Tarda milisegundos y no arriesga una sola botella. Usa el Cv ESTIMADO, no el de placa: proyecta con lo que ha aprendido de la planta, no con lo que dice el catálogo.</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ENTREGA</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La CURVA completa + los supuestos declarados</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NO ENTREGA</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Sólo el número óptimo</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31 / 49</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27  CAPACIDADES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EL INTERCAMBIO QUE NO HAY QUE ESCONDER</a:t>
            </a:r>
            <a:endParaRPr lang="en-US" sz="3000" dirty="0"/>
          </a:p>
        </p:txBody>
      </p:sp>
      <p:sp>
        <p:nvSpPr>
          <p:cNvPr id="4" name="Shape 2"/>
          <p:cNvSpPr/>
          <p:nvPr/>
        </p:nvSpPr>
        <p:spPr>
          <a:xfrm>
            <a:off x="502920" y="1783080"/>
            <a:ext cx="3545738" cy="1828800"/>
          </a:xfrm>
          <a:prstGeom prst="roundRect">
            <a:avLst>
              <a:gd name="adj" fmla="val 3000"/>
            </a:avLst>
          </a:prstGeom>
          <a:solidFill>
            <a:srgbClr val="151515"/>
          </a:solidFill>
          <a:ln w="12700">
            <a:solidFill>
              <a:srgbClr val="333333"/>
            </a:solidFill>
            <a:prstDash val="solid"/>
          </a:ln>
        </p:spPr>
      </p:sp>
      <p:sp>
        <p:nvSpPr>
          <p:cNvPr id="5" name="Text 3"/>
          <p:cNvSpPr/>
          <p:nvPr/>
        </p:nvSpPr>
        <p:spPr>
          <a:xfrm>
            <a:off x="640080" y="1965960"/>
            <a:ext cx="3271418" cy="868680"/>
          </a:xfrm>
          <a:prstGeom prst="rect">
            <a:avLst/>
          </a:prstGeom>
          <a:noFill/>
          <a:ln/>
        </p:spPr>
        <p:txBody>
          <a:bodyPr wrap="square" lIns="0" tIns="0" rIns="0" bIns="0" rtlCol="0" anchor="ctr"/>
          <a:lstStyle/>
          <a:p>
            <a:pPr algn="ctr" indent="0" marL="0">
              <a:buNone/>
            </a:pPr>
            <a:r>
              <a:rPr lang="en-US" sz="3800" dirty="0">
                <a:solidFill>
                  <a:srgbClr val="22E06B"/>
                </a:solidFill>
                <a:latin typeface="Arial Black" pitchFamily="34" charset="0"/>
                <a:ea typeface="Arial Black" pitchFamily="34" charset="-122"/>
                <a:cs typeface="Arial Black" pitchFamily="34" charset="-120"/>
              </a:rPr>
              <a:t>GANA</a:t>
            </a:r>
            <a:endParaRPr lang="en-US" sz="3800" dirty="0"/>
          </a:p>
        </p:txBody>
      </p:sp>
      <p:sp>
        <p:nvSpPr>
          <p:cNvPr id="6" name="Text 4"/>
          <p:cNvSpPr/>
          <p:nvPr/>
        </p:nvSpPr>
        <p:spPr>
          <a:xfrm>
            <a:off x="685800"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CALIDAD: alargar la consigna corrige las botellas cortas</a:t>
            </a:r>
            <a:endParaRPr lang="en-US" sz="1100" dirty="0"/>
          </a:p>
        </p:txBody>
      </p:sp>
      <p:sp>
        <p:nvSpPr>
          <p:cNvPr id="7" name="Shape 5"/>
          <p:cNvSpPr/>
          <p:nvPr/>
        </p:nvSpPr>
        <p:spPr>
          <a:xfrm>
            <a:off x="4322978" y="1783080"/>
            <a:ext cx="3545738" cy="1828800"/>
          </a:xfrm>
          <a:prstGeom prst="roundRect">
            <a:avLst>
              <a:gd name="adj" fmla="val 3000"/>
            </a:avLst>
          </a:prstGeom>
          <a:solidFill>
            <a:srgbClr val="151515"/>
          </a:solidFill>
          <a:ln w="12700">
            <a:solidFill>
              <a:srgbClr val="333333"/>
            </a:solidFill>
            <a:prstDash val="solid"/>
          </a:ln>
        </p:spPr>
      </p:sp>
      <p:sp>
        <p:nvSpPr>
          <p:cNvPr id="8" name="Text 6"/>
          <p:cNvSpPr/>
          <p:nvPr/>
        </p:nvSpPr>
        <p:spPr>
          <a:xfrm>
            <a:off x="4460138" y="1965960"/>
            <a:ext cx="3271418" cy="868680"/>
          </a:xfrm>
          <a:prstGeom prst="rect">
            <a:avLst/>
          </a:prstGeom>
          <a:noFill/>
          <a:ln/>
        </p:spPr>
        <p:txBody>
          <a:bodyPr wrap="square" lIns="0" tIns="0" rIns="0" bIns="0" rtlCol="0" anchor="ctr"/>
          <a:lstStyle/>
          <a:p>
            <a:pPr algn="ctr" indent="0" marL="0">
              <a:buNone/>
            </a:pPr>
            <a:r>
              <a:rPr lang="en-US" sz="3800" dirty="0">
                <a:solidFill>
                  <a:srgbClr val="FF3B30"/>
                </a:solidFill>
                <a:latin typeface="Arial Black" pitchFamily="34" charset="0"/>
                <a:ea typeface="Arial Black" pitchFamily="34" charset="-122"/>
                <a:cs typeface="Arial Black" pitchFamily="34" charset="-120"/>
              </a:rPr>
              <a:t>PIERDE</a:t>
            </a:r>
            <a:endParaRPr lang="en-US" sz="3800" dirty="0"/>
          </a:p>
        </p:txBody>
      </p:sp>
      <p:sp>
        <p:nvSpPr>
          <p:cNvPr id="9" name="Text 7"/>
          <p:cNvSpPr/>
          <p:nvPr/>
        </p:nvSpPr>
        <p:spPr>
          <a:xfrm>
            <a:off x="4505858"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DESEMPEÑO: pero alarga el ciclo. No hay almuerzo gratis</a:t>
            </a:r>
            <a:endParaRPr lang="en-US" sz="1100" dirty="0"/>
          </a:p>
        </p:txBody>
      </p:sp>
      <p:sp>
        <p:nvSpPr>
          <p:cNvPr id="10" name="Shape 8"/>
          <p:cNvSpPr/>
          <p:nvPr/>
        </p:nvSpPr>
        <p:spPr>
          <a:xfrm>
            <a:off x="8143037" y="1783080"/>
            <a:ext cx="3545738" cy="1828800"/>
          </a:xfrm>
          <a:prstGeom prst="roundRect">
            <a:avLst>
              <a:gd name="adj" fmla="val 3000"/>
            </a:avLst>
          </a:prstGeom>
          <a:solidFill>
            <a:srgbClr val="151515"/>
          </a:solidFill>
          <a:ln w="12700">
            <a:solidFill>
              <a:srgbClr val="333333"/>
            </a:solidFill>
            <a:prstDash val="solid"/>
          </a:ln>
        </p:spPr>
      </p:sp>
      <p:sp>
        <p:nvSpPr>
          <p:cNvPr id="11" name="Text 9"/>
          <p:cNvSpPr/>
          <p:nvPr/>
        </p:nvSpPr>
        <p:spPr>
          <a:xfrm>
            <a:off x="8280197" y="1965960"/>
            <a:ext cx="3271418" cy="868680"/>
          </a:xfrm>
          <a:prstGeom prst="rect">
            <a:avLst/>
          </a:prstGeom>
          <a:noFill/>
          <a:ln/>
        </p:spPr>
        <p:txBody>
          <a:bodyPr wrap="square" lIns="0" tIns="0" rIns="0" bIns="0" rtlCol="0" anchor="ctr"/>
          <a:lstStyle/>
          <a:p>
            <a:pPr algn="ctr" indent="0" marL="0">
              <a:buNone/>
            </a:pPr>
            <a:r>
              <a:rPr lang="en-US" sz="3800" dirty="0">
                <a:solidFill>
                  <a:srgbClr val="FFB000"/>
                </a:solidFill>
                <a:latin typeface="Arial Black" pitchFamily="34" charset="0"/>
                <a:ea typeface="Arial Black" pitchFamily="34" charset="-122"/>
                <a:cs typeface="Arial Black" pitchFamily="34" charset="-120"/>
              </a:rPr>
              <a:t>≠ ÓPTIMO</a:t>
            </a:r>
            <a:endParaRPr lang="en-US" sz="3800" dirty="0"/>
          </a:p>
        </p:txBody>
      </p:sp>
      <p:sp>
        <p:nvSpPr>
          <p:cNvPr id="12" name="Text 10"/>
          <p:cNvSpPr/>
          <p:nvPr/>
        </p:nvSpPr>
        <p:spPr>
          <a:xfrm>
            <a:off x="8325917"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el óptimo del OEE no coincide con compensar exactamente el desgaste</a:t>
            </a:r>
            <a:endParaRPr lang="en-US" sz="1100" dirty="0"/>
          </a:p>
        </p:txBody>
      </p:sp>
      <p:sp>
        <p:nvSpPr>
          <p:cNvPr id="13" name="Text 11"/>
          <p:cNvSpPr/>
          <p:nvPr/>
        </p:nvSpPr>
        <p:spPr>
          <a:xfrm>
            <a:off x="502920" y="388620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LECTURA CLAVE</a:t>
            </a:r>
            <a:endParaRPr lang="en-US" sz="1100" dirty="0"/>
          </a:p>
        </p:txBody>
      </p:sp>
      <p:sp>
        <p:nvSpPr>
          <p:cNvPr id="14" name="Text 12"/>
          <p:cNvSpPr/>
          <p:nvPr/>
        </p:nvSpPr>
        <p:spPr>
          <a:xfrm>
            <a:off x="502920" y="4270248"/>
            <a:ext cx="11185855" cy="1463040"/>
          </a:xfrm>
          <a:prstGeom prst="rect">
            <a:avLst/>
          </a:prstGeom>
          <a:noFill/>
          <a:ln/>
        </p:spPr>
        <p:txBody>
          <a:bodyPr wrap="square" lIns="0" tIns="0" rIns="0" bIns="0" rtlCol="0" anchor="t"/>
          <a:lstStyle/>
          <a:p>
            <a:pPr indent="0" marL="0">
              <a:lnSpc>
                <a:spcPct val="110000"/>
              </a:lnSpc>
              <a:buNone/>
            </a:pPr>
            <a:r>
              <a:rPr lang="en-US" sz="1300" dirty="0">
                <a:solidFill>
                  <a:srgbClr val="F4F4F4"/>
                </a:solidFill>
                <a:latin typeface="Arial" pitchFamily="34" charset="0"/>
                <a:ea typeface="Arial" pitchFamily="34" charset="-122"/>
                <a:cs typeface="Arial" pitchFamily="34" charset="-120"/>
              </a:rPr>
              <a:t>Compensar del todo el desgaste exige t_set = 2.49 s, pero el óptimo de OEE está en 2.45 s: el modelo prefiere aceptar algún rechazo antes que pagar ese ciclo. Dónde está el equilibrio aceptable es un juicio de negocio, no un resultado del modelo.</a:t>
            </a:r>
            <a:endParaRPr lang="en-US" sz="13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32 / 49</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28  CAPACIDADES</a:t>
            </a:r>
            <a:endParaRPr lang="en-US" sz="1100" dirty="0"/>
          </a:p>
        </p:txBody>
      </p:sp>
      <p:sp>
        <p:nvSpPr>
          <p:cNvPr id="3" name="Shape 1"/>
          <p:cNvSpPr/>
          <p:nvPr/>
        </p:nvSpPr>
        <p:spPr>
          <a:xfrm>
            <a:off x="502920" y="1554480"/>
            <a:ext cx="11185855" cy="4206240"/>
          </a:xfrm>
          <a:prstGeom prst="roundRect">
            <a:avLst>
              <a:gd name="adj" fmla="val 1304"/>
            </a:avLst>
          </a:prstGeom>
          <a:solidFill>
            <a:srgbClr val="160B0B"/>
          </a:solidFill>
          <a:ln w="19050">
            <a:solidFill>
              <a:srgbClr val="FF3B30"/>
            </a:solidFill>
            <a:prstDash val="solid"/>
          </a:ln>
        </p:spPr>
      </p:sp>
      <p:sp>
        <p:nvSpPr>
          <p:cNvPr id="4" name="Text 2"/>
          <p:cNvSpPr/>
          <p:nvPr/>
        </p:nvSpPr>
        <p:spPr>
          <a:xfrm>
            <a:off x="868680" y="1874520"/>
            <a:ext cx="10454335" cy="640080"/>
          </a:xfrm>
          <a:prstGeom prst="rect">
            <a:avLst/>
          </a:prstGeom>
          <a:noFill/>
          <a:ln/>
        </p:spPr>
        <p:txBody>
          <a:bodyPr wrap="square" lIns="0" tIns="0" rIns="0" bIns="0" rtlCol="0" anchor="t"/>
          <a:lstStyle/>
          <a:p>
            <a:pPr indent="0" marL="0">
              <a:buNone/>
            </a:pPr>
            <a:r>
              <a:rPr lang="en-US" sz="2600" dirty="0">
                <a:solidFill>
                  <a:srgbClr val="FFB000"/>
                </a:solidFill>
                <a:latin typeface="Arial Black" pitchFamily="34" charset="0"/>
                <a:ea typeface="Arial Black" pitchFamily="34" charset="-122"/>
                <a:cs typeface="Arial Black" pitchFamily="34" charset="-120"/>
              </a:rPr>
              <a:t>⚠  </a:t>
            </a:r>
            <a:pPr indent="0" marL="0">
              <a:buNone/>
            </a:pPr>
            <a:r>
              <a:rPr lang="en-US" sz="2600" dirty="0">
                <a:solidFill>
                  <a:srgbClr val="F4F4F4"/>
                </a:solidFill>
                <a:latin typeface="Arial Black" pitchFamily="34" charset="0"/>
                <a:ea typeface="Arial Black" pitchFamily="34" charset="-122"/>
                <a:cs typeface="Arial Black" pitchFamily="34" charset="-120"/>
              </a:rPr>
              <a:t>UN PARCHE NO ES UNA SOLUCIÓN</a:t>
            </a:r>
            <a:endParaRPr lang="en-US" sz="2600" dirty="0"/>
          </a:p>
        </p:txBody>
      </p:sp>
      <p:sp>
        <p:nvSpPr>
          <p:cNvPr id="5" name="Text 3"/>
          <p:cNvSpPr/>
          <p:nvPr/>
        </p:nvSpPr>
        <p:spPr>
          <a:xfrm>
            <a:off x="868680" y="2697480"/>
            <a:ext cx="10454335" cy="2011680"/>
          </a:xfrm>
          <a:prstGeom prst="rect">
            <a:avLst/>
          </a:prstGeom>
          <a:noFill/>
          <a:ln/>
        </p:spPr>
        <p:txBody>
          <a:bodyPr wrap="square" lIns="0" tIns="0" rIns="0" bIns="0" rtlCol="0" anchor="t"/>
          <a:lstStyle/>
          <a:p>
            <a:pPr indent="0" marL="0">
              <a:lnSpc>
                <a:spcPct val="112000"/>
              </a:lnSpc>
              <a:spcAft>
                <a:spcPts val="1200"/>
              </a:spcAft>
              <a:buNone/>
            </a:pPr>
            <a:r>
              <a:rPr lang="en-US" sz="1400" dirty="0">
                <a:solidFill>
                  <a:srgbClr val="F4F4F4"/>
                </a:solidFill>
                <a:latin typeface="Arial" pitchFamily="34" charset="0"/>
                <a:ea typeface="Arial" pitchFamily="34" charset="-122"/>
                <a:cs typeface="Arial" pitchFamily="34" charset="-120"/>
              </a:rPr>
              <a:t>Verificado en el laboratorio: si se aplica la consigna recomendada mientras el desgaste SIGUE PROGRESANDO, la calidad apenas se recupera del 0 % al 2.5 %. La recomendación ya estaba vencida cuando se aplicó.</a:t>
            </a:r>
            <a:endParaRPr lang="en-US" sz="1400" dirty="0"/>
          </a:p>
          <a:p>
            <a:pPr indent="0" marL="0">
              <a:lnSpc>
                <a:spcPct val="112000"/>
              </a:lnSpc>
              <a:spcAft>
                <a:spcPts val="1200"/>
              </a:spcAft>
              <a:buNone/>
            </a:pPr>
            <a:r>
              <a:rPr lang="en-US" sz="1400" dirty="0">
                <a:solidFill>
                  <a:srgbClr val="F4F4F4"/>
                </a:solidFill>
                <a:latin typeface="Arial" pitchFamily="34" charset="0"/>
                <a:ea typeface="Arial" pitchFamily="34" charset="-122"/>
                <a:cs typeface="Arial" pitchFamily="34" charset="-120"/>
              </a:rPr>
              <a:t>Con el deterioro estabilizado, el mismo ajuste lleva la calidad del 0 % al 100 %. La diferencia entre los dos casos es la lección: compensar un deterioro progresivo compra tiempo, no resuelve nada.</a:t>
            </a:r>
            <a:endParaRPr lang="en-US" sz="1400" dirty="0"/>
          </a:p>
        </p:txBody>
      </p:sp>
      <p:sp>
        <p:nvSpPr>
          <p:cNvPr id="6" name="Text 4"/>
          <p:cNvSpPr/>
          <p:nvPr/>
        </p:nvSpPr>
        <p:spPr>
          <a:xfrm>
            <a:off x="868680" y="5029200"/>
            <a:ext cx="10454335" cy="64008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i="1" dirty="0">
                <a:solidFill>
                  <a:srgbClr val="C6FF00"/>
                </a:solidFill>
                <a:latin typeface="Courier New" pitchFamily="34" charset="0"/>
                <a:ea typeface="Courier New" pitchFamily="34" charset="-122"/>
                <a:cs typeface="Courier New" pitchFamily="34" charset="-120"/>
              </a:rPr>
              <a:t>La decisión de fondo sigue siendo parar la línea y cambiar la válvula.</a:t>
            </a:r>
            <a:endParaRPr lang="en-US" sz="1300" dirty="0"/>
          </a:p>
        </p:txBody>
      </p:sp>
      <p:sp>
        <p:nvSpPr>
          <p:cNvPr id="7" name="Text 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8" name="Text 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9" name="Text 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33 / 49</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05</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EL GOBIERNO</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ISO/IEC 38500 funcionando en pantalla</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34 / 49</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34 / 49</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29  GOBIERNO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EL CICLO EDM, VISIBLE</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Las tres tareas de la norma, cada una con su pantalla.</a:t>
            </a:r>
            <a:endParaRPr lang="en-US" sz="1250" dirty="0"/>
          </a:p>
        </p:txBody>
      </p:sp>
      <p:sp>
        <p:nvSpPr>
          <p:cNvPr id="5" name="Shape 3"/>
          <p:cNvSpPr/>
          <p:nvPr/>
        </p:nvSpPr>
        <p:spPr>
          <a:xfrm>
            <a:off x="502920"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3192170"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EVALUAR</a:t>
            </a:r>
            <a:endParaRPr lang="en-US" sz="1600" dirty="0"/>
          </a:p>
        </p:txBody>
      </p:sp>
      <p:sp>
        <p:nvSpPr>
          <p:cNvPr id="7" name="Text 5"/>
          <p:cNvSpPr/>
          <p:nvPr/>
        </p:nvSpPr>
        <p:spPr>
          <a:xfrm>
            <a:off x="685800"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El what-if produce la propuesta, la curva que la sustenta y los supuestos declarados.</a:t>
            </a:r>
            <a:endParaRPr lang="en-US" sz="1100" dirty="0"/>
          </a:p>
        </p:txBody>
      </p:sp>
      <p:sp>
        <p:nvSpPr>
          <p:cNvPr id="8" name="Shape 6"/>
          <p:cNvSpPr/>
          <p:nvPr/>
        </p:nvSpPr>
        <p:spPr>
          <a:xfrm>
            <a:off x="4316882"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499762" y="2066544"/>
            <a:ext cx="3192170"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DIRIGIR</a:t>
            </a:r>
            <a:endParaRPr lang="en-US" sz="1600" dirty="0"/>
          </a:p>
        </p:txBody>
      </p:sp>
      <p:sp>
        <p:nvSpPr>
          <p:cNvPr id="10" name="Text 8"/>
          <p:cNvSpPr/>
          <p:nvPr/>
        </p:nvSpPr>
        <p:spPr>
          <a:xfrm>
            <a:off x="4499762"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La autorización exige rol con derecho de decisión y justificación escrita. Sin las dos, no se aplica.</a:t>
            </a:r>
            <a:endParaRPr lang="en-US" sz="1100" dirty="0"/>
          </a:p>
        </p:txBody>
      </p:sp>
      <p:sp>
        <p:nvSpPr>
          <p:cNvPr id="11" name="Shape 9"/>
          <p:cNvSpPr/>
          <p:nvPr/>
        </p:nvSpPr>
        <p:spPr>
          <a:xfrm>
            <a:off x="8130845"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8313725" y="2066544"/>
            <a:ext cx="3192170"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MONITOREAR</a:t>
            </a:r>
            <a:endParaRPr lang="en-US" sz="1600" dirty="0"/>
          </a:p>
        </p:txBody>
      </p:sp>
      <p:sp>
        <p:nvSpPr>
          <p:cNvPr id="13" name="Text 11"/>
          <p:cNvSpPr/>
          <p:nvPr/>
        </p:nvSpPr>
        <p:spPr>
          <a:xfrm>
            <a:off x="8313725"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A los 150 s la bitácora cierra sola el veredicto comparando la calidad antes y después.</a:t>
            </a:r>
            <a:endParaRPr lang="en-US" sz="1100" dirty="0"/>
          </a:p>
        </p:txBody>
      </p:sp>
      <p:sp>
        <p:nvSpPr>
          <p:cNvPr id="14" name="Text 12"/>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5" name="Text 13"/>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6" name="Text 14"/>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35 / 49</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30  GOBIERNO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MATRIZ DE DERECHOS, EN CÓDIGO</a:t>
            </a:r>
            <a:endParaRPr lang="en-US" sz="3300" dirty="0"/>
          </a:p>
        </p:txBody>
      </p:sp>
      <p:sp>
        <p:nvSpPr>
          <p:cNvPr id="4" name="Shape 2"/>
          <p:cNvSpPr/>
          <p:nvPr/>
        </p:nvSpPr>
        <p:spPr>
          <a:xfrm>
            <a:off x="502920" y="1783080"/>
            <a:ext cx="3291840" cy="457200"/>
          </a:xfrm>
          <a:prstGeom prst="rect">
            <a:avLst/>
          </a:prstGeom>
          <a:solidFill>
            <a:srgbClr val="1E1E1E"/>
          </a:solidFill>
          <a:ln w="12700">
            <a:solidFill>
              <a:srgbClr val="333333"/>
            </a:solidFill>
            <a:prstDash val="solid"/>
          </a:ln>
        </p:spPr>
      </p:sp>
      <p:sp>
        <p:nvSpPr>
          <p:cNvPr id="5" name="Text 3"/>
          <p:cNvSpPr/>
          <p:nvPr/>
        </p:nvSpPr>
        <p:spPr>
          <a:xfrm>
            <a:off x="576072" y="1783080"/>
            <a:ext cx="3145536" cy="457200"/>
          </a:xfrm>
          <a:prstGeom prst="rect">
            <a:avLst/>
          </a:prstGeom>
          <a:noFill/>
          <a:ln/>
        </p:spPr>
        <p:txBody>
          <a:bodyPr wrap="square" lIns="0" tIns="0" rIns="0" bIns="0" rtlCol="0" anchor="ctr"/>
          <a:lstStyle/>
          <a:p>
            <a:pPr algn="l" indent="0" marL="0">
              <a:buNone/>
            </a:pPr>
            <a:r>
              <a:rPr lang="en-US" sz="1050" b="1" dirty="0">
                <a:solidFill>
                  <a:srgbClr val="C6FF00"/>
                </a:solidFill>
                <a:latin typeface="Courier New" pitchFamily="34" charset="0"/>
                <a:ea typeface="Courier New" pitchFamily="34" charset="-122"/>
                <a:cs typeface="Courier New" pitchFamily="34" charset="-120"/>
              </a:rPr>
              <a:t>DOMINIO DE DECISIÓN</a:t>
            </a:r>
            <a:endParaRPr lang="en-US" sz="1050" dirty="0"/>
          </a:p>
        </p:txBody>
      </p:sp>
      <p:sp>
        <p:nvSpPr>
          <p:cNvPr id="6" name="Shape 4"/>
          <p:cNvSpPr/>
          <p:nvPr/>
        </p:nvSpPr>
        <p:spPr>
          <a:xfrm>
            <a:off x="3794760" y="1783080"/>
            <a:ext cx="3947008" cy="457200"/>
          </a:xfrm>
          <a:prstGeom prst="rect">
            <a:avLst/>
          </a:prstGeom>
          <a:solidFill>
            <a:srgbClr val="1E1E1E"/>
          </a:solidFill>
          <a:ln w="12700">
            <a:solidFill>
              <a:srgbClr val="333333"/>
            </a:solidFill>
            <a:prstDash val="solid"/>
          </a:ln>
        </p:spPr>
      </p:sp>
      <p:sp>
        <p:nvSpPr>
          <p:cNvPr id="7" name="Text 5"/>
          <p:cNvSpPr/>
          <p:nvPr/>
        </p:nvSpPr>
        <p:spPr>
          <a:xfrm>
            <a:off x="3867912" y="1783080"/>
            <a:ext cx="380070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ROL MÍNIMO</a:t>
            </a:r>
            <a:endParaRPr lang="en-US" sz="1050" dirty="0"/>
          </a:p>
        </p:txBody>
      </p:sp>
      <p:sp>
        <p:nvSpPr>
          <p:cNvPr id="8" name="Shape 6"/>
          <p:cNvSpPr/>
          <p:nvPr/>
        </p:nvSpPr>
        <p:spPr>
          <a:xfrm>
            <a:off x="7741768" y="1783080"/>
            <a:ext cx="3947008" cy="457200"/>
          </a:xfrm>
          <a:prstGeom prst="rect">
            <a:avLst/>
          </a:prstGeom>
          <a:solidFill>
            <a:srgbClr val="1E1E1E"/>
          </a:solidFill>
          <a:ln w="12700">
            <a:solidFill>
              <a:srgbClr val="333333"/>
            </a:solidFill>
            <a:prstDash val="solid"/>
          </a:ln>
        </p:spPr>
      </p:sp>
      <p:sp>
        <p:nvSpPr>
          <p:cNvPr id="9" name="Text 7"/>
          <p:cNvSpPr/>
          <p:nvPr/>
        </p:nvSpPr>
        <p:spPr>
          <a:xfrm>
            <a:off x="7814920" y="1783080"/>
            <a:ext cx="380070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PRINCIPIO 38500</a:t>
            </a:r>
            <a:endParaRPr lang="en-US" sz="1050" dirty="0"/>
          </a:p>
        </p:txBody>
      </p:sp>
      <p:sp>
        <p:nvSpPr>
          <p:cNvPr id="10" name="Shape 8"/>
          <p:cNvSpPr/>
          <p:nvPr/>
        </p:nvSpPr>
        <p:spPr>
          <a:xfrm>
            <a:off x="502920" y="2240280"/>
            <a:ext cx="3291840" cy="566928"/>
          </a:xfrm>
          <a:prstGeom prst="rect">
            <a:avLst/>
          </a:prstGeom>
          <a:solidFill>
            <a:srgbClr val="151515"/>
          </a:solidFill>
          <a:ln w="12700">
            <a:solidFill>
              <a:srgbClr val="242424"/>
            </a:solidFill>
            <a:prstDash val="solid"/>
          </a:ln>
        </p:spPr>
      </p:sp>
      <p:sp>
        <p:nvSpPr>
          <p:cNvPr id="11" name="Text 9"/>
          <p:cNvSpPr/>
          <p:nvPr/>
        </p:nvSpPr>
        <p:spPr>
          <a:xfrm>
            <a:off x="576072" y="2240280"/>
            <a:ext cx="31455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Consigna · ajuste menor (≤10 %)</a:t>
            </a:r>
            <a:endParaRPr lang="en-US" sz="1150" dirty="0"/>
          </a:p>
        </p:txBody>
      </p:sp>
      <p:sp>
        <p:nvSpPr>
          <p:cNvPr id="12" name="Shape 10"/>
          <p:cNvSpPr/>
          <p:nvPr/>
        </p:nvSpPr>
        <p:spPr>
          <a:xfrm>
            <a:off x="3794760" y="2240280"/>
            <a:ext cx="3947008" cy="566928"/>
          </a:xfrm>
          <a:prstGeom prst="rect">
            <a:avLst/>
          </a:prstGeom>
          <a:solidFill>
            <a:srgbClr val="151515"/>
          </a:solidFill>
          <a:ln w="12700">
            <a:solidFill>
              <a:srgbClr val="242424"/>
            </a:solidFill>
            <a:prstDash val="solid"/>
          </a:ln>
        </p:spPr>
      </p:sp>
      <p:sp>
        <p:nvSpPr>
          <p:cNvPr id="13" name="Text 11"/>
          <p:cNvSpPr/>
          <p:nvPr/>
        </p:nvSpPr>
        <p:spPr>
          <a:xfrm>
            <a:off x="3867912" y="2240280"/>
            <a:ext cx="3800704"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Supervisor</a:t>
            </a:r>
            <a:endParaRPr lang="en-US" sz="1100" dirty="0"/>
          </a:p>
        </p:txBody>
      </p:sp>
      <p:sp>
        <p:nvSpPr>
          <p:cNvPr id="14" name="Shape 12"/>
          <p:cNvSpPr/>
          <p:nvPr/>
        </p:nvSpPr>
        <p:spPr>
          <a:xfrm>
            <a:off x="7741768" y="2240280"/>
            <a:ext cx="3947008" cy="566928"/>
          </a:xfrm>
          <a:prstGeom prst="rect">
            <a:avLst/>
          </a:prstGeom>
          <a:solidFill>
            <a:srgbClr val="151515"/>
          </a:solidFill>
          <a:ln w="12700">
            <a:solidFill>
              <a:srgbClr val="242424"/>
            </a:solidFill>
            <a:prstDash val="solid"/>
          </a:ln>
        </p:spPr>
      </p:sp>
      <p:sp>
        <p:nvSpPr>
          <p:cNvPr id="15" name="Text 13"/>
          <p:cNvSpPr/>
          <p:nvPr/>
        </p:nvSpPr>
        <p:spPr>
          <a:xfrm>
            <a:off x="7814920" y="2240280"/>
            <a:ext cx="3800704" cy="566928"/>
          </a:xfrm>
          <a:prstGeom prst="rect">
            <a:avLst/>
          </a:prstGeom>
          <a:noFill/>
          <a:ln/>
        </p:spPr>
        <p:txBody>
          <a:bodyPr wrap="square" lIns="0" tIns="0" rIns="0" bIns="0" rtlCol="0" anchor="ctr"/>
          <a:lstStyle/>
          <a:p>
            <a:pPr algn="ctr" indent="0" marL="0">
              <a:buNone/>
            </a:pPr>
            <a:r>
              <a:rPr lang="en-US" sz="1100" dirty="0">
                <a:solidFill>
                  <a:srgbClr val="22E06B"/>
                </a:solidFill>
                <a:latin typeface="Courier New" pitchFamily="34" charset="0"/>
                <a:ea typeface="Courier New" pitchFamily="34" charset="-122"/>
                <a:cs typeface="Courier New" pitchFamily="34" charset="-120"/>
              </a:rPr>
              <a:t>Desempeño</a:t>
            </a:r>
            <a:endParaRPr lang="en-US" sz="1100" dirty="0"/>
          </a:p>
        </p:txBody>
      </p:sp>
      <p:sp>
        <p:nvSpPr>
          <p:cNvPr id="16" name="Shape 14"/>
          <p:cNvSpPr/>
          <p:nvPr/>
        </p:nvSpPr>
        <p:spPr>
          <a:xfrm>
            <a:off x="502920" y="2807208"/>
            <a:ext cx="3291840" cy="566928"/>
          </a:xfrm>
          <a:prstGeom prst="rect">
            <a:avLst/>
          </a:prstGeom>
          <a:solidFill>
            <a:srgbClr val="0B0B0B"/>
          </a:solidFill>
          <a:ln w="12700">
            <a:solidFill>
              <a:srgbClr val="242424"/>
            </a:solidFill>
            <a:prstDash val="solid"/>
          </a:ln>
        </p:spPr>
      </p:sp>
      <p:sp>
        <p:nvSpPr>
          <p:cNvPr id="17" name="Text 15"/>
          <p:cNvSpPr/>
          <p:nvPr/>
        </p:nvSpPr>
        <p:spPr>
          <a:xfrm>
            <a:off x="576072" y="2807208"/>
            <a:ext cx="31455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Consigna · ajuste mayor (&gt;10 %)</a:t>
            </a:r>
            <a:endParaRPr lang="en-US" sz="1150" dirty="0"/>
          </a:p>
        </p:txBody>
      </p:sp>
      <p:sp>
        <p:nvSpPr>
          <p:cNvPr id="18" name="Shape 16"/>
          <p:cNvSpPr/>
          <p:nvPr/>
        </p:nvSpPr>
        <p:spPr>
          <a:xfrm>
            <a:off x="3794760" y="2807208"/>
            <a:ext cx="3947008" cy="566928"/>
          </a:xfrm>
          <a:prstGeom prst="rect">
            <a:avLst/>
          </a:prstGeom>
          <a:solidFill>
            <a:srgbClr val="0B0B0B"/>
          </a:solidFill>
          <a:ln w="12700">
            <a:solidFill>
              <a:srgbClr val="242424"/>
            </a:solidFill>
            <a:prstDash val="solid"/>
          </a:ln>
        </p:spPr>
      </p:sp>
      <p:sp>
        <p:nvSpPr>
          <p:cNvPr id="19" name="Text 17"/>
          <p:cNvSpPr/>
          <p:nvPr/>
        </p:nvSpPr>
        <p:spPr>
          <a:xfrm>
            <a:off x="3867912" y="2807208"/>
            <a:ext cx="3800704" cy="566928"/>
          </a:xfrm>
          <a:prstGeom prst="rect">
            <a:avLst/>
          </a:prstGeom>
          <a:noFill/>
          <a:ln/>
        </p:spPr>
        <p:txBody>
          <a:bodyPr wrap="square" lIns="0" tIns="0" rIns="0" bIns="0" rtlCol="0" anchor="ctr"/>
          <a:lstStyle/>
          <a:p>
            <a:pPr algn="ctr" indent="0" marL="0">
              <a:buNone/>
            </a:pPr>
            <a:r>
              <a:rPr lang="en-US" sz="1100" dirty="0">
                <a:solidFill>
                  <a:srgbClr val="27E5E5"/>
                </a:solidFill>
                <a:latin typeface="Courier New" pitchFamily="34" charset="0"/>
                <a:ea typeface="Courier New" pitchFamily="34" charset="-122"/>
                <a:cs typeface="Courier New" pitchFamily="34" charset="-120"/>
              </a:rPr>
              <a:t>Ing. de proceso</a:t>
            </a:r>
            <a:endParaRPr lang="en-US" sz="1100" dirty="0"/>
          </a:p>
        </p:txBody>
      </p:sp>
      <p:sp>
        <p:nvSpPr>
          <p:cNvPr id="20" name="Shape 18"/>
          <p:cNvSpPr/>
          <p:nvPr/>
        </p:nvSpPr>
        <p:spPr>
          <a:xfrm>
            <a:off x="7741768" y="2807208"/>
            <a:ext cx="3947008" cy="566928"/>
          </a:xfrm>
          <a:prstGeom prst="rect">
            <a:avLst/>
          </a:prstGeom>
          <a:solidFill>
            <a:srgbClr val="0B0B0B"/>
          </a:solidFill>
          <a:ln w="12700">
            <a:solidFill>
              <a:srgbClr val="242424"/>
            </a:solidFill>
            <a:prstDash val="solid"/>
          </a:ln>
        </p:spPr>
      </p:sp>
      <p:sp>
        <p:nvSpPr>
          <p:cNvPr id="21" name="Text 19"/>
          <p:cNvSpPr/>
          <p:nvPr/>
        </p:nvSpPr>
        <p:spPr>
          <a:xfrm>
            <a:off x="7814920" y="2807208"/>
            <a:ext cx="3800704" cy="566928"/>
          </a:xfrm>
          <a:prstGeom prst="rect">
            <a:avLst/>
          </a:prstGeom>
          <a:noFill/>
          <a:ln/>
        </p:spPr>
        <p:txBody>
          <a:bodyPr wrap="square" lIns="0" tIns="0" rIns="0" bIns="0" rtlCol="0" anchor="ctr"/>
          <a:lstStyle/>
          <a:p>
            <a:pPr algn="ctr" indent="0" marL="0">
              <a:buNone/>
            </a:pPr>
            <a:r>
              <a:rPr lang="en-US" sz="1100" dirty="0">
                <a:solidFill>
                  <a:srgbClr val="FFB000"/>
                </a:solidFill>
                <a:latin typeface="Courier New" pitchFamily="34" charset="0"/>
                <a:ea typeface="Courier New" pitchFamily="34" charset="-122"/>
                <a:cs typeface="Courier New" pitchFamily="34" charset="-120"/>
              </a:rPr>
              <a:t>Desempeño · Adquisición</a:t>
            </a:r>
            <a:endParaRPr lang="en-US" sz="1100" dirty="0"/>
          </a:p>
        </p:txBody>
      </p:sp>
      <p:sp>
        <p:nvSpPr>
          <p:cNvPr id="22" name="Shape 20"/>
          <p:cNvSpPr/>
          <p:nvPr/>
        </p:nvSpPr>
        <p:spPr>
          <a:xfrm>
            <a:off x="502920" y="3374136"/>
            <a:ext cx="3291840" cy="566928"/>
          </a:xfrm>
          <a:prstGeom prst="rect">
            <a:avLst/>
          </a:prstGeom>
          <a:solidFill>
            <a:srgbClr val="151515"/>
          </a:solidFill>
          <a:ln w="12700">
            <a:solidFill>
              <a:srgbClr val="242424"/>
            </a:solidFill>
            <a:prstDash val="solid"/>
          </a:ln>
        </p:spPr>
      </p:sp>
      <p:sp>
        <p:nvSpPr>
          <p:cNvPr id="23" name="Text 21"/>
          <p:cNvSpPr/>
          <p:nvPr/>
        </p:nvSpPr>
        <p:spPr>
          <a:xfrm>
            <a:off x="576072" y="3374136"/>
            <a:ext cx="31455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Especificación de producto</a:t>
            </a:r>
            <a:endParaRPr lang="en-US" sz="1150" dirty="0"/>
          </a:p>
        </p:txBody>
      </p:sp>
      <p:sp>
        <p:nvSpPr>
          <p:cNvPr id="24" name="Shape 22"/>
          <p:cNvSpPr/>
          <p:nvPr/>
        </p:nvSpPr>
        <p:spPr>
          <a:xfrm>
            <a:off x="3794760" y="3374136"/>
            <a:ext cx="3947008" cy="566928"/>
          </a:xfrm>
          <a:prstGeom prst="rect">
            <a:avLst/>
          </a:prstGeom>
          <a:solidFill>
            <a:srgbClr val="151515"/>
          </a:solidFill>
          <a:ln w="12700">
            <a:solidFill>
              <a:srgbClr val="242424"/>
            </a:solidFill>
            <a:prstDash val="solid"/>
          </a:ln>
        </p:spPr>
      </p:sp>
      <p:sp>
        <p:nvSpPr>
          <p:cNvPr id="25" name="Text 23"/>
          <p:cNvSpPr/>
          <p:nvPr/>
        </p:nvSpPr>
        <p:spPr>
          <a:xfrm>
            <a:off x="3867912" y="3374136"/>
            <a:ext cx="3800704" cy="566928"/>
          </a:xfrm>
          <a:prstGeom prst="rect">
            <a:avLst/>
          </a:prstGeom>
          <a:noFill/>
          <a:ln/>
        </p:spPr>
        <p:txBody>
          <a:bodyPr wrap="square" lIns="0" tIns="0" rIns="0" bIns="0" rtlCol="0" anchor="ctr"/>
          <a:lstStyle/>
          <a:p>
            <a:pPr algn="ctr" indent="0" marL="0">
              <a:buNone/>
            </a:pPr>
            <a:r>
              <a:rPr lang="en-US" sz="1100" dirty="0">
                <a:solidFill>
                  <a:srgbClr val="FFB000"/>
                </a:solidFill>
                <a:latin typeface="Courier New" pitchFamily="34" charset="0"/>
                <a:ea typeface="Courier New" pitchFamily="34" charset="-122"/>
                <a:cs typeface="Courier New" pitchFamily="34" charset="-120"/>
              </a:rPr>
              <a:t>Gerente de planta</a:t>
            </a:r>
            <a:endParaRPr lang="en-US" sz="1100" dirty="0"/>
          </a:p>
        </p:txBody>
      </p:sp>
      <p:sp>
        <p:nvSpPr>
          <p:cNvPr id="26" name="Shape 24"/>
          <p:cNvSpPr/>
          <p:nvPr/>
        </p:nvSpPr>
        <p:spPr>
          <a:xfrm>
            <a:off x="7741768" y="3374136"/>
            <a:ext cx="3947008" cy="566928"/>
          </a:xfrm>
          <a:prstGeom prst="rect">
            <a:avLst/>
          </a:prstGeom>
          <a:solidFill>
            <a:srgbClr val="151515"/>
          </a:solidFill>
          <a:ln w="12700">
            <a:solidFill>
              <a:srgbClr val="242424"/>
            </a:solidFill>
            <a:prstDash val="solid"/>
          </a:ln>
        </p:spPr>
      </p:sp>
      <p:sp>
        <p:nvSpPr>
          <p:cNvPr id="27" name="Text 25"/>
          <p:cNvSpPr/>
          <p:nvPr/>
        </p:nvSpPr>
        <p:spPr>
          <a:xfrm>
            <a:off x="7814920" y="3374136"/>
            <a:ext cx="3800704" cy="566928"/>
          </a:xfrm>
          <a:prstGeom prst="rect">
            <a:avLst/>
          </a:prstGeom>
          <a:noFill/>
          <a:ln/>
        </p:spPr>
        <p:txBody>
          <a:bodyPr wrap="square" lIns="0" tIns="0" rIns="0" bIns="0" rtlCol="0" anchor="ctr"/>
          <a:lstStyle/>
          <a:p>
            <a:pPr algn="ctr" indent="0" marL="0">
              <a:buNone/>
            </a:pPr>
            <a:r>
              <a:rPr lang="en-US" sz="1100" dirty="0">
                <a:solidFill>
                  <a:srgbClr val="9D6BFF"/>
                </a:solidFill>
                <a:latin typeface="Courier New" pitchFamily="34" charset="0"/>
                <a:ea typeface="Courier New" pitchFamily="34" charset="-122"/>
                <a:cs typeface="Courier New" pitchFamily="34" charset="-120"/>
              </a:rPr>
              <a:t>Conformidad</a:t>
            </a:r>
            <a:endParaRPr lang="en-US" sz="1100" dirty="0"/>
          </a:p>
        </p:txBody>
      </p:sp>
      <p:sp>
        <p:nvSpPr>
          <p:cNvPr id="28" name="Shape 26"/>
          <p:cNvSpPr/>
          <p:nvPr/>
        </p:nvSpPr>
        <p:spPr>
          <a:xfrm>
            <a:off x="502920" y="3941064"/>
            <a:ext cx="3291840" cy="566928"/>
          </a:xfrm>
          <a:prstGeom prst="rect">
            <a:avLst/>
          </a:prstGeom>
          <a:solidFill>
            <a:srgbClr val="0B0B0B"/>
          </a:solidFill>
          <a:ln w="12700">
            <a:solidFill>
              <a:srgbClr val="242424"/>
            </a:solidFill>
            <a:prstDash val="solid"/>
          </a:ln>
        </p:spPr>
      </p:sp>
      <p:sp>
        <p:nvSpPr>
          <p:cNvPr id="29" name="Text 27"/>
          <p:cNvSpPr/>
          <p:nvPr/>
        </p:nvSpPr>
        <p:spPr>
          <a:xfrm>
            <a:off x="576072" y="3941064"/>
            <a:ext cx="31455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Intervención de mantenimiento</a:t>
            </a:r>
            <a:endParaRPr lang="en-US" sz="1150" dirty="0"/>
          </a:p>
        </p:txBody>
      </p:sp>
      <p:sp>
        <p:nvSpPr>
          <p:cNvPr id="30" name="Shape 28"/>
          <p:cNvSpPr/>
          <p:nvPr/>
        </p:nvSpPr>
        <p:spPr>
          <a:xfrm>
            <a:off x="3794760" y="3941064"/>
            <a:ext cx="3947008" cy="566928"/>
          </a:xfrm>
          <a:prstGeom prst="rect">
            <a:avLst/>
          </a:prstGeom>
          <a:solidFill>
            <a:srgbClr val="0B0B0B"/>
          </a:solidFill>
          <a:ln w="12700">
            <a:solidFill>
              <a:srgbClr val="242424"/>
            </a:solidFill>
            <a:prstDash val="solid"/>
          </a:ln>
        </p:spPr>
      </p:sp>
      <p:sp>
        <p:nvSpPr>
          <p:cNvPr id="31" name="Text 29"/>
          <p:cNvSpPr/>
          <p:nvPr/>
        </p:nvSpPr>
        <p:spPr>
          <a:xfrm>
            <a:off x="3867912" y="3941064"/>
            <a:ext cx="3800704" cy="566928"/>
          </a:xfrm>
          <a:prstGeom prst="rect">
            <a:avLst/>
          </a:prstGeom>
          <a:noFill/>
          <a:ln/>
        </p:spPr>
        <p:txBody>
          <a:bodyPr wrap="square" lIns="0" tIns="0" rIns="0" bIns="0" rtlCol="0" anchor="ctr"/>
          <a:lstStyle/>
          <a:p>
            <a:pPr algn="ctr" indent="0" marL="0">
              <a:buNone/>
            </a:pPr>
            <a:r>
              <a:rPr lang="en-US" sz="1100" dirty="0">
                <a:solidFill>
                  <a:srgbClr val="27E5E5"/>
                </a:solidFill>
                <a:latin typeface="Courier New" pitchFamily="34" charset="0"/>
                <a:ea typeface="Courier New" pitchFamily="34" charset="-122"/>
                <a:cs typeface="Courier New" pitchFamily="34" charset="-120"/>
              </a:rPr>
              <a:t>Ing. de proceso</a:t>
            </a:r>
            <a:endParaRPr lang="en-US" sz="1100" dirty="0"/>
          </a:p>
        </p:txBody>
      </p:sp>
      <p:sp>
        <p:nvSpPr>
          <p:cNvPr id="32" name="Shape 30"/>
          <p:cNvSpPr/>
          <p:nvPr/>
        </p:nvSpPr>
        <p:spPr>
          <a:xfrm>
            <a:off x="7741768" y="3941064"/>
            <a:ext cx="3947008" cy="566928"/>
          </a:xfrm>
          <a:prstGeom prst="rect">
            <a:avLst/>
          </a:prstGeom>
          <a:solidFill>
            <a:srgbClr val="0B0B0B"/>
          </a:solidFill>
          <a:ln w="12700">
            <a:solidFill>
              <a:srgbClr val="242424"/>
            </a:solidFill>
            <a:prstDash val="solid"/>
          </a:ln>
        </p:spPr>
      </p:sp>
      <p:sp>
        <p:nvSpPr>
          <p:cNvPr id="33" name="Text 31"/>
          <p:cNvSpPr/>
          <p:nvPr/>
        </p:nvSpPr>
        <p:spPr>
          <a:xfrm>
            <a:off x="7814920" y="3941064"/>
            <a:ext cx="3800704"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Responsabilidad</a:t>
            </a:r>
            <a:endParaRPr lang="en-US" sz="1100" dirty="0"/>
          </a:p>
        </p:txBody>
      </p:sp>
      <p:sp>
        <p:nvSpPr>
          <p:cNvPr id="34" name="Text 32"/>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35" name="Text 33"/>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36" name="Text 34"/>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36 / 49</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31  GOBIERNO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LA MATRIZ RECHAZA DE VERDAD</a:t>
            </a:r>
            <a:endParaRPr lang="en-US" sz="3300" dirty="0"/>
          </a:p>
        </p:txBody>
      </p:sp>
      <p:sp>
        <p:nvSpPr>
          <p:cNvPr id="4" name="Shape 2"/>
          <p:cNvSpPr/>
          <p:nvPr/>
        </p:nvSpPr>
        <p:spPr>
          <a:xfrm>
            <a:off x="502920" y="1783080"/>
            <a:ext cx="11185855" cy="2788920"/>
          </a:xfrm>
          <a:prstGeom prst="roundRect">
            <a:avLst>
              <a:gd name="adj" fmla="val 1639"/>
            </a:avLst>
          </a:prstGeom>
          <a:solidFill>
            <a:srgbClr val="0A0A0A"/>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5" name="Shape 3"/>
          <p:cNvSpPr/>
          <p:nvPr/>
        </p:nvSpPr>
        <p:spPr>
          <a:xfrm>
            <a:off x="502920" y="1783080"/>
            <a:ext cx="11185855" cy="365760"/>
          </a:xfrm>
          <a:prstGeom prst="rect">
            <a:avLst/>
          </a:prstGeom>
          <a:solidFill>
            <a:srgbClr val="1E1E1E"/>
          </a:solidFill>
          <a:ln w="12700">
            <a:solidFill>
              <a:srgbClr val="333333"/>
            </a:solidFill>
            <a:prstDash val="solid"/>
          </a:ln>
        </p:spPr>
      </p:sp>
      <p:sp>
        <p:nvSpPr>
          <p:cNvPr id="6" name="Shape 4"/>
          <p:cNvSpPr/>
          <p:nvPr/>
        </p:nvSpPr>
        <p:spPr>
          <a:xfrm>
            <a:off x="704088" y="1911096"/>
            <a:ext cx="118872" cy="118872"/>
          </a:xfrm>
          <a:prstGeom prst="ellipse">
            <a:avLst/>
          </a:prstGeom>
          <a:solidFill>
            <a:srgbClr val="FF5F56"/>
          </a:solidFill>
          <a:ln/>
        </p:spPr>
      </p:sp>
      <p:sp>
        <p:nvSpPr>
          <p:cNvPr id="7" name="Shape 5"/>
          <p:cNvSpPr/>
          <p:nvPr/>
        </p:nvSpPr>
        <p:spPr>
          <a:xfrm>
            <a:off x="960120" y="1911096"/>
            <a:ext cx="118872" cy="118872"/>
          </a:xfrm>
          <a:prstGeom prst="ellipse">
            <a:avLst/>
          </a:prstGeom>
          <a:solidFill>
            <a:srgbClr val="FFBD2E"/>
          </a:solidFill>
          <a:ln/>
        </p:spPr>
      </p:sp>
      <p:sp>
        <p:nvSpPr>
          <p:cNvPr id="8" name="Shape 6"/>
          <p:cNvSpPr/>
          <p:nvPr/>
        </p:nvSpPr>
        <p:spPr>
          <a:xfrm>
            <a:off x="1216152" y="1911096"/>
            <a:ext cx="118872" cy="118872"/>
          </a:xfrm>
          <a:prstGeom prst="ellipse">
            <a:avLst/>
          </a:prstGeom>
          <a:solidFill>
            <a:srgbClr val="27C93F"/>
          </a:solidFill>
          <a:ln/>
        </p:spPr>
      </p:sp>
      <p:sp>
        <p:nvSpPr>
          <p:cNvPr id="9" name="Text 7"/>
          <p:cNvSpPr/>
          <p:nvPr/>
        </p:nvSpPr>
        <p:spPr>
          <a:xfrm>
            <a:off x="1691640" y="1783080"/>
            <a:ext cx="9814255" cy="365760"/>
          </a:xfrm>
          <a:prstGeom prst="rect">
            <a:avLst/>
          </a:prstGeom>
          <a:noFill/>
          <a:ln/>
        </p:spPr>
        <p:txBody>
          <a:bodyPr wrap="square" lIns="0" tIns="0" rIns="0" bIns="0" rtlCol="0" anchor="ctr"/>
          <a:lstStyle/>
          <a:p>
            <a:pPr indent="0" marL="0">
              <a:buNone/>
            </a:pPr>
            <a:r>
              <a:rPr lang="en-US" sz="950" dirty="0">
                <a:solidFill>
                  <a:srgbClr val="8C8C8C"/>
                </a:solidFill>
                <a:latin typeface="Courier New" pitchFamily="34" charset="0"/>
                <a:ea typeface="Courier New" pitchFamily="34" charset="-122"/>
                <a:cs typeface="Courier New" pitchFamily="34" charset="-120"/>
              </a:rPr>
              <a:t>root@planta:~# curl -X POST /api/autorizar</a:t>
            </a:r>
            <a:endParaRPr lang="en-US" sz="950" dirty="0"/>
          </a:p>
        </p:txBody>
      </p:sp>
      <p:sp>
        <p:nvSpPr>
          <p:cNvPr id="10" name="Text 8"/>
          <p:cNvSpPr/>
          <p:nvPr/>
        </p:nvSpPr>
        <p:spPr>
          <a:xfrm>
            <a:off x="777240" y="2286000"/>
            <a:ext cx="10637215" cy="2148840"/>
          </a:xfrm>
          <a:prstGeom prst="rect">
            <a:avLst/>
          </a:prstGeom>
          <a:noFill/>
          <a:ln/>
        </p:spPr>
        <p:txBody>
          <a:bodyPr wrap="square" lIns="0" tIns="0" rIns="0" bIns="0" rtlCol="0" anchor="t"/>
          <a:lstStyle/>
          <a:p>
            <a:pPr indent="0" marL="0">
              <a:lnSpc>
                <a:spcPct val="112000"/>
              </a:lnSpc>
              <a:buNone/>
            </a:pPr>
            <a:r>
              <a:rPr lang="en-US" sz="1150" dirty="0">
                <a:solidFill>
                  <a:srgbClr val="C6FF00"/>
                </a:solidFill>
                <a:latin typeface="Courier New" pitchFamily="34" charset="0"/>
                <a:ea typeface="Courier New" pitchFamily="34" charset="-122"/>
                <a:cs typeface="Courier New" pitchFamily="34" charset="-120"/>
              </a:rPr>
              <a:t>&gt; operador solicita ajuste menor</a:t>
            </a:r>
            <a:endParaRPr lang="en-US" sz="1150" dirty="0"/>
          </a:p>
          <a:p>
            <a:pPr indent="0" marL="0">
              <a:lnSpc>
                <a:spcPct val="112000"/>
              </a:lnSpc>
              <a:buNone/>
            </a:pPr>
            <a:r>
              <a:rPr lang="en-US" sz="1150" dirty="0">
                <a:solidFill>
                  <a:srgbClr val="FF3B30"/>
                </a:solidFill>
                <a:latin typeface="Courier New" pitchFamily="34" charset="0"/>
                <a:ea typeface="Courier New" pitchFamily="34" charset="-122"/>
                <a:cs typeface="Courier New" pitchFamily="34" charset="-120"/>
              </a:rPr>
              <a:t>RECHAZADA. La matriz exige el rol 'supervisor' para</a:t>
            </a:r>
            <a:endParaRPr lang="en-US" sz="1150" dirty="0"/>
          </a:p>
          <a:p>
            <a:pPr indent="0" marL="0">
              <a:lnSpc>
                <a:spcPct val="112000"/>
              </a:lnSpc>
              <a:buNone/>
            </a:pPr>
            <a:r>
              <a:rPr lang="en-US" sz="1150" dirty="0">
                <a:solidFill>
                  <a:srgbClr val="FF3B30"/>
                </a:solidFill>
                <a:latin typeface="Courier New" pitchFamily="34" charset="0"/>
                <a:ea typeface="Courier New" pitchFamily="34" charset="-122"/>
                <a:cs typeface="Courier New" pitchFamily="34" charset="-120"/>
              </a:rPr>
              <a:t>«Consigna de proceso · ajuste menor»; el solicitante es 'operador'.</a:t>
            </a:r>
            <a:endParaRPr lang="en-US" sz="1150" dirty="0"/>
          </a:p>
          <a:p>
            <a:pPr indent="0" marL="0">
              <a:lnSpc>
                <a:spcPct val="112000"/>
              </a:lnSpc>
              <a:buNone/>
            </a:pPr>
            <a:r>
              <a:rPr lang="en-US" sz="1150" dirty="0">
                <a:solidFill>
                  <a:srgbClr val="8C8C8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C6FF00"/>
                </a:solidFill>
                <a:latin typeface="Courier New" pitchFamily="34" charset="0"/>
                <a:ea typeface="Courier New" pitchFamily="34" charset="-122"/>
                <a:cs typeface="Courier New" pitchFamily="34" charset="-120"/>
              </a:rPr>
              <a:t>&gt; supervisor, sin justificación escrita</a:t>
            </a:r>
            <a:endParaRPr lang="en-US" sz="1150" dirty="0"/>
          </a:p>
          <a:p>
            <a:pPr indent="0" marL="0">
              <a:lnSpc>
                <a:spcPct val="112000"/>
              </a:lnSpc>
              <a:buNone/>
            </a:pPr>
            <a:r>
              <a:rPr lang="en-US" sz="1150" dirty="0">
                <a:solidFill>
                  <a:srgbClr val="FF3B30"/>
                </a:solidFill>
                <a:latin typeface="Courier New" pitchFamily="34" charset="0"/>
                <a:ea typeface="Courier New" pitchFamily="34" charset="-122"/>
                <a:cs typeface="Courier New" pitchFamily="34" charset="-120"/>
              </a:rPr>
              <a:t>RECHAZADA. Toda autorización exige justificación escrita.</a:t>
            </a:r>
            <a:endParaRPr lang="en-US" sz="1150" dirty="0"/>
          </a:p>
          <a:p>
            <a:pPr indent="0" marL="0">
              <a:lnSpc>
                <a:spcPct val="112000"/>
              </a:lnSpc>
              <a:buNone/>
            </a:pPr>
            <a:r>
              <a:rPr lang="en-US" sz="1150" dirty="0">
                <a:solidFill>
                  <a:srgbClr val="8C8C8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C6FF00"/>
                </a:solidFill>
                <a:latin typeface="Courier New" pitchFamily="34" charset="0"/>
                <a:ea typeface="Courier New" pitchFamily="34" charset="-122"/>
                <a:cs typeface="Courier New" pitchFamily="34" charset="-120"/>
              </a:rPr>
              <a:t>&gt; supervisor solicita ajuste MAYOR (+39 %)</a:t>
            </a:r>
            <a:endParaRPr lang="en-US" sz="1150" dirty="0"/>
          </a:p>
          <a:p>
            <a:pPr indent="0" marL="0">
              <a:lnSpc>
                <a:spcPct val="112000"/>
              </a:lnSpc>
              <a:buNone/>
            </a:pPr>
            <a:r>
              <a:rPr lang="en-US" sz="1150" dirty="0">
                <a:solidFill>
                  <a:srgbClr val="FF3B30"/>
                </a:solidFill>
                <a:latin typeface="Courier New" pitchFamily="34" charset="0"/>
                <a:ea typeface="Courier New" pitchFamily="34" charset="-122"/>
                <a:cs typeface="Courier New" pitchFamily="34" charset="-120"/>
              </a:rPr>
              <a:t>RECHAZADA. La matriz exige el rol 'ingeniero_proceso'.</a:t>
            </a:r>
            <a:endParaRPr lang="en-US" sz="1150" dirty="0"/>
          </a:p>
          <a:p>
            <a:pPr indent="0" marL="0">
              <a:lnSpc>
                <a:spcPct val="112000"/>
              </a:lnSpc>
              <a:buNone/>
            </a:pPr>
            <a:r>
              <a:rPr lang="en-US" sz="1150" dirty="0">
                <a:solidFill>
                  <a:srgbClr val="8C8C8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C6FF00"/>
                </a:solidFill>
                <a:latin typeface="Courier New" pitchFamily="34" charset="0"/>
                <a:ea typeface="Courier New" pitchFamily="34" charset="-122"/>
                <a:cs typeface="Courier New" pitchFamily="34" charset="-120"/>
              </a:rPr>
              <a:t>&gt; supervisor, ajuste menor, con justificación</a:t>
            </a:r>
            <a:endParaRPr lang="en-US" sz="1150" dirty="0"/>
          </a:p>
          <a:p>
            <a:pPr indent="0" marL="0">
              <a:lnSpc>
                <a:spcPct val="112000"/>
              </a:lnSpc>
              <a:buNone/>
            </a:pPr>
            <a:r>
              <a:rPr lang="en-US" sz="1150" dirty="0">
                <a:solidFill>
                  <a:srgbClr val="22E06B"/>
                </a:solidFill>
                <a:latin typeface="Courier New" pitchFamily="34" charset="0"/>
                <a:ea typeface="Courier New" pitchFamily="34" charset="-122"/>
                <a:cs typeface="Courier New" pitchFamily="34" charset="-120"/>
              </a:rPr>
              <a:t>Autorizada por supervisor. Registro #1.</a:t>
            </a:r>
            <a:endParaRPr lang="en-US" sz="1150" dirty="0"/>
          </a:p>
        </p:txBody>
      </p:sp>
      <p:sp>
        <p:nvSpPr>
          <p:cNvPr id="11" name="Text 9"/>
          <p:cNvSpPr/>
          <p:nvPr/>
        </p:nvSpPr>
        <p:spPr>
          <a:xfrm>
            <a:off x="502920" y="4773168"/>
            <a:ext cx="11185855" cy="1097280"/>
          </a:xfrm>
          <a:prstGeom prst="rect">
            <a:avLst/>
          </a:prstGeom>
          <a:noFill/>
          <a:ln/>
        </p:spPr>
        <p:txBody>
          <a:bodyPr wrap="square" lIns="0" tIns="0" rIns="0" bIns="0" rtlCol="0" anchor="t"/>
          <a:lstStyle/>
          <a:p>
            <a:pPr indent="0" marL="0">
              <a:lnSpc>
                <a:spcPct val="110000"/>
              </a:lnSpc>
              <a:buNone/>
            </a:pPr>
            <a:r>
              <a:rPr lang="en-US" sz="1250" b="1" dirty="0">
                <a:solidFill>
                  <a:srgbClr val="C6FF00"/>
                </a:solidFill>
                <a:latin typeface="Arial" pitchFamily="34" charset="0"/>
                <a:ea typeface="Arial" pitchFamily="34" charset="-122"/>
                <a:cs typeface="Arial" pitchFamily="34" charset="-120"/>
              </a:rPr>
              <a:t>VERIFICADO  </a:t>
            </a:r>
            <a:pPr indent="0" marL="0">
              <a:lnSpc>
                <a:spcPct val="110000"/>
              </a:lnSpc>
              <a:buNone/>
            </a:pPr>
            <a:r>
              <a:rPr lang="en-US" sz="1250" dirty="0">
                <a:solidFill>
                  <a:srgbClr val="F4F4F4"/>
                </a:solidFill>
                <a:latin typeface="Arial" pitchFamily="34" charset="0"/>
                <a:ea typeface="Arial" pitchFamily="34" charset="-122"/>
                <a:cs typeface="Arial" pitchFamily="34" charset="-120"/>
              </a:rPr>
              <a:t>Los cuatro casos se comprobaron contra la API en ejecución. No es una maqueta: la lógica de derechos de decisión se aplica en el servidor, no en la interfaz.</a:t>
            </a:r>
            <a:endParaRPr lang="en-US" sz="1250" dirty="0"/>
          </a:p>
        </p:txBody>
      </p:sp>
      <p:sp>
        <p:nvSpPr>
          <p:cNvPr id="12" name="Text 10"/>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3" name="Text 11"/>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4" name="Text 12"/>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37 / 49</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32  GOBIERNO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LA BITÁCORA — CERRAR EL LAZO</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MONITOREAR</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SIN REGISTRO NO HAY RENDICIÓN DE CUENTAS</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Cada decisión queda con quién la pidió, quién la autorizó, con qué evidencia (la instantánea del what-if), la calidad y el OEE antes, y —a los 150 s— los mismos valores después con un veredicto: EFECTIVA, CONTRAPRODUCENTE o SIN EFECTO MEDIBLE. El registro es append-only: una bitácora editable no sirve como evidencia.</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SOBREVIVE A</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El reinicio del turno · es evidencia de auditoría</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EXPORTABLE PARA</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El Entregable 1 (S02, Taller 1)</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38 / 49</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33  GOBIERNO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RESULTADOS VERIFICADOS EN EL DEMO</a:t>
            </a:r>
            <a:endParaRPr lang="en-US" sz="3300" dirty="0"/>
          </a:p>
        </p:txBody>
      </p:sp>
      <p:sp>
        <p:nvSpPr>
          <p:cNvPr id="4" name="Shape 2"/>
          <p:cNvSpPr/>
          <p:nvPr/>
        </p:nvSpPr>
        <p:spPr>
          <a:xfrm>
            <a:off x="502920" y="1783080"/>
            <a:ext cx="3545738" cy="1828800"/>
          </a:xfrm>
          <a:prstGeom prst="roundRect">
            <a:avLst>
              <a:gd name="adj" fmla="val 3000"/>
            </a:avLst>
          </a:prstGeom>
          <a:solidFill>
            <a:srgbClr val="151515"/>
          </a:solidFill>
          <a:ln w="12700">
            <a:solidFill>
              <a:srgbClr val="333333"/>
            </a:solidFill>
            <a:prstDash val="solid"/>
          </a:ln>
        </p:spPr>
      </p:sp>
      <p:sp>
        <p:nvSpPr>
          <p:cNvPr id="5" name="Text 3"/>
          <p:cNvSpPr/>
          <p:nvPr/>
        </p:nvSpPr>
        <p:spPr>
          <a:xfrm>
            <a:off x="640080" y="1965960"/>
            <a:ext cx="3271418" cy="868680"/>
          </a:xfrm>
          <a:prstGeom prst="rect">
            <a:avLst/>
          </a:prstGeom>
          <a:noFill/>
          <a:ln/>
        </p:spPr>
        <p:txBody>
          <a:bodyPr wrap="square" lIns="0" tIns="0" rIns="0" bIns="0" rtlCol="0" anchor="ctr"/>
          <a:lstStyle/>
          <a:p>
            <a:pPr algn="ctr" indent="0" marL="0">
              <a:buNone/>
            </a:pPr>
            <a:r>
              <a:rPr lang="en-US" sz="3800" dirty="0">
                <a:solidFill>
                  <a:srgbClr val="22E06B"/>
                </a:solidFill>
                <a:latin typeface="Arial Black" pitchFamily="34" charset="0"/>
                <a:ea typeface="Arial Black" pitchFamily="34" charset="-122"/>
                <a:cs typeface="Arial Black" pitchFamily="34" charset="-120"/>
              </a:rPr>
              <a:t>5 / 5</a:t>
            </a:r>
            <a:endParaRPr lang="en-US" sz="3800" dirty="0"/>
          </a:p>
        </p:txBody>
      </p:sp>
      <p:sp>
        <p:nvSpPr>
          <p:cNvPr id="6" name="Text 4"/>
          <p:cNvSpPr/>
          <p:nvPr/>
        </p:nvSpPr>
        <p:spPr>
          <a:xfrm>
            <a:off x="685800"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modos de falla diagnosticados correctamente por el gemelo</a:t>
            </a:r>
            <a:endParaRPr lang="en-US" sz="1100" dirty="0"/>
          </a:p>
        </p:txBody>
      </p:sp>
      <p:sp>
        <p:nvSpPr>
          <p:cNvPr id="7" name="Shape 5"/>
          <p:cNvSpPr/>
          <p:nvPr/>
        </p:nvSpPr>
        <p:spPr>
          <a:xfrm>
            <a:off x="4322978" y="1783080"/>
            <a:ext cx="3545738" cy="1828800"/>
          </a:xfrm>
          <a:prstGeom prst="roundRect">
            <a:avLst>
              <a:gd name="adj" fmla="val 3000"/>
            </a:avLst>
          </a:prstGeom>
          <a:solidFill>
            <a:srgbClr val="151515"/>
          </a:solidFill>
          <a:ln w="12700">
            <a:solidFill>
              <a:srgbClr val="333333"/>
            </a:solidFill>
            <a:prstDash val="solid"/>
          </a:ln>
        </p:spPr>
      </p:sp>
      <p:sp>
        <p:nvSpPr>
          <p:cNvPr id="8" name="Text 6"/>
          <p:cNvSpPr/>
          <p:nvPr/>
        </p:nvSpPr>
        <p:spPr>
          <a:xfrm>
            <a:off x="4460138" y="1965960"/>
            <a:ext cx="3271418" cy="868680"/>
          </a:xfrm>
          <a:prstGeom prst="rect">
            <a:avLst/>
          </a:prstGeom>
          <a:noFill/>
          <a:ln/>
        </p:spPr>
        <p:txBody>
          <a:bodyPr wrap="square" lIns="0" tIns="0" rIns="0" bIns="0" rtlCol="0" anchor="ctr"/>
          <a:lstStyle/>
          <a:p>
            <a:pPr algn="ctr" indent="0" marL="0">
              <a:buNone/>
            </a:pPr>
            <a:r>
              <a:rPr lang="en-US" sz="3800" dirty="0">
                <a:solidFill>
                  <a:srgbClr val="C6FF00"/>
                </a:solidFill>
                <a:latin typeface="Arial Black" pitchFamily="34" charset="0"/>
                <a:ea typeface="Arial Black" pitchFamily="34" charset="-122"/>
                <a:cs typeface="Arial Black" pitchFamily="34" charset="-120"/>
              </a:rPr>
              <a:t>0 → 100 %</a:t>
            </a:r>
            <a:endParaRPr lang="en-US" sz="3800" dirty="0"/>
          </a:p>
        </p:txBody>
      </p:sp>
      <p:sp>
        <p:nvSpPr>
          <p:cNvPr id="9" name="Text 7"/>
          <p:cNvSpPr/>
          <p:nvPr/>
        </p:nvSpPr>
        <p:spPr>
          <a:xfrm>
            <a:off x="4505858"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la calidad se recupera al aplicar la consigna recomendada</a:t>
            </a:r>
            <a:endParaRPr lang="en-US" sz="1100" dirty="0"/>
          </a:p>
        </p:txBody>
      </p:sp>
      <p:sp>
        <p:nvSpPr>
          <p:cNvPr id="10" name="Shape 8"/>
          <p:cNvSpPr/>
          <p:nvPr/>
        </p:nvSpPr>
        <p:spPr>
          <a:xfrm>
            <a:off x="8143037" y="1783080"/>
            <a:ext cx="3545738" cy="1828800"/>
          </a:xfrm>
          <a:prstGeom prst="roundRect">
            <a:avLst>
              <a:gd name="adj" fmla="val 3000"/>
            </a:avLst>
          </a:prstGeom>
          <a:solidFill>
            <a:srgbClr val="151515"/>
          </a:solidFill>
          <a:ln w="12700">
            <a:solidFill>
              <a:srgbClr val="333333"/>
            </a:solidFill>
            <a:prstDash val="solid"/>
          </a:ln>
        </p:spPr>
      </p:sp>
      <p:sp>
        <p:nvSpPr>
          <p:cNvPr id="11" name="Text 9"/>
          <p:cNvSpPr/>
          <p:nvPr/>
        </p:nvSpPr>
        <p:spPr>
          <a:xfrm>
            <a:off x="8280197" y="1965960"/>
            <a:ext cx="3271418" cy="868680"/>
          </a:xfrm>
          <a:prstGeom prst="rect">
            <a:avLst/>
          </a:prstGeom>
          <a:noFill/>
          <a:ln/>
        </p:spPr>
        <p:txBody>
          <a:bodyPr wrap="square" lIns="0" tIns="0" rIns="0" bIns="0" rtlCol="0" anchor="ctr"/>
          <a:lstStyle/>
          <a:p>
            <a:pPr algn="ctr" indent="0" marL="0">
              <a:buNone/>
            </a:pPr>
            <a:r>
              <a:rPr lang="en-US" sz="3800" dirty="0">
                <a:solidFill>
                  <a:srgbClr val="27E5E5"/>
                </a:solidFill>
                <a:latin typeface="Arial Black" pitchFamily="34" charset="0"/>
                <a:ea typeface="Arial Black" pitchFamily="34" charset="-122"/>
                <a:cs typeface="Arial Black" pitchFamily="34" charset="-120"/>
              </a:rPr>
              <a:t>4 / 4</a:t>
            </a:r>
            <a:endParaRPr lang="en-US" sz="3800" dirty="0"/>
          </a:p>
        </p:txBody>
      </p:sp>
      <p:sp>
        <p:nvSpPr>
          <p:cNvPr id="12" name="Text 10"/>
          <p:cNvSpPr/>
          <p:nvPr/>
        </p:nvSpPr>
        <p:spPr>
          <a:xfrm>
            <a:off x="8325917"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intentos de autorización resueltos según la matriz de derechos</a:t>
            </a:r>
            <a:endParaRPr lang="en-US" sz="1100" dirty="0"/>
          </a:p>
        </p:txBody>
      </p:sp>
      <p:sp>
        <p:nvSpPr>
          <p:cNvPr id="13" name="Text 11"/>
          <p:cNvSpPr/>
          <p:nvPr/>
        </p:nvSpPr>
        <p:spPr>
          <a:xfrm>
            <a:off x="502920" y="388620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LECTURA CLAVE</a:t>
            </a:r>
            <a:endParaRPr lang="en-US" sz="1100" dirty="0"/>
          </a:p>
        </p:txBody>
      </p:sp>
      <p:sp>
        <p:nvSpPr>
          <p:cNvPr id="14" name="Text 12"/>
          <p:cNvSpPr/>
          <p:nvPr/>
        </p:nvSpPr>
        <p:spPr>
          <a:xfrm>
            <a:off x="502920" y="4270248"/>
            <a:ext cx="11185855" cy="1463040"/>
          </a:xfrm>
          <a:prstGeom prst="rect">
            <a:avLst/>
          </a:prstGeom>
          <a:noFill/>
          <a:ln/>
        </p:spPr>
        <p:txBody>
          <a:bodyPr wrap="square" lIns="0" tIns="0" rIns="0" bIns="0" rtlCol="0" anchor="t"/>
          <a:lstStyle/>
          <a:p>
            <a:pPr indent="0" marL="0">
              <a:lnSpc>
                <a:spcPct val="110000"/>
              </a:lnSpc>
              <a:buNone/>
            </a:pPr>
            <a:r>
              <a:rPr lang="en-US" sz="1300" dirty="0">
                <a:solidFill>
                  <a:srgbClr val="F4F4F4"/>
                </a:solidFill>
                <a:latin typeface="Arial" pitchFamily="34" charset="0"/>
                <a:ea typeface="Arial" pitchFamily="34" charset="-122"/>
                <a:cs typeface="Arial" pitchFamily="34" charset="-120"/>
              </a:rPr>
              <a:t>Todo lo que se afirma en esta presentación está comprobado contra el sistema en ejecución: la prueba de humo recorre los cinco escenarios de falla y el what-if en la terminal, sin necesidad de interfaz. Si el proyector falla, la demostración sigue siendo posible.</a:t>
            </a:r>
            <a:endParaRPr lang="en-US" sz="13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39 / 49</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06</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GUION DE DEMO</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Cómo correrlo y en qué orden mostrarlo</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40 / 49</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40 / 49</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34  DEMO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LEVANTAR EL LABORATORIO</a:t>
            </a:r>
            <a:endParaRPr lang="en-US" sz="3300" dirty="0"/>
          </a:p>
        </p:txBody>
      </p:sp>
      <p:sp>
        <p:nvSpPr>
          <p:cNvPr id="4" name="Shape 2"/>
          <p:cNvSpPr/>
          <p:nvPr/>
        </p:nvSpPr>
        <p:spPr>
          <a:xfrm>
            <a:off x="502920" y="1783080"/>
            <a:ext cx="11185855" cy="2788920"/>
          </a:xfrm>
          <a:prstGeom prst="roundRect">
            <a:avLst>
              <a:gd name="adj" fmla="val 1639"/>
            </a:avLst>
          </a:prstGeom>
          <a:solidFill>
            <a:srgbClr val="0A0A0A"/>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5" name="Shape 3"/>
          <p:cNvSpPr/>
          <p:nvPr/>
        </p:nvSpPr>
        <p:spPr>
          <a:xfrm>
            <a:off x="502920" y="1783080"/>
            <a:ext cx="11185855" cy="365760"/>
          </a:xfrm>
          <a:prstGeom prst="rect">
            <a:avLst/>
          </a:prstGeom>
          <a:solidFill>
            <a:srgbClr val="1E1E1E"/>
          </a:solidFill>
          <a:ln w="12700">
            <a:solidFill>
              <a:srgbClr val="333333"/>
            </a:solidFill>
            <a:prstDash val="solid"/>
          </a:ln>
        </p:spPr>
      </p:sp>
      <p:sp>
        <p:nvSpPr>
          <p:cNvPr id="6" name="Shape 4"/>
          <p:cNvSpPr/>
          <p:nvPr/>
        </p:nvSpPr>
        <p:spPr>
          <a:xfrm>
            <a:off x="704088" y="1911096"/>
            <a:ext cx="118872" cy="118872"/>
          </a:xfrm>
          <a:prstGeom prst="ellipse">
            <a:avLst/>
          </a:prstGeom>
          <a:solidFill>
            <a:srgbClr val="FF5F56"/>
          </a:solidFill>
          <a:ln/>
        </p:spPr>
      </p:sp>
      <p:sp>
        <p:nvSpPr>
          <p:cNvPr id="7" name="Shape 5"/>
          <p:cNvSpPr/>
          <p:nvPr/>
        </p:nvSpPr>
        <p:spPr>
          <a:xfrm>
            <a:off x="960120" y="1911096"/>
            <a:ext cx="118872" cy="118872"/>
          </a:xfrm>
          <a:prstGeom prst="ellipse">
            <a:avLst/>
          </a:prstGeom>
          <a:solidFill>
            <a:srgbClr val="FFBD2E"/>
          </a:solidFill>
          <a:ln/>
        </p:spPr>
      </p:sp>
      <p:sp>
        <p:nvSpPr>
          <p:cNvPr id="8" name="Shape 6"/>
          <p:cNvSpPr/>
          <p:nvPr/>
        </p:nvSpPr>
        <p:spPr>
          <a:xfrm>
            <a:off x="1216152" y="1911096"/>
            <a:ext cx="118872" cy="118872"/>
          </a:xfrm>
          <a:prstGeom prst="ellipse">
            <a:avLst/>
          </a:prstGeom>
          <a:solidFill>
            <a:srgbClr val="27C93F"/>
          </a:solidFill>
          <a:ln/>
        </p:spPr>
      </p:sp>
      <p:sp>
        <p:nvSpPr>
          <p:cNvPr id="9" name="Text 7"/>
          <p:cNvSpPr/>
          <p:nvPr/>
        </p:nvSpPr>
        <p:spPr>
          <a:xfrm>
            <a:off x="1691640" y="1783080"/>
            <a:ext cx="9814255" cy="365760"/>
          </a:xfrm>
          <a:prstGeom prst="rect">
            <a:avLst/>
          </a:prstGeom>
          <a:noFill/>
          <a:ln/>
        </p:spPr>
        <p:txBody>
          <a:bodyPr wrap="square" lIns="0" tIns="0" rIns="0" bIns="0" rtlCol="0" anchor="ctr"/>
          <a:lstStyle/>
          <a:p>
            <a:pPr indent="0" marL="0">
              <a:buNone/>
            </a:pPr>
            <a:r>
              <a:rPr lang="en-US" sz="950" dirty="0">
                <a:solidFill>
                  <a:srgbClr val="8C8C8C"/>
                </a:solidFill>
                <a:latin typeface="Courier New" pitchFamily="34" charset="0"/>
                <a:ea typeface="Courier New" pitchFamily="34" charset="-122"/>
                <a:cs typeface="Courier New" pitchFamily="34" charset="-120"/>
              </a:rPr>
              <a:t>root@planta:~# gemelo-digital</a:t>
            </a:r>
            <a:endParaRPr lang="en-US" sz="950" dirty="0"/>
          </a:p>
        </p:txBody>
      </p:sp>
      <p:sp>
        <p:nvSpPr>
          <p:cNvPr id="10" name="Text 8"/>
          <p:cNvSpPr/>
          <p:nvPr/>
        </p:nvSpPr>
        <p:spPr>
          <a:xfrm>
            <a:off x="777240" y="2286000"/>
            <a:ext cx="10637215" cy="2148840"/>
          </a:xfrm>
          <a:prstGeom prst="rect">
            <a:avLst/>
          </a:prstGeom>
          <a:noFill/>
          <a:ln/>
        </p:spPr>
        <p:txBody>
          <a:bodyPr wrap="square" lIns="0" tIns="0" rIns="0" bIns="0" rtlCol="0" anchor="t"/>
          <a:lstStyle/>
          <a:p>
            <a:pPr indent="0" marL="0">
              <a:lnSpc>
                <a:spcPct val="112000"/>
              </a:lnSpc>
              <a:buNone/>
            </a:pPr>
            <a:r>
              <a:rPr lang="en-US" sz="1150" dirty="0">
                <a:solidFill>
                  <a:srgbClr val="5A5A5A"/>
                </a:solidFill>
                <a:latin typeface="Courier New" pitchFamily="34" charset="0"/>
                <a:ea typeface="Courier New" pitchFamily="34" charset="-122"/>
                <a:cs typeface="Courier New" pitchFamily="34" charset="-120"/>
              </a:rPr>
              <a:t># terminal 1 — el backend</a:t>
            </a:r>
            <a:endParaRPr lang="en-US" sz="1150" dirty="0"/>
          </a:p>
          <a:p>
            <a:pPr indent="0" marL="0">
              <a:lnSpc>
                <a:spcPct val="112000"/>
              </a:lnSpc>
              <a:buNone/>
            </a:pPr>
            <a:r>
              <a:rPr lang="en-US" sz="1150" dirty="0">
                <a:solidFill>
                  <a:srgbClr val="C6FF00"/>
                </a:solidFill>
                <a:latin typeface="Courier New" pitchFamily="34" charset="0"/>
                <a:ea typeface="Courier New" pitchFamily="34" charset="-122"/>
                <a:cs typeface="Courier New" pitchFamily="34" charset="-120"/>
              </a:rPr>
              <a:t>cd backend &amp;&amp; pip install -r requirements.txt</a:t>
            </a:r>
            <a:endParaRPr lang="en-US" sz="1150" dirty="0"/>
          </a:p>
          <a:p>
            <a:pPr indent="0" marL="0">
              <a:lnSpc>
                <a:spcPct val="112000"/>
              </a:lnSpc>
              <a:buNone/>
            </a:pPr>
            <a:r>
              <a:rPr lang="en-US" sz="1150" dirty="0">
                <a:solidFill>
                  <a:srgbClr val="C6FF00"/>
                </a:solidFill>
                <a:latin typeface="Courier New" pitchFamily="34" charset="0"/>
                <a:ea typeface="Courier New" pitchFamily="34" charset="-122"/>
                <a:cs typeface="Courier New" pitchFamily="34" charset="-120"/>
              </a:rPr>
              <a:t>python main.py --velocidad 4</a:t>
            </a:r>
            <a:endParaRPr lang="en-US" sz="1150" dirty="0"/>
          </a:p>
          <a:p>
            <a:pPr indent="0" marL="0">
              <a:lnSpc>
                <a:spcPct val="112000"/>
              </a:lnSpc>
              <a:buNone/>
            </a:pPr>
            <a:r>
              <a:rPr lang="en-US" sz="1150" dirty="0">
                <a:solidFill>
                  <a:srgbClr val="22E06B"/>
                </a:solidFill>
                <a:latin typeface="Courier New" pitchFamily="34" charset="0"/>
                <a:ea typeface="Courier New" pitchFamily="34" charset="-122"/>
                <a:cs typeface="Courier New" pitchFamily="34" charset="-120"/>
              </a:rPr>
              <a:t>  transporte : en memoria    velocidad : 4.0x</a:t>
            </a:r>
            <a:endParaRPr lang="en-US" sz="1150" dirty="0"/>
          </a:p>
          <a:p>
            <a:pPr indent="0" marL="0">
              <a:lnSpc>
                <a:spcPct val="112000"/>
              </a:lnSpc>
              <a:buNone/>
            </a:pPr>
            <a:r>
              <a:rPr lang="en-US" sz="1150" dirty="0">
                <a:solidFill>
                  <a:srgbClr val="8C8C8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5A5A5A"/>
                </a:solidFill>
                <a:latin typeface="Courier New" pitchFamily="34" charset="0"/>
                <a:ea typeface="Courier New" pitchFamily="34" charset="-122"/>
                <a:cs typeface="Courier New" pitchFamily="34" charset="-120"/>
              </a:rPr>
              <a:t># terminal 2 — el front</a:t>
            </a:r>
            <a:endParaRPr lang="en-US" sz="1150" dirty="0"/>
          </a:p>
          <a:p>
            <a:pPr indent="0" marL="0">
              <a:lnSpc>
                <a:spcPct val="112000"/>
              </a:lnSpc>
              <a:buNone/>
            </a:pPr>
            <a:r>
              <a:rPr lang="en-US" sz="1150" dirty="0">
                <a:solidFill>
                  <a:srgbClr val="C6FF00"/>
                </a:solidFill>
                <a:latin typeface="Courier New" pitchFamily="34" charset="0"/>
                <a:ea typeface="Courier New" pitchFamily="34" charset="-122"/>
                <a:cs typeface="Courier New" pitchFamily="34" charset="-120"/>
              </a:rPr>
              <a:t>cd frontend &amp;&amp; npm install &amp;&amp; npm run dev</a:t>
            </a:r>
            <a:endParaRPr lang="en-US" sz="1150" dirty="0"/>
          </a:p>
          <a:p>
            <a:pPr indent="0" marL="0">
              <a:lnSpc>
                <a:spcPct val="112000"/>
              </a:lnSpc>
              <a:buNone/>
            </a:pPr>
            <a:r>
              <a:rPr lang="en-US" sz="1150" dirty="0">
                <a:solidFill>
                  <a:srgbClr val="22E06B"/>
                </a:solidFill>
                <a:latin typeface="Courier New" pitchFamily="34" charset="0"/>
                <a:ea typeface="Courier New" pitchFamily="34" charset="-122"/>
                <a:cs typeface="Courier New" pitchFamily="34" charset="-120"/>
              </a:rPr>
              <a:t>  ➜  Local: http://localhost:5173/</a:t>
            </a:r>
            <a:endParaRPr lang="en-US" sz="1150" dirty="0"/>
          </a:p>
          <a:p>
            <a:pPr indent="0" marL="0">
              <a:lnSpc>
                <a:spcPct val="112000"/>
              </a:lnSpc>
              <a:buNone/>
            </a:pPr>
            <a:r>
              <a:rPr lang="en-US" sz="1150" dirty="0">
                <a:solidFill>
                  <a:srgbClr val="8C8C8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5A5A5A"/>
                </a:solidFill>
                <a:latin typeface="Courier New" pitchFamily="34" charset="0"/>
                <a:ea typeface="Courier New" pitchFamily="34" charset="-122"/>
                <a:cs typeface="Courier New" pitchFamily="34" charset="-120"/>
              </a:rPr>
              <a:t># si el puerto está ocupado, el backend te lo dice y te da la salida</a:t>
            </a:r>
            <a:endParaRPr lang="en-US" sz="1150" dirty="0"/>
          </a:p>
          <a:p>
            <a:pPr indent="0" marL="0">
              <a:lnSpc>
                <a:spcPct val="112000"/>
              </a:lnSpc>
              <a:buNone/>
            </a:pPr>
            <a:r>
              <a:rPr lang="en-US" sz="1150" dirty="0">
                <a:solidFill>
                  <a:srgbClr val="27E5E5"/>
                </a:solidFill>
                <a:latin typeface="Courier New" pitchFamily="34" charset="0"/>
                <a:ea typeface="Courier New" pitchFamily="34" charset="-122"/>
                <a:cs typeface="Courier New" pitchFamily="34" charset="-120"/>
              </a:rPr>
              <a:t>python main.py --api-puerto 8021</a:t>
            </a:r>
            <a:endParaRPr lang="en-US" sz="1150" dirty="0"/>
          </a:p>
          <a:p>
            <a:pPr indent="0" marL="0">
              <a:lnSpc>
                <a:spcPct val="112000"/>
              </a:lnSpc>
              <a:buNone/>
            </a:pPr>
            <a:r>
              <a:rPr lang="en-US" sz="1150" dirty="0">
                <a:solidFill>
                  <a:srgbClr val="27E5E5"/>
                </a:solidFill>
                <a:latin typeface="Courier New" pitchFamily="34" charset="0"/>
                <a:ea typeface="Courier New" pitchFamily="34" charset="-122"/>
                <a:cs typeface="Courier New" pitchFamily="34" charset="-120"/>
              </a:rPr>
              <a:t>API_PUERTO=8021 npm run dev</a:t>
            </a:r>
            <a:endParaRPr lang="en-US" sz="1150" dirty="0"/>
          </a:p>
        </p:txBody>
      </p:sp>
      <p:sp>
        <p:nvSpPr>
          <p:cNvPr id="11" name="Text 9"/>
          <p:cNvSpPr/>
          <p:nvPr/>
        </p:nvSpPr>
        <p:spPr>
          <a:xfrm>
            <a:off x="502920" y="4773168"/>
            <a:ext cx="11185855" cy="1097280"/>
          </a:xfrm>
          <a:prstGeom prst="rect">
            <a:avLst/>
          </a:prstGeom>
          <a:noFill/>
          <a:ln/>
        </p:spPr>
        <p:txBody>
          <a:bodyPr wrap="square" lIns="0" tIns="0" rIns="0" bIns="0" rtlCol="0" anchor="t"/>
          <a:lstStyle/>
          <a:p>
            <a:pPr indent="0" marL="0">
              <a:lnSpc>
                <a:spcPct val="110000"/>
              </a:lnSpc>
              <a:buNone/>
            </a:pPr>
            <a:r>
              <a:rPr lang="en-US" sz="1250" b="1" dirty="0">
                <a:solidFill>
                  <a:srgbClr val="C6FF00"/>
                </a:solidFill>
                <a:latin typeface="Arial" pitchFamily="34" charset="0"/>
                <a:ea typeface="Arial" pitchFamily="34" charset="-122"/>
                <a:cs typeface="Arial" pitchFamily="34" charset="-120"/>
              </a:rPr>
              <a:t>PLAN B  </a:t>
            </a:r>
            <a:pPr indent="0" marL="0">
              <a:lnSpc>
                <a:spcPct val="110000"/>
              </a:lnSpc>
              <a:buNone/>
            </a:pPr>
            <a:r>
              <a:rPr lang="en-US" sz="1250" dirty="0">
                <a:solidFill>
                  <a:srgbClr val="F4F4F4"/>
                </a:solidFill>
                <a:latin typeface="Arial" pitchFamily="34" charset="0"/>
                <a:ea typeface="Arial" pitchFamily="34" charset="-122"/>
                <a:cs typeface="Arial" pitchFamily="34" charset="-120"/>
              </a:rPr>
              <a:t>python prueba_rapida.py corre los cinco escenarios y el what-if en la terminal, sin interfaz. Sirve como demostración por sí solo si falla el proyector.</a:t>
            </a:r>
            <a:endParaRPr lang="en-US" sz="1250" dirty="0"/>
          </a:p>
        </p:txBody>
      </p:sp>
      <p:sp>
        <p:nvSpPr>
          <p:cNvPr id="12" name="Text 10"/>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3" name="Text 11"/>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4" name="Text 12"/>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41 / 49</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35  DEMO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GUION DE CLASE — 45 MINUTOS</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El orden importa: si se abre con la demo, se pierde el argumento.</a:t>
            </a:r>
            <a:endParaRPr lang="en-US" sz="1250" dirty="0"/>
          </a:p>
        </p:txBody>
      </p:sp>
      <p:sp>
        <p:nvSpPr>
          <p:cNvPr id="5" name="Shape 3"/>
          <p:cNvSpPr/>
          <p:nvPr/>
        </p:nvSpPr>
        <p:spPr>
          <a:xfrm>
            <a:off x="502920" y="2240280"/>
            <a:ext cx="3576218" cy="1554480"/>
          </a:xfrm>
          <a:prstGeom prst="roundRect">
            <a:avLst>
              <a:gd name="adj" fmla="val 3529"/>
            </a:avLst>
          </a:prstGeom>
          <a:solidFill>
            <a:srgbClr val="151515"/>
          </a:solidFill>
          <a:ln w="12700">
            <a:solidFill>
              <a:srgbClr val="333333"/>
            </a:solidFill>
            <a:prstDash val="solid"/>
          </a:ln>
        </p:spPr>
      </p:sp>
      <p:sp>
        <p:nvSpPr>
          <p:cNvPr id="6" name="Text 4"/>
          <p:cNvSpPr/>
          <p:nvPr/>
        </p:nvSpPr>
        <p:spPr>
          <a:xfrm>
            <a:off x="649224" y="2350008"/>
            <a:ext cx="914400" cy="502920"/>
          </a:xfrm>
          <a:prstGeom prst="rect">
            <a:avLst/>
          </a:prstGeom>
          <a:noFill/>
          <a:ln/>
        </p:spPr>
        <p:txBody>
          <a:bodyPr wrap="square" lIns="0" tIns="0" rIns="0" bIns="0" rtlCol="0" anchor="t"/>
          <a:lstStyle/>
          <a:p>
            <a:pPr indent="0" marL="0">
              <a:buNone/>
            </a:pPr>
            <a:r>
              <a:rPr lang="en-US" sz="2200" dirty="0">
                <a:solidFill>
                  <a:srgbClr val="8C8C8C"/>
                </a:solidFill>
                <a:latin typeface="Arial Black" pitchFamily="34" charset="0"/>
                <a:ea typeface="Arial Black" pitchFamily="34" charset="-122"/>
                <a:cs typeface="Arial Black" pitchFamily="34" charset="-120"/>
              </a:rPr>
              <a:t>01</a:t>
            </a:r>
            <a:endParaRPr lang="en-US" sz="2200" dirty="0"/>
          </a:p>
        </p:txBody>
      </p:sp>
      <p:sp>
        <p:nvSpPr>
          <p:cNvPr id="7" name="Text 5"/>
          <p:cNvSpPr/>
          <p:nvPr/>
        </p:nvSpPr>
        <p:spPr>
          <a:xfrm>
            <a:off x="649224" y="284378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NOMINAL · 5 MIN</a:t>
            </a:r>
            <a:endParaRPr lang="en-US" sz="1100" dirty="0"/>
          </a:p>
        </p:txBody>
      </p:sp>
      <p:sp>
        <p:nvSpPr>
          <p:cNvPr id="8" name="Text 6"/>
          <p:cNvSpPr/>
          <p:nvPr/>
        </p:nvSpPr>
        <p:spPr>
          <a:xfrm>
            <a:off x="649224" y="320954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Mirar el mímico. Preguntar: ¿esto es un gemelo? No: es un SCADA.</a:t>
            </a:r>
            <a:endParaRPr lang="en-US" sz="1000" dirty="0"/>
          </a:p>
        </p:txBody>
      </p:sp>
      <p:sp>
        <p:nvSpPr>
          <p:cNvPr id="9" name="Shape 7"/>
          <p:cNvSpPr/>
          <p:nvPr/>
        </p:nvSpPr>
        <p:spPr>
          <a:xfrm>
            <a:off x="4307738" y="2240280"/>
            <a:ext cx="3576218" cy="1554480"/>
          </a:xfrm>
          <a:prstGeom prst="roundRect">
            <a:avLst>
              <a:gd name="adj" fmla="val 3529"/>
            </a:avLst>
          </a:prstGeom>
          <a:solidFill>
            <a:srgbClr val="151515"/>
          </a:solidFill>
          <a:ln w="12700">
            <a:solidFill>
              <a:srgbClr val="333333"/>
            </a:solidFill>
            <a:prstDash val="solid"/>
          </a:ln>
        </p:spPr>
      </p:sp>
      <p:sp>
        <p:nvSpPr>
          <p:cNvPr id="10" name="Text 8"/>
          <p:cNvSpPr/>
          <p:nvPr/>
        </p:nvSpPr>
        <p:spPr>
          <a:xfrm>
            <a:off x="4454042" y="2350008"/>
            <a:ext cx="914400" cy="502920"/>
          </a:xfrm>
          <a:prstGeom prst="rect">
            <a:avLst/>
          </a:prstGeom>
          <a:noFill/>
          <a:ln/>
        </p:spPr>
        <p:txBody>
          <a:bodyPr wrap="square" lIns="0" tIns="0" rIns="0" bIns="0" rtlCol="0" anchor="t"/>
          <a:lstStyle/>
          <a:p>
            <a:pPr indent="0" marL="0">
              <a:buNone/>
            </a:pPr>
            <a:r>
              <a:rPr lang="en-US" sz="2200" dirty="0">
                <a:solidFill>
                  <a:srgbClr val="27E5E5"/>
                </a:solidFill>
                <a:latin typeface="Arial Black" pitchFamily="34" charset="0"/>
                <a:ea typeface="Arial Black" pitchFamily="34" charset="-122"/>
                <a:cs typeface="Arial Black" pitchFamily="34" charset="-120"/>
              </a:rPr>
              <a:t>02</a:t>
            </a:r>
            <a:endParaRPr lang="en-US" sz="2200" dirty="0"/>
          </a:p>
        </p:txBody>
      </p:sp>
      <p:sp>
        <p:nvSpPr>
          <p:cNvPr id="11" name="Text 9"/>
          <p:cNvSpPr/>
          <p:nvPr/>
        </p:nvSpPr>
        <p:spPr>
          <a:xfrm>
            <a:off x="4454042" y="284378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RESIDUAL · 5 MIN</a:t>
            </a:r>
            <a:endParaRPr lang="en-US" sz="1100" dirty="0"/>
          </a:p>
        </p:txBody>
      </p:sp>
      <p:sp>
        <p:nvSpPr>
          <p:cNvPr id="12" name="Text 10"/>
          <p:cNvSpPr/>
          <p:nvPr/>
        </p:nvSpPr>
        <p:spPr>
          <a:xfrm>
            <a:off x="4454042" y="320954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Está en cero. AHORA sí hay gemelo: hay con qué comparar.</a:t>
            </a:r>
            <a:endParaRPr lang="en-US" sz="1000" dirty="0"/>
          </a:p>
        </p:txBody>
      </p:sp>
      <p:sp>
        <p:nvSpPr>
          <p:cNvPr id="13" name="Shape 11"/>
          <p:cNvSpPr/>
          <p:nvPr/>
        </p:nvSpPr>
        <p:spPr>
          <a:xfrm>
            <a:off x="8112557" y="2240280"/>
            <a:ext cx="3576218" cy="1554480"/>
          </a:xfrm>
          <a:prstGeom prst="roundRect">
            <a:avLst>
              <a:gd name="adj" fmla="val 3529"/>
            </a:avLst>
          </a:prstGeom>
          <a:solidFill>
            <a:srgbClr val="151515"/>
          </a:solidFill>
          <a:ln w="12700">
            <a:solidFill>
              <a:srgbClr val="333333"/>
            </a:solidFill>
            <a:prstDash val="solid"/>
          </a:ln>
        </p:spPr>
      </p:sp>
      <p:sp>
        <p:nvSpPr>
          <p:cNvPr id="14" name="Text 12"/>
          <p:cNvSpPr/>
          <p:nvPr/>
        </p:nvSpPr>
        <p:spPr>
          <a:xfrm>
            <a:off x="8258861" y="2350008"/>
            <a:ext cx="914400" cy="502920"/>
          </a:xfrm>
          <a:prstGeom prst="rect">
            <a:avLst/>
          </a:prstGeom>
          <a:noFill/>
          <a:ln/>
        </p:spPr>
        <p:txBody>
          <a:bodyPr wrap="square" lIns="0" tIns="0" rIns="0" bIns="0" rtlCol="0" anchor="t"/>
          <a:lstStyle/>
          <a:p>
            <a:pPr indent="0" marL="0">
              <a:buNone/>
            </a:pPr>
            <a:r>
              <a:rPr lang="en-US" sz="2200" dirty="0">
                <a:solidFill>
                  <a:srgbClr val="C6FF00"/>
                </a:solidFill>
                <a:latin typeface="Arial Black" pitchFamily="34" charset="0"/>
                <a:ea typeface="Arial Black" pitchFamily="34" charset="-122"/>
                <a:cs typeface="Arial Black" pitchFamily="34" charset="-120"/>
              </a:rPr>
              <a:t>03</a:t>
            </a:r>
            <a:endParaRPr lang="en-US" sz="2200" dirty="0"/>
          </a:p>
        </p:txBody>
      </p:sp>
      <p:sp>
        <p:nvSpPr>
          <p:cNvPr id="15" name="Text 13"/>
          <p:cNvSpPr/>
          <p:nvPr/>
        </p:nvSpPr>
        <p:spPr>
          <a:xfrm>
            <a:off x="8258861" y="284378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DESGASTE · 10 MIN</a:t>
            </a:r>
            <a:endParaRPr lang="en-US" sz="1100" dirty="0"/>
          </a:p>
        </p:txBody>
      </p:sp>
      <p:sp>
        <p:nvSpPr>
          <p:cNvPr id="16" name="Text 14"/>
          <p:cNvSpPr/>
          <p:nvPr/>
        </p:nvSpPr>
        <p:spPr>
          <a:xfrm>
            <a:off x="8258861" y="320954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A 8×. El residual avisa antes que el OEE. Abrir el ojo de Dios.</a:t>
            </a:r>
            <a:endParaRPr lang="en-US" sz="1000" dirty="0"/>
          </a:p>
        </p:txBody>
      </p:sp>
      <p:sp>
        <p:nvSpPr>
          <p:cNvPr id="17" name="Shape 15"/>
          <p:cNvSpPr/>
          <p:nvPr/>
        </p:nvSpPr>
        <p:spPr>
          <a:xfrm>
            <a:off x="502920" y="4023360"/>
            <a:ext cx="3576218" cy="1554480"/>
          </a:xfrm>
          <a:prstGeom prst="roundRect">
            <a:avLst>
              <a:gd name="adj" fmla="val 3529"/>
            </a:avLst>
          </a:prstGeom>
          <a:solidFill>
            <a:srgbClr val="151515"/>
          </a:solidFill>
          <a:ln w="12700">
            <a:solidFill>
              <a:srgbClr val="333333"/>
            </a:solidFill>
            <a:prstDash val="solid"/>
          </a:ln>
        </p:spPr>
      </p:sp>
      <p:sp>
        <p:nvSpPr>
          <p:cNvPr id="18" name="Text 16"/>
          <p:cNvSpPr/>
          <p:nvPr/>
        </p:nvSpPr>
        <p:spPr>
          <a:xfrm>
            <a:off x="649224" y="4133088"/>
            <a:ext cx="914400" cy="502920"/>
          </a:xfrm>
          <a:prstGeom prst="rect">
            <a:avLst/>
          </a:prstGeom>
          <a:noFill/>
          <a:ln/>
        </p:spPr>
        <p:txBody>
          <a:bodyPr wrap="square" lIns="0" tIns="0" rIns="0" bIns="0" rtlCol="0" anchor="t"/>
          <a:lstStyle/>
          <a:p>
            <a:pPr indent="0" marL="0">
              <a:buNone/>
            </a:pPr>
            <a:r>
              <a:rPr lang="en-US" sz="2200" dirty="0">
                <a:solidFill>
                  <a:srgbClr val="FFB000"/>
                </a:solidFill>
                <a:latin typeface="Arial Black" pitchFamily="34" charset="0"/>
                <a:ea typeface="Arial Black" pitchFamily="34" charset="-122"/>
                <a:cs typeface="Arial Black" pitchFamily="34" charset="-120"/>
              </a:rPr>
              <a:t>04</a:t>
            </a:r>
            <a:endParaRPr lang="en-US" sz="2200" dirty="0"/>
          </a:p>
        </p:txBody>
      </p:sp>
      <p:sp>
        <p:nvSpPr>
          <p:cNvPr id="19" name="Text 17"/>
          <p:cNvSpPr/>
          <p:nvPr/>
        </p:nvSpPr>
        <p:spPr>
          <a:xfrm>
            <a:off x="649224" y="462686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WHAT-IF · 15 MIN</a:t>
            </a:r>
            <a:endParaRPr lang="en-US" sz="1100" dirty="0"/>
          </a:p>
        </p:txBody>
      </p:sp>
      <p:sp>
        <p:nvSpPr>
          <p:cNvPr id="20" name="Text 18"/>
          <p:cNvSpPr/>
          <p:nvPr/>
        </p:nvSpPr>
        <p:spPr>
          <a:xfrm>
            <a:off x="649224" y="499262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La curva, el intercambio y el rechazo al operador.</a:t>
            </a:r>
            <a:endParaRPr lang="en-US" sz="1000" dirty="0"/>
          </a:p>
        </p:txBody>
      </p:sp>
      <p:sp>
        <p:nvSpPr>
          <p:cNvPr id="21" name="Shape 19"/>
          <p:cNvSpPr/>
          <p:nvPr/>
        </p:nvSpPr>
        <p:spPr>
          <a:xfrm>
            <a:off x="4307738" y="4023360"/>
            <a:ext cx="3576218" cy="1554480"/>
          </a:xfrm>
          <a:prstGeom prst="roundRect">
            <a:avLst>
              <a:gd name="adj" fmla="val 3529"/>
            </a:avLst>
          </a:prstGeom>
          <a:solidFill>
            <a:srgbClr val="151515"/>
          </a:solidFill>
          <a:ln w="12700">
            <a:solidFill>
              <a:srgbClr val="333333"/>
            </a:solidFill>
            <a:prstDash val="solid"/>
          </a:ln>
        </p:spPr>
      </p:sp>
      <p:sp>
        <p:nvSpPr>
          <p:cNvPr id="22" name="Text 20"/>
          <p:cNvSpPr/>
          <p:nvPr/>
        </p:nvSpPr>
        <p:spPr>
          <a:xfrm>
            <a:off x="4454042" y="4133088"/>
            <a:ext cx="914400" cy="502920"/>
          </a:xfrm>
          <a:prstGeom prst="rect">
            <a:avLst/>
          </a:prstGeom>
          <a:noFill/>
          <a:ln/>
        </p:spPr>
        <p:txBody>
          <a:bodyPr wrap="square" lIns="0" tIns="0" rIns="0" bIns="0" rtlCol="0" anchor="t"/>
          <a:lstStyle/>
          <a:p>
            <a:pPr indent="0" marL="0">
              <a:buNone/>
            </a:pPr>
            <a:r>
              <a:rPr lang="en-US" sz="2200" dirty="0">
                <a:solidFill>
                  <a:srgbClr val="FF3B30"/>
                </a:solidFill>
                <a:latin typeface="Arial Black" pitchFamily="34" charset="0"/>
                <a:ea typeface="Arial Black" pitchFamily="34" charset="-122"/>
                <a:cs typeface="Arial Black" pitchFamily="34" charset="-120"/>
              </a:rPr>
              <a:t>05</a:t>
            </a:r>
            <a:endParaRPr lang="en-US" sz="2200" dirty="0"/>
          </a:p>
        </p:txBody>
      </p:sp>
      <p:sp>
        <p:nvSpPr>
          <p:cNvPr id="23" name="Text 21"/>
          <p:cNvSpPr/>
          <p:nvPr/>
        </p:nvSpPr>
        <p:spPr>
          <a:xfrm>
            <a:off x="4454042" y="462686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SENSOR · 10 MIN</a:t>
            </a:r>
            <a:endParaRPr lang="en-US" sz="1100" dirty="0"/>
          </a:p>
        </p:txBody>
      </p:sp>
      <p:sp>
        <p:nvSpPr>
          <p:cNvPr id="24" name="Text 22"/>
          <p:cNvSpPr/>
          <p:nvPr/>
        </p:nvSpPr>
        <p:spPr>
          <a:xfrm>
            <a:off x="4454042" y="499262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El plato fuerte: un tablero no lo ve. Ambigüedad declarada.</a:t>
            </a:r>
            <a:endParaRPr lang="en-US" sz="1000" dirty="0"/>
          </a:p>
        </p:txBody>
      </p:sp>
      <p:sp>
        <p:nvSpPr>
          <p:cNvPr id="25" name="Shape 23"/>
          <p:cNvSpPr/>
          <p:nvPr/>
        </p:nvSpPr>
        <p:spPr>
          <a:xfrm>
            <a:off x="8112557" y="4023360"/>
            <a:ext cx="3576218" cy="1554480"/>
          </a:xfrm>
          <a:prstGeom prst="roundRect">
            <a:avLst>
              <a:gd name="adj" fmla="val 3529"/>
            </a:avLst>
          </a:prstGeom>
          <a:solidFill>
            <a:srgbClr val="151515"/>
          </a:solidFill>
          <a:ln w="12700">
            <a:solidFill>
              <a:srgbClr val="333333"/>
            </a:solidFill>
            <a:prstDash val="solid"/>
          </a:ln>
        </p:spPr>
      </p:sp>
      <p:sp>
        <p:nvSpPr>
          <p:cNvPr id="26" name="Text 24"/>
          <p:cNvSpPr/>
          <p:nvPr/>
        </p:nvSpPr>
        <p:spPr>
          <a:xfrm>
            <a:off x="8258861" y="4133088"/>
            <a:ext cx="914400" cy="502920"/>
          </a:xfrm>
          <a:prstGeom prst="rect">
            <a:avLst/>
          </a:prstGeom>
          <a:noFill/>
          <a:ln/>
        </p:spPr>
        <p:txBody>
          <a:bodyPr wrap="square" lIns="0" tIns="0" rIns="0" bIns="0" rtlCol="0" anchor="t"/>
          <a:lstStyle/>
          <a:p>
            <a:pPr indent="0" marL="0">
              <a:buNone/>
            </a:pPr>
            <a:r>
              <a:rPr lang="en-US" sz="2200" dirty="0">
                <a:solidFill>
                  <a:srgbClr val="9D6BFF"/>
                </a:solidFill>
                <a:latin typeface="Arial Black" pitchFamily="34" charset="0"/>
                <a:ea typeface="Arial Black" pitchFamily="34" charset="-122"/>
                <a:cs typeface="Arial Black" pitchFamily="34" charset="-120"/>
              </a:rPr>
              <a:t>06</a:t>
            </a:r>
            <a:endParaRPr lang="en-US" sz="2200" dirty="0"/>
          </a:p>
        </p:txBody>
      </p:sp>
      <p:sp>
        <p:nvSpPr>
          <p:cNvPr id="27" name="Text 25"/>
          <p:cNvSpPr/>
          <p:nvPr/>
        </p:nvSpPr>
        <p:spPr>
          <a:xfrm>
            <a:off x="8258861" y="462686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CIERRE</a:t>
            </a:r>
            <a:endParaRPr lang="en-US" sz="1100" dirty="0"/>
          </a:p>
        </p:txBody>
      </p:sp>
      <p:sp>
        <p:nvSpPr>
          <p:cNvPr id="28" name="Text 26"/>
          <p:cNvSpPr/>
          <p:nvPr/>
        </p:nvSpPr>
        <p:spPr>
          <a:xfrm>
            <a:off x="8258861" y="499262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Volver a la frase: sin resta, no hay gemelo.</a:t>
            </a:r>
            <a:endParaRPr lang="en-US" sz="1000" dirty="0"/>
          </a:p>
        </p:txBody>
      </p:sp>
      <p:sp>
        <p:nvSpPr>
          <p:cNvPr id="29" name="Text 2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30" name="Text 2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31" name="Text 2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42 / 49</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36  DEMO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EL MOMENTO CLAVE — TRANSMISOR DESVIADO</a:t>
            </a:r>
            <a:endParaRPr lang="en-US" sz="30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PASO 5 · NO SALTARSE</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LO QUE UN TABLERO JAMÁS VERÍA</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Inyectar la falla y observar en orden: (1) la producción NO se detiene y el OEE tarda en moverse — un tablero no ve nada; (2) el gemelo dispara el salto enclavado, +0.349 m en t = 205 s; (3) propone DOS hipótesis y declara que no puede distinguirlas, diciendo qué evidencia externa haría falta; (4) abrir el ojo de Dios: el tanque tiene 0.765 m y la pantalla dice 1.115 m.</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EL REMATE</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El lazo de control lee ese MISMO transmisor</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CONCLUSIÓN</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No sólo informa mal: mueve el proceso</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43 / 49</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37  DEMO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PREGUNTAS PARA LANZAR A LA CLASE</a:t>
            </a:r>
            <a:endParaRPr lang="en-US" sz="3300" dirty="0"/>
          </a:p>
        </p:txBody>
      </p:sp>
      <p:sp>
        <p:nvSpPr>
          <p:cNvPr id="4" name="Shape 2"/>
          <p:cNvSpPr/>
          <p:nvPr/>
        </p:nvSpPr>
        <p:spPr>
          <a:xfrm>
            <a:off x="502920" y="1783080"/>
            <a:ext cx="11185855" cy="780898"/>
          </a:xfrm>
          <a:prstGeom prst="roundRect">
            <a:avLst>
              <a:gd name="adj" fmla="val 5855"/>
            </a:avLst>
          </a:prstGeom>
          <a:solidFill>
            <a:srgbClr val="151515"/>
          </a:solidFill>
          <a:ln w="12700">
            <a:solidFill>
              <a:srgbClr val="333333"/>
            </a:solidFill>
            <a:prstDash val="solid"/>
          </a:ln>
        </p:spPr>
      </p:sp>
      <p:sp>
        <p:nvSpPr>
          <p:cNvPr id="5" name="Text 3"/>
          <p:cNvSpPr/>
          <p:nvPr/>
        </p:nvSpPr>
        <p:spPr>
          <a:xfrm>
            <a:off x="731520" y="1783080"/>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¿ESTO ES UN GEMELO?</a:t>
            </a:r>
            <a:endParaRPr lang="en-US" sz="1200" dirty="0"/>
          </a:p>
        </p:txBody>
      </p:sp>
      <p:sp>
        <p:nvSpPr>
          <p:cNvPr id="6" name="Text 4"/>
          <p:cNvSpPr/>
          <p:nvPr/>
        </p:nvSpPr>
        <p:spPr>
          <a:xfrm>
            <a:off x="4251960" y="1783080"/>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Preguntarlo en el minuto 1, viendo sólo el mímico. La respuesta es no.</a:t>
            </a:r>
            <a:endParaRPr lang="en-US" sz="1250" dirty="0"/>
          </a:p>
        </p:txBody>
      </p:sp>
      <p:sp>
        <p:nvSpPr>
          <p:cNvPr id="7" name="Shape 5"/>
          <p:cNvSpPr/>
          <p:nvPr/>
        </p:nvSpPr>
        <p:spPr>
          <a:xfrm>
            <a:off x="502920" y="2710282"/>
            <a:ext cx="11185855" cy="780898"/>
          </a:xfrm>
          <a:prstGeom prst="roundRect">
            <a:avLst>
              <a:gd name="adj" fmla="val 5855"/>
            </a:avLst>
          </a:prstGeom>
          <a:solidFill>
            <a:srgbClr val="151515"/>
          </a:solidFill>
          <a:ln w="12700">
            <a:solidFill>
              <a:srgbClr val="333333"/>
            </a:solidFill>
            <a:prstDash val="solid"/>
          </a:ln>
        </p:spPr>
      </p:sp>
      <p:sp>
        <p:nvSpPr>
          <p:cNvPr id="8" name="Text 6"/>
          <p:cNvSpPr/>
          <p:nvPr/>
        </p:nvSpPr>
        <p:spPr>
          <a:xfrm>
            <a:off x="731520" y="2710282"/>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¿POR QUÉ CONTRA PLACA?</a:t>
            </a:r>
            <a:endParaRPr lang="en-US" sz="1200" dirty="0"/>
          </a:p>
        </p:txBody>
      </p:sp>
      <p:sp>
        <p:nvSpPr>
          <p:cNvPr id="9" name="Text 7"/>
          <p:cNvSpPr/>
          <p:nvPr/>
        </p:nvSpPr>
        <p:spPr>
          <a:xfrm>
            <a:off x="4251960" y="2710282"/>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¿Qué pasaría si el residual se calculara contra el Cv estimado?</a:t>
            </a:r>
            <a:endParaRPr lang="en-US" sz="1250" dirty="0"/>
          </a:p>
        </p:txBody>
      </p:sp>
      <p:sp>
        <p:nvSpPr>
          <p:cNvPr id="10" name="Shape 8"/>
          <p:cNvSpPr/>
          <p:nvPr/>
        </p:nvSpPr>
        <p:spPr>
          <a:xfrm>
            <a:off x="502920" y="3637483"/>
            <a:ext cx="11185855" cy="780898"/>
          </a:xfrm>
          <a:prstGeom prst="roundRect">
            <a:avLst>
              <a:gd name="adj" fmla="val 5855"/>
            </a:avLst>
          </a:prstGeom>
          <a:solidFill>
            <a:srgbClr val="151515"/>
          </a:solidFill>
          <a:ln w="12700">
            <a:solidFill>
              <a:srgbClr val="333333"/>
            </a:solidFill>
            <a:prstDash val="solid"/>
          </a:ln>
        </p:spPr>
      </p:sp>
      <p:sp>
        <p:nvSpPr>
          <p:cNvPr id="11" name="Text 9"/>
          <p:cNvSpPr/>
          <p:nvPr/>
        </p:nvSpPr>
        <p:spPr>
          <a:xfrm>
            <a:off x="731520" y="3637483"/>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¿QUIÉN DECIDE EL EQUILIBRIO?</a:t>
            </a:r>
            <a:endParaRPr lang="en-US" sz="1200" dirty="0"/>
          </a:p>
        </p:txBody>
      </p:sp>
      <p:sp>
        <p:nvSpPr>
          <p:cNvPr id="12" name="Text 10"/>
          <p:cNvSpPr/>
          <p:nvPr/>
        </p:nvSpPr>
        <p:spPr>
          <a:xfrm>
            <a:off x="4251960" y="3637483"/>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Calidad contra desempeño: ¿el ingeniero o el gerente?</a:t>
            </a:r>
            <a:endParaRPr lang="en-US" sz="1250" dirty="0"/>
          </a:p>
        </p:txBody>
      </p:sp>
      <p:sp>
        <p:nvSpPr>
          <p:cNvPr id="13" name="Shape 11"/>
          <p:cNvSpPr/>
          <p:nvPr/>
        </p:nvSpPr>
        <p:spPr>
          <a:xfrm>
            <a:off x="502920" y="4564685"/>
            <a:ext cx="11185855" cy="780898"/>
          </a:xfrm>
          <a:prstGeom prst="roundRect">
            <a:avLst>
              <a:gd name="adj" fmla="val 5855"/>
            </a:avLst>
          </a:prstGeom>
          <a:solidFill>
            <a:srgbClr val="151515"/>
          </a:solidFill>
          <a:ln w="12700">
            <a:solidFill>
              <a:srgbClr val="333333"/>
            </a:solidFill>
            <a:prstDash val="solid"/>
          </a:ln>
        </p:spPr>
      </p:sp>
      <p:sp>
        <p:nvSpPr>
          <p:cNvPr id="14" name="Text 12"/>
          <p:cNvSpPr/>
          <p:nvPr/>
        </p:nvSpPr>
        <p:spPr>
          <a:xfrm>
            <a:off x="731520" y="4564685"/>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¿POR QUÉ LA FRICCIÓN?</a:t>
            </a:r>
            <a:endParaRPr lang="en-US" sz="1200" dirty="0"/>
          </a:p>
        </p:txBody>
      </p:sp>
      <p:sp>
        <p:nvSpPr>
          <p:cNvPr id="15" name="Text 13"/>
          <p:cNvSpPr/>
          <p:nvPr/>
        </p:nvSpPr>
        <p:spPr>
          <a:xfrm>
            <a:off x="4251960" y="4564685"/>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¿Es un defecto de la interfaz que el operador no pueda aplicar el cambio?</a:t>
            </a:r>
            <a:endParaRPr lang="en-US" sz="1250" dirty="0"/>
          </a:p>
        </p:txBody>
      </p:sp>
      <p:sp>
        <p:nvSpPr>
          <p:cNvPr id="16" name="Shape 14"/>
          <p:cNvSpPr/>
          <p:nvPr/>
        </p:nvSpPr>
        <p:spPr>
          <a:xfrm>
            <a:off x="502920" y="5491886"/>
            <a:ext cx="11185855" cy="780898"/>
          </a:xfrm>
          <a:prstGeom prst="roundRect">
            <a:avLst>
              <a:gd name="adj" fmla="val 5855"/>
            </a:avLst>
          </a:prstGeom>
          <a:solidFill>
            <a:srgbClr val="151515"/>
          </a:solidFill>
          <a:ln w="12700">
            <a:solidFill>
              <a:srgbClr val="333333"/>
            </a:solidFill>
            <a:prstDash val="solid"/>
          </a:ln>
        </p:spPr>
      </p:sp>
      <p:sp>
        <p:nvSpPr>
          <p:cNvPr id="17" name="Text 15"/>
          <p:cNvSpPr/>
          <p:nvPr/>
        </p:nvSpPr>
        <p:spPr>
          <a:xfrm>
            <a:off x="731520" y="5491886"/>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¿Y SI NO HUBIERA SALTO?</a:t>
            </a:r>
            <a:endParaRPr lang="en-US" sz="1200" dirty="0"/>
          </a:p>
        </p:txBody>
      </p:sp>
      <p:sp>
        <p:nvSpPr>
          <p:cNvPr id="18" name="Text 16"/>
          <p:cNvSpPr/>
          <p:nvPr/>
        </p:nvSpPr>
        <p:spPr>
          <a:xfrm>
            <a:off x="4251960" y="5491886"/>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Si la desviación fuera una deriva lenta, el gemelo diría 'desgaste' y se equivocaría.</a:t>
            </a:r>
            <a:endParaRPr lang="en-US" sz="1250" dirty="0"/>
          </a:p>
        </p:txBody>
      </p:sp>
      <p:sp>
        <p:nvSpPr>
          <p:cNvPr id="19" name="Text 1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0" name="Text 1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21" name="Text 1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44 / 49</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38  DEMO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LIMITACIONES DECLARADAS</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Un gemelo que no declara sus límites no es confiable.</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600" dirty="0">
                <a:solidFill>
                  <a:srgbClr val="FF3B30"/>
                </a:solidFill>
                <a:latin typeface="Arial Black" pitchFamily="34" charset="0"/>
                <a:ea typeface="Arial Black" pitchFamily="34" charset="-122"/>
                <a:cs typeface="Arial Black" pitchFamily="34" charset="-120"/>
              </a:rPr>
              <a:t>OBSERVABILIDAD</a:t>
            </a:r>
            <a:endParaRPr lang="en-US" sz="16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Sensor desviado y desgaste son indistinguibles en régimen permanente. Sólo se separan si se atrapa el salto.</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300" dirty="0">
                <a:solidFill>
                  <a:srgbClr val="FFB000"/>
                </a:solidFill>
                <a:latin typeface="Arial Black" pitchFamily="34" charset="0"/>
                <a:ea typeface="Arial Black" pitchFamily="34" charset="-122"/>
                <a:cs typeface="Arial Black" pitchFamily="34" charset="-120"/>
              </a:rPr>
              <a:t>SESGO DE MODELO</a:t>
            </a:r>
            <a:endParaRPr lang="en-US" sz="13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~0.5 % de error en la estimación de Cv por la diferencia de paso de integración entre planta (50 ms) y modelo (10 ms).</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300" dirty="0">
                <a:solidFill>
                  <a:srgbClr val="27E5E5"/>
                </a:solidFill>
                <a:latin typeface="Arial Black" pitchFamily="34" charset="0"/>
                <a:ea typeface="Arial Black" pitchFamily="34" charset="-122"/>
                <a:cs typeface="Arial Black" pitchFamily="34" charset="-120"/>
              </a:rPr>
              <a:t>SUPUESTO DEL WHAT-IF</a:t>
            </a:r>
            <a:endParaRPr lang="en-US" sz="13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No simula las paradas: arrastra la disponibilidad observada. Declarado, no escondido.</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300" dirty="0">
                <a:solidFill>
                  <a:srgbClr val="9D6BFF"/>
                </a:solidFill>
                <a:latin typeface="Arial Black" pitchFamily="34" charset="0"/>
                <a:ea typeface="Arial Black" pitchFamily="34" charset="-122"/>
                <a:cs typeface="Arial Black" pitchFamily="34" charset="-120"/>
              </a:rPr>
              <a:t>BITÁCORA EN MEMORIA</a:t>
            </a:r>
            <a:endParaRPr lang="en-US" sz="13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Se pierde al reiniciar el backend. En producción sería un registro persistido y auditable (S15).</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45 / 49</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39  DEMO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CONEXIÓN CON EL RESTO DEL CURSO</a:t>
            </a:r>
            <a:endParaRPr lang="en-US" sz="3300" dirty="0"/>
          </a:p>
        </p:txBody>
      </p:sp>
      <p:sp>
        <p:nvSpPr>
          <p:cNvPr id="4" name="Shape 2"/>
          <p:cNvSpPr/>
          <p:nvPr/>
        </p:nvSpPr>
        <p:spPr>
          <a:xfrm>
            <a:off x="502920" y="1783080"/>
            <a:ext cx="2011680" cy="457200"/>
          </a:xfrm>
          <a:prstGeom prst="rect">
            <a:avLst/>
          </a:prstGeom>
          <a:solidFill>
            <a:srgbClr val="1E1E1E"/>
          </a:solidFill>
          <a:ln w="12700">
            <a:solidFill>
              <a:srgbClr val="333333"/>
            </a:solidFill>
            <a:prstDash val="solid"/>
          </a:ln>
        </p:spPr>
      </p:sp>
      <p:sp>
        <p:nvSpPr>
          <p:cNvPr id="5" name="Text 3"/>
          <p:cNvSpPr/>
          <p:nvPr/>
        </p:nvSpPr>
        <p:spPr>
          <a:xfrm>
            <a:off x="576072" y="1783080"/>
            <a:ext cx="1865376" cy="457200"/>
          </a:xfrm>
          <a:prstGeom prst="rect">
            <a:avLst/>
          </a:prstGeom>
          <a:noFill/>
          <a:ln/>
        </p:spPr>
        <p:txBody>
          <a:bodyPr wrap="square" lIns="0" tIns="0" rIns="0" bIns="0" rtlCol="0" anchor="ctr"/>
          <a:lstStyle/>
          <a:p>
            <a:pPr algn="l" indent="0" marL="0">
              <a:buNone/>
            </a:pPr>
            <a:r>
              <a:rPr lang="en-US" sz="1050" b="1" dirty="0">
                <a:solidFill>
                  <a:srgbClr val="C6FF00"/>
                </a:solidFill>
                <a:latin typeface="Courier New" pitchFamily="34" charset="0"/>
                <a:ea typeface="Courier New" pitchFamily="34" charset="-122"/>
                <a:cs typeface="Courier New" pitchFamily="34" charset="-120"/>
              </a:rPr>
              <a:t>SESIÓN</a:t>
            </a:r>
            <a:endParaRPr lang="en-US" sz="1050" dirty="0"/>
          </a:p>
        </p:txBody>
      </p:sp>
      <p:sp>
        <p:nvSpPr>
          <p:cNvPr id="6" name="Shape 4"/>
          <p:cNvSpPr/>
          <p:nvPr/>
        </p:nvSpPr>
        <p:spPr>
          <a:xfrm>
            <a:off x="2514600" y="1783080"/>
            <a:ext cx="4587088" cy="457200"/>
          </a:xfrm>
          <a:prstGeom prst="rect">
            <a:avLst/>
          </a:prstGeom>
          <a:solidFill>
            <a:srgbClr val="1E1E1E"/>
          </a:solidFill>
          <a:ln w="12700">
            <a:solidFill>
              <a:srgbClr val="333333"/>
            </a:solidFill>
            <a:prstDash val="solid"/>
          </a:ln>
        </p:spPr>
      </p:sp>
      <p:sp>
        <p:nvSpPr>
          <p:cNvPr id="7" name="Text 5"/>
          <p:cNvSpPr/>
          <p:nvPr/>
        </p:nvSpPr>
        <p:spPr>
          <a:xfrm>
            <a:off x="2587752" y="1783080"/>
            <a:ext cx="444078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QUÉ DEL DEMO LA ATERRIZA</a:t>
            </a:r>
            <a:endParaRPr lang="en-US" sz="1050" dirty="0"/>
          </a:p>
        </p:txBody>
      </p:sp>
      <p:sp>
        <p:nvSpPr>
          <p:cNvPr id="8" name="Shape 6"/>
          <p:cNvSpPr/>
          <p:nvPr/>
        </p:nvSpPr>
        <p:spPr>
          <a:xfrm>
            <a:off x="7101688" y="1783080"/>
            <a:ext cx="4587088" cy="457200"/>
          </a:xfrm>
          <a:prstGeom prst="rect">
            <a:avLst/>
          </a:prstGeom>
          <a:solidFill>
            <a:srgbClr val="1E1E1E"/>
          </a:solidFill>
          <a:ln w="12700">
            <a:solidFill>
              <a:srgbClr val="333333"/>
            </a:solidFill>
            <a:prstDash val="solid"/>
          </a:ln>
        </p:spPr>
      </p:sp>
      <p:sp>
        <p:nvSpPr>
          <p:cNvPr id="9" name="Text 7"/>
          <p:cNvSpPr/>
          <p:nvPr/>
        </p:nvSpPr>
        <p:spPr>
          <a:xfrm>
            <a:off x="7174840" y="1783080"/>
            <a:ext cx="444078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USO</a:t>
            </a:r>
            <a:endParaRPr lang="en-US" sz="1050" dirty="0"/>
          </a:p>
        </p:txBody>
      </p:sp>
      <p:sp>
        <p:nvSpPr>
          <p:cNvPr id="10" name="Shape 8"/>
          <p:cNvSpPr/>
          <p:nvPr/>
        </p:nvSpPr>
        <p:spPr>
          <a:xfrm>
            <a:off x="502920" y="2240280"/>
            <a:ext cx="2011680" cy="566928"/>
          </a:xfrm>
          <a:prstGeom prst="rect">
            <a:avLst/>
          </a:prstGeom>
          <a:solidFill>
            <a:srgbClr val="151515"/>
          </a:solidFill>
          <a:ln w="12700">
            <a:solidFill>
              <a:srgbClr val="242424"/>
            </a:solidFill>
            <a:prstDash val="solid"/>
          </a:ln>
        </p:spPr>
      </p:sp>
      <p:sp>
        <p:nvSpPr>
          <p:cNvPr id="11" name="Text 9"/>
          <p:cNvSpPr/>
          <p:nvPr/>
        </p:nvSpPr>
        <p:spPr>
          <a:xfrm>
            <a:off x="576072" y="2240280"/>
            <a:ext cx="186537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S01</a:t>
            </a:r>
            <a:endParaRPr lang="en-US" sz="1150" dirty="0"/>
          </a:p>
        </p:txBody>
      </p:sp>
      <p:sp>
        <p:nvSpPr>
          <p:cNvPr id="12" name="Shape 10"/>
          <p:cNvSpPr/>
          <p:nvPr/>
        </p:nvSpPr>
        <p:spPr>
          <a:xfrm>
            <a:off x="2514600" y="2240280"/>
            <a:ext cx="4587088" cy="566928"/>
          </a:xfrm>
          <a:prstGeom prst="rect">
            <a:avLst/>
          </a:prstGeom>
          <a:solidFill>
            <a:srgbClr val="151515"/>
          </a:solidFill>
          <a:ln w="12700">
            <a:solidFill>
              <a:srgbClr val="242424"/>
            </a:solidFill>
            <a:prstDash val="solid"/>
          </a:ln>
        </p:spPr>
      </p:sp>
      <p:sp>
        <p:nvSpPr>
          <p:cNvPr id="13" name="Text 11"/>
          <p:cNvSpPr/>
          <p:nvPr/>
        </p:nvSpPr>
        <p:spPr>
          <a:xfrm>
            <a:off x="2587752" y="2240280"/>
            <a:ext cx="4440784"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Matriz de derechos en código</a:t>
            </a:r>
            <a:endParaRPr lang="en-US" sz="1100" dirty="0"/>
          </a:p>
        </p:txBody>
      </p:sp>
      <p:sp>
        <p:nvSpPr>
          <p:cNvPr id="14" name="Shape 12"/>
          <p:cNvSpPr/>
          <p:nvPr/>
        </p:nvSpPr>
        <p:spPr>
          <a:xfrm>
            <a:off x="7101688" y="2240280"/>
            <a:ext cx="4587088" cy="566928"/>
          </a:xfrm>
          <a:prstGeom prst="rect">
            <a:avLst/>
          </a:prstGeom>
          <a:solidFill>
            <a:srgbClr val="151515"/>
          </a:solidFill>
          <a:ln w="12700">
            <a:solidFill>
              <a:srgbClr val="242424"/>
            </a:solidFill>
            <a:prstDash val="solid"/>
          </a:ln>
        </p:spPr>
      </p:sp>
      <p:sp>
        <p:nvSpPr>
          <p:cNvPr id="15" name="Text 13"/>
          <p:cNvSpPr/>
          <p:nvPr/>
        </p:nvSpPr>
        <p:spPr>
          <a:xfrm>
            <a:off x="7174840" y="2240280"/>
            <a:ext cx="444078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Weill &amp; Ross</a:t>
            </a:r>
            <a:endParaRPr lang="en-US" sz="1100" dirty="0"/>
          </a:p>
        </p:txBody>
      </p:sp>
      <p:sp>
        <p:nvSpPr>
          <p:cNvPr id="16" name="Shape 14"/>
          <p:cNvSpPr/>
          <p:nvPr/>
        </p:nvSpPr>
        <p:spPr>
          <a:xfrm>
            <a:off x="502920" y="2807208"/>
            <a:ext cx="2011680" cy="566928"/>
          </a:xfrm>
          <a:prstGeom prst="rect">
            <a:avLst/>
          </a:prstGeom>
          <a:solidFill>
            <a:srgbClr val="0B0B0B"/>
          </a:solidFill>
          <a:ln w="12700">
            <a:solidFill>
              <a:srgbClr val="242424"/>
            </a:solidFill>
            <a:prstDash val="solid"/>
          </a:ln>
        </p:spPr>
      </p:sp>
      <p:sp>
        <p:nvSpPr>
          <p:cNvPr id="17" name="Text 15"/>
          <p:cNvSpPr/>
          <p:nvPr/>
        </p:nvSpPr>
        <p:spPr>
          <a:xfrm>
            <a:off x="576072" y="2807208"/>
            <a:ext cx="186537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S02</a:t>
            </a:r>
            <a:endParaRPr lang="en-US" sz="1150" dirty="0"/>
          </a:p>
        </p:txBody>
      </p:sp>
      <p:sp>
        <p:nvSpPr>
          <p:cNvPr id="18" name="Shape 16"/>
          <p:cNvSpPr/>
          <p:nvPr/>
        </p:nvSpPr>
        <p:spPr>
          <a:xfrm>
            <a:off x="2514600" y="2807208"/>
            <a:ext cx="4587088" cy="566928"/>
          </a:xfrm>
          <a:prstGeom prst="rect">
            <a:avLst/>
          </a:prstGeom>
          <a:solidFill>
            <a:srgbClr val="0B0B0B"/>
          </a:solidFill>
          <a:ln w="12700">
            <a:solidFill>
              <a:srgbClr val="242424"/>
            </a:solidFill>
            <a:prstDash val="solid"/>
          </a:ln>
        </p:spPr>
      </p:sp>
      <p:sp>
        <p:nvSpPr>
          <p:cNvPr id="19" name="Text 17"/>
          <p:cNvSpPr/>
          <p:nvPr/>
        </p:nvSpPr>
        <p:spPr>
          <a:xfrm>
            <a:off x="2587752" y="2807208"/>
            <a:ext cx="4440784" cy="566928"/>
          </a:xfrm>
          <a:prstGeom prst="rect">
            <a:avLst/>
          </a:prstGeom>
          <a:noFill/>
          <a:ln/>
        </p:spPr>
        <p:txBody>
          <a:bodyPr wrap="square" lIns="0" tIns="0" rIns="0" bIns="0" rtlCol="0" anchor="ctr"/>
          <a:lstStyle/>
          <a:p>
            <a:pPr algn="ctr" indent="0" marL="0">
              <a:buNone/>
            </a:pPr>
            <a:r>
              <a:rPr lang="en-US" sz="1100" dirty="0">
                <a:solidFill>
                  <a:srgbClr val="27E5E5"/>
                </a:solidFill>
                <a:latin typeface="Courier New" pitchFamily="34" charset="0"/>
                <a:ea typeface="Courier New" pitchFamily="34" charset="-122"/>
                <a:cs typeface="Courier New" pitchFamily="34" charset="-120"/>
              </a:rPr>
              <a:t>Ciclo EDM y bitácora</a:t>
            </a:r>
            <a:endParaRPr lang="en-US" sz="1100" dirty="0"/>
          </a:p>
        </p:txBody>
      </p:sp>
      <p:sp>
        <p:nvSpPr>
          <p:cNvPr id="20" name="Shape 18"/>
          <p:cNvSpPr/>
          <p:nvPr/>
        </p:nvSpPr>
        <p:spPr>
          <a:xfrm>
            <a:off x="7101688" y="2807208"/>
            <a:ext cx="4587088" cy="566928"/>
          </a:xfrm>
          <a:prstGeom prst="rect">
            <a:avLst/>
          </a:prstGeom>
          <a:solidFill>
            <a:srgbClr val="0B0B0B"/>
          </a:solidFill>
          <a:ln w="12700">
            <a:solidFill>
              <a:srgbClr val="242424"/>
            </a:solidFill>
            <a:prstDash val="solid"/>
          </a:ln>
        </p:spPr>
      </p:sp>
      <p:sp>
        <p:nvSpPr>
          <p:cNvPr id="21" name="Text 19"/>
          <p:cNvSpPr/>
          <p:nvPr/>
        </p:nvSpPr>
        <p:spPr>
          <a:xfrm>
            <a:off x="7174840" y="2807208"/>
            <a:ext cx="444078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Taller 1</a:t>
            </a:r>
            <a:endParaRPr lang="en-US" sz="1100" dirty="0"/>
          </a:p>
        </p:txBody>
      </p:sp>
      <p:sp>
        <p:nvSpPr>
          <p:cNvPr id="22" name="Shape 20"/>
          <p:cNvSpPr/>
          <p:nvPr/>
        </p:nvSpPr>
        <p:spPr>
          <a:xfrm>
            <a:off x="502920" y="3374136"/>
            <a:ext cx="2011680" cy="566928"/>
          </a:xfrm>
          <a:prstGeom prst="rect">
            <a:avLst/>
          </a:prstGeom>
          <a:solidFill>
            <a:srgbClr val="151515"/>
          </a:solidFill>
          <a:ln w="12700">
            <a:solidFill>
              <a:srgbClr val="242424"/>
            </a:solidFill>
            <a:prstDash val="solid"/>
          </a:ln>
        </p:spPr>
      </p:sp>
      <p:sp>
        <p:nvSpPr>
          <p:cNvPr id="23" name="Text 21"/>
          <p:cNvSpPr/>
          <p:nvPr/>
        </p:nvSpPr>
        <p:spPr>
          <a:xfrm>
            <a:off x="576072" y="3374136"/>
            <a:ext cx="186537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S09</a:t>
            </a:r>
            <a:endParaRPr lang="en-US" sz="1150" dirty="0"/>
          </a:p>
        </p:txBody>
      </p:sp>
      <p:sp>
        <p:nvSpPr>
          <p:cNvPr id="24" name="Shape 22"/>
          <p:cNvSpPr/>
          <p:nvPr/>
        </p:nvSpPr>
        <p:spPr>
          <a:xfrm>
            <a:off x="2514600" y="3374136"/>
            <a:ext cx="4587088" cy="566928"/>
          </a:xfrm>
          <a:prstGeom prst="rect">
            <a:avLst/>
          </a:prstGeom>
          <a:solidFill>
            <a:srgbClr val="151515"/>
          </a:solidFill>
          <a:ln w="12700">
            <a:solidFill>
              <a:srgbClr val="242424"/>
            </a:solidFill>
            <a:prstDash val="solid"/>
          </a:ln>
        </p:spPr>
      </p:sp>
      <p:sp>
        <p:nvSpPr>
          <p:cNvPr id="25" name="Text 23"/>
          <p:cNvSpPr/>
          <p:nvPr/>
        </p:nvSpPr>
        <p:spPr>
          <a:xfrm>
            <a:off x="2587752" y="3374136"/>
            <a:ext cx="4440784" cy="566928"/>
          </a:xfrm>
          <a:prstGeom prst="rect">
            <a:avLst/>
          </a:prstGeom>
          <a:noFill/>
          <a:ln/>
        </p:spPr>
        <p:txBody>
          <a:bodyPr wrap="square" lIns="0" tIns="0" rIns="0" bIns="0" rtlCol="0" anchor="ctr"/>
          <a:lstStyle/>
          <a:p>
            <a:pPr algn="ctr" indent="0" marL="0">
              <a:buNone/>
            </a:pPr>
            <a:r>
              <a:rPr lang="en-US" sz="1100" dirty="0">
                <a:solidFill>
                  <a:srgbClr val="FFB000"/>
                </a:solidFill>
                <a:latin typeface="Courier New" pitchFamily="34" charset="0"/>
                <a:ea typeface="Courier New" pitchFamily="34" charset="-122"/>
                <a:cs typeface="Courier New" pitchFamily="34" charset="-120"/>
              </a:rPr>
              <a:t>Planta y gemelo separables</a:t>
            </a:r>
            <a:endParaRPr lang="en-US" sz="1100" dirty="0"/>
          </a:p>
        </p:txBody>
      </p:sp>
      <p:sp>
        <p:nvSpPr>
          <p:cNvPr id="26" name="Shape 24"/>
          <p:cNvSpPr/>
          <p:nvPr/>
        </p:nvSpPr>
        <p:spPr>
          <a:xfrm>
            <a:off x="7101688" y="3374136"/>
            <a:ext cx="4587088" cy="566928"/>
          </a:xfrm>
          <a:prstGeom prst="rect">
            <a:avLst/>
          </a:prstGeom>
          <a:solidFill>
            <a:srgbClr val="151515"/>
          </a:solidFill>
          <a:ln w="12700">
            <a:solidFill>
              <a:srgbClr val="242424"/>
            </a:solidFill>
            <a:prstDash val="solid"/>
          </a:ln>
        </p:spPr>
      </p:sp>
      <p:sp>
        <p:nvSpPr>
          <p:cNvPr id="27" name="Text 25"/>
          <p:cNvSpPr/>
          <p:nvPr/>
        </p:nvSpPr>
        <p:spPr>
          <a:xfrm>
            <a:off x="7174840" y="3374136"/>
            <a:ext cx="444078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Borde/nube</a:t>
            </a:r>
            <a:endParaRPr lang="en-US" sz="1100" dirty="0"/>
          </a:p>
        </p:txBody>
      </p:sp>
      <p:sp>
        <p:nvSpPr>
          <p:cNvPr id="28" name="Shape 26"/>
          <p:cNvSpPr/>
          <p:nvPr/>
        </p:nvSpPr>
        <p:spPr>
          <a:xfrm>
            <a:off x="502920" y="3941064"/>
            <a:ext cx="2011680" cy="566928"/>
          </a:xfrm>
          <a:prstGeom prst="rect">
            <a:avLst/>
          </a:prstGeom>
          <a:solidFill>
            <a:srgbClr val="0B0B0B"/>
          </a:solidFill>
          <a:ln w="12700">
            <a:solidFill>
              <a:srgbClr val="242424"/>
            </a:solidFill>
            <a:prstDash val="solid"/>
          </a:ln>
        </p:spPr>
      </p:sp>
      <p:sp>
        <p:nvSpPr>
          <p:cNvPr id="29" name="Text 27"/>
          <p:cNvSpPr/>
          <p:nvPr/>
        </p:nvSpPr>
        <p:spPr>
          <a:xfrm>
            <a:off x="576072" y="3941064"/>
            <a:ext cx="186537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S11</a:t>
            </a:r>
            <a:endParaRPr lang="en-US" sz="1150" dirty="0"/>
          </a:p>
        </p:txBody>
      </p:sp>
      <p:sp>
        <p:nvSpPr>
          <p:cNvPr id="30" name="Shape 28"/>
          <p:cNvSpPr/>
          <p:nvPr/>
        </p:nvSpPr>
        <p:spPr>
          <a:xfrm>
            <a:off x="2514600" y="3941064"/>
            <a:ext cx="4587088" cy="566928"/>
          </a:xfrm>
          <a:prstGeom prst="rect">
            <a:avLst/>
          </a:prstGeom>
          <a:solidFill>
            <a:srgbClr val="0B0B0B"/>
          </a:solidFill>
          <a:ln w="12700">
            <a:solidFill>
              <a:srgbClr val="242424"/>
            </a:solidFill>
            <a:prstDash val="solid"/>
          </a:ln>
        </p:spPr>
      </p:sp>
      <p:sp>
        <p:nvSpPr>
          <p:cNvPr id="31" name="Text 29"/>
          <p:cNvSpPr/>
          <p:nvPr/>
        </p:nvSpPr>
        <p:spPr>
          <a:xfrm>
            <a:off x="2587752" y="3941064"/>
            <a:ext cx="4440784" cy="566928"/>
          </a:xfrm>
          <a:prstGeom prst="rect">
            <a:avLst/>
          </a:prstGeom>
          <a:noFill/>
          <a:ln/>
        </p:spPr>
        <p:txBody>
          <a:bodyPr wrap="square" lIns="0" tIns="0" rIns="0" bIns="0" rtlCol="0" anchor="ctr"/>
          <a:lstStyle/>
          <a:p>
            <a:pPr algn="ctr" indent="0" marL="0">
              <a:buNone/>
            </a:pPr>
            <a:r>
              <a:rPr lang="en-US" sz="1100" dirty="0">
                <a:solidFill>
                  <a:srgbClr val="22E06B"/>
                </a:solidFill>
                <a:latin typeface="Courier New" pitchFamily="34" charset="0"/>
                <a:ea typeface="Courier New" pitchFamily="34" charset="-122"/>
                <a:cs typeface="Courier New" pitchFamily="34" charset="-120"/>
              </a:rPr>
              <a:t>MQTT y nombrado Sparkplug</a:t>
            </a:r>
            <a:endParaRPr lang="en-US" sz="1100" dirty="0"/>
          </a:p>
        </p:txBody>
      </p:sp>
      <p:sp>
        <p:nvSpPr>
          <p:cNvPr id="32" name="Shape 30"/>
          <p:cNvSpPr/>
          <p:nvPr/>
        </p:nvSpPr>
        <p:spPr>
          <a:xfrm>
            <a:off x="7101688" y="3941064"/>
            <a:ext cx="4587088" cy="566928"/>
          </a:xfrm>
          <a:prstGeom prst="rect">
            <a:avLst/>
          </a:prstGeom>
          <a:solidFill>
            <a:srgbClr val="0B0B0B"/>
          </a:solidFill>
          <a:ln w="12700">
            <a:solidFill>
              <a:srgbClr val="242424"/>
            </a:solidFill>
            <a:prstDash val="solid"/>
          </a:ln>
        </p:spPr>
      </p:sp>
      <p:sp>
        <p:nvSpPr>
          <p:cNvPr id="33" name="Text 31"/>
          <p:cNvSpPr/>
          <p:nvPr/>
        </p:nvSpPr>
        <p:spPr>
          <a:xfrm>
            <a:off x="7174840" y="3941064"/>
            <a:ext cx="444078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Lab 6</a:t>
            </a:r>
            <a:endParaRPr lang="en-US" sz="1100" dirty="0"/>
          </a:p>
        </p:txBody>
      </p:sp>
      <p:sp>
        <p:nvSpPr>
          <p:cNvPr id="34" name="Shape 32"/>
          <p:cNvSpPr/>
          <p:nvPr/>
        </p:nvSpPr>
        <p:spPr>
          <a:xfrm>
            <a:off x="502920" y="4507992"/>
            <a:ext cx="2011680" cy="566928"/>
          </a:xfrm>
          <a:prstGeom prst="rect">
            <a:avLst/>
          </a:prstGeom>
          <a:solidFill>
            <a:srgbClr val="151515"/>
          </a:solidFill>
          <a:ln w="12700">
            <a:solidFill>
              <a:srgbClr val="242424"/>
            </a:solidFill>
            <a:prstDash val="solid"/>
          </a:ln>
        </p:spPr>
      </p:sp>
      <p:sp>
        <p:nvSpPr>
          <p:cNvPr id="35" name="Text 33"/>
          <p:cNvSpPr/>
          <p:nvPr/>
        </p:nvSpPr>
        <p:spPr>
          <a:xfrm>
            <a:off x="576072" y="4507992"/>
            <a:ext cx="186537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S13</a:t>
            </a:r>
            <a:endParaRPr lang="en-US" sz="1150" dirty="0"/>
          </a:p>
        </p:txBody>
      </p:sp>
      <p:sp>
        <p:nvSpPr>
          <p:cNvPr id="36" name="Shape 34"/>
          <p:cNvSpPr/>
          <p:nvPr/>
        </p:nvSpPr>
        <p:spPr>
          <a:xfrm>
            <a:off x="2514600" y="4507992"/>
            <a:ext cx="4587088" cy="566928"/>
          </a:xfrm>
          <a:prstGeom prst="rect">
            <a:avLst/>
          </a:prstGeom>
          <a:solidFill>
            <a:srgbClr val="151515"/>
          </a:solidFill>
          <a:ln w="12700">
            <a:solidFill>
              <a:srgbClr val="242424"/>
            </a:solidFill>
            <a:prstDash val="solid"/>
          </a:ln>
        </p:spPr>
      </p:sp>
      <p:sp>
        <p:nvSpPr>
          <p:cNvPr id="37" name="Text 35"/>
          <p:cNvSpPr/>
          <p:nvPr/>
        </p:nvSpPr>
        <p:spPr>
          <a:xfrm>
            <a:off x="2587752" y="4507992"/>
            <a:ext cx="4440784" cy="566928"/>
          </a:xfrm>
          <a:prstGeom prst="rect">
            <a:avLst/>
          </a:prstGeom>
          <a:noFill/>
          <a:ln/>
        </p:spPr>
        <p:txBody>
          <a:bodyPr wrap="square" lIns="0" tIns="0" rIns="0" bIns="0" rtlCol="0" anchor="ctr"/>
          <a:lstStyle/>
          <a:p>
            <a:pPr algn="ctr" indent="0" marL="0">
              <a:buNone/>
            </a:pPr>
            <a:r>
              <a:rPr lang="en-US" sz="1100" dirty="0">
                <a:solidFill>
                  <a:srgbClr val="9D6BFF"/>
                </a:solidFill>
                <a:latin typeface="Courier New" pitchFamily="34" charset="0"/>
                <a:ea typeface="Courier New" pitchFamily="34" charset="-122"/>
                <a:cs typeface="Courier New" pitchFamily="34" charset="-120"/>
              </a:rPr>
              <a:t>OEE con datos propios</a:t>
            </a:r>
            <a:endParaRPr lang="en-US" sz="1100" dirty="0"/>
          </a:p>
        </p:txBody>
      </p:sp>
      <p:sp>
        <p:nvSpPr>
          <p:cNvPr id="38" name="Shape 36"/>
          <p:cNvSpPr/>
          <p:nvPr/>
        </p:nvSpPr>
        <p:spPr>
          <a:xfrm>
            <a:off x="7101688" y="4507992"/>
            <a:ext cx="4587088" cy="566928"/>
          </a:xfrm>
          <a:prstGeom prst="rect">
            <a:avLst/>
          </a:prstGeom>
          <a:solidFill>
            <a:srgbClr val="151515"/>
          </a:solidFill>
          <a:ln w="12700">
            <a:solidFill>
              <a:srgbClr val="242424"/>
            </a:solidFill>
            <a:prstDash val="solid"/>
          </a:ln>
        </p:spPr>
      </p:sp>
      <p:sp>
        <p:nvSpPr>
          <p:cNvPr id="39" name="Text 37"/>
          <p:cNvSpPr/>
          <p:nvPr/>
        </p:nvSpPr>
        <p:spPr>
          <a:xfrm>
            <a:off x="7174840" y="4507992"/>
            <a:ext cx="444078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Lab 8</a:t>
            </a:r>
            <a:endParaRPr lang="en-US" sz="1100" dirty="0"/>
          </a:p>
        </p:txBody>
      </p:sp>
      <p:sp>
        <p:nvSpPr>
          <p:cNvPr id="40" name="Shape 38"/>
          <p:cNvSpPr/>
          <p:nvPr/>
        </p:nvSpPr>
        <p:spPr>
          <a:xfrm>
            <a:off x="502920" y="5074920"/>
            <a:ext cx="2011680" cy="566928"/>
          </a:xfrm>
          <a:prstGeom prst="rect">
            <a:avLst/>
          </a:prstGeom>
          <a:solidFill>
            <a:srgbClr val="0B0B0B"/>
          </a:solidFill>
          <a:ln w="12700">
            <a:solidFill>
              <a:srgbClr val="242424"/>
            </a:solidFill>
            <a:prstDash val="solid"/>
          </a:ln>
        </p:spPr>
      </p:sp>
      <p:sp>
        <p:nvSpPr>
          <p:cNvPr id="41" name="Text 39"/>
          <p:cNvSpPr/>
          <p:nvPr/>
        </p:nvSpPr>
        <p:spPr>
          <a:xfrm>
            <a:off x="576072" y="5074920"/>
            <a:ext cx="186537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S14–15</a:t>
            </a:r>
            <a:endParaRPr lang="en-US" sz="1150" dirty="0"/>
          </a:p>
        </p:txBody>
      </p:sp>
      <p:sp>
        <p:nvSpPr>
          <p:cNvPr id="42" name="Shape 40"/>
          <p:cNvSpPr/>
          <p:nvPr/>
        </p:nvSpPr>
        <p:spPr>
          <a:xfrm>
            <a:off x="2514600" y="5074920"/>
            <a:ext cx="4587088" cy="566928"/>
          </a:xfrm>
          <a:prstGeom prst="rect">
            <a:avLst/>
          </a:prstGeom>
          <a:solidFill>
            <a:srgbClr val="0B0B0B"/>
          </a:solidFill>
          <a:ln w="12700">
            <a:solidFill>
              <a:srgbClr val="242424"/>
            </a:solidFill>
            <a:prstDash val="solid"/>
          </a:ln>
        </p:spPr>
      </p:sp>
      <p:sp>
        <p:nvSpPr>
          <p:cNvPr id="43" name="Text 41"/>
          <p:cNvSpPr/>
          <p:nvPr/>
        </p:nvSpPr>
        <p:spPr>
          <a:xfrm>
            <a:off x="2587752" y="5074920"/>
            <a:ext cx="4440784" cy="566928"/>
          </a:xfrm>
          <a:prstGeom prst="rect">
            <a:avLst/>
          </a:prstGeom>
          <a:noFill/>
          <a:ln/>
        </p:spPr>
        <p:txBody>
          <a:bodyPr wrap="square" lIns="0" tIns="0" rIns="0" bIns="0" rtlCol="0" anchor="ctr"/>
          <a:lstStyle/>
          <a:p>
            <a:pPr algn="ctr" indent="0" marL="0">
              <a:buNone/>
            </a:pPr>
            <a:r>
              <a:rPr lang="en-US" sz="1100" dirty="0">
                <a:solidFill>
                  <a:srgbClr val="FF3B30"/>
                </a:solidFill>
                <a:latin typeface="Courier New" pitchFamily="34" charset="0"/>
                <a:ea typeface="Courier New" pitchFamily="34" charset="-122"/>
                <a:cs typeface="Courier New" pitchFamily="34" charset="-120"/>
              </a:rPr>
              <a:t>Broker abierto · dato que mueve el proceso</a:t>
            </a:r>
            <a:endParaRPr lang="en-US" sz="1100" dirty="0"/>
          </a:p>
        </p:txBody>
      </p:sp>
      <p:sp>
        <p:nvSpPr>
          <p:cNvPr id="44" name="Shape 42"/>
          <p:cNvSpPr/>
          <p:nvPr/>
        </p:nvSpPr>
        <p:spPr>
          <a:xfrm>
            <a:off x="7101688" y="5074920"/>
            <a:ext cx="4587088" cy="566928"/>
          </a:xfrm>
          <a:prstGeom prst="rect">
            <a:avLst/>
          </a:prstGeom>
          <a:solidFill>
            <a:srgbClr val="0B0B0B"/>
          </a:solidFill>
          <a:ln w="12700">
            <a:solidFill>
              <a:srgbClr val="242424"/>
            </a:solidFill>
            <a:prstDash val="solid"/>
          </a:ln>
        </p:spPr>
      </p:sp>
      <p:sp>
        <p:nvSpPr>
          <p:cNvPr id="45" name="Text 43"/>
          <p:cNvSpPr/>
          <p:nvPr/>
        </p:nvSpPr>
        <p:spPr>
          <a:xfrm>
            <a:off x="7174840" y="5074920"/>
            <a:ext cx="444078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Riesgo OT</a:t>
            </a:r>
            <a:endParaRPr lang="en-US" sz="1100" dirty="0"/>
          </a:p>
        </p:txBody>
      </p:sp>
      <p:sp>
        <p:nvSpPr>
          <p:cNvPr id="46" name="Text 4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47" name="Text 4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48" name="Text 4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46 / 49</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40  CIERRE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PARA RECORDAR</a:t>
            </a:r>
            <a:endParaRPr lang="en-US" sz="3300" dirty="0"/>
          </a:p>
        </p:txBody>
      </p:sp>
      <p:sp>
        <p:nvSpPr>
          <p:cNvPr id="4" name="Shape 2"/>
          <p:cNvSpPr/>
          <p:nvPr/>
        </p:nvSpPr>
        <p:spPr>
          <a:xfrm>
            <a:off x="502920" y="1783080"/>
            <a:ext cx="11185855" cy="780898"/>
          </a:xfrm>
          <a:prstGeom prst="roundRect">
            <a:avLst>
              <a:gd name="adj" fmla="val 5855"/>
            </a:avLst>
          </a:prstGeom>
          <a:solidFill>
            <a:srgbClr val="151515"/>
          </a:solidFill>
          <a:ln w="12700">
            <a:solidFill>
              <a:srgbClr val="333333"/>
            </a:solidFill>
            <a:prstDash val="solid"/>
          </a:ln>
        </p:spPr>
      </p:sp>
      <p:sp>
        <p:nvSpPr>
          <p:cNvPr id="5" name="Text 3"/>
          <p:cNvSpPr/>
          <p:nvPr/>
        </p:nvSpPr>
        <p:spPr>
          <a:xfrm>
            <a:off x="731520" y="1783080"/>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LA RESTA</a:t>
            </a:r>
            <a:endParaRPr lang="en-US" sz="1200" dirty="0"/>
          </a:p>
        </p:txBody>
      </p:sp>
      <p:sp>
        <p:nvSpPr>
          <p:cNvPr id="6" name="Text 4"/>
          <p:cNvSpPr/>
          <p:nvPr/>
        </p:nvSpPr>
        <p:spPr>
          <a:xfrm>
            <a:off x="4251960" y="1783080"/>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Sin residual no hay gemelo: sólo un tablero bien dibujado.</a:t>
            </a:r>
            <a:endParaRPr lang="en-US" sz="1250" dirty="0"/>
          </a:p>
        </p:txBody>
      </p:sp>
      <p:sp>
        <p:nvSpPr>
          <p:cNvPr id="7" name="Shape 5"/>
          <p:cNvSpPr/>
          <p:nvPr/>
        </p:nvSpPr>
        <p:spPr>
          <a:xfrm>
            <a:off x="502920" y="2710282"/>
            <a:ext cx="11185855" cy="780898"/>
          </a:xfrm>
          <a:prstGeom prst="roundRect">
            <a:avLst>
              <a:gd name="adj" fmla="val 5855"/>
            </a:avLst>
          </a:prstGeom>
          <a:solidFill>
            <a:srgbClr val="151515"/>
          </a:solidFill>
          <a:ln w="12700">
            <a:solidFill>
              <a:srgbClr val="333333"/>
            </a:solidFill>
            <a:prstDash val="solid"/>
          </a:ln>
        </p:spPr>
      </p:sp>
      <p:sp>
        <p:nvSpPr>
          <p:cNvPr id="8" name="Text 6"/>
          <p:cNvSpPr/>
          <p:nvPr/>
        </p:nvSpPr>
        <p:spPr>
          <a:xfrm>
            <a:off x="731520" y="2710282"/>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LA FRONTERA</a:t>
            </a:r>
            <a:endParaRPr lang="en-US" sz="1200" dirty="0"/>
          </a:p>
        </p:txBody>
      </p:sp>
      <p:sp>
        <p:nvSpPr>
          <p:cNvPr id="9" name="Text 7"/>
          <p:cNvSpPr/>
          <p:nvPr/>
        </p:nvSpPr>
        <p:spPr>
          <a:xfrm>
            <a:off x="4251960" y="2710282"/>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Lo que el gemelo ve es sólo la telemetría; el resto lo infiere.</a:t>
            </a:r>
            <a:endParaRPr lang="en-US" sz="1250" dirty="0"/>
          </a:p>
        </p:txBody>
      </p:sp>
      <p:sp>
        <p:nvSpPr>
          <p:cNvPr id="10" name="Shape 8"/>
          <p:cNvSpPr/>
          <p:nvPr/>
        </p:nvSpPr>
        <p:spPr>
          <a:xfrm>
            <a:off x="502920" y="3637483"/>
            <a:ext cx="11185855" cy="780898"/>
          </a:xfrm>
          <a:prstGeom prst="roundRect">
            <a:avLst>
              <a:gd name="adj" fmla="val 5855"/>
            </a:avLst>
          </a:prstGeom>
          <a:solidFill>
            <a:srgbClr val="151515"/>
          </a:solidFill>
          <a:ln w="12700">
            <a:solidFill>
              <a:srgbClr val="333333"/>
            </a:solidFill>
            <a:prstDash val="solid"/>
          </a:ln>
        </p:spPr>
      </p:sp>
      <p:sp>
        <p:nvSpPr>
          <p:cNvPr id="11" name="Text 9"/>
          <p:cNvSpPr/>
          <p:nvPr/>
        </p:nvSpPr>
        <p:spPr>
          <a:xfrm>
            <a:off x="731520" y="3637483"/>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LA HONESTIDAD</a:t>
            </a:r>
            <a:endParaRPr lang="en-US" sz="1200" dirty="0"/>
          </a:p>
        </p:txBody>
      </p:sp>
      <p:sp>
        <p:nvSpPr>
          <p:cNvPr id="12" name="Text 10"/>
          <p:cNvSpPr/>
          <p:nvPr/>
        </p:nvSpPr>
        <p:spPr>
          <a:xfrm>
            <a:off x="4251960" y="3637483"/>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Un gemelo declara lo que no puede saber y con qué certeza.</a:t>
            </a:r>
            <a:endParaRPr lang="en-US" sz="1250" dirty="0"/>
          </a:p>
        </p:txBody>
      </p:sp>
      <p:sp>
        <p:nvSpPr>
          <p:cNvPr id="13" name="Shape 11"/>
          <p:cNvSpPr/>
          <p:nvPr/>
        </p:nvSpPr>
        <p:spPr>
          <a:xfrm>
            <a:off x="502920" y="4564685"/>
            <a:ext cx="11185855" cy="780898"/>
          </a:xfrm>
          <a:prstGeom prst="roundRect">
            <a:avLst>
              <a:gd name="adj" fmla="val 5855"/>
            </a:avLst>
          </a:prstGeom>
          <a:solidFill>
            <a:srgbClr val="151515"/>
          </a:solidFill>
          <a:ln w="12700">
            <a:solidFill>
              <a:srgbClr val="333333"/>
            </a:solidFill>
            <a:prstDash val="solid"/>
          </a:ln>
        </p:spPr>
      </p:sp>
      <p:sp>
        <p:nvSpPr>
          <p:cNvPr id="14" name="Text 12"/>
          <p:cNvSpPr/>
          <p:nvPr/>
        </p:nvSpPr>
        <p:spPr>
          <a:xfrm>
            <a:off x="731520" y="4564685"/>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EL INTERCAMBIO</a:t>
            </a:r>
            <a:endParaRPr lang="en-US" sz="1200" dirty="0"/>
          </a:p>
        </p:txBody>
      </p:sp>
      <p:sp>
        <p:nvSpPr>
          <p:cNvPr id="15" name="Text 13"/>
          <p:cNvSpPr/>
          <p:nvPr/>
        </p:nvSpPr>
        <p:spPr>
          <a:xfrm>
            <a:off x="4251960" y="4564685"/>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Toda recomendación tiene un costo; entregar la curva, no el número.</a:t>
            </a:r>
            <a:endParaRPr lang="en-US" sz="1250" dirty="0"/>
          </a:p>
        </p:txBody>
      </p:sp>
      <p:sp>
        <p:nvSpPr>
          <p:cNvPr id="16" name="Shape 14"/>
          <p:cNvSpPr/>
          <p:nvPr/>
        </p:nvSpPr>
        <p:spPr>
          <a:xfrm>
            <a:off x="502920" y="5491886"/>
            <a:ext cx="11185855" cy="780898"/>
          </a:xfrm>
          <a:prstGeom prst="roundRect">
            <a:avLst>
              <a:gd name="adj" fmla="val 5855"/>
            </a:avLst>
          </a:prstGeom>
          <a:solidFill>
            <a:srgbClr val="151515"/>
          </a:solidFill>
          <a:ln w="12700">
            <a:solidFill>
              <a:srgbClr val="333333"/>
            </a:solidFill>
            <a:prstDash val="solid"/>
          </a:ln>
        </p:spPr>
      </p:sp>
      <p:sp>
        <p:nvSpPr>
          <p:cNvPr id="17" name="Text 15"/>
          <p:cNvSpPr/>
          <p:nvPr/>
        </p:nvSpPr>
        <p:spPr>
          <a:xfrm>
            <a:off x="731520" y="5491886"/>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EL GOBIERNO</a:t>
            </a:r>
            <a:endParaRPr lang="en-US" sz="1200" dirty="0"/>
          </a:p>
        </p:txBody>
      </p:sp>
      <p:sp>
        <p:nvSpPr>
          <p:cNvPr id="18" name="Text 16"/>
          <p:cNvSpPr/>
          <p:nvPr/>
        </p:nvSpPr>
        <p:spPr>
          <a:xfrm>
            <a:off x="4251960" y="5491886"/>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Si el gemelo puede escribir sobre el proceso, alguien debe responder.</a:t>
            </a:r>
            <a:endParaRPr lang="en-US" sz="1250" dirty="0"/>
          </a:p>
        </p:txBody>
      </p:sp>
      <p:sp>
        <p:nvSpPr>
          <p:cNvPr id="19" name="Text 1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0" name="Text 1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21" name="Text 1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47 / 49</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41  CIERRE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REFERENCIAS Y RECURSOS</a:t>
            </a:r>
            <a:endParaRPr lang="en-US" sz="3300" dirty="0"/>
          </a:p>
        </p:txBody>
      </p:sp>
      <p:sp>
        <p:nvSpPr>
          <p:cNvPr id="4" name="Text 2"/>
          <p:cNvSpPr/>
          <p:nvPr/>
        </p:nvSpPr>
        <p:spPr>
          <a:xfrm>
            <a:off x="502920" y="1517904"/>
            <a:ext cx="11185855" cy="457200"/>
          </a:xfrm>
          <a:prstGeom prst="rect">
            <a:avLst/>
          </a:prstGeom>
          <a:noFill/>
          <a:ln/>
        </p:spPr>
        <p:txBody>
          <a:bodyPr wrap="square" lIns="0" tIns="0" rIns="0" bIns="0" rtlCol="0" anchor="t"/>
          <a:lstStyle/>
          <a:p>
            <a:pPr algn="l" indent="0" marL="0">
              <a:buNone/>
            </a:pPr>
            <a:r>
              <a:rPr lang="en-US" sz="1350" dirty="0">
                <a:solidFill>
                  <a:srgbClr val="8C8C8C"/>
                </a:solidFill>
                <a:latin typeface="Arial" pitchFamily="34" charset="0"/>
                <a:ea typeface="Arial" pitchFamily="34" charset="-122"/>
                <a:cs typeface="Arial" pitchFamily="34" charset="-120"/>
              </a:rPr>
              <a:t>Toca el enlace para abrir la fuente · libre = acceso gratuito · de pago = compra o biblioteca</a:t>
            </a:r>
            <a:endParaRPr lang="en-US" sz="1350" dirty="0"/>
          </a:p>
        </p:txBody>
      </p:sp>
      <p:sp>
        <p:nvSpPr>
          <p:cNvPr id="5" name="Shape 3"/>
          <p:cNvSpPr/>
          <p:nvPr/>
        </p:nvSpPr>
        <p:spPr>
          <a:xfrm>
            <a:off x="502920" y="1783080"/>
            <a:ext cx="11185855" cy="4489704"/>
          </a:xfrm>
          <a:prstGeom prst="roundRect">
            <a:avLst>
              <a:gd name="adj" fmla="val 101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822960" y="1984248"/>
            <a:ext cx="10545775" cy="4123944"/>
          </a:xfrm>
          <a:prstGeom prst="rect">
            <a:avLst/>
          </a:prstGeom>
          <a:noFill/>
          <a:ln/>
        </p:spPr>
        <p:txBody>
          <a:bodyPr wrap="square" lIns="0" tIns="0" rIns="0" bIns="0" rtlCol="0" anchor="t"/>
          <a:lstStyle/>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Kritzinger et al. (2018) — Digital Twin (IFAC, abierto)</a:t>
            </a:r>
            <a:pPr indent="0" marL="0">
              <a:lnSpc>
                <a:spcPct val="102000"/>
              </a:lnSpc>
              <a:spcAft>
                <a:spcPts val="100"/>
              </a:spcAft>
              <a:buNone/>
            </a:pPr>
            <a:r>
              <a:rPr lang="en-US" sz="850" b="1" dirty="0">
                <a:solidFill>
                  <a:srgbClr val="22E06B"/>
                </a:solidFill>
                <a:latin typeface="Courier New" pitchFamily="34" charset="0"/>
                <a:ea typeface="Courier New" pitchFamily="34" charset="-122"/>
                <a:cs typeface="Courier New" pitchFamily="34" charset="-120"/>
              </a:rPr>
              <a:t>   · libre</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https://doi.org/10.1016/j.ifacol.2018.08.474</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Rasheed, San &amp; Kvamsdal (2020) — Digital Twin (IEEE Access, abierto)</a:t>
            </a:r>
            <a:pPr indent="0" marL="0">
              <a:lnSpc>
                <a:spcPct val="102000"/>
              </a:lnSpc>
              <a:spcAft>
                <a:spcPts val="100"/>
              </a:spcAft>
              <a:buNone/>
            </a:pPr>
            <a:r>
              <a:rPr lang="en-US" sz="850" b="1" dirty="0">
                <a:solidFill>
                  <a:srgbClr val="22E06B"/>
                </a:solidFill>
                <a:latin typeface="Courier New" pitchFamily="34" charset="0"/>
                <a:ea typeface="Courier New" pitchFamily="34" charset="-122"/>
                <a:cs typeface="Courier New" pitchFamily="34" charset="-120"/>
              </a:rPr>
              <a:t>   · libre</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https://doi.org/10.1109/ACCESS.2020.2970143</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Digital Twin Consortium — recursos abiertos</a:t>
            </a:r>
            <a:pPr indent="0" marL="0">
              <a:lnSpc>
                <a:spcPct val="102000"/>
              </a:lnSpc>
              <a:spcAft>
                <a:spcPts val="100"/>
              </a:spcAft>
              <a:buNone/>
            </a:pPr>
            <a:r>
              <a:rPr lang="en-US" sz="850" b="1" dirty="0">
                <a:solidFill>
                  <a:srgbClr val="22E06B"/>
                </a:solidFill>
                <a:latin typeface="Courier New" pitchFamily="34" charset="0"/>
                <a:ea typeface="Courier New" pitchFamily="34" charset="-122"/>
                <a:cs typeface="Courier New" pitchFamily="34" charset="-120"/>
              </a:rPr>
              <a:t>   · libre</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https://www.digitaltwinconsortium.org/</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Isermann (2006) — Fault-Diagnosis Systems (Springer)</a:t>
            </a:r>
            <a:pPr indent="0" marL="0">
              <a:lnSpc>
                <a:spcPct val="102000"/>
              </a:lnSpc>
              <a:spcAft>
                <a:spcPts val="100"/>
              </a:spcAft>
              <a:buNone/>
            </a:pPr>
            <a:r>
              <a:rPr lang="en-US" sz="850" b="1" dirty="0">
                <a:solidFill>
                  <a:srgbClr val="FFB000"/>
                </a:solidFill>
                <a:latin typeface="Courier New" pitchFamily="34" charset="0"/>
                <a:ea typeface="Courier New" pitchFamily="34" charset="-122"/>
                <a:cs typeface="Courier New" pitchFamily="34" charset="-120"/>
              </a:rPr>
              <a:t>   · de pago</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https://link.springer.com/book/10.1007/3-540-30368-5</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ISO 23247 — marco de gemelo digital para manufactura</a:t>
            </a:r>
            <a:pPr indent="0" marL="0">
              <a:lnSpc>
                <a:spcPct val="102000"/>
              </a:lnSpc>
              <a:spcAft>
                <a:spcPts val="100"/>
              </a:spcAft>
              <a:buNone/>
            </a:pPr>
            <a:r>
              <a:rPr lang="en-US" sz="850" b="1" dirty="0">
                <a:solidFill>
                  <a:srgbClr val="FFB000"/>
                </a:solidFill>
                <a:latin typeface="Courier New" pitchFamily="34" charset="0"/>
                <a:ea typeface="Courier New" pitchFamily="34" charset="-122"/>
                <a:cs typeface="Courier New" pitchFamily="34" charset="-120"/>
              </a:rPr>
              <a:t>   · de pago</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https://www.iso.org/</a:t>
            </a:r>
            <a:endParaRPr lang="en-US" sz="1150" dirty="0"/>
          </a:p>
          <a:p>
            <a:pPr marL="342900" indent="-342900">
              <a:lnSpc>
                <a:spcPct val="102000"/>
              </a:lnSpc>
              <a:buSzPct val="100000"/>
              <a:buChar char="–"/>
            </a:pPr>
            <a:r>
              <a:rPr lang="en-US" sz="1150" dirty="0">
                <a:solidFill>
                  <a:srgbClr val="F4F4F4"/>
                </a:solidFill>
                <a:latin typeface="Arial" pitchFamily="34" charset="0"/>
                <a:ea typeface="Arial" pitchFamily="34" charset="-122"/>
                <a:cs typeface="Arial" pitchFamily="34" charset="-120"/>
              </a:rPr>
              <a:t>Código y guía del laboratorio — gemelo-digital/LÉEME.md</a:t>
            </a:r>
            <a:pPr indent="0" marL="0">
              <a:lnSpc>
                <a:spcPct val="102000"/>
              </a:lnSpc>
              <a:buNone/>
            </a:pPr>
            <a:r>
              <a:rPr lang="en-US" sz="850" b="1" dirty="0">
                <a:solidFill>
                  <a:srgbClr val="22E06B"/>
                </a:solidFill>
                <a:latin typeface="Courier New" pitchFamily="34" charset="0"/>
                <a:ea typeface="Courier New" pitchFamily="34" charset="-122"/>
                <a:cs typeface="Courier New" pitchFamily="34" charset="-120"/>
              </a:rPr>
              <a:t>   · libre</a:t>
            </a:r>
            <a:endParaRPr lang="en-US" sz="1150" dirty="0"/>
          </a:p>
        </p:txBody>
      </p:sp>
      <p:sp>
        <p:nvSpPr>
          <p:cNvPr id="7" name="Text 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8" name="Text 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9" name="Text 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48 / 49</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1188720"/>
            <a:ext cx="11185855" cy="548640"/>
          </a:xfrm>
          <a:prstGeom prst="rect">
            <a:avLst/>
          </a:prstGeom>
          <a:noFill/>
          <a:ln/>
        </p:spPr>
        <p:txBody>
          <a:bodyPr wrap="square" lIns="0" tIns="0" rIns="0" bIns="0" rtlCol="0" anchor="ctr"/>
          <a:lstStyle/>
          <a:p>
            <a:pPr indent="0" marL="0">
              <a:buNone/>
            </a:pPr>
            <a:r>
              <a:rPr lang="en-US" sz="1500" spc="200" kern="0" dirty="0">
                <a:solidFill>
                  <a:srgbClr val="8C8C8C"/>
                </a:solidFill>
                <a:latin typeface="Courier New" pitchFamily="34" charset="0"/>
                <a:ea typeface="Courier New" pitchFamily="34" charset="-122"/>
                <a:cs typeface="Courier New" pitchFamily="34" charset="-120"/>
              </a:rPr>
              <a:t>FIN SESIÓN 12</a:t>
            </a:r>
            <a:endParaRPr lang="en-US" sz="1500" dirty="0"/>
          </a:p>
        </p:txBody>
      </p:sp>
      <p:sp>
        <p:nvSpPr>
          <p:cNvPr id="3" name="Text 1"/>
          <p:cNvSpPr/>
          <p:nvPr/>
        </p:nvSpPr>
        <p:spPr>
          <a:xfrm>
            <a:off x="502920" y="2011680"/>
            <a:ext cx="11185855" cy="457200"/>
          </a:xfrm>
          <a:prstGeom prst="rect">
            <a:avLst/>
          </a:prstGeom>
          <a:noFill/>
          <a:ln/>
        </p:spPr>
        <p:txBody>
          <a:bodyPr wrap="square" lIns="0" tIns="0" rIns="0" bIns="0" rtlCol="0" anchor="ctr"/>
          <a:lstStyle/>
          <a:p>
            <a:pPr indent="0" marL="0">
              <a:buNone/>
            </a:pPr>
            <a:r>
              <a:rPr lang="en-US" sz="1300" b="1" spc="200" kern="0" dirty="0">
                <a:solidFill>
                  <a:srgbClr val="C6FF00"/>
                </a:solidFill>
                <a:latin typeface="Courier New" pitchFamily="34" charset="0"/>
                <a:ea typeface="Courier New" pitchFamily="34" charset="-122"/>
                <a:cs typeface="Courier New" pitchFamily="34" charset="-120"/>
              </a:rPr>
              <a:t>PRÓXIMA</a:t>
            </a:r>
            <a:endParaRPr lang="en-US" sz="1300" dirty="0"/>
          </a:p>
        </p:txBody>
      </p:sp>
      <p:sp>
        <p:nvSpPr>
          <p:cNvPr id="4" name="Text 2"/>
          <p:cNvSpPr/>
          <p:nvPr/>
        </p:nvSpPr>
        <p:spPr>
          <a:xfrm>
            <a:off x="502920" y="2377440"/>
            <a:ext cx="11185855" cy="1188720"/>
          </a:xfrm>
          <a:prstGeom prst="rect">
            <a:avLst/>
          </a:prstGeom>
          <a:noFill/>
          <a:ln/>
        </p:spPr>
        <p:txBody>
          <a:bodyPr wrap="square" lIns="0" tIns="0" rIns="0" bIns="0" rtlCol="0" anchor="t"/>
          <a:lstStyle/>
          <a:p>
            <a:pPr indent="0" marL="0">
              <a:buNone/>
            </a:pPr>
            <a:r>
              <a:rPr lang="en-US" sz="4600" dirty="0">
                <a:solidFill>
                  <a:srgbClr val="F4F4F4"/>
                </a:solidFill>
                <a:latin typeface="Arial Black" pitchFamily="34" charset="0"/>
                <a:ea typeface="Arial Black" pitchFamily="34" charset="-122"/>
                <a:cs typeface="Arial Black" pitchFamily="34" charset="-120"/>
              </a:rPr>
              <a:t>SESIÓN 13</a:t>
            </a:r>
            <a:endParaRPr lang="en-US" sz="4600" dirty="0"/>
          </a:p>
        </p:txBody>
      </p:sp>
      <p:sp>
        <p:nvSpPr>
          <p:cNvPr id="5" name="Text 3"/>
          <p:cNvSpPr/>
          <p:nvPr/>
        </p:nvSpPr>
        <p:spPr>
          <a:xfrm>
            <a:off x="502920" y="3657600"/>
            <a:ext cx="11185855" cy="548640"/>
          </a:xfrm>
          <a:prstGeom prst="rect">
            <a:avLst/>
          </a:prstGeom>
          <a:noFill/>
          <a:ln/>
        </p:spPr>
        <p:txBody>
          <a:bodyPr wrap="square" lIns="0" tIns="0" rIns="0" bIns="0" rtlCol="0" anchor="t"/>
          <a:lstStyle/>
          <a:p>
            <a:pPr indent="0" marL="0">
              <a:buNone/>
            </a:pPr>
            <a:r>
              <a:rPr lang="en-US" sz="1500" b="1" dirty="0">
                <a:solidFill>
                  <a:srgbClr val="C6FF00"/>
                </a:solidFill>
                <a:latin typeface="Courier New" pitchFamily="34" charset="0"/>
                <a:ea typeface="Courier New" pitchFamily="34" charset="-122"/>
                <a:cs typeface="Courier New" pitchFamily="34" charset="-120"/>
              </a:rPr>
              <a:t>&gt; </a:t>
            </a:r>
            <a:pPr indent="0" marL="0">
              <a:buNone/>
            </a:pPr>
            <a:r>
              <a:rPr lang="en-US" sz="1500" dirty="0">
                <a:solidFill>
                  <a:srgbClr val="F4F4F4"/>
                </a:solidFill>
                <a:latin typeface="Courier New" pitchFamily="34" charset="0"/>
                <a:ea typeface="Courier New" pitchFamily="34" charset="-122"/>
                <a:cs typeface="Courier New" pitchFamily="34" charset="-120"/>
              </a:rPr>
              <a:t>GOBIERNO DE DATOS Y OEE</a:t>
            </a:r>
            <a:endParaRPr lang="en-US" sz="1500" dirty="0"/>
          </a:p>
        </p:txBody>
      </p:sp>
      <p:sp>
        <p:nvSpPr>
          <p:cNvPr id="6" name="Text 4"/>
          <p:cNvSpPr/>
          <p:nvPr/>
        </p:nvSpPr>
        <p:spPr>
          <a:xfrm>
            <a:off x="502920" y="4160520"/>
            <a:ext cx="11185855" cy="822960"/>
          </a:xfrm>
          <a:prstGeom prst="rect">
            <a:avLst/>
          </a:prstGeom>
          <a:noFill/>
          <a:ln/>
        </p:spPr>
        <p:txBody>
          <a:bodyPr wrap="square" lIns="0" tIns="0" rIns="0" bIns="0" rtlCol="0" anchor="t"/>
          <a:lstStyle/>
          <a:p>
            <a:pPr indent="0" marL="0">
              <a:lnSpc>
                <a:spcPct val="110000"/>
              </a:lnSpc>
              <a:buNone/>
            </a:pPr>
            <a:r>
              <a:rPr lang="en-US" sz="1300" dirty="0">
                <a:solidFill>
                  <a:srgbClr val="8C8C8C"/>
                </a:solidFill>
                <a:latin typeface="Arial" pitchFamily="34" charset="0"/>
                <a:ea typeface="Arial" pitchFamily="34" charset="-122"/>
                <a:cs typeface="Arial" pitchFamily="34" charset="-120"/>
              </a:rPr>
              <a:t>El OEE que produce este gemelo alimenta el Lab 8: datos generados por los propios estudiantes.</a:t>
            </a:r>
            <a:endParaRPr lang="en-US" sz="1300" dirty="0"/>
          </a:p>
        </p:txBody>
      </p:sp>
      <p:sp>
        <p:nvSpPr>
          <p:cNvPr id="7" name="Text 5"/>
          <p:cNvSpPr/>
          <p:nvPr/>
        </p:nvSpPr>
        <p:spPr>
          <a:xfrm>
            <a:off x="502920" y="5303520"/>
            <a:ext cx="11185855" cy="457200"/>
          </a:xfrm>
          <a:prstGeom prst="rect">
            <a:avLst/>
          </a:prstGeom>
          <a:noFill/>
          <a:ln/>
        </p:spPr>
        <p:txBody>
          <a:bodyPr wrap="square" lIns="0" tIns="0" rIns="0" bIns="0" rtlCol="0" anchor="ctr"/>
          <a:lstStyle/>
          <a:p>
            <a:pPr indent="0" marL="0">
              <a:buNone/>
            </a:pPr>
            <a:r>
              <a:rPr lang="en-US" sz="1400" dirty="0">
                <a:solidFill>
                  <a:srgbClr val="C6FF00"/>
                </a:solidFill>
                <a:latin typeface="Courier New" pitchFamily="34" charset="0"/>
                <a:ea typeface="Courier New" pitchFamily="34" charset="-122"/>
                <a:cs typeface="Courier New" pitchFamily="34" charset="-120"/>
              </a:rPr>
              <a:t>root@planta:~# python main.py --velocidad 8 _</a:t>
            </a:r>
            <a:endParaRPr lang="en-US" sz="1400" dirty="0"/>
          </a:p>
        </p:txBody>
      </p:sp>
      <p:sp>
        <p:nvSpPr>
          <p:cNvPr id="8" name="Text 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9" name="Text 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S12 · LAB 7 · GEMELO DIGITAL</a:t>
            </a:r>
            <a:endParaRPr lang="en-US" sz="800" dirty="0"/>
          </a:p>
        </p:txBody>
      </p:sp>
      <p:sp>
        <p:nvSpPr>
          <p:cNvPr id="10" name="Text 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49 / 49</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Universidad de San Buenaventura — Medellín (Bello)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GOBIERNO DE TI Y SISTEMAS CIBER-FÍSICOS DE PRODUCCIÓN · 2026-2</dc:title>
  <dc:subject>PptxGenJS Presentation</dc:subject>
  <dc:creator>Jorge Andrés Dapena — MSc.</dc:creator>
  <cp:lastModifiedBy>Jorge Andrés Dapena — MSc.</cp:lastModifiedBy>
  <cp:revision>1</cp:revision>
  <dcterms:created xsi:type="dcterms:W3CDTF">2026-09-18T01:07:41Z</dcterms:created>
  <dcterms:modified xsi:type="dcterms:W3CDTF">2026-09-18T01:07:41Z</dcterms:modified>
</cp:coreProperties>
</file>