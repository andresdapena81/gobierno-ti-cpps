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Unidad 3. El dato es el activo que sostiene gemelos, analítica e indicadores. Se recibe el Entregable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gobierno del dato (por qué y cómo) al valor (indicadores y analítica) y a la 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OEE es el indicador rey de manufactura. Todo lo visto (gemelos, analítica) depende de datos gobernados (APO14).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práctico: calcular OEE (Lab 8) y entender el gobierno del dato que lo sostiene.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solo es activo si se gobierna. APO14 (nuevo en 2019) formaliza el gobierno del dato en COBIT.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GIGO es la ley del dato. El gobierno del dato es el cimiento de todo el valor construido en las unidades 2-3.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OT tiene características propias. Su gobierno requiere historiadores, semántica (S10) y roles específicos.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del CPPS viene de muchas fuentes. El UNS (S11) las unifica; el gobierno de datos les da calidad y significado.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APO14 es el ancla de gobierno del dato en COBIT. Se complementa con marcos especializados (DAMA-DMBOK).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la sección de calidad. El dato es el eslabón que determina todo lo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APO14 gobierna todo el ciclo del dato, no solo su captura. La retención y la eliminación segura son puntos ciegos frecuentes.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dimensiones de calidad son medibles. Un programa de calidad de datos las monitorea con KPI, como cualquier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roles de gobierno de datos (DAMA). El más olvidado es el steward, que cuida el significado y la calidad.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linaje responde '¿de dónde salió este número?'. Sin él, los indicadores no se pueden auditar ni defender.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de capas se repite: COBIT gobierna, DAMA/DCAM operacionalizan el gobierno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Prevenir en origen es más barato que limpiar. La calidad del dato es cultural (componente de COBIT).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dato debería tener estos roles asignados. El proyecto los definirá para sus datos clave (OEE, señales críticas).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numérico completo. Un OEE del 70 % está por debajo de la clase mundial (85 %); el factor a atacar aquí es el rendimiento.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OEE es el KPI universal de manufactura. Multiplica tres factores: un mal factor hunde el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OEE es multiplicativo: tres factores 'buenos' (90%) dan un OEE mediocre (73%). Atacar el más bajo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grandes pérdidas (TPM) se mapean a los tres factores del OEE. Identificarlas guía la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MTBF/MTTR miden mantenimiento; FPY/scrap, calidad; consumo específico, eficiencia. Todos nacen del dato gobernado.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OEE es tan confiable como su dato. Cierra el círculo: gobierno del dato → indicador confiable → buena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analítica sube de describir a prescribir. La mayoría de plantas están en descriptiva-diagnóstica; el predictivo es el salto de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predictivo (detección de anomalías, RUL) es el caso de uso estrella. Depende de datos y a veces de un gemelo.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fracaso del piloto es de gobierno, no de algoritmo. Datos, escala y adopción. Conecta con S05 (piloto zombi) y S16.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Realismo sobre la IA en planta: simple, explicable, supervisada, mantenida. La sofisticación no garantiza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completo integra las sesiones S10–S13. Cada eslabón debe gobernarse para que la decisión final sea confiable.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ética del dato conecta con el principio 6 de 38500 (comportamiento humano) y con cumplimiento (S15).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Lab 8 hace tangible el OEE. Interpretar (qué pérdida domina) importa más que el número. Guía en el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 2 consolida las Unidades 2 y 3. Revisar la rúbrica. Se integra en el proyecto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privacidad aplica también en planta. Monitorear operarios tiene implicaciones legales (S15). Enlaza con la 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que cierran la Unidad 3 integrando dato, indicador, analítica y 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y cierre de la Unidad 3. Verificar la fórmula del OEE y los roles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Unidad 4 protege todo lo construido: ciberseguridad OT, riesgo, continuidad y el caso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madurez de datos es análoga a la de gobierno (COBIT). El proyecto puede ubicar a su empresa en esta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gobierno de datos y analítica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gobierno de datos, OEE y analítica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Unidad 4 protege el CPPS. Recordar entregar el Entregable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aca.org/resources/cobit" TargetMode="External"/><Relationship Id="rId2" Type="http://schemas.openxmlformats.org/officeDocument/2006/relationships/hyperlink" Target="https://edmcouncil.org/frameworks/dcam/" TargetMode="External"/><Relationship Id="rId3" Type="http://schemas.openxmlformats.org/officeDocument/2006/relationships/hyperlink" Target="https://www.oee.com/" TargetMode="External"/><Relationship Id="rId4" Type="http://schemas.openxmlformats.org/officeDocument/2006/relationships/hyperlink" Target="http://www.secretariasenado.gov.co/senado/basedoc/ley_1581_2012.html" TargetMode="External"/><Relationship Id="rId5" Type="http://schemas.openxmlformats.org/officeDocument/2006/relationships/hyperlink" Target="https://www.dama.org/cpages/body-of-knowledge" TargetMode="External"/><Relationship Id="rId6" Type="http://schemas.openxmlformats.org/officeDocument/2006/relationships/hyperlink" Target="https://www.iso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DE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&amp; OEE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dato crudo al indicador que decide: calidad, propiedad y analítica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 · Convergencia IT/OT    ·    SEMANA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como activo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dato de planta necesita gobierno propio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y roles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Dimensiones de calidad y gobierno de datos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señal al indicador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OEE, MTBF, MTTR y las seis grandes pérdidas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y predictivo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 y por qué mueren los pilotos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y gobierno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algorítmica; Lab 8 y Entregable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DATO DE PLANTA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 REY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GRANDES PÉRDIDAS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APO14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DATOS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GIGO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MANDA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es un activo con valor y costo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APO14 (COBIT) · gobierno de datos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DAMA-DMBOK · DCAM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 · custodio · steward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× Rendimiento × Calidad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2 esta semana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dato industrial exige gobierno propio (APO14).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dimensiones de calidad y los roles de gobierno de datos.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interpretar el OEE y las seis grandes pérdidas.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mantenimiento predictivo y por qué los pilotos no escalan.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ética y la responsabilidad algorítmica en producción.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DATO COMO ACTIVO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recurso que crece solo y decide todo lo demás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DATO: ACTIVO O PASIVO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calidad, gobernado y usado: predice, optimiza, prueba cumplimiento.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 confiable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PASIVO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sin gobierno: cuesta almacenar, no se confía, genera riesgo y ruido.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huérfanos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APO14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de COBIT 2019 (nuevo) que gobierna el dato como activo empresarial.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datos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dato puede ser activo o pasivo según se gobierne. APO14, nuevo en COBIT 2019, reconoce el dato como un activo que exige gestión propia.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GARBAGE IN, GARBAGE OUT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GIGO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y gemelos sobre datos malos producen decisiones malas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CONFIANZA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nadie confía en el dato, nadie lo usa para decidir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CIMIENTO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del dato es el cimiento de todo el valor del CPPS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visto —OPC UA, MQTT, gemelos, analítica— se apoya en el dato. Si el dato es malo, la inteligencia construida encima es peor: decide mal con apariencia de rigor. Por eso el gobierno del dato no es un lujo, es el cimiento.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EL DATO DE PLANTA ES DISTINTO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industrial tiene retos que el dato de negocio 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VOLUMEN Y VELOCIDAD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señales por segundo, 24/7: alta frecuencia.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SERIES DE TIEMPO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tiempo y la calidad de la señal son parte del dato (OPC UA).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 FÍSICO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valor sin contexto (qué máquina, qué lote) no significa nada.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erróneo puede causar decisiones con impacto físico.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FUENTES DEL DATO EN EL CPPS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nace el dato que hay que gobernar.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de proceso: temperatura, vibración, energía.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PLC / SCADA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y comandos del control.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Órdenes, tiempos, calidad, genealogía (S07).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HISTORIADOR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de tiempo acumuladas.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 / LABORATORIO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inspección y ensayo.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 negocio: producto, cliente, costo.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APO14 — GOBERNAR EL DATO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2019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DATO COMO OBJETO DE GOBIERNO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APO14 (Managed Data) es el objetivo de COBIT 2019 que gobierna el dato: define estrategia de datos, arquitectura, calidad, ciclo de vida, metadatos y seguridad del dato. Es la respuesta de gobierno a la avalancha de datos del CPPS. Sin APO14, cada área trata el dato a su manera y se pierde su valor.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· calidad · ciclo de vida · metadatos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APOYA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DAMA-DMBOK, DCAM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Puedes tener el mejor gemelo y la mejor IA: si tus datos son basura, tus decisiones también.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Principio del gobierno de datos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CICLO DE VIDA DEL DATO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se gobierna en todo su recorrido.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CREAR / CAPTURAR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origen, con calidad y semántica (OPC UA).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ALMACENAR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Historiador, series de tiempo, data lake.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Tableros, OEE, gemelos, analítica.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COMPARTIR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UNS a los consumidores autorizados.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ARCHIVAR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 según valor y regulación.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ELIMINAR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segura al final de la vida útil.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 Y GOBIERNO DE DATOS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Dimensiones, linaje y responsabilidades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DIMENSIONES DE CALIDAD DEL DATO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'bueno' a un dato.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EXACTITUD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representa correctamente la realidad.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COMPLETITUD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faltan valores necesarios.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OPORTUNIDAD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disponible a tiempo para decidir.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contradice entre fuentes (ERP vs MES).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VALIDEZ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 el formato y el rango esperado.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UNICIDAD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duplicados que distorsionen el análisis.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ROLES DE GOBIERNO DE DATOS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PROPIETARIO (OWNER)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del dato desde el negocio: define reglas y responde por su valor.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Dueño de proceso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ADMINISTRADOR (STEWARD)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 la calidad y el significado del dato en el día a día.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steward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CUSTODIO (CUSTODIAN)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técnico del almacenamiento y la protección (TI).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DBA / TI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necesita dueños claros: propietario (negocio), steward (calidad y significado) y custodio (técnico). Sin roles, el dato es de todos y de nadie.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LINAJE DEL DATO (DATA LINEAGE)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DÓNDE VIENE Y CÓMO SE TRANSFORMÓ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linaje rastrea el recorrido del dato: qué sensor lo generó, qué transformaciones sufrió, qué cálculos lo produjeron. Es esencial para confiar en un indicador (¿este OEE de dónde salió?), depurar errores y cumplir auditorías. En un CPPS con UNS y gemelos, el linaje es lo que hace el dato auditable.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Confiar · depurar · auditar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ÉL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en los que nadie confía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DE GOBIERNO DE DATOS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para estructurar el gobierno del dato.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DAMA-DMBOK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de conocimiento con 11 áreas (calidad, arquitectura, metadatos…).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capacidad de gestión de datos (EDM Council).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APO14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ancla de gobierno; se apoya en DAMA/DCAM para el detalle.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 8000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calidad de datos.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 DE DATOS: PREVENIR, NO LIMPIAR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ORIGEN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se asegura en la captura (semántica OPC UA), no después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limpiar datos malos aguas abajo es 10× más caro que capturarlos bien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del dato es responsabilidad de todos, no solo de 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del dato se construye en el origen: buena instrumentación, semántica (S10) y validación en captura. Limpiar aguas abajo es caro e imperfecto. Y es cultural: quien genera el dato es responsable de su calidad, no solo quien lo consume.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ROLES DE DATOS EN UN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10896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50328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3480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y reglas del dato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50328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3480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Jefe de producción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y significado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0328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3480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Analista de datos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11880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Almacenamiento y protección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50328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3480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11880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conforme a reglas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50328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3480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Mantenimiento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SEÑAL AL INDICADOR — OEE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indicador rey de la manufactura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OEE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CÁLCULO DE OEE — EJEMPLO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0624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09160" y="1783080"/>
            <a:ext cx="6979615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2312" y="1783080"/>
            <a:ext cx="68333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CÁLCULO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2062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240280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697961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2240280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 / 480 min = 87.5 %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42062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807208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807208"/>
            <a:ext cx="697961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807208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 / 6000 uds = 83.3 %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42062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74136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374136"/>
            <a:ext cx="697961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374136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4800 / 5000 uds = 96.0 %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41064"/>
            <a:ext cx="42062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941064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941064"/>
            <a:ext cx="697961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941064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0.875 × 0.833 × 0.960 = 70.0 %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OEE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EL OEE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EFICIENCIA GLOBAL DEL EQUIPO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NÚMERO QUE RESUME LA PLANTA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OEE mide qué tan bien se usa un equipo: OEE = Disponibilidad × Rendimiento × Calidad. Combina cuánto tiempo estuvo disponible, a qué velocidad produjo y cuánto salió bueno. Un OEE del 100% sería producir solo piezas buenas, a máxima velocidad, sin paradas. La referencia de 'clase mundial' ronda el 85%.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× Rendimiento × Calidad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MUNDIAL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85 %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OEE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TRES FACTORES DEL OEE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factor captura un tipo de pérdida.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operando / tiempo planificado. Pérdidas por paradas y averías.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RENDIMIENTO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real / velocidad ideal. Pérdidas por micro-paradas y baja velocidad.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Piezas buenas / piezas totales. Pérdidas por defectos y reproceso.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OEE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SEIS GRANDES PÉRDIDAS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0624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PÉRDIDA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09160" y="1783080"/>
            <a:ext cx="6979615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2312" y="1783080"/>
            <a:ext cx="68333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AFECTA 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2062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240280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Averías / fallos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697961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2240280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42062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807208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y ajustes (setup)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807208"/>
            <a:ext cx="697961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807208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42062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74136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Micro-paradas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374136"/>
            <a:ext cx="697961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374136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41064"/>
            <a:ext cx="42062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941064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reducida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941064"/>
            <a:ext cx="697961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941064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507992"/>
            <a:ext cx="42062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4507992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 y reproceso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4507992"/>
            <a:ext cx="697961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4507992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42062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5074920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Pérdidas de arranque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5074920"/>
            <a:ext cx="697961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5074920"/>
            <a:ext cx="683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OEE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OTROS INDICADORES CLAVE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OEE se acompaña de indicadores de mantenimiento y calidad.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MTBF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medio entre fallos: fiabilidad del equipo.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MTTR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medio de reparación: rapidez de respuesta.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MTBF / (MTBF + MTTR): fórmula de disponibilidad.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FIRST-PASS YIELD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Piezas buenas a la primera, sin reproceso.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Proporción de material desechado.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CONSUMO ESPECÍFICO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o material por unidad producida.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OEE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INDICADOR ES TAN BUENO COMO SU DATO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OEE EN EL QUE NADIE CONFÍA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OEE mal calculado (con paradas mal registradas, tiempos manuales, velocidad ideal inventada) es peor que no tenerlo: induce decisiones erróneas. La confianza en el indicador depende del gobierno del dato: captura automática, definiciones claras y linaje. Por eso el gobierno del dato (sección 1-2) precede al indicador.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automática · definiciones · linaje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sobre un OEE inflado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ANALÍTICA Y MANTENIMIENTO PREDICTIVO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ver a predecir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ANALÍTICA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ESCALERA DE LA ANALÍTICA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DESCRIPTIVA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pasó? (tableros, OEE)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pasó?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pasará?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hacer?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ANALÍTICA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 PREDICTIVO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Anticipar el fallo antes de que ocurra.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DETECCIÓN DE ANOMALÍAS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comportamiento anormal antes de la falla.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Useful Life: estimar la vida útil remanente de un activo.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sensórica (vibración, temperatura) y datos de fallas históricas.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paradas no planificadas y mantenimiento solo cuando se necesita.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ANALÍTICA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MUEREN LOS PILOTOS DE ANALÍTICA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fracasa por datos insuficientes o de mala calidad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en un activo, no se logra replicar a la planta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ADOPCIÓN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funciona pero nadie cambia su forma de trabajar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pilotos de analítica industrial mueren, sobre todo, por tres razones: datos malos, falta de escalabilidad y falta de adopción. Ninguna es técnica del modelo: son de gobierno del dato, de arquitectura y de gestión del cambio. El gobierno decide si el piloto vive o muere.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ANALÍTICA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EN PLANTA — CON LOS PIES EN LA TIERRA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analítica avanzada exige realismo.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EMPEZAR SIMPLE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y umbrales antes que redes neuronales.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EXPLICABILIDAD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OT, entender por qué el modelo decide importa (seguridad).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HUMANO EN EL LAZO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asiste; el humano decide en lo crítico.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 DEL MODELO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también se desvían (como el gemelo, S12).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45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ANALÍTICA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PIPELINE DE DATOS A VALOR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 dato se convierte en decisión.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Sensórica y OPC UA con semántica (S10).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MQTT/UNS hacia consumidores (S11).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ALMACÉN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de tiempo e histórico.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Limpieza, contexto y cálculo de indicadores.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Analítica, gemelo, predicción.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humana o automática gobernada.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ÉTICA, LAB Y ENTREGABLE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 algorítmica y cierre de la Unidad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ÉTICA DEL DATO Y DEL ALGORITMO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con datos y modelos tiene dimensión ética.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algorítmica sigue teniendo un responsable humano.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entrenados con datos sesgados perpetúan el sesgo.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explicar por qué el sistema decidió (sobre todo si afecta personas).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operarios y de proceso: Ley 1581 y secreto industrial.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8 — CALCULAR E INTERPRETAR OEE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OEE DEL PROYECTO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conjunto de datos de producción (real o simulado): 1) calcula disponibilidad, rendimiento y calidad. 2) Obtén el OEE y compáralo con la clase mundial. 3) Identifica cuál de las seis grandes pérdidas domina. 4) Propón una mejora y estima su impacto en el OEE. Entregable: cálculo documentado + interpretación.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producción · hoja de cálculo/Python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+ interpretación + mejora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ENTREGABLE 2 — CIERRE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 · 15 %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CIBER-FÍSICA E INTEGRACIÓN DE DATOS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recibe esta semana. Integra: arquitectura de referencia (ISA-95 + RAMI, S07-08), diseño de integración (protocolos, UNS, S10-11), especificación del gemelo (S12), modelo y tablero de datos con OEE (hoy) y evidencia de los laboratorios 5-8. Cierra la Unidad 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· integración · gemelo · datos · labs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INTEGRA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final del proyecto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PRIVACIDAD DEL DATO EN PLANTA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el dato de planta es 'solo técnico'.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DE OPERARIOS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Productividad individual, ubicación, biometría: son datos personales (Ley 1581).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SECRETO INDUSTRIAL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Recetas, parámetros y know-how: activos que proteger.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CONSENTIMIENTO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personas exige base legal y transparencia.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MINIMIZACIÓN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Recolectar solo el dato necesario para el fin.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45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GOBIERNA EL DATO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propietario, steward y calidad de tus datos clave.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ASEGURA EL LINAJE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cada indicador sea trazable a su origen.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 EL OEE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datos confiables; interpreta las pérdidas.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 REALISTA CON LA 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explicable y con humano en el lazo.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PIENSA LA ÉTICA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Responsabilidad, sesgo, transparencia, privacidad.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45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 DE LA UNIDAD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45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 = ACTIVO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si se gobierna (APO14); si no, es pasivo.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Y ROLES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Dimensiones medibles; propietario, steward, custodio.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× Rendimiento × Calidad; seis grandes pérdidas.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Anticipar el fallo; los pilotos mueren por gobierno, no por 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Responsabilidad, sesgo, transparencia, privacidad.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45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CERRAMOS LA U3 — VAMOS A LA 4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U3 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INTEGRACIÓN IT/OT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S10–13 completada.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 OT 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y arquitectura.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 OT 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Riesgo, cumplimiento, continuidad.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NEGOCIO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· cierre.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45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MADUREZ DEL GOBIERNO DE DATOS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evoluciona una organización.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se arregla cuando falla; sin roles ni calidad.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GESTIONADO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definidos, calidad medida, algunos estándares.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Políticas, linaje, calidad monitoreada, dueños claros.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como activo estratégico; mejora continua.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45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COBIT de gestión de datos.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sobre el dato como activo.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steward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 la calidad y el significado del dato.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Linaje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del origen y transformación del dato.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× Rendimiento × Calidad.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MTBF / MTTR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entre fallos / de reparación.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Useful Life: vida útil remanente.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Analítica prescriptiva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hacer? El nivel más alto.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45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COBIT 2019 APO14 (gestión de datos)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 Council — DCAM (modelo de madurez de datos)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https://edmcouncil.org/frameworks/dcam/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OEE.com — cálculo e interpretación del OEE (TPM, abierto)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https://www.oee.com/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1581 de 2012 — protección de datos (Colombia)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http://www.secretariasenado.gov.co/senado/basedoc/ley_1581_2012.html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 International — DMBOK (cuerpo de conocimiento)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https://www.dama.org/cpages/body-of-knowledge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22400 — KPI de operaciones de manufactura (norma)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45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14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CIBERSEGURIDAD INDUSTRIAL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la Unidad 4: amenazas OT, incidentes reales, modelo Purdue e IEC 62443.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--unit 4 --session 14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· DATOS · OEE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