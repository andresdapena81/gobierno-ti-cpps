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curso. Se integra todo: gobernar (U1), la técnica (U2-3) y protegerla (U4) se justifican con un caso de negocio y una hoja de ruta.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cierre integrador: convertir todo lo aprendido en una decisión de inversión justificada y planificada.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caso de negocio cierra el arco: valor (S05) → técnica (U2-3) → riesgo (U4) → justificación económica (hoy).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final: convertir el conocimiento del curso en una propuesta de inversión defendible.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'pilot purgatory' es el gran problema. La causa es de gobierno, no técnica. Este es el tema central del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seis causas son de gobierno y organización, no de ingeniería. El curso completo es la respuesta a estas causas.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escalamiento exitoso reúne todo el curso. Este es el mensaje integrador: gobierno + técnica + personas +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síntesis del curso completo. Cada unidad fue una pieza; hoy se ensamblan en una propuesta escalable.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que resume el paso de piloto a escala. Puente al caso de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para evaluar pilotos. El proyecto debería diseñar su piloto cumpliendo estos cuatro.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puente crítico es del paso 2 al 4: el piloto debe producir el caso de negocio que la dirección necesita para decidir.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CAPEX vs OPEX vs TCO. Los proyectos de digitalización suelen subestimar el OPEX (nube, mantenimiento del modelo, S12).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Beneficios tangibles al modelo financiero; intangibles argumentados. La seguridad se justifica por riesgo evitado.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VPN y TIR son las métricas de decisión de largo plazo. El payback mide el riesgo. El proyecto calculará al menos VPN y payback.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Métodos de cuantificación. El 'riesgo evitado' es la clave para justificar la seguridad de la Unidad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método del modelo financiero. El análisis de sensibilidad (¿y si el beneficio es la mitad?) da credibilidad.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credibilidad viene de la honestidad: supuestos, escenarios y riesgos explícitos. Métricas de éxito para EDM02.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ilustrativo (cifras relativas). Payback entre año 2 y 3; VPN positivo si la tasa de descuento es razonable. El proyecto hará el suyo.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errores del business case son de credibilidad. La dirección premia la honestidad, no las promesas.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hoja de ruta por horizontes (now/next/later) da una narrativa clara: valor rápido primero, capacidades complejas después.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dependencias mandan el orden (S06 ruta de adopción). La seguridad y las competencias van en cada horizonte.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hoja de ruta desarrolla capacidades, no solo instala tecnología. Gobierno, técnica, personas, socios.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hoja de ruta integra todo el proyecto en una narrativa. Es donde se ve si el estudiante entendió el gobierno.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hoja de ruta cierra el círculo con la cascada (S03). Priorizar = gobernar. Coherencia total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 roadmap. Las dependencias fijan el orden: no hay predictivo sin datos, ni datos sin conectividad y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adopción es humana. Conecta con el principio 6 de 38500 (S02). Ignorar al operario hunde la digitalización.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gestión del cambio es tan crítica como la tecnología. 'Empezar por el porqué' e involucrar a las personas son las claves.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motivacional: el perfil que el curso forma es la capacidad clave de la transformación. Los estudiantes son ese perfil.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ético: la digitalización afecta personas. El gobierno responsable las acompaña. Principio 6 de 38500 en 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de Kotter da una secuencia probada de gestión del cambio. Los quick wins (paso 6) conectan con la hoja de ruta.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nueve secciones integran las cuatro unidades. Cada una se nutre de los entregables y talleres del semestre.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integrado del curso: gobernar, arquitecturar, integrar y proteger un sistema ciber-físico de producción.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final es la suma del curso. Revisar la estructura de 9 secciones con los estudiantes.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sustentación dual (ejecutiva + técnica) evalúa la capacidad de traducir, el corazón del perfil. Semana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Orientaciones finales para el proyecto. La coherencia entre diagnóstico, arquitectura y decisiones es lo más valorado.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cinco ideas centrales del curso. Si el estudiante se lleva estas, el curso cumplió su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motivacional: las competencias adquiridas y su valor en el mercado. Reforzar el perfil puente.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cierre que resume el propósito formativo. Conecta con la responsabilidad ética del ingeniero (S01).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Vocabulario del caso de negocio y del cierre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del caso de negocio, la gestión del cambio y el cierre integrador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curso. Agradecer al grupo. Recordar fechas de entrega del documento (sem 15) y sustentación (sem 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eforum.org/projects/global-lighthouse-network/" TargetMode="External"/><Relationship Id="rId2" Type="http://schemas.openxmlformats.org/officeDocument/2006/relationships/hyperlink" Target="https://www.kotterinc.com/methodology/8-steps/" TargetMode="External"/><Relationship Id="rId3" Type="http://schemas.openxmlformats.org/officeDocument/2006/relationships/hyperlink" Target="https://www.whatmatters.com/" TargetMode="External"/><Relationship Id="rId4" Type="http://schemas.openxmlformats.org/officeDocument/2006/relationships/hyperlink" Target="https://www.isaca.org/resources/cobit" TargetMode="External"/><Relationship Id="rId5" Type="http://schemas.openxmlformats.org/officeDocument/2006/relationships/hyperlink" Target="https://www.bcg.com/capabilities/manufacturing/industry-4.0" TargetMode="External"/><Relationship Id="rId6" Type="http://schemas.openxmlformats.org/officeDocument/2006/relationships/hyperlink" Target="https://www.mheducation.com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01000111 01001111 01000010 01001001 01000101 01010010 01001110 01001111  01000100 01000101  01010100 01001001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50155-3M · PREGRADO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6775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16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 DE NEGOCIO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HOJA DE RUTA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piloto a la escala: justificar y planificar la transformación digital industrial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5074920"/>
            <a:ext cx="11185855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257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5257800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Andrés Dapena — MSc.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641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5641848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U4 · Riesgo ciber-físico    ·    SEMANA 16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025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6025896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— Medellín (Bello)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Y SISTEMAS CIBER-FÍSICOS DE PRODUCCIÓN · 2026-2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piloto a la escala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17320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mueren los pilotos y qué los sostiene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4448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904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38848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 de negocio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38848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CAPEX/OPEX, VPN, TIR y beneficios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ruta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Horizontes, dependencias y capacidades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4448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904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38848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del cambio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38848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Personas, competencias y adopción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proyecto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integrado y la sustentación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4448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9040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38848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curso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38848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final y referencias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47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CASO DE NEGOCIO EN CIFRAS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VPN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PRESENTE NETO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67964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7964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67964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TASA INTERNA RETORNO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3008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33008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98051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051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051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PILOTOS QUE NO ESCALAN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INVERSIÓN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+ OPEX a lo largo del tiempo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8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13368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tangibles e intangibles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VPN, TIR, payback, ROI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RUTA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13368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 now / next / later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CAMBIO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del cambio y competencias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4448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13368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final + sustentación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47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los pilotos de Industria 4.0 no escalan y qué los sostiene.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13939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13939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713939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caso de negocio con CAPEX/OPEX, VPN, TIR y payback.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64479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4479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479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hoja de ruta de adopción por horizontes.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57565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7565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457565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gestión del cambio y el desarrollo de competencias.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506517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06517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5506517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curso en el proyecto final y su sustentación.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47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 PILOTO A LA ESCALA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valle de la muerte de la digitalización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ESCALA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VALLE DE LA MUERTE DEL PILOTO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~70%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pilotos de Industria 4.0 nunca escalan a producción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 PURGATORY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atrapadas probando eternamente sin escalar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ES TÉCNICO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causa rara vez es la tecnología: es gobierno y organización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de las iniciativas de digitalización industrial mueren entre el piloto exitoso y la producción a escala. El 'pilot purgatory' es un fenómeno documentado. La causa casi nunca es que la tecnología no funcione, sino que falta gobierno, caso de negocio y gestión del cambio.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47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 ESCALA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MUEREN LOS PILOTOS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causas recurrentes del fracaso al escalar.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CASO DE NEGOCIO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piloto no midió valor; no hay con qué justificar la inversión mayor.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DUEÑO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responde por escalar ni por realizar el beneficio (EDM02).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 Y ARQUITECTURA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piloto funcionó en un activo; la arquitectura no soporta la escala.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ADOPCIÓN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tecnología existe, pero las personas no cambiaron su forma de trabajar.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GOBIERNO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priorización, ni riesgo gestionado, ni ruta clara.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TECNOLOGÍA POR MODA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adoptó sin resolver un dolor real del negocio.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47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 ESCALA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SOSTIENE EL ESCALAMIENTO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distingue a los pilotos que sí escalan.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VALOR MEDIDO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piloto probó un retorno concreto y medible.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DUEÑO Y GOBIERNO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responsable, priorización y riesgo gestionado (U1).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ESCALABLE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Datos, UNS y estándares que soportan crecer (U2-3).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DEL CAMBIO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personas adoptaron la nueva forma de trabajar.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47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 ESCALA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CURSO COMO RESPUESTA AL PILOT PURGATORY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TODO ENCAJA AQUÍ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dio el gobierno (priorizar, decidir, medir valor y riesgo). Unidades 2-3 dieron la arquitectura escalable (ISA-95, RAMI, OPC UA, UNS, datos gobernados). Unidad 4 dio la seguridad y la continuidad. El caso de negocio y la hoja de ruta (hoy) atan todo en una propuesta que sí puede escalar.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APORTA CADA UNIDAD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 gobierno · U2-3 arquitectura · U4 seguridad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negocio + hoja de ruta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47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 ESCALA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5840" y="1920240"/>
            <a:ext cx="101800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piloto demuestra que se puede; el gobierno demuestra que conviene y logra que suceda.</a:t>
            </a:r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484632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Síntesis del curso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47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 ESCALA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SEÑALES DE UN PILOTO QUE SÍ ESCALARÁ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reconocer, desde el piloto, si tiene futuro.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DOLOR REAL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Resuelve un problema que a la dirección le importa y le cuesta dinero.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MÉTRICA CLARA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una métrica de éxito medible desde el inicio (p. ej. OEE).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PATROCINIO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directivo lo respalda y responde por escalarlo.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REPLICABLE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y el dato permiten repetirlo en otros activos.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47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 ESCALA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LA IDEA AL ESCALAMIENTO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054291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 de negocio.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5811" y="1783080"/>
            <a:ext cx="2054291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211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32115" y="2386584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32115" y="2752344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acotada y medible.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68702" y="1783080"/>
            <a:ext cx="2054291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5006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15006" y="2386584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5006" y="2752344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con datos del piloto.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51593" y="1783080"/>
            <a:ext cx="2054291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7897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97897" y="2386584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7897" y="2752344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dirección aprueba escalar.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34484" y="1783080"/>
            <a:ext cx="2054291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078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780788" y="2386584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80788" y="2752344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gobernado y por fases.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CASO DE NEGOCIO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Justificar la inversión con números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47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 CASO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ESTRUCTURA DEL COSTO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CAPEX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de capital: equipos, sensores, plataformas, implementación.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Compra inicial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OPEX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 operativo recurrente: nube, licencias, mantenimiento, personas.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 mensual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TCO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total de propiedad: CAPEX + OPEX a lo largo de la vida útil.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5-10 años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común es mirar solo el CAPEX (la compra) e ignorar el OPEX (operar y mantener). El TCO a varios años es la cifra que importa para decidir.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47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 CASO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BENEFICIOS: TANGIBLES E INTANGIBLES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retorno tiene dos caras.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TANGIBLES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Cuantificables: menos paradas (OEE), menos scrap, ahorro energético, menos horas.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INTANGIBLES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Difíciles de cuantificar: calidad, marca, seguridad, agilidad, cumplimiento.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CUANTIFICAR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tangibles van al VPN/TIR; los intangibles se argumentan y, si se puede, se aproximan.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RIESGO EVITADO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seguridad (U4) se justifica por el costo del incidente que previene.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47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  CASO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MÉTRICAS DE DECISIÓN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74320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1783080"/>
            <a:ext cx="422132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9272" y="1783080"/>
            <a:ext cx="407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DICE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67448" y="1783080"/>
            <a:ext cx="422132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0600" y="1783080"/>
            <a:ext cx="407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240280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240280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hoy del flujo futuro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67448" y="2240280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0600" y="2240280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VPN &gt; 0 = crea valor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27432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2807208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2807208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Rentabilidad del proyecto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67448" y="2807208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0600" y="2807208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TIR &gt; costo capital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3374136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3374136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 de recuperación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67448" y="3374136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0600" y="3374136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de liquidez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27432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46120" y="3941064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3941064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 relativo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67448" y="3941064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0600" y="3941064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Comparar opciones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47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  CASO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CUANTIFICAR EL VALOR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MENOS PARADAS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punto de OEE recuperado se traduce en unidades y pesos.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 pts OEE = X$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MENOS SCRAP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 defectos y reproceso: ahorro directo de material.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-2% scrap = Y$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RIESGO EVITADO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× costo del incidente que la seguridad previene.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Parada evitada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Cuantificar es traducir cada beneficio a pesos con supuestos explícitos. Aun lo intangible (calidad, marca) puede aproximarse con proxies. Lo importante: hacer visible el razonamiento.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47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  CASO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CONSTRUIR EL MODELO FINANCIERO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LOS BENEFICIOS AL VPN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Estima la inversión (CAPEX) y el gasto (OPEX) por año. 2) Cuantifica los beneficios tangibles por año (p. ej. +3 puntos de OEE = X pesos). 3) Calcula el flujo de caja neto anual. 4) Descuéntalo a valor presente (VPN) y obtén la TIR y el payback. 5) Haz análisis de sensibilidad: ¿qué pasa si el beneficio es menor?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CAPEX/OPEX · beneficios · flujo · VPN/TIR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CLAVE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sensibilidad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47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  CASO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CASO DE NEGOCIO CREÍBLE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la dirección espera ver.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SUPUESTOS EXPLÍCITOS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asume y por qué; permite discutir y validar.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SENSIBILIDAD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Escenarios optimista, base y pesimista.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RIESGOS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puede fallar y cómo se mitiga (liga a U4).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MÉTRICAS DE ÉXITO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medirá si el beneficio se realizó (EDM02).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47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17  CASO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EJEMPLO DE FLUJO Y VPN (SIMPLIFICADO)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9260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AÑO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29000" y="1783080"/>
            <a:ext cx="275325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2152" y="1783080"/>
            <a:ext cx="2606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INVERSIÓN/GASTO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82258" y="1783080"/>
            <a:ext cx="275325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55410" y="1783080"/>
            <a:ext cx="2606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BENEFICIO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935517" y="1783080"/>
            <a:ext cx="275325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8669" y="1783080"/>
            <a:ext cx="2606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FLUJO NETO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40280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24028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29000" y="2240280"/>
            <a:ext cx="275325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2240280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-100 (CAPEX)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2258" y="2240280"/>
            <a:ext cx="275325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5410" y="2240280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35517" y="2240280"/>
            <a:ext cx="275325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8669" y="2240280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807208"/>
            <a:ext cx="29260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0720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29000" y="2807208"/>
            <a:ext cx="275325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2807208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-20 (OPEX)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2258" y="2807208"/>
            <a:ext cx="275325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5410" y="2807208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35517" y="2807208"/>
            <a:ext cx="275325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8669" y="2807208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374136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37413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29000" y="3374136"/>
            <a:ext cx="275325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3374136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-20 (OPEX)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82258" y="3374136"/>
            <a:ext cx="275325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5410" y="3374136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35517" y="3374136"/>
            <a:ext cx="275325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8669" y="3374136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941064"/>
            <a:ext cx="29260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394106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429000" y="3941064"/>
            <a:ext cx="275325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02152" y="3941064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-20 (OPEX)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82258" y="3941064"/>
            <a:ext cx="275325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55410" y="3941064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935517" y="3941064"/>
            <a:ext cx="275325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08669" y="3941064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47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18  CASO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ERRORES FRECUENTES DEL BUSINESS CASE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hace que la dirección no crea el caso.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SOLO CAPEX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Ignorar el OPEX recurrente (nube, mantenimiento del modelo).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BENEFICIOS INFLADOS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Prometer ahorros optimistas sin sustento ni sensibilidad.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RIESGOS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mostrar qué puede fallar; la dirección desconfía.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MEDICIÓN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definir cómo se comprobará que el beneficio se realizó.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47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HOJA DE RUTA DE ADOPCIÓN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horizontes, dependencias y capacidades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47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19  RUTA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TRES HORIZONTES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AHORA (0–6 M)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wins: conectar, ver (OEE), asegurar.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7738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404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54042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SIGUIENTE (6–18 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4042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Predictivo, integración, gemelos piloto.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2557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8861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8861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DESPUÉS (18+ M)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58861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Optimización, autonomía, escala.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47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 RUTA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PRINCIPIOS DE UNA BUENA HOJA DE RUTA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secuenciar la adopción.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VALOR TEMPRANO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Empezar por quick wins que financien y motiven lo siguiente.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DEPENDENCIAS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puede predecir sin datos; no hay datos sin conectividad.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 DESDE EL INICIO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ciberseguridad OT se construye en el horizonte 'ahora', no después.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CAPACIDADES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horizonte exige nuevas competencias que hay que desarrollar en paralelo.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47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21  RUTA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CAPACIDADES ORGANIZACIONALES REQUERIDAS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tecnología necesita capacidades detrás.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IT/OT, procesos de decisión, gestión de riesgo (U1).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TÉCNICAS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Datos, integración, ciberseguridad OT, analítica (U2-4).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perfil puente IT/OT y la cultura de mejora.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Integradores, academia y proveedores confiables.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47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22  RUTA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HOJA DE RUTA DEL PROYECTO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UNA NARRATIVA DE TRANSFORMACIÓN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empresa del proyecto, la hoja de ruta cuenta la historia: dónde está hoy (diagnóstico de U1-U3), a dónde va (visión), y cómo llega en horizontes now/next/later, con las iniciativas priorizadas (cascada de S03), sus dependencias, su seguridad (U4) y las capacidades a construir. Es el clímax del documento final.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· visión · horizontes · capacidades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clímax del proyecto final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47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23  RUTA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PRIORIZAR ES LA ESENCIA DEL GOBIERNO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TODO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puede hacer todo a la vez: hay que secuenciar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VALOR + RIESGO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por valor de negocio y riesgo, no por novedad tecnológica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CASCADA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cascada de COBIT (S03) es la herramienta para priorizar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hoja de ruta es priorización pura, y priorizar es la esencia del gobierno. La cascada de objetivos (S03), los factores de diseño (S04) y la evaluación de riesgo (U4) son las herramientas que convierten una lista de deseos en una secuencia justificada.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47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24  RUTA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EJEMPLO DE HOJA DE RUTA POR HORIZONTES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74320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HORIZONTE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1783080"/>
            <a:ext cx="422132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9272" y="1783080"/>
            <a:ext cx="407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INICIATIVA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67448" y="1783080"/>
            <a:ext cx="422132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0600" y="1783080"/>
            <a:ext cx="407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 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240280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240280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Conectar + OEE + segmentar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67448" y="2240280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0600" y="2240280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27432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2807208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2807208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Ciberseguridad OT básica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67448" y="2807208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0600" y="2807208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3374136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3374136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Mantenimiento predictivo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67448" y="3374136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0600" y="3374136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+ OEE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27432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46120" y="3941064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3941064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Gemelo + optimización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67448" y="3941064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0600" y="3941064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Predictivo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47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DEL CAMBIO Y COMPETENCIAS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tecnología la usan personas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47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  CAMBIO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FALLA LA ADOPCIÓN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barrera final rara vez es técnica.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MIEDO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Temor a perder el empleo o a no saber usar lo nuevo.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FALTA DE SENTIDO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entender para qué sirve ni qué gana el operario.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FORMACIÓN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la herramienta sin enseñar a usarla.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LIDERAZGO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dirección no acompaña ni prioriza el cambio.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47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26  CAMBIO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GESTIONAR EL CAMBIO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Prácticas que sostienen la adopción.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COMUNICAR EL PORQUÉ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el sentido y el beneficio para cada rol.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INVOLUCRAR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los operarios participen en el diseño, no lo reciban impuesto.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competencias antes y durante el despliegue.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LIDERAZGO VISIBLE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dirección acompaña y prioriza de forma sostenida.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CELEBRAR LOGROS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los quick wins para generar impulso.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MEDIR ADOPCIÓN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Seguir el uso real, no solo el despliegue.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47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27  CAMBIO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DESARROLLAR EL PERFIL PUENTE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COMPETENCIAS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INGENIERO DE GOBIERNO CIBER-FÍSICO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transformación exige el perfil que este curso forma: alguien que entiende el gobierno (U1), la arquitectura ciber-física (U2-3) y la seguridad (U4), y sabe traducir entre la dirección, TI, OT y el operario. Desarrollar y retener este talento es, en sí mismo, una iniciativa de la hoja de ruta.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+ técnica + seguridad + traducción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perfil que el curso forma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47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28  CAMBIO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ÉTICA DEL CAMBIO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automatización afecta empleos y roles reales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RECUALIFICAR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formar y reubicar en vez de solo reemplazar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RESPONSABILIDAD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gobernar la tecnología incluye responsabilidad social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transformación digital tiene una dimensión ética: afecta el trabajo de personas reales. Gobernar bien la tecnología incluye gestionar ese impacto con responsabilidad —recualificar, comunicar, acompañar—, no solo optimizar. Es el principio de comportamiento humano llevado a la práctica.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47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29  CAMBIO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OCHO PASOS DEL CAMBIO (KOTTER)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URGENCIA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sentido de urgencia.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6534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83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838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COALICIÓN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838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Formar un equipo guía.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45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6452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6452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visión y estrategia.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006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0065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COMUNICAR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10065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 la visión.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56616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9224" y="416966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EMPODERAR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" y="453542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Remover obstáculos.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6534" y="356616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838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502838" y="416966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WINS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02838" y="453542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Lograr triunfos tempranos.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0148" y="356616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6452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356452" y="416966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CONSOLIDAR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6452" y="453542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Sostener el impulso.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63761" y="356616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10065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210065" y="416966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ANCLAR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210065" y="453542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Fijar en la cultura.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47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MODELO INTEGRADO Y EL PROYECTO FINAL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el curso en una propuesta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47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  INTEGRACIÓN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NUEVE SECCIONES DEL DOCUMENTO FINAL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estructura exigida del proyecto integrador.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· ORGANIZACIÓN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Caracterización de la empresa y el proceso.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· DIAGNÓSTICO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Madurez digital y de gobierno.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· GOBIERNO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gobierno (COBIT/38500).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· ARQUITECTURA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ISA-95 / RAMI / IIoT.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5-6 · DATOS Y RIESGO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Integración, tablero y evaluación IT/OT.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7-9 · CASO Y RUTA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negocio, hoja de ruta, conclusiones.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47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31  INTEGRACIÓN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MODELO DE GOBIERNO CIBER-FÍSICO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GOBERNAR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Decidir, priorizar, medir.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6534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83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838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838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ISA-95, RAMI, CPPS.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45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6452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6452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UA, MQTT, datos, gemelos.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006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0065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PROTEGER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10065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Riesgo, seguridad, continuidad.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47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32  INTEGRACIÓN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PROYECTO FINAL — DOCUMENTO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EVALUACIÓN · 25 %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 DE UN CPPS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documento integra los Entregables 1 y 2 y añade la Unidad 4: caracterización, diagnóstico de madurez y gobierno, sistema de gobierno (COBIT/38500), arquitectura ciber-física (ISA-95/RAMI/IIoT), integración de datos y tablero, evaluación de riesgo IT/OT (62443/CSF), caso de negocio (VPN/TIR) y hoja de ruta. Entrega: domingo de la semana 15.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ESTRUCTURA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secciones acumulativas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15 (documento)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47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33  INTEGRACIÓN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SUSTENTACIÓN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 a dos audiencias.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EJECUTIVA (8 MIN)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'junta': problema, propuesta, caso de negocio y hoja de ruta. Sin jerga.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TÉCNICA (ANEXO)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arquitectura, integración y seguridad ante preguntas del docente.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DOMINIO INDIVIDUAL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integrante responde por cualquier parte del trabajo.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RÚBRICA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 técnico, coherencia, riesgo, caso de negocio y comunicación.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47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34  INTEGRACIÓN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CONSEJOS PARA EL PROYECTO FINAL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 UNA HISTORIA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→ visión → propuesta → ruta, coherente.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JUSTIFICA CON NÚMEROS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negocio con VPN/payback y supuestos.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OLVIDES LA SEGURIDAD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riesgo IT/OT debe estar integrado, no anexo.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PRIORIZA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iniciativas, bien gobernadas, en horizontes.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HABLA DOS IDIOMAS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Ejecutivo para la junta, técnico para la defensa.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47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CIERRE DEL CURSO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te llevas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47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35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CINCO IDEAS QUE PERDURAN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≠ GESTIÓN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quién decide sobre la tecnología (U1).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CPPS ES REAL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Cómputo y físico en lazo cerrado, con arquitectura (U2).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DATO ES EL ACTIVO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y gobierno del dato crean el valor (U3).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SEGURIDAD ES FÍSICA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OT, un ataque daña equipos y personas (U4).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PRIORIZAR ES GOBERNAR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negocio y hoja de ruta convierten todo en acción.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47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36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TE LLEVAS COMO PROFESIONAL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competencias que este curso desarrolló.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GOBERNAR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sobre tecnología con marcos (38500, COBIT, ITIL).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sistemas ciber-físicos (ISA-95, RAMI, IIoT).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Unificar el dato (OPC UA, MQTT, UNS) y darle valor.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PROTEGER Y JUSTIFICAR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el riesgo OT y defender la inversión.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47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37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5840" y="1920240"/>
            <a:ext cx="101800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Gobernar la tecnología que opera procesos físicos es decidir con evidencia, hacer explícito el riesgo y responder por las decisiones.</a:t>
            </a:r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484632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Síntesis del curso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47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38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GLOSARIO ESENCIAL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de negocio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 económica de una inversión.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9040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CAPEX / OPEX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89040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de capital / gasto operativo.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VPN / TIR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presente neto / tasa interna de retorno.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4448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9040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89040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Periodo de recuperación de la inversión.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Hoja de ruta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priorizada de iniciativas por horizontes.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4448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9040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 purgatory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89040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Quedarse en pilotos sin escalar.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Gestión del cambio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Lograr la adopción humana de la tecnología.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4448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9040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 puente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89040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integra gobierno, IT y OT.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/ 47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39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REFERENCIAS Y RECURSOS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Toca el enlace para abrir la fuente · libre = acceso gratuito · de pago = compra o biblioteca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84248"/>
            <a:ext cx="10545775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WEF / McKinsey — Global Lighthouse Network (escalar I4.0)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https://www.weforum.org/projects/global-lighthouse-network/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Kotter — 8 pasos del cambio (resumen oficial)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https://www.kotterinc.com/methodology/8-steps/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Doerr — Measure What Matters / OKR (recursos abiertos)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https://www.whatmatters.com/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ISACA — COBIT 2019 EDM02 (beneficios), APO05 (portafolio)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https://www.isaca.org/resources/cobit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BCG / Acatech — escalar Industria 4.0 (informes)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https://www.bcg.com/capabilities/manufacturing/industry-4.0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Brealey, Myers &amp; Allen — Principles of Corporate Finance (VPN/TIR)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https://www.mheducation.com/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/ 47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SESIÓN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237744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CURSO COMPLETO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02920" y="53035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root@planta:~# curso --completado ✓  gracias _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S16 · CASO NEGOCIO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/ 47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Universidad de San Buenaventura — Medellín (Bello)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GOBIERNO DE TI Y SISTEMAS CIBER-FÍSICOS DE PRODUCCIÓN · 2026-2</dc:title>
  <dc:subject>PptxGenJS Presentation</dc:subject>
  <dc:creator>Jorge Andrés Dapena — MSc.</dc:creator>
  <cp:lastModifiedBy>Jorge Andrés Dapena — MSc.</cp:lastModifiedBy>
  <cp:revision>1</cp:revision>
  <dcterms:created xsi:type="dcterms:W3CDTF">2026-09-18T01:20:53Z</dcterms:created>
  <dcterms:modified xsi:type="dcterms:W3CDTF">2026-09-18T01:20:53Z</dcterms:modified>
</cp:coreProperties>
</file>