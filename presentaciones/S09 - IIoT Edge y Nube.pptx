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 la Unidad 2. El sustrato de cómputo y conectividad que da vida a ISA-95 y RAMI. Decisiones borde/nube como gobierno.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 arquitectura técnica a la decisión de gobierno sobre dónde vive el dato.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tendencia es procesar más cerca del dato (edge). La decisión borde/nube es de gobierno, no solo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Objetivo central: gobernar la decisión de dónde vive el dato y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cinco capas del IIoT. El dato fluye de abajo (físico) a arriba (aplicación), procesándose en el camino.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gateway es el traductor IT/OT. La elección de sensores y conectividad condiciona todo lo que sigue.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 de procesamiento se reparte entre borde y nube: esa repartición es la gran decisión de arquitectura.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síntesis de la arquitectura IIoT. Cada capa añade valor y también riesgo y costo.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Recalcar: IIoT ≠ IoT de consumo. Las exigencias industriales cambian todas las decisiones de diseño.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la decisión edge/cloud desde el ángulo del dato. No todo el dato tiene el mismo valor ni destino.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edge y la nube son complementarios, no rivales. La niebla (fog) es la capa de planta que los coordina.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cinco criterios (latencia, banda, soberanía, disponibilidad, costo) guían el reparto. La escala favorece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Patrón dominante: entrenar modelos en la nube, ejecutarlos (inferir) en el borde. Lo mejor de ambos.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Edge AI es la tendencia que aterriza la analítica en planta. Entrenar en nube, inferir en borde.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Regla práctica: lo urgente y sensible, al borde; lo pesado y consolidado, a la 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Advertir contra la moda 'cloud-first' aplicada a OT sin criterio. El borde no es opcional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plataformas concentran conectividad, datos, analítica y seguridad. Elegir una es una decisión de arquitectura mayor.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hay plataforma 'mejor': depende del contexto. La abierta da control pero exige talento; la del fabricante es cómoda pero 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lock-in es el riesgo #1 de las plataformas. La defensa: estándares abiertos y arquitecturas desacopladas (UNS,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criterios de elección conectan con el gobierno: adquisición analizada y arquitectura. Base del taller.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laboratorio del curso usa una pila abierta que replica una plataforma IIoT sin lock-in. Se usa en S10-S11.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 gobierno sobre plataformas: capacidad sí, cautividad no. Estándares y desacople.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servicio (IaaS/PaaS/SaaS) equilibra control y esfuerzo. Más 'as a service' = más comodidad y más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nube-planta es gobierno (APO03). Requiere principios y un comité, no decisiones ad hoc.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soberanía del dato conecta arquitectura con cumplimiento (S15). Recetas y datos de proceso son secretos industriales.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principios de arquitectura son el mecanismo de gobierno (dirigir). El proyecto propondrá los suyos.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'shadow cloud' (cada área con su nube) es un riesgo real. El gobierno pone un flujo de aprobación claro.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Reparto de decisiones (liga a la matriz de derechos de decisión de S01). El proyecto lo adaptará.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la sección uniendo arquitectura y gobierno. Sin gobierno, la nube es deuda; con él, ventaja.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conectividad determina qué es posible. TSN y 5G privado habilitan control inalámbrico determinista (tendencia).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TSN + 5G privado es un habilitador clave. Pero cada red inalámbrica nueva es una superficie de ataque nueva.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 S14. El borde se asegura desde el diseño: identidad, cifrado, segmentación y actualización.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costos ocultos de la nube son un punto ciego del business case. El borde y la retención los controlan.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Lab 4 produce la arquitectura IIoT del Entregable 2. Debe justificar el reparto borde/nube.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Orientaciones que conectan arquitectura IIoT con gobierno. Cierran la Unidad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Repaso y cierre de la Unidad 2. Verificar los criterios edge/cloud.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Unidad 3 aterriza la integración con protocolos concretos: OPC UA (S10) y MQTT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Vocabulario de arquitectura IIoT y cómputo distribuido.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de edge/fog/cloud y conectividad industrial.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Unidad 3 arranca con OPC UA, el estándar de interoperabilidad clave del CPPS.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hyperlink" Target="https://doi.org/10.6028/NIST.SP.500-325" TargetMode="External"/><Relationship Id="rId2" Type="http://schemas.openxmlformats.org/officeDocument/2006/relationships/hyperlink" Target="https://www.iiconsortium.org/iira/" TargetMode="External"/><Relationship Id="rId3" Type="http://schemas.openxmlformats.org/officeDocument/2006/relationships/hyperlink" Target="https://1.ieee802.org/tsn/" TargetMode="External"/><Relationship Id="rId4" Type="http://schemas.openxmlformats.org/officeDocument/2006/relationships/hyperlink" Target="https://5g-acia.org/" TargetMode="External"/><Relationship Id="rId5" Type="http://schemas.openxmlformats.org/officeDocument/2006/relationships/hyperlink" Target="https://doi.org/10.1109/JIOT.2016.2579198" TargetMode="External"/><Relationship Id="rId6" Type="http://schemas.openxmlformats.org/officeDocument/2006/relationships/hyperlink" Target="https://nodered.org/docs/" TargetMode="External"/><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20040"/>
            <a:ext cx="11185855" cy="274320"/>
          </a:xfrm>
          <a:prstGeom prst="rect">
            <a:avLst/>
          </a:prstGeom>
          <a:noFill/>
          <a:ln/>
        </p:spPr>
        <p:txBody>
          <a:bodyPr wrap="square" lIns="0" tIns="0" rIns="0" bIns="0" rtlCol="0" anchor="ctr"/>
          <a:lstStyle/>
          <a:p>
            <a:pPr algn="l" indent="0" marL="0">
              <a:buNone/>
            </a:pPr>
            <a:r>
              <a:rPr lang="en-US" sz="950" dirty="0">
                <a:solidFill>
                  <a:srgbClr val="333333"/>
                </a:solidFill>
                <a:latin typeface="Courier New" pitchFamily="34" charset="0"/>
                <a:ea typeface="Courier New" pitchFamily="34" charset="-122"/>
                <a:cs typeface="Courier New" pitchFamily="34" charset="-120"/>
              </a:rPr>
              <a:t>01000111 01001111 01000010 01001001 01000101 01010010 01001110 01001111  01000100 01000101  01010100 01001001</a:t>
            </a:r>
            <a:endParaRPr lang="en-US" sz="950" dirty="0"/>
          </a:p>
        </p:txBody>
      </p:sp>
      <p:sp>
        <p:nvSpPr>
          <p:cNvPr id="3" name="Text 1"/>
          <p:cNvSpPr/>
          <p:nvPr/>
        </p:nvSpPr>
        <p:spPr>
          <a:xfrm>
            <a:off x="502920" y="1051560"/>
            <a:ext cx="7315200" cy="320040"/>
          </a:xfrm>
          <a:prstGeom prst="rect">
            <a:avLst/>
          </a:prstGeom>
          <a:noFill/>
          <a:ln/>
        </p:spPr>
        <p:txBody>
          <a:bodyPr wrap="square" lIns="0" tIns="0" rIns="0" bIns="0" rtlCol="0" anchor="ctr"/>
          <a:lstStyle/>
          <a:p>
            <a:pPr indent="0" marL="0">
              <a:buNone/>
            </a:pPr>
            <a:r>
              <a:rPr lang="en-US" sz="1200" b="1" spc="200" kern="0" dirty="0">
                <a:solidFill>
                  <a:srgbClr val="C6FF00"/>
                </a:solidFill>
                <a:latin typeface="Courier New" pitchFamily="34" charset="0"/>
                <a:ea typeface="Courier New" pitchFamily="34" charset="-122"/>
                <a:cs typeface="Courier New" pitchFamily="34" charset="-120"/>
              </a:rPr>
              <a:t>8 50155-3M · PREGRADO</a:t>
            </a:r>
            <a:endParaRPr lang="en-US" sz="1200" dirty="0"/>
          </a:p>
        </p:txBody>
      </p:sp>
      <p:sp>
        <p:nvSpPr>
          <p:cNvPr id="4" name="Text 2"/>
          <p:cNvSpPr/>
          <p:nvPr/>
        </p:nvSpPr>
        <p:spPr>
          <a:xfrm>
            <a:off x="7116775" y="1051560"/>
            <a:ext cx="4572000" cy="320040"/>
          </a:xfrm>
          <a:prstGeom prst="rect">
            <a:avLst/>
          </a:prstGeom>
          <a:noFill/>
          <a:ln/>
        </p:spPr>
        <p:txBody>
          <a:bodyPr wrap="square" lIns="0" tIns="0" rIns="0" bIns="0" rtlCol="0" anchor="ctr"/>
          <a:lstStyle/>
          <a:p>
            <a:pPr algn="r" indent="0" marL="0">
              <a:buNone/>
            </a:pPr>
            <a:r>
              <a:rPr lang="en-US" sz="1200" spc="100" kern="0" dirty="0">
                <a:solidFill>
                  <a:srgbClr val="8C8C8C"/>
                </a:solidFill>
                <a:latin typeface="Courier New" pitchFamily="34" charset="0"/>
                <a:ea typeface="Courier New" pitchFamily="34" charset="-122"/>
                <a:cs typeface="Courier New" pitchFamily="34" charset="-120"/>
              </a:rPr>
              <a:t>SESIÓN 09 / 16</a:t>
            </a:r>
            <a:endParaRPr lang="en-US" sz="1200" dirty="0"/>
          </a:p>
        </p:txBody>
      </p:sp>
      <p:sp>
        <p:nvSpPr>
          <p:cNvPr id="5" name="Text 3"/>
          <p:cNvSpPr/>
          <p:nvPr/>
        </p:nvSpPr>
        <p:spPr>
          <a:xfrm>
            <a:off x="502920" y="1783080"/>
            <a:ext cx="11185855" cy="2011680"/>
          </a:xfrm>
          <a:prstGeom prst="rect">
            <a:avLst/>
          </a:prstGeom>
          <a:noFill/>
          <a:ln/>
        </p:spPr>
        <p:txBody>
          <a:bodyPr wrap="square" lIns="0" tIns="0" rIns="0" bIns="0" rtlCol="0" anchor="t"/>
          <a:lstStyle/>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IIOT, EDGE</a:t>
            </a:r>
            <a:endParaRPr lang="en-US" sz="5200" dirty="0"/>
          </a:p>
          <a:p>
            <a:pPr algn="l" indent="0" marL="0">
              <a:lnSpc>
                <a:spcPct val="92000"/>
              </a:lnSpc>
              <a:buNone/>
            </a:pPr>
            <a:r>
              <a:rPr lang="en-US" sz="5200" dirty="0">
                <a:solidFill>
                  <a:srgbClr val="F4F4F4"/>
                </a:solidFill>
                <a:latin typeface="Arial Black" pitchFamily="34" charset="0"/>
                <a:ea typeface="Arial Black" pitchFamily="34" charset="-122"/>
                <a:cs typeface="Arial Black" pitchFamily="34" charset="-120"/>
              </a:rPr>
              <a:t>&amp; NUBE</a:t>
            </a:r>
            <a:endParaRPr lang="en-US" sz="5200" dirty="0"/>
          </a:p>
        </p:txBody>
      </p:sp>
      <p:sp>
        <p:nvSpPr>
          <p:cNvPr id="6" name="Text 4"/>
          <p:cNvSpPr/>
          <p:nvPr/>
        </p:nvSpPr>
        <p:spPr>
          <a:xfrm>
            <a:off x="502920" y="3977640"/>
            <a:ext cx="11185855" cy="731520"/>
          </a:xfrm>
          <a:prstGeom prst="rect">
            <a:avLst/>
          </a:prstGeom>
          <a:noFill/>
          <a:ln/>
        </p:spPr>
        <p:txBody>
          <a:bodyPr wrap="square" lIns="0" tIns="0" rIns="0" bIns="0" rtlCol="0" anchor="t"/>
          <a:lstStyle/>
          <a:p>
            <a:pPr indent="0" marL="0">
              <a:lnSpc>
                <a:spcPct val="105000"/>
              </a:lnSpc>
              <a:buNone/>
            </a:pPr>
            <a:r>
              <a:rPr lang="en-US" sz="1500" b="1" dirty="0">
                <a:solidFill>
                  <a:srgbClr val="C6FF00"/>
                </a:solidFill>
                <a:latin typeface="Courier New" pitchFamily="34" charset="0"/>
                <a:ea typeface="Courier New" pitchFamily="34" charset="-122"/>
                <a:cs typeface="Courier New" pitchFamily="34" charset="-120"/>
              </a:rPr>
              <a:t>&gt; </a:t>
            </a:r>
            <a:pPr indent="0" marL="0">
              <a:lnSpc>
                <a:spcPct val="105000"/>
              </a:lnSpc>
              <a:buNone/>
            </a:pPr>
            <a:r>
              <a:rPr lang="en-US" sz="1500" dirty="0">
                <a:solidFill>
                  <a:srgbClr val="F4F4F4"/>
                </a:solidFill>
                <a:latin typeface="Courier New" pitchFamily="34" charset="0"/>
                <a:ea typeface="Courier New" pitchFamily="34" charset="-122"/>
                <a:cs typeface="Courier New" pitchFamily="34" charset="-120"/>
              </a:rPr>
              <a:t>La arquitectura de datos del sistema ciber-físico: del sensor a la nube</a:t>
            </a:r>
            <a:endParaRPr lang="en-US" sz="1500" dirty="0"/>
          </a:p>
        </p:txBody>
      </p:sp>
      <p:sp>
        <p:nvSpPr>
          <p:cNvPr id="7" name="Shape 5"/>
          <p:cNvSpPr/>
          <p:nvPr/>
        </p:nvSpPr>
        <p:spPr>
          <a:xfrm>
            <a:off x="502920" y="5074920"/>
            <a:ext cx="11185855" cy="0"/>
          </a:xfrm>
          <a:prstGeom prst="line">
            <a:avLst/>
          </a:prstGeom>
          <a:noFill/>
          <a:ln w="12700">
            <a:solidFill>
              <a:srgbClr val="333333"/>
            </a:solidFill>
            <a:prstDash val="solid"/>
          </a:ln>
        </p:spPr>
      </p:sp>
      <p:sp>
        <p:nvSpPr>
          <p:cNvPr id="8" name="Text 6"/>
          <p:cNvSpPr/>
          <p:nvPr/>
        </p:nvSpPr>
        <p:spPr>
          <a:xfrm>
            <a:off x="502920" y="5257800"/>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DOCENTE</a:t>
            </a:r>
            <a:endParaRPr lang="en-US" sz="1000" dirty="0"/>
          </a:p>
        </p:txBody>
      </p:sp>
      <p:sp>
        <p:nvSpPr>
          <p:cNvPr id="9" name="Text 7"/>
          <p:cNvSpPr/>
          <p:nvPr/>
        </p:nvSpPr>
        <p:spPr>
          <a:xfrm>
            <a:off x="2468880" y="5257800"/>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Jorge Andrés Dapena — MSc.</a:t>
            </a:r>
            <a:endParaRPr lang="en-US" sz="1200" dirty="0"/>
          </a:p>
        </p:txBody>
      </p:sp>
      <p:sp>
        <p:nvSpPr>
          <p:cNvPr id="10" name="Text 8"/>
          <p:cNvSpPr/>
          <p:nvPr/>
        </p:nvSpPr>
        <p:spPr>
          <a:xfrm>
            <a:off x="502920" y="5641848"/>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UNIDAD</a:t>
            </a:r>
            <a:endParaRPr lang="en-US" sz="1000" dirty="0"/>
          </a:p>
        </p:txBody>
      </p:sp>
      <p:sp>
        <p:nvSpPr>
          <p:cNvPr id="11" name="Text 9"/>
          <p:cNvSpPr/>
          <p:nvPr/>
        </p:nvSpPr>
        <p:spPr>
          <a:xfrm>
            <a:off x="2468880" y="5641848"/>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U2 · Sistemas ciber-físicos    ·    SEMANA 9</a:t>
            </a:r>
            <a:endParaRPr lang="en-US" sz="1200" dirty="0"/>
          </a:p>
        </p:txBody>
      </p:sp>
      <p:sp>
        <p:nvSpPr>
          <p:cNvPr id="12" name="Text 10"/>
          <p:cNvSpPr/>
          <p:nvPr/>
        </p:nvSpPr>
        <p:spPr>
          <a:xfrm>
            <a:off x="502920" y="6025896"/>
            <a:ext cx="1920240" cy="292608"/>
          </a:xfrm>
          <a:prstGeom prst="rect">
            <a:avLst/>
          </a:prstGeom>
          <a:noFill/>
          <a:ln/>
        </p:spPr>
        <p:txBody>
          <a:bodyPr wrap="square" lIns="0" tIns="0" rIns="0" bIns="0" rtlCol="0" anchor="ctr"/>
          <a:lstStyle/>
          <a:p>
            <a:pPr indent="0" marL="0">
              <a:buNone/>
            </a:pPr>
            <a:r>
              <a:rPr lang="en-US" sz="1000" b="1" dirty="0">
                <a:solidFill>
                  <a:srgbClr val="C6FF00"/>
                </a:solidFill>
                <a:latin typeface="Courier New" pitchFamily="34" charset="0"/>
                <a:ea typeface="Courier New" pitchFamily="34" charset="-122"/>
                <a:cs typeface="Courier New" pitchFamily="34" charset="-120"/>
              </a:rPr>
              <a:t>INSTITUCIÓN</a:t>
            </a:r>
            <a:endParaRPr lang="en-US" sz="1000" dirty="0"/>
          </a:p>
        </p:txBody>
      </p:sp>
      <p:sp>
        <p:nvSpPr>
          <p:cNvPr id="13" name="Text 11"/>
          <p:cNvSpPr/>
          <p:nvPr/>
        </p:nvSpPr>
        <p:spPr>
          <a:xfrm>
            <a:off x="2468880" y="6025896"/>
            <a:ext cx="9219895" cy="29260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Universidad de San Buenaventura — Medellín (Bello)</a:t>
            </a:r>
            <a:endParaRPr lang="en-US" sz="1200" dirty="0"/>
          </a:p>
        </p:txBody>
      </p:sp>
      <p:sp>
        <p:nvSpPr>
          <p:cNvPr id="14" name="Text 12"/>
          <p:cNvSpPr/>
          <p:nvPr/>
        </p:nvSpPr>
        <p:spPr>
          <a:xfrm>
            <a:off x="502920" y="6382512"/>
            <a:ext cx="11185855"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Y SISTEMAS CIBER-FÍSICOS DE PRODUCCIÓN · 2026-2</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01  INICIO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AGENDA DE LA SESIÓN</a:t>
            </a:r>
            <a:endParaRPr lang="en-US" sz="3300" dirty="0"/>
          </a:p>
        </p:txBody>
      </p:sp>
      <p:sp>
        <p:nvSpPr>
          <p:cNvPr id="4" name="Shape 2"/>
          <p:cNvSpPr/>
          <p:nvPr/>
        </p:nvSpPr>
        <p:spPr>
          <a:xfrm>
            <a:off x="502920" y="1828800"/>
            <a:ext cx="5364328" cy="1298448"/>
          </a:xfrm>
          <a:prstGeom prst="roundRect">
            <a:avLst>
              <a:gd name="adj" fmla="val 4225"/>
            </a:avLst>
          </a:prstGeom>
          <a:solidFill>
            <a:srgbClr val="151515"/>
          </a:solidFill>
          <a:ln w="12700">
            <a:solidFill>
              <a:srgbClr val="333333"/>
            </a:solidFill>
            <a:prstDash val="solid"/>
          </a:ln>
        </p:spPr>
      </p:sp>
      <p:sp>
        <p:nvSpPr>
          <p:cNvPr id="5" name="Text 3"/>
          <p:cNvSpPr/>
          <p:nvPr/>
        </p:nvSpPr>
        <p:spPr>
          <a:xfrm>
            <a:off x="667512"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A</a:t>
            </a:r>
            <a:endParaRPr lang="en-US" sz="2600" dirty="0"/>
          </a:p>
        </p:txBody>
      </p:sp>
      <p:sp>
        <p:nvSpPr>
          <p:cNvPr id="6" name="Text 4"/>
          <p:cNvSpPr/>
          <p:nvPr/>
        </p:nvSpPr>
        <p:spPr>
          <a:xfrm>
            <a:off x="1417320"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Arquitectura IIoT</a:t>
            </a:r>
            <a:endParaRPr lang="en-US" sz="1450" dirty="0"/>
          </a:p>
        </p:txBody>
      </p:sp>
      <p:sp>
        <p:nvSpPr>
          <p:cNvPr id="7" name="Text 5"/>
          <p:cNvSpPr/>
          <p:nvPr/>
        </p:nvSpPr>
        <p:spPr>
          <a:xfrm>
            <a:off x="1417320"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Del sensor a la aplicación: la cadena de datos</a:t>
            </a:r>
            <a:endParaRPr lang="en-US" sz="1050" dirty="0"/>
          </a:p>
        </p:txBody>
      </p:sp>
      <p:sp>
        <p:nvSpPr>
          <p:cNvPr id="8" name="Shape 6"/>
          <p:cNvSpPr/>
          <p:nvPr/>
        </p:nvSpPr>
        <p:spPr>
          <a:xfrm>
            <a:off x="6324448" y="1828800"/>
            <a:ext cx="5364328" cy="1298448"/>
          </a:xfrm>
          <a:prstGeom prst="roundRect">
            <a:avLst>
              <a:gd name="adj" fmla="val 4225"/>
            </a:avLst>
          </a:prstGeom>
          <a:solidFill>
            <a:srgbClr val="151515"/>
          </a:solidFill>
          <a:ln w="12700">
            <a:solidFill>
              <a:srgbClr val="333333"/>
            </a:solidFill>
            <a:prstDash val="solid"/>
          </a:ln>
        </p:spPr>
      </p:sp>
      <p:sp>
        <p:nvSpPr>
          <p:cNvPr id="9" name="Text 7"/>
          <p:cNvSpPr/>
          <p:nvPr/>
        </p:nvSpPr>
        <p:spPr>
          <a:xfrm>
            <a:off x="6489040" y="199339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B</a:t>
            </a:r>
            <a:endParaRPr lang="en-US" sz="2600" dirty="0"/>
          </a:p>
        </p:txBody>
      </p:sp>
      <p:sp>
        <p:nvSpPr>
          <p:cNvPr id="10" name="Text 8"/>
          <p:cNvSpPr/>
          <p:nvPr/>
        </p:nvSpPr>
        <p:spPr>
          <a:xfrm>
            <a:off x="7238848" y="202996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Edge, fog y cloud</a:t>
            </a:r>
            <a:endParaRPr lang="en-US" sz="1450" dirty="0"/>
          </a:p>
        </p:txBody>
      </p:sp>
      <p:sp>
        <p:nvSpPr>
          <p:cNvPr id="11" name="Text 9"/>
          <p:cNvSpPr/>
          <p:nvPr/>
        </p:nvSpPr>
        <p:spPr>
          <a:xfrm>
            <a:off x="7238848" y="248716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Dónde procesar y por qué</a:t>
            </a:r>
            <a:endParaRPr lang="en-US" sz="1050" dirty="0"/>
          </a:p>
        </p:txBody>
      </p:sp>
      <p:sp>
        <p:nvSpPr>
          <p:cNvPr id="12" name="Shape 10"/>
          <p:cNvSpPr/>
          <p:nvPr/>
        </p:nvSpPr>
        <p:spPr>
          <a:xfrm>
            <a:off x="502920" y="3383280"/>
            <a:ext cx="5364328" cy="1298448"/>
          </a:xfrm>
          <a:prstGeom prst="roundRect">
            <a:avLst>
              <a:gd name="adj" fmla="val 4225"/>
            </a:avLst>
          </a:prstGeom>
          <a:solidFill>
            <a:srgbClr val="151515"/>
          </a:solidFill>
          <a:ln w="12700">
            <a:solidFill>
              <a:srgbClr val="333333"/>
            </a:solidFill>
            <a:prstDash val="solid"/>
          </a:ln>
        </p:spPr>
      </p:sp>
      <p:sp>
        <p:nvSpPr>
          <p:cNvPr id="13" name="Text 11"/>
          <p:cNvSpPr/>
          <p:nvPr/>
        </p:nvSpPr>
        <p:spPr>
          <a:xfrm>
            <a:off x="667512"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C</a:t>
            </a:r>
            <a:endParaRPr lang="en-US" sz="2600" dirty="0"/>
          </a:p>
        </p:txBody>
      </p:sp>
      <p:sp>
        <p:nvSpPr>
          <p:cNvPr id="14" name="Text 12"/>
          <p:cNvSpPr/>
          <p:nvPr/>
        </p:nvSpPr>
        <p:spPr>
          <a:xfrm>
            <a:off x="1417320"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Plataformas industriales</a:t>
            </a:r>
            <a:endParaRPr lang="en-US" sz="1450" dirty="0"/>
          </a:p>
        </p:txBody>
      </p:sp>
      <p:sp>
        <p:nvSpPr>
          <p:cNvPr id="15" name="Text 13"/>
          <p:cNvSpPr/>
          <p:nvPr/>
        </p:nvSpPr>
        <p:spPr>
          <a:xfrm>
            <a:off x="1417320"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Capacidades y dependencia de proveedor</a:t>
            </a:r>
            <a:endParaRPr lang="en-US" sz="1050" dirty="0"/>
          </a:p>
        </p:txBody>
      </p:sp>
      <p:sp>
        <p:nvSpPr>
          <p:cNvPr id="16" name="Shape 14"/>
          <p:cNvSpPr/>
          <p:nvPr/>
        </p:nvSpPr>
        <p:spPr>
          <a:xfrm>
            <a:off x="6324448" y="3383280"/>
            <a:ext cx="5364328" cy="1298448"/>
          </a:xfrm>
          <a:prstGeom prst="roundRect">
            <a:avLst>
              <a:gd name="adj" fmla="val 4225"/>
            </a:avLst>
          </a:prstGeom>
          <a:solidFill>
            <a:srgbClr val="151515"/>
          </a:solidFill>
          <a:ln w="12700">
            <a:solidFill>
              <a:srgbClr val="333333"/>
            </a:solidFill>
            <a:prstDash val="solid"/>
          </a:ln>
        </p:spPr>
      </p:sp>
      <p:sp>
        <p:nvSpPr>
          <p:cNvPr id="17" name="Text 15"/>
          <p:cNvSpPr/>
          <p:nvPr/>
        </p:nvSpPr>
        <p:spPr>
          <a:xfrm>
            <a:off x="6489040" y="354787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D</a:t>
            </a:r>
            <a:endParaRPr lang="en-US" sz="2600" dirty="0"/>
          </a:p>
        </p:txBody>
      </p:sp>
      <p:sp>
        <p:nvSpPr>
          <p:cNvPr id="18" name="Text 16"/>
          <p:cNvSpPr/>
          <p:nvPr/>
        </p:nvSpPr>
        <p:spPr>
          <a:xfrm>
            <a:off x="7238848" y="358444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Gobierno nube-planta</a:t>
            </a:r>
            <a:endParaRPr lang="en-US" sz="1450" dirty="0"/>
          </a:p>
        </p:txBody>
      </p:sp>
      <p:sp>
        <p:nvSpPr>
          <p:cNvPr id="19" name="Text 17"/>
          <p:cNvSpPr/>
          <p:nvPr/>
        </p:nvSpPr>
        <p:spPr>
          <a:xfrm>
            <a:off x="7238848" y="404164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Qué va dónde y quién lo decide</a:t>
            </a:r>
            <a:endParaRPr lang="en-US" sz="1050" dirty="0"/>
          </a:p>
        </p:txBody>
      </p:sp>
      <p:sp>
        <p:nvSpPr>
          <p:cNvPr id="20" name="Shape 18"/>
          <p:cNvSpPr/>
          <p:nvPr/>
        </p:nvSpPr>
        <p:spPr>
          <a:xfrm>
            <a:off x="502920" y="4937760"/>
            <a:ext cx="5364328" cy="1298448"/>
          </a:xfrm>
          <a:prstGeom prst="roundRect">
            <a:avLst>
              <a:gd name="adj" fmla="val 4225"/>
            </a:avLst>
          </a:prstGeom>
          <a:solidFill>
            <a:srgbClr val="151515"/>
          </a:solidFill>
          <a:ln w="12700">
            <a:solidFill>
              <a:srgbClr val="333333"/>
            </a:solidFill>
            <a:prstDash val="solid"/>
          </a:ln>
        </p:spPr>
      </p:sp>
      <p:sp>
        <p:nvSpPr>
          <p:cNvPr id="21" name="Text 19"/>
          <p:cNvSpPr/>
          <p:nvPr/>
        </p:nvSpPr>
        <p:spPr>
          <a:xfrm>
            <a:off x="667512"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E</a:t>
            </a:r>
            <a:endParaRPr lang="en-US" sz="2600" dirty="0"/>
          </a:p>
        </p:txBody>
      </p:sp>
      <p:sp>
        <p:nvSpPr>
          <p:cNvPr id="22" name="Text 20"/>
          <p:cNvSpPr/>
          <p:nvPr/>
        </p:nvSpPr>
        <p:spPr>
          <a:xfrm>
            <a:off x="1417320"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Conectividad y seguridad</a:t>
            </a:r>
            <a:endParaRPr lang="en-US" sz="1450" dirty="0"/>
          </a:p>
        </p:txBody>
      </p:sp>
      <p:sp>
        <p:nvSpPr>
          <p:cNvPr id="23" name="Text 21"/>
          <p:cNvSpPr/>
          <p:nvPr/>
        </p:nvSpPr>
        <p:spPr>
          <a:xfrm>
            <a:off x="1417320"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5G, TSN y protección del borde</a:t>
            </a:r>
            <a:endParaRPr lang="en-US" sz="1050" dirty="0"/>
          </a:p>
        </p:txBody>
      </p:sp>
      <p:sp>
        <p:nvSpPr>
          <p:cNvPr id="24" name="Shape 22"/>
          <p:cNvSpPr/>
          <p:nvPr/>
        </p:nvSpPr>
        <p:spPr>
          <a:xfrm>
            <a:off x="6324448" y="4937760"/>
            <a:ext cx="5364328" cy="1298448"/>
          </a:xfrm>
          <a:prstGeom prst="roundRect">
            <a:avLst>
              <a:gd name="adj" fmla="val 4225"/>
            </a:avLst>
          </a:prstGeom>
          <a:solidFill>
            <a:srgbClr val="151515"/>
          </a:solidFill>
          <a:ln w="12700">
            <a:solidFill>
              <a:srgbClr val="333333"/>
            </a:solidFill>
            <a:prstDash val="solid"/>
          </a:ln>
        </p:spPr>
      </p:sp>
      <p:sp>
        <p:nvSpPr>
          <p:cNvPr id="25" name="Text 23"/>
          <p:cNvSpPr/>
          <p:nvPr/>
        </p:nvSpPr>
        <p:spPr>
          <a:xfrm>
            <a:off x="6489040" y="5102352"/>
            <a:ext cx="640080" cy="640080"/>
          </a:xfrm>
          <a:prstGeom prst="rect">
            <a:avLst/>
          </a:prstGeom>
          <a:noFill/>
          <a:ln/>
        </p:spPr>
        <p:txBody>
          <a:bodyPr wrap="square" lIns="0" tIns="0" rIns="0" bIns="0" rtlCol="0" anchor="t"/>
          <a:lstStyle/>
          <a:p>
            <a:pPr algn="l" indent="0" marL="0">
              <a:buNone/>
            </a:pPr>
            <a:r>
              <a:rPr lang="en-US" sz="2600" dirty="0">
                <a:solidFill>
                  <a:srgbClr val="C6FF00"/>
                </a:solidFill>
                <a:latin typeface="Arial Black" pitchFamily="34" charset="0"/>
                <a:ea typeface="Arial Black" pitchFamily="34" charset="-122"/>
                <a:cs typeface="Arial Black" pitchFamily="34" charset="-120"/>
              </a:rPr>
              <a:t>F</a:t>
            </a:r>
            <a:endParaRPr lang="en-US" sz="2600" dirty="0"/>
          </a:p>
        </p:txBody>
      </p:sp>
      <p:sp>
        <p:nvSpPr>
          <p:cNvPr id="26" name="Text 24"/>
          <p:cNvSpPr/>
          <p:nvPr/>
        </p:nvSpPr>
        <p:spPr>
          <a:xfrm>
            <a:off x="7238848" y="5138928"/>
            <a:ext cx="4267048" cy="457200"/>
          </a:xfrm>
          <a:prstGeom prst="rect">
            <a:avLst/>
          </a:prstGeom>
          <a:noFill/>
          <a:ln/>
        </p:spPr>
        <p:txBody>
          <a:bodyPr wrap="square" lIns="0" tIns="0" rIns="0" bIns="0" rtlCol="0" anchor="t"/>
          <a:lstStyle/>
          <a:p>
            <a:pPr indent="0" marL="0">
              <a:buNone/>
            </a:pPr>
            <a:r>
              <a:rPr lang="en-US" sz="1450" b="1" dirty="0">
                <a:solidFill>
                  <a:srgbClr val="F4F4F4"/>
                </a:solidFill>
                <a:latin typeface="Arial" pitchFamily="34" charset="0"/>
                <a:ea typeface="Arial" pitchFamily="34" charset="-122"/>
                <a:cs typeface="Arial" pitchFamily="34" charset="-120"/>
              </a:rPr>
              <a:t>Cierre de la Unidad 2</a:t>
            </a:r>
            <a:endParaRPr lang="en-US" sz="1450" dirty="0"/>
          </a:p>
        </p:txBody>
      </p:sp>
      <p:sp>
        <p:nvSpPr>
          <p:cNvPr id="27" name="Text 25"/>
          <p:cNvSpPr/>
          <p:nvPr/>
        </p:nvSpPr>
        <p:spPr>
          <a:xfrm>
            <a:off x="7238848" y="5596128"/>
            <a:ext cx="4267048" cy="50292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Lab, síntesis y referencias</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02 / 46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02  IIOT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BORDE Y LA NUBE EN CIFRAS</a:t>
            </a:r>
            <a:endParaRPr lang="en-US" sz="3300" dirty="0"/>
          </a:p>
        </p:txBody>
      </p:sp>
      <p:sp>
        <p:nvSpPr>
          <p:cNvPr id="4" name="Shape 2"/>
          <p:cNvSpPr/>
          <p:nvPr/>
        </p:nvSpPr>
        <p:spPr>
          <a:xfrm>
            <a:off x="502920" y="1783080"/>
            <a:ext cx="2590724" cy="1371600"/>
          </a:xfrm>
          <a:prstGeom prst="roundRect">
            <a:avLst>
              <a:gd name="adj" fmla="val 4000"/>
            </a:avLst>
          </a:prstGeom>
          <a:solidFill>
            <a:srgbClr val="151515"/>
          </a:solidFill>
          <a:ln w="12700">
            <a:solidFill>
              <a:srgbClr val="333333"/>
            </a:solidFill>
            <a:prstDash val="solid"/>
          </a:ln>
        </p:spPr>
      </p:sp>
      <p:sp>
        <p:nvSpPr>
          <p:cNvPr id="5" name="Text 3"/>
          <p:cNvSpPr/>
          <p:nvPr/>
        </p:nvSpPr>
        <p:spPr>
          <a:xfrm>
            <a:off x="502920"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75 %</a:t>
            </a:r>
            <a:endParaRPr lang="en-US" sz="4000" dirty="0"/>
          </a:p>
        </p:txBody>
      </p:sp>
      <p:sp>
        <p:nvSpPr>
          <p:cNvPr id="6" name="Text 4"/>
          <p:cNvSpPr/>
          <p:nvPr/>
        </p:nvSpPr>
        <p:spPr>
          <a:xfrm>
            <a:off x="502920"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DATOS PROCESADOS FUERA DEL DC (TENDENCIA)</a:t>
            </a:r>
            <a:endParaRPr lang="en-US" sz="950" dirty="0"/>
          </a:p>
        </p:txBody>
      </p:sp>
      <p:sp>
        <p:nvSpPr>
          <p:cNvPr id="7" name="Shape 5"/>
          <p:cNvSpPr/>
          <p:nvPr/>
        </p:nvSpPr>
        <p:spPr>
          <a:xfrm>
            <a:off x="3367964" y="1783080"/>
            <a:ext cx="2590724" cy="1371600"/>
          </a:xfrm>
          <a:prstGeom prst="roundRect">
            <a:avLst>
              <a:gd name="adj" fmla="val 4000"/>
            </a:avLst>
          </a:prstGeom>
          <a:solidFill>
            <a:srgbClr val="151515"/>
          </a:solidFill>
          <a:ln w="12700">
            <a:solidFill>
              <a:srgbClr val="333333"/>
            </a:solidFill>
            <a:prstDash val="solid"/>
          </a:ln>
        </p:spPr>
      </p:sp>
      <p:sp>
        <p:nvSpPr>
          <p:cNvPr id="8" name="Text 6"/>
          <p:cNvSpPr/>
          <p:nvPr/>
        </p:nvSpPr>
        <p:spPr>
          <a:xfrm>
            <a:off x="3367964"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ms</a:t>
            </a:r>
            <a:endParaRPr lang="en-US" sz="4000" dirty="0"/>
          </a:p>
        </p:txBody>
      </p:sp>
      <p:sp>
        <p:nvSpPr>
          <p:cNvPr id="9" name="Text 7"/>
          <p:cNvSpPr/>
          <p:nvPr/>
        </p:nvSpPr>
        <p:spPr>
          <a:xfrm>
            <a:off x="3367964"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LATENCIA EDGE</a:t>
            </a:r>
            <a:endParaRPr lang="en-US" sz="950" dirty="0"/>
          </a:p>
        </p:txBody>
      </p:sp>
      <p:sp>
        <p:nvSpPr>
          <p:cNvPr id="10" name="Shape 8"/>
          <p:cNvSpPr/>
          <p:nvPr/>
        </p:nvSpPr>
        <p:spPr>
          <a:xfrm>
            <a:off x="6233008" y="1783080"/>
            <a:ext cx="2590724" cy="1371600"/>
          </a:xfrm>
          <a:prstGeom prst="roundRect">
            <a:avLst>
              <a:gd name="adj" fmla="val 4000"/>
            </a:avLst>
          </a:prstGeom>
          <a:solidFill>
            <a:srgbClr val="151515"/>
          </a:solidFill>
          <a:ln w="12700">
            <a:solidFill>
              <a:srgbClr val="333333"/>
            </a:solidFill>
            <a:prstDash val="solid"/>
          </a:ln>
        </p:spPr>
      </p:sp>
      <p:sp>
        <p:nvSpPr>
          <p:cNvPr id="11" name="Text 9"/>
          <p:cNvSpPr/>
          <p:nvPr/>
        </p:nvSpPr>
        <p:spPr>
          <a:xfrm>
            <a:off x="6233008"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5</a:t>
            </a:r>
            <a:endParaRPr lang="en-US" sz="4000" dirty="0"/>
          </a:p>
        </p:txBody>
      </p:sp>
      <p:sp>
        <p:nvSpPr>
          <p:cNvPr id="12" name="Text 10"/>
          <p:cNvSpPr/>
          <p:nvPr/>
        </p:nvSpPr>
        <p:spPr>
          <a:xfrm>
            <a:off x="6233008"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CAPAS IIoT</a:t>
            </a:r>
            <a:endParaRPr lang="en-US" sz="950" dirty="0"/>
          </a:p>
        </p:txBody>
      </p:sp>
      <p:sp>
        <p:nvSpPr>
          <p:cNvPr id="13" name="Shape 11"/>
          <p:cNvSpPr/>
          <p:nvPr/>
        </p:nvSpPr>
        <p:spPr>
          <a:xfrm>
            <a:off x="9098051" y="1783080"/>
            <a:ext cx="2590724" cy="1371600"/>
          </a:xfrm>
          <a:prstGeom prst="roundRect">
            <a:avLst>
              <a:gd name="adj" fmla="val 4000"/>
            </a:avLst>
          </a:prstGeom>
          <a:solidFill>
            <a:srgbClr val="151515"/>
          </a:solidFill>
          <a:ln w="12700">
            <a:solidFill>
              <a:srgbClr val="333333"/>
            </a:solidFill>
            <a:prstDash val="solid"/>
          </a:ln>
        </p:spPr>
      </p:sp>
      <p:sp>
        <p:nvSpPr>
          <p:cNvPr id="14" name="Text 12"/>
          <p:cNvSpPr/>
          <p:nvPr/>
        </p:nvSpPr>
        <p:spPr>
          <a:xfrm>
            <a:off x="9098051" y="1874520"/>
            <a:ext cx="2590724" cy="777240"/>
          </a:xfrm>
          <a:prstGeom prst="rect">
            <a:avLst/>
          </a:prstGeom>
          <a:noFill/>
          <a:ln/>
        </p:spPr>
        <p:txBody>
          <a:bodyPr wrap="square" lIns="0" tIns="0" rIns="0" bIns="0" rtlCol="0" anchor="ctr"/>
          <a:lstStyle/>
          <a:p>
            <a:pPr algn="ctr" indent="0" marL="0">
              <a:buNone/>
            </a:pPr>
            <a:r>
              <a:rPr lang="en-US" sz="4000" dirty="0">
                <a:solidFill>
                  <a:srgbClr val="C6FF00"/>
                </a:solidFill>
                <a:latin typeface="Arial Black" pitchFamily="34" charset="0"/>
                <a:ea typeface="Arial Black" pitchFamily="34" charset="-122"/>
                <a:cs typeface="Arial Black" pitchFamily="34" charset="-120"/>
              </a:rPr>
              <a:t>5G/TSN</a:t>
            </a:r>
            <a:endParaRPr lang="en-US" sz="4000" dirty="0"/>
          </a:p>
        </p:txBody>
      </p:sp>
      <p:sp>
        <p:nvSpPr>
          <p:cNvPr id="15" name="Text 13"/>
          <p:cNvSpPr/>
          <p:nvPr/>
        </p:nvSpPr>
        <p:spPr>
          <a:xfrm>
            <a:off x="9098051" y="2679192"/>
            <a:ext cx="2590724" cy="365760"/>
          </a:xfrm>
          <a:prstGeom prst="rect">
            <a:avLst/>
          </a:prstGeom>
          <a:noFill/>
          <a:ln/>
        </p:spPr>
        <p:txBody>
          <a:bodyPr wrap="square" lIns="0" tIns="0" rIns="0" bIns="0" rtlCol="0" anchor="ctr"/>
          <a:lstStyle/>
          <a:p>
            <a:pPr algn="ctr" indent="0" marL="0">
              <a:buNone/>
            </a:pPr>
            <a:r>
              <a:rPr lang="en-US" sz="950" dirty="0">
                <a:solidFill>
                  <a:srgbClr val="8C8C8C"/>
                </a:solidFill>
                <a:latin typeface="Courier New" pitchFamily="34" charset="0"/>
                <a:ea typeface="Courier New" pitchFamily="34" charset="-122"/>
                <a:cs typeface="Courier New" pitchFamily="34" charset="-120"/>
              </a:rPr>
              <a:t>REDES DETERMINISTAS</a:t>
            </a:r>
            <a:endParaRPr lang="en-US" sz="950" dirty="0"/>
          </a:p>
        </p:txBody>
      </p:sp>
      <p:sp>
        <p:nvSpPr>
          <p:cNvPr id="16" name="Text 14"/>
          <p:cNvSpPr/>
          <p:nvPr/>
        </p:nvSpPr>
        <p:spPr>
          <a:xfrm>
            <a:off x="502920"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EDGE</a:t>
            </a:r>
            <a:endParaRPr lang="en-US" sz="1050" dirty="0"/>
          </a:p>
        </p:txBody>
      </p:sp>
      <p:sp>
        <p:nvSpPr>
          <p:cNvPr id="17" name="Text 15"/>
          <p:cNvSpPr/>
          <p:nvPr/>
        </p:nvSpPr>
        <p:spPr>
          <a:xfrm>
            <a:off x="3291840"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Cómputo cerca del proceso</a:t>
            </a:r>
            <a:endParaRPr lang="en-US" sz="1200" dirty="0"/>
          </a:p>
        </p:txBody>
      </p:sp>
      <p:sp>
        <p:nvSpPr>
          <p:cNvPr id="18" name="Text 16"/>
          <p:cNvSpPr/>
          <p:nvPr/>
        </p:nvSpPr>
        <p:spPr>
          <a:xfrm>
            <a:off x="6324448" y="3383280"/>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FOG</a:t>
            </a:r>
            <a:endParaRPr lang="en-US" sz="1050" dirty="0"/>
          </a:p>
        </p:txBody>
      </p:sp>
      <p:sp>
        <p:nvSpPr>
          <p:cNvPr id="19" name="Text 17"/>
          <p:cNvSpPr/>
          <p:nvPr/>
        </p:nvSpPr>
        <p:spPr>
          <a:xfrm>
            <a:off x="9113368" y="3383280"/>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Capa intermedia (gateway/planta)</a:t>
            </a:r>
            <a:endParaRPr lang="en-US" sz="1200" dirty="0"/>
          </a:p>
        </p:txBody>
      </p:sp>
      <p:sp>
        <p:nvSpPr>
          <p:cNvPr id="20" name="Text 18"/>
          <p:cNvSpPr/>
          <p:nvPr/>
        </p:nvSpPr>
        <p:spPr>
          <a:xfrm>
            <a:off x="502920"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CLOUD</a:t>
            </a:r>
            <a:endParaRPr lang="en-US" sz="1050" dirty="0"/>
          </a:p>
        </p:txBody>
      </p:sp>
      <p:sp>
        <p:nvSpPr>
          <p:cNvPr id="21" name="Text 19"/>
          <p:cNvSpPr/>
          <p:nvPr/>
        </p:nvSpPr>
        <p:spPr>
          <a:xfrm>
            <a:off x="3291840"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Cómputo elástico centralizado</a:t>
            </a:r>
            <a:endParaRPr lang="en-US" sz="1200" dirty="0"/>
          </a:p>
        </p:txBody>
      </p:sp>
      <p:sp>
        <p:nvSpPr>
          <p:cNvPr id="22" name="Text 20"/>
          <p:cNvSpPr/>
          <p:nvPr/>
        </p:nvSpPr>
        <p:spPr>
          <a:xfrm>
            <a:off x="6324448" y="4096512"/>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CRITERIOS</a:t>
            </a:r>
            <a:endParaRPr lang="en-US" sz="1050" dirty="0"/>
          </a:p>
        </p:txBody>
      </p:sp>
      <p:sp>
        <p:nvSpPr>
          <p:cNvPr id="23" name="Text 21"/>
          <p:cNvSpPr/>
          <p:nvPr/>
        </p:nvSpPr>
        <p:spPr>
          <a:xfrm>
            <a:off x="9113368" y="4096512"/>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Latencia, ancho de banda, soberanía, costo</a:t>
            </a:r>
            <a:endParaRPr lang="en-US" sz="1200" dirty="0"/>
          </a:p>
        </p:txBody>
      </p:sp>
      <p:sp>
        <p:nvSpPr>
          <p:cNvPr id="24" name="Text 22"/>
          <p:cNvSpPr/>
          <p:nvPr/>
        </p:nvSpPr>
        <p:spPr>
          <a:xfrm>
            <a:off x="502920"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DECISIÓN</a:t>
            </a:r>
            <a:endParaRPr lang="en-US" sz="1050" dirty="0"/>
          </a:p>
        </p:txBody>
      </p:sp>
      <p:sp>
        <p:nvSpPr>
          <p:cNvPr id="25" name="Text 23"/>
          <p:cNvSpPr/>
          <p:nvPr/>
        </p:nvSpPr>
        <p:spPr>
          <a:xfrm>
            <a:off x="3291840"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Qué se queda, qué sube</a:t>
            </a:r>
            <a:endParaRPr lang="en-US" sz="1200" dirty="0"/>
          </a:p>
        </p:txBody>
      </p:sp>
      <p:sp>
        <p:nvSpPr>
          <p:cNvPr id="26" name="Text 24"/>
          <p:cNvSpPr/>
          <p:nvPr/>
        </p:nvSpPr>
        <p:spPr>
          <a:xfrm>
            <a:off x="6324448" y="4809744"/>
            <a:ext cx="2743200" cy="566928"/>
          </a:xfrm>
          <a:prstGeom prst="rect">
            <a:avLst/>
          </a:prstGeom>
          <a:noFill/>
          <a:ln/>
        </p:spPr>
        <p:txBody>
          <a:bodyPr wrap="square" lIns="0" tIns="0" rIns="0" bIns="0" rtlCol="0" anchor="ctr"/>
          <a:lstStyle/>
          <a:p>
            <a:pPr indent="0" marL="0">
              <a:buNone/>
            </a:pPr>
            <a:r>
              <a:rPr lang="en-US" sz="1050" b="1" dirty="0">
                <a:solidFill>
                  <a:srgbClr val="C6FF00"/>
                </a:solidFill>
                <a:latin typeface="Courier New" pitchFamily="34" charset="0"/>
                <a:ea typeface="Courier New" pitchFamily="34" charset="-122"/>
                <a:cs typeface="Courier New" pitchFamily="34" charset="-120"/>
              </a:rPr>
              <a:t>RIESGO</a:t>
            </a:r>
            <a:endParaRPr lang="en-US" sz="1050" dirty="0"/>
          </a:p>
        </p:txBody>
      </p:sp>
      <p:sp>
        <p:nvSpPr>
          <p:cNvPr id="27" name="Text 25"/>
          <p:cNvSpPr/>
          <p:nvPr/>
        </p:nvSpPr>
        <p:spPr>
          <a:xfrm>
            <a:off x="9113368" y="4809744"/>
            <a:ext cx="2575408" cy="566928"/>
          </a:xfrm>
          <a:prstGeom prst="rect">
            <a:avLst/>
          </a:prstGeom>
          <a:noFill/>
          <a:ln/>
        </p:spPr>
        <p:txBody>
          <a:bodyPr wrap="square" lIns="0" tIns="0" rIns="0" bIns="0" rtlCol="0" anchor="ctr"/>
          <a:lstStyle/>
          <a:p>
            <a:pPr indent="0" marL="0">
              <a:buNone/>
            </a:pPr>
            <a:r>
              <a:rPr lang="en-US" sz="1200" dirty="0">
                <a:solidFill>
                  <a:srgbClr val="F4F4F4"/>
                </a:solidFill>
                <a:latin typeface="Arial" pitchFamily="34" charset="0"/>
                <a:ea typeface="Arial" pitchFamily="34" charset="-122"/>
                <a:cs typeface="Arial" pitchFamily="34" charset="-120"/>
              </a:rPr>
              <a:t>Vendor lock-in y soberanía del dato</a:t>
            </a:r>
            <a:endParaRPr lang="en-US" sz="120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03 / 46</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03  IIOT</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OBJETIVOS DE LA SESIÓN</a:t>
            </a:r>
            <a:endParaRPr lang="en-US" sz="3300" dirty="0"/>
          </a:p>
        </p:txBody>
      </p:sp>
      <p:sp>
        <p:nvSpPr>
          <p:cNvPr id="4" name="Shape 2"/>
          <p:cNvSpPr/>
          <p:nvPr/>
        </p:nvSpPr>
        <p:spPr>
          <a:xfrm>
            <a:off x="502920" y="1783080"/>
            <a:ext cx="11185855" cy="766267"/>
          </a:xfrm>
          <a:prstGeom prst="roundRect">
            <a:avLst>
              <a:gd name="adj" fmla="val 5967"/>
            </a:avLst>
          </a:prstGeom>
          <a:solidFill>
            <a:srgbClr val="151515"/>
          </a:solidFill>
          <a:ln w="12700">
            <a:solidFill>
              <a:srgbClr val="333333"/>
            </a:solidFill>
            <a:prstDash val="solid"/>
          </a:ln>
        </p:spPr>
      </p:sp>
      <p:sp>
        <p:nvSpPr>
          <p:cNvPr id="5" name="Text 3"/>
          <p:cNvSpPr/>
          <p:nvPr/>
        </p:nvSpPr>
        <p:spPr>
          <a:xfrm>
            <a:off x="685800" y="1783080"/>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01</a:t>
            </a:r>
            <a:endParaRPr lang="en-US" sz="2600" dirty="0"/>
          </a:p>
        </p:txBody>
      </p:sp>
      <p:sp>
        <p:nvSpPr>
          <p:cNvPr id="6" name="Text 4"/>
          <p:cNvSpPr/>
          <p:nvPr/>
        </p:nvSpPr>
        <p:spPr>
          <a:xfrm>
            <a:off x="1691640" y="1783080"/>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Describir  </a:t>
            </a:r>
            <a:pPr indent="0" marL="0">
              <a:buNone/>
            </a:pPr>
            <a:r>
              <a:rPr lang="en-US" sz="1350" dirty="0">
                <a:solidFill>
                  <a:srgbClr val="F4F4F4"/>
                </a:solidFill>
                <a:latin typeface="Arial" pitchFamily="34" charset="0"/>
                <a:ea typeface="Arial" pitchFamily="34" charset="-122"/>
                <a:cs typeface="Arial" pitchFamily="34" charset="-120"/>
              </a:rPr>
              <a:t>la arquitectura IIoT de referencia del sensor a la aplicación.</a:t>
            </a:r>
            <a:endParaRPr lang="en-US" sz="1350" dirty="0"/>
          </a:p>
        </p:txBody>
      </p:sp>
      <p:sp>
        <p:nvSpPr>
          <p:cNvPr id="7" name="Shape 5"/>
          <p:cNvSpPr/>
          <p:nvPr/>
        </p:nvSpPr>
        <p:spPr>
          <a:xfrm>
            <a:off x="502920" y="2713939"/>
            <a:ext cx="11185855" cy="766267"/>
          </a:xfrm>
          <a:prstGeom prst="roundRect">
            <a:avLst>
              <a:gd name="adj" fmla="val 5967"/>
            </a:avLst>
          </a:prstGeom>
          <a:solidFill>
            <a:srgbClr val="151515"/>
          </a:solidFill>
          <a:ln w="12700">
            <a:solidFill>
              <a:srgbClr val="333333"/>
            </a:solidFill>
            <a:prstDash val="solid"/>
          </a:ln>
        </p:spPr>
      </p:sp>
      <p:sp>
        <p:nvSpPr>
          <p:cNvPr id="8" name="Text 6"/>
          <p:cNvSpPr/>
          <p:nvPr/>
        </p:nvSpPr>
        <p:spPr>
          <a:xfrm>
            <a:off x="685800" y="2713939"/>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02</a:t>
            </a:r>
            <a:endParaRPr lang="en-US" sz="2600" dirty="0"/>
          </a:p>
        </p:txBody>
      </p:sp>
      <p:sp>
        <p:nvSpPr>
          <p:cNvPr id="9" name="Text 7"/>
          <p:cNvSpPr/>
          <p:nvPr/>
        </p:nvSpPr>
        <p:spPr>
          <a:xfrm>
            <a:off x="1691640" y="2713939"/>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Distinguir  </a:t>
            </a:r>
            <a:pPr indent="0" marL="0">
              <a:buNone/>
            </a:pPr>
            <a:r>
              <a:rPr lang="en-US" sz="1350" dirty="0">
                <a:solidFill>
                  <a:srgbClr val="F4F4F4"/>
                </a:solidFill>
                <a:latin typeface="Arial" pitchFamily="34" charset="0"/>
                <a:ea typeface="Arial" pitchFamily="34" charset="-122"/>
                <a:cs typeface="Arial" pitchFamily="34" charset="-120"/>
              </a:rPr>
              <a:t>edge, fog y cloud y sus criterios de decisión.</a:t>
            </a:r>
            <a:endParaRPr lang="en-US" sz="1350" dirty="0"/>
          </a:p>
        </p:txBody>
      </p:sp>
      <p:sp>
        <p:nvSpPr>
          <p:cNvPr id="10" name="Shape 8"/>
          <p:cNvSpPr/>
          <p:nvPr/>
        </p:nvSpPr>
        <p:spPr>
          <a:xfrm>
            <a:off x="502920" y="3644798"/>
            <a:ext cx="11185855" cy="766267"/>
          </a:xfrm>
          <a:prstGeom prst="roundRect">
            <a:avLst>
              <a:gd name="adj" fmla="val 5967"/>
            </a:avLst>
          </a:prstGeom>
          <a:solidFill>
            <a:srgbClr val="151515"/>
          </a:solidFill>
          <a:ln w="12700">
            <a:solidFill>
              <a:srgbClr val="333333"/>
            </a:solidFill>
            <a:prstDash val="solid"/>
          </a:ln>
        </p:spPr>
      </p:sp>
      <p:sp>
        <p:nvSpPr>
          <p:cNvPr id="11" name="Text 9"/>
          <p:cNvSpPr/>
          <p:nvPr/>
        </p:nvSpPr>
        <p:spPr>
          <a:xfrm>
            <a:off x="685800" y="364479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03</a:t>
            </a:r>
            <a:endParaRPr lang="en-US" sz="2600" dirty="0"/>
          </a:p>
        </p:txBody>
      </p:sp>
      <p:sp>
        <p:nvSpPr>
          <p:cNvPr id="12" name="Text 10"/>
          <p:cNvSpPr/>
          <p:nvPr/>
        </p:nvSpPr>
        <p:spPr>
          <a:xfrm>
            <a:off x="1691640" y="364479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Evaluar  </a:t>
            </a:r>
            <a:pPr indent="0" marL="0">
              <a:buNone/>
            </a:pPr>
            <a:r>
              <a:rPr lang="en-US" sz="1350" dirty="0">
                <a:solidFill>
                  <a:srgbClr val="F4F4F4"/>
                </a:solidFill>
                <a:latin typeface="Arial" pitchFamily="34" charset="0"/>
                <a:ea typeface="Arial" pitchFamily="34" charset="-122"/>
                <a:cs typeface="Arial" pitchFamily="34" charset="-120"/>
              </a:rPr>
              <a:t>plataformas industriales y el riesgo de dependencia.</a:t>
            </a:r>
            <a:endParaRPr lang="en-US" sz="1350" dirty="0"/>
          </a:p>
        </p:txBody>
      </p:sp>
      <p:sp>
        <p:nvSpPr>
          <p:cNvPr id="13" name="Shape 11"/>
          <p:cNvSpPr/>
          <p:nvPr/>
        </p:nvSpPr>
        <p:spPr>
          <a:xfrm>
            <a:off x="502920" y="4575658"/>
            <a:ext cx="11185855" cy="766267"/>
          </a:xfrm>
          <a:prstGeom prst="roundRect">
            <a:avLst>
              <a:gd name="adj" fmla="val 5967"/>
            </a:avLst>
          </a:prstGeom>
          <a:solidFill>
            <a:srgbClr val="151515"/>
          </a:solidFill>
          <a:ln w="12700">
            <a:solidFill>
              <a:srgbClr val="333333"/>
            </a:solidFill>
            <a:prstDash val="solid"/>
          </a:ln>
        </p:spPr>
      </p:sp>
      <p:sp>
        <p:nvSpPr>
          <p:cNvPr id="14" name="Text 12"/>
          <p:cNvSpPr/>
          <p:nvPr/>
        </p:nvSpPr>
        <p:spPr>
          <a:xfrm>
            <a:off x="685800" y="4575658"/>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04</a:t>
            </a:r>
            <a:endParaRPr lang="en-US" sz="2600" dirty="0"/>
          </a:p>
        </p:txBody>
      </p:sp>
      <p:sp>
        <p:nvSpPr>
          <p:cNvPr id="15" name="Text 13"/>
          <p:cNvSpPr/>
          <p:nvPr/>
        </p:nvSpPr>
        <p:spPr>
          <a:xfrm>
            <a:off x="1691640" y="4575658"/>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Decidir  </a:t>
            </a:r>
            <a:pPr indent="0" marL="0">
              <a:buNone/>
            </a:pPr>
            <a:r>
              <a:rPr lang="en-US" sz="1350" dirty="0">
                <a:solidFill>
                  <a:srgbClr val="F4F4F4"/>
                </a:solidFill>
                <a:latin typeface="Arial" pitchFamily="34" charset="0"/>
                <a:ea typeface="Arial" pitchFamily="34" charset="-122"/>
                <a:cs typeface="Arial" pitchFamily="34" charset="-120"/>
              </a:rPr>
              <a:t>qué datos se procesan en el borde y cuáles en la nube.</a:t>
            </a:r>
            <a:endParaRPr lang="en-US" sz="1350" dirty="0"/>
          </a:p>
        </p:txBody>
      </p:sp>
      <p:sp>
        <p:nvSpPr>
          <p:cNvPr id="16" name="Shape 14"/>
          <p:cNvSpPr/>
          <p:nvPr/>
        </p:nvSpPr>
        <p:spPr>
          <a:xfrm>
            <a:off x="502920" y="5506517"/>
            <a:ext cx="11185855" cy="766267"/>
          </a:xfrm>
          <a:prstGeom prst="roundRect">
            <a:avLst>
              <a:gd name="adj" fmla="val 5967"/>
            </a:avLst>
          </a:prstGeom>
          <a:solidFill>
            <a:srgbClr val="151515"/>
          </a:solidFill>
          <a:ln w="12700">
            <a:solidFill>
              <a:srgbClr val="333333"/>
            </a:solidFill>
            <a:prstDash val="solid"/>
          </a:ln>
        </p:spPr>
      </p:sp>
      <p:sp>
        <p:nvSpPr>
          <p:cNvPr id="17" name="Text 15"/>
          <p:cNvSpPr/>
          <p:nvPr/>
        </p:nvSpPr>
        <p:spPr>
          <a:xfrm>
            <a:off x="685800" y="5506517"/>
            <a:ext cx="914400" cy="766267"/>
          </a:xfrm>
          <a:prstGeom prst="rect">
            <a:avLst/>
          </a:prstGeom>
          <a:noFill/>
          <a:ln/>
        </p:spPr>
        <p:txBody>
          <a:bodyPr wrap="square" lIns="0" tIns="0" rIns="0" bIns="0" rtlCol="0" anchor="ctr"/>
          <a:lstStyle/>
          <a:p>
            <a:pPr algn="l" indent="0" marL="0">
              <a:buNone/>
            </a:pPr>
            <a:r>
              <a:rPr lang="en-US" sz="2600" dirty="0">
                <a:solidFill>
                  <a:srgbClr val="C6FF00"/>
                </a:solidFill>
                <a:latin typeface="Arial Black" pitchFamily="34" charset="0"/>
                <a:ea typeface="Arial Black" pitchFamily="34" charset="-122"/>
                <a:cs typeface="Arial Black" pitchFamily="34" charset="-120"/>
              </a:rPr>
              <a:t>05</a:t>
            </a:r>
            <a:endParaRPr lang="en-US" sz="2600" dirty="0"/>
          </a:p>
        </p:txBody>
      </p:sp>
      <p:sp>
        <p:nvSpPr>
          <p:cNvPr id="18" name="Text 16"/>
          <p:cNvSpPr/>
          <p:nvPr/>
        </p:nvSpPr>
        <p:spPr>
          <a:xfrm>
            <a:off x="1691640" y="5506517"/>
            <a:ext cx="9722815" cy="766267"/>
          </a:xfrm>
          <a:prstGeom prst="rect">
            <a:avLst/>
          </a:prstGeom>
          <a:noFill/>
          <a:ln/>
        </p:spPr>
        <p:txBody>
          <a:bodyPr wrap="square" lIns="0" tIns="0" rIns="0" bIns="0" rtlCol="0" anchor="ctr"/>
          <a:lstStyle/>
          <a:p>
            <a:pPr indent="0" marL="0">
              <a:buNone/>
            </a:pPr>
            <a:r>
              <a:rPr lang="en-US" sz="1350" b="1" dirty="0">
                <a:solidFill>
                  <a:srgbClr val="F4F4F4"/>
                </a:solidFill>
                <a:latin typeface="Arial" pitchFamily="34" charset="0"/>
                <a:ea typeface="Arial" pitchFamily="34" charset="-122"/>
                <a:cs typeface="Arial" pitchFamily="34" charset="-120"/>
              </a:rPr>
              <a:t>Relacionar  </a:t>
            </a:r>
            <a:pPr indent="0" marL="0">
              <a:buNone/>
            </a:pPr>
            <a:r>
              <a:rPr lang="en-US" sz="1350" dirty="0">
                <a:solidFill>
                  <a:srgbClr val="F4F4F4"/>
                </a:solidFill>
                <a:latin typeface="Arial" pitchFamily="34" charset="0"/>
                <a:ea typeface="Arial" pitchFamily="34" charset="-122"/>
                <a:cs typeface="Arial" pitchFamily="34" charset="-120"/>
              </a:rPr>
              <a:t>la arquitectura con la conectividad y la seguridad.</a:t>
            </a:r>
            <a:endParaRPr lang="en-US" sz="13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04 / 46</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01</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ARQUITECTURA IIOT DE REFERENCIA</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La cadena de datos del sistema ciber-físico</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46</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05 / 46</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04  ARQUITECTURA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DEL SENSOR A LA APLICACIÓN</a:t>
            </a:r>
            <a:endParaRPr lang="en-US" sz="3300" dirty="0"/>
          </a:p>
        </p:txBody>
      </p:sp>
      <p:sp>
        <p:nvSpPr>
          <p:cNvPr id="4" name="Shape 2"/>
          <p:cNvSpPr/>
          <p:nvPr/>
        </p:nvSpPr>
        <p:spPr>
          <a:xfrm>
            <a:off x="502920" y="1783080"/>
            <a:ext cx="2054291"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FF6B35"/>
                </a:solidFill>
                <a:latin typeface="Arial Black" pitchFamily="34" charset="0"/>
                <a:ea typeface="Arial Black" pitchFamily="34" charset="-122"/>
                <a:cs typeface="Arial Black" pitchFamily="34" charset="-120"/>
              </a:rPr>
              <a:t>01</a:t>
            </a:r>
            <a:endParaRPr lang="en-US" sz="2200" dirty="0"/>
          </a:p>
        </p:txBody>
      </p:sp>
      <p:sp>
        <p:nvSpPr>
          <p:cNvPr id="6" name="Text 4"/>
          <p:cNvSpPr/>
          <p:nvPr/>
        </p:nvSpPr>
        <p:spPr>
          <a:xfrm>
            <a:off x="649224"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DISPOSITIVO</a:t>
            </a:r>
            <a:endParaRPr lang="en-US" sz="1100" dirty="0"/>
          </a:p>
        </p:txBody>
      </p:sp>
      <p:sp>
        <p:nvSpPr>
          <p:cNvPr id="7" name="Text 5"/>
          <p:cNvSpPr/>
          <p:nvPr/>
        </p:nvSpPr>
        <p:spPr>
          <a:xfrm>
            <a:off x="649224"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Sensores y actuadores.</a:t>
            </a:r>
            <a:endParaRPr lang="en-US" sz="1000" dirty="0"/>
          </a:p>
        </p:txBody>
      </p:sp>
      <p:sp>
        <p:nvSpPr>
          <p:cNvPr id="8" name="Shape 6"/>
          <p:cNvSpPr/>
          <p:nvPr/>
        </p:nvSpPr>
        <p:spPr>
          <a:xfrm>
            <a:off x="2785811" y="1783080"/>
            <a:ext cx="2054291"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2932115"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02</a:t>
            </a:r>
            <a:endParaRPr lang="en-US" sz="2200" dirty="0"/>
          </a:p>
        </p:txBody>
      </p:sp>
      <p:sp>
        <p:nvSpPr>
          <p:cNvPr id="10" name="Text 8"/>
          <p:cNvSpPr/>
          <p:nvPr/>
        </p:nvSpPr>
        <p:spPr>
          <a:xfrm>
            <a:off x="2932115"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GATEWAY</a:t>
            </a:r>
            <a:endParaRPr lang="en-US" sz="1100" dirty="0"/>
          </a:p>
        </p:txBody>
      </p:sp>
      <p:sp>
        <p:nvSpPr>
          <p:cNvPr id="11" name="Text 9"/>
          <p:cNvSpPr/>
          <p:nvPr/>
        </p:nvSpPr>
        <p:spPr>
          <a:xfrm>
            <a:off x="2932115"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Traduce protocolos.</a:t>
            </a:r>
            <a:endParaRPr lang="en-US" sz="1000" dirty="0"/>
          </a:p>
        </p:txBody>
      </p:sp>
      <p:sp>
        <p:nvSpPr>
          <p:cNvPr id="12" name="Shape 10"/>
          <p:cNvSpPr/>
          <p:nvPr/>
        </p:nvSpPr>
        <p:spPr>
          <a:xfrm>
            <a:off x="5068702" y="1783080"/>
            <a:ext cx="2054291"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5215006" y="189280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03</a:t>
            </a:r>
            <a:endParaRPr lang="en-US" sz="2200" dirty="0"/>
          </a:p>
        </p:txBody>
      </p:sp>
      <p:sp>
        <p:nvSpPr>
          <p:cNvPr id="14" name="Text 12"/>
          <p:cNvSpPr/>
          <p:nvPr/>
        </p:nvSpPr>
        <p:spPr>
          <a:xfrm>
            <a:off x="5215006"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BORDE (EDGE)</a:t>
            </a:r>
            <a:endParaRPr lang="en-US" sz="1100" dirty="0"/>
          </a:p>
        </p:txBody>
      </p:sp>
      <p:sp>
        <p:nvSpPr>
          <p:cNvPr id="15" name="Text 13"/>
          <p:cNvSpPr/>
          <p:nvPr/>
        </p:nvSpPr>
        <p:spPr>
          <a:xfrm>
            <a:off x="5215006"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Procesa cerca.</a:t>
            </a:r>
            <a:endParaRPr lang="en-US" sz="1000" dirty="0"/>
          </a:p>
        </p:txBody>
      </p:sp>
      <p:sp>
        <p:nvSpPr>
          <p:cNvPr id="16" name="Shape 14"/>
          <p:cNvSpPr/>
          <p:nvPr/>
        </p:nvSpPr>
        <p:spPr>
          <a:xfrm>
            <a:off x="7351593" y="1783080"/>
            <a:ext cx="2054291"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7497897"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04</a:t>
            </a:r>
            <a:endParaRPr lang="en-US" sz="2200" dirty="0"/>
          </a:p>
        </p:txBody>
      </p:sp>
      <p:sp>
        <p:nvSpPr>
          <p:cNvPr id="18" name="Text 16"/>
          <p:cNvSpPr/>
          <p:nvPr/>
        </p:nvSpPr>
        <p:spPr>
          <a:xfrm>
            <a:off x="7497897"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PLATAFORMA</a:t>
            </a:r>
            <a:endParaRPr lang="en-US" sz="1100" dirty="0"/>
          </a:p>
        </p:txBody>
      </p:sp>
      <p:sp>
        <p:nvSpPr>
          <p:cNvPr id="19" name="Text 17"/>
          <p:cNvSpPr/>
          <p:nvPr/>
        </p:nvSpPr>
        <p:spPr>
          <a:xfrm>
            <a:off x="7497897"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Nube/planta.</a:t>
            </a:r>
            <a:endParaRPr lang="en-US" sz="1000" dirty="0"/>
          </a:p>
        </p:txBody>
      </p:sp>
      <p:sp>
        <p:nvSpPr>
          <p:cNvPr id="20" name="Shape 18"/>
          <p:cNvSpPr/>
          <p:nvPr/>
        </p:nvSpPr>
        <p:spPr>
          <a:xfrm>
            <a:off x="9634484" y="1783080"/>
            <a:ext cx="2054291" cy="1554480"/>
          </a:xfrm>
          <a:prstGeom prst="roundRect">
            <a:avLst>
              <a:gd name="adj" fmla="val 3529"/>
            </a:avLst>
          </a:prstGeom>
          <a:solidFill>
            <a:srgbClr val="151515"/>
          </a:solidFill>
          <a:ln w="12700">
            <a:solidFill>
              <a:srgbClr val="333333"/>
            </a:solidFill>
            <a:prstDash val="solid"/>
          </a:ln>
        </p:spPr>
      </p:sp>
      <p:sp>
        <p:nvSpPr>
          <p:cNvPr id="21" name="Text 19"/>
          <p:cNvSpPr/>
          <p:nvPr/>
        </p:nvSpPr>
        <p:spPr>
          <a:xfrm>
            <a:off x="9780788"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05</a:t>
            </a:r>
            <a:endParaRPr lang="en-US" sz="2200" dirty="0"/>
          </a:p>
        </p:txBody>
      </p:sp>
      <p:sp>
        <p:nvSpPr>
          <p:cNvPr id="22" name="Text 20"/>
          <p:cNvSpPr/>
          <p:nvPr/>
        </p:nvSpPr>
        <p:spPr>
          <a:xfrm>
            <a:off x="9780788" y="2386584"/>
            <a:ext cx="1761683"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APLICACIÓN</a:t>
            </a:r>
            <a:endParaRPr lang="en-US" sz="1100" dirty="0"/>
          </a:p>
        </p:txBody>
      </p:sp>
      <p:sp>
        <p:nvSpPr>
          <p:cNvPr id="23" name="Text 21"/>
          <p:cNvSpPr/>
          <p:nvPr/>
        </p:nvSpPr>
        <p:spPr>
          <a:xfrm>
            <a:off x="9780788" y="2752344"/>
            <a:ext cx="1761683"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Tableros, IA, ERP.</a:t>
            </a:r>
            <a:endParaRPr lang="en-US" sz="1000" dirty="0"/>
          </a:p>
        </p:txBody>
      </p:sp>
      <p:sp>
        <p:nvSpPr>
          <p:cNvPr id="24" name="Text 2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5" name="Text 2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6" name="Text 2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06 / 46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05  ARQUITECTURA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CAPA DE DISPOSITIVO Y CONECTIVIDAD</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Donde el mundo físico se vuelve dato.</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SENSORES</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Miden variables: temperatura, vibración, presión, caudal, energía, visión.</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ACTUADORES</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Ejecutan acciones: válvulas, motores, relés. Cierran el lazo de control.</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GATEWAY</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Traduce protocolos OT (Modbus, PROFINET) a IT (MQTT, OPC UA) y agrega datos.</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CONECTIVIDAD</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Cableada (Ethernet industrial) o inalámbrica (Wi-Fi, 5G, LoRa).</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07 / 46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06  ARQUITECTURA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CAPA DE PROCESAMIENTO Y APLICACIÓN</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Donde el dato se vuelve información y decisión.</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BORDE (EDGE)</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Procesa localmente: filtrado, agregación, inferencia de modelos, control rápido.</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PLATAFORMA</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Almacena, gestiona dispositivos, ejecuta analítica a escala (nube o planta).</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APLICACIONES</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Tableros de OEE, mantenimiento predictivo, integración con ERP/MES.</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ANALÍTICA / IA</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Modelos que predicen, optimizan y detectan anomalías (S13).</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08 / 46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07  ARQUITECTURA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PASA EN CADA CAPA</a:t>
            </a:r>
            <a:endParaRPr lang="en-US" sz="3300" dirty="0"/>
          </a:p>
        </p:txBody>
      </p:sp>
      <p:sp>
        <p:nvSpPr>
          <p:cNvPr id="4" name="Shape 2"/>
          <p:cNvSpPr/>
          <p:nvPr/>
        </p:nvSpPr>
        <p:spPr>
          <a:xfrm>
            <a:off x="502920" y="1783080"/>
            <a:ext cx="2743200" cy="457200"/>
          </a:xfrm>
          <a:prstGeom prst="rect">
            <a:avLst/>
          </a:prstGeom>
          <a:solidFill>
            <a:srgbClr val="1E1E1E"/>
          </a:solidFill>
          <a:ln w="12700">
            <a:solidFill>
              <a:srgbClr val="333333"/>
            </a:solidFill>
            <a:prstDash val="solid"/>
          </a:ln>
        </p:spPr>
      </p:sp>
      <p:sp>
        <p:nvSpPr>
          <p:cNvPr id="5" name="Text 3"/>
          <p:cNvSpPr/>
          <p:nvPr/>
        </p:nvSpPr>
        <p:spPr>
          <a:xfrm>
            <a:off x="576072" y="1783080"/>
            <a:ext cx="25968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CAPA</a:t>
            </a:r>
            <a:endParaRPr lang="en-US" sz="1050" dirty="0"/>
          </a:p>
        </p:txBody>
      </p:sp>
      <p:sp>
        <p:nvSpPr>
          <p:cNvPr id="6" name="Shape 4"/>
          <p:cNvSpPr/>
          <p:nvPr/>
        </p:nvSpPr>
        <p:spPr>
          <a:xfrm>
            <a:off x="3246120" y="1783080"/>
            <a:ext cx="4221328" cy="457200"/>
          </a:xfrm>
          <a:prstGeom prst="rect">
            <a:avLst/>
          </a:prstGeom>
          <a:solidFill>
            <a:srgbClr val="1E1E1E"/>
          </a:solidFill>
          <a:ln w="12700">
            <a:solidFill>
              <a:srgbClr val="333333"/>
            </a:solidFill>
            <a:prstDash val="solid"/>
          </a:ln>
        </p:spPr>
      </p:sp>
      <p:sp>
        <p:nvSpPr>
          <p:cNvPr id="7" name="Text 5"/>
          <p:cNvSpPr/>
          <p:nvPr/>
        </p:nvSpPr>
        <p:spPr>
          <a:xfrm>
            <a:off x="3319272" y="1783080"/>
            <a:ext cx="40750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FUNCIÓN</a:t>
            </a:r>
            <a:endParaRPr lang="en-US" sz="1050" dirty="0"/>
          </a:p>
        </p:txBody>
      </p:sp>
      <p:sp>
        <p:nvSpPr>
          <p:cNvPr id="8" name="Shape 6"/>
          <p:cNvSpPr/>
          <p:nvPr/>
        </p:nvSpPr>
        <p:spPr>
          <a:xfrm>
            <a:off x="7467448" y="1783080"/>
            <a:ext cx="4221328" cy="457200"/>
          </a:xfrm>
          <a:prstGeom prst="rect">
            <a:avLst/>
          </a:prstGeom>
          <a:solidFill>
            <a:srgbClr val="1E1E1E"/>
          </a:solidFill>
          <a:ln w="12700">
            <a:solidFill>
              <a:srgbClr val="333333"/>
            </a:solidFill>
            <a:prstDash val="solid"/>
          </a:ln>
        </p:spPr>
      </p:sp>
      <p:sp>
        <p:nvSpPr>
          <p:cNvPr id="9" name="Text 7"/>
          <p:cNvSpPr/>
          <p:nvPr/>
        </p:nvSpPr>
        <p:spPr>
          <a:xfrm>
            <a:off x="7540600" y="1783080"/>
            <a:ext cx="40750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EJEMPLO</a:t>
            </a:r>
            <a:endParaRPr lang="en-US" sz="1050" dirty="0"/>
          </a:p>
        </p:txBody>
      </p:sp>
      <p:sp>
        <p:nvSpPr>
          <p:cNvPr id="10" name="Shape 8"/>
          <p:cNvSpPr/>
          <p:nvPr/>
        </p:nvSpPr>
        <p:spPr>
          <a:xfrm>
            <a:off x="502920" y="2240280"/>
            <a:ext cx="2743200" cy="566928"/>
          </a:xfrm>
          <a:prstGeom prst="rect">
            <a:avLst/>
          </a:prstGeom>
          <a:solidFill>
            <a:srgbClr val="151515"/>
          </a:solidFill>
          <a:ln w="12700">
            <a:solidFill>
              <a:srgbClr val="242424"/>
            </a:solidFill>
            <a:prstDash val="solid"/>
          </a:ln>
        </p:spPr>
      </p:sp>
      <p:sp>
        <p:nvSpPr>
          <p:cNvPr id="11" name="Text 9"/>
          <p:cNvSpPr/>
          <p:nvPr/>
        </p:nvSpPr>
        <p:spPr>
          <a:xfrm>
            <a:off x="576072" y="2240280"/>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Dispositivo</a:t>
            </a:r>
            <a:endParaRPr lang="en-US" sz="1150" dirty="0"/>
          </a:p>
        </p:txBody>
      </p:sp>
      <p:sp>
        <p:nvSpPr>
          <p:cNvPr id="12" name="Shape 10"/>
          <p:cNvSpPr/>
          <p:nvPr/>
        </p:nvSpPr>
        <p:spPr>
          <a:xfrm>
            <a:off x="3246120" y="2240280"/>
            <a:ext cx="4221328" cy="566928"/>
          </a:xfrm>
          <a:prstGeom prst="rect">
            <a:avLst/>
          </a:prstGeom>
          <a:solidFill>
            <a:srgbClr val="151515"/>
          </a:solidFill>
          <a:ln w="12700">
            <a:solidFill>
              <a:srgbClr val="242424"/>
            </a:solidFill>
            <a:prstDash val="solid"/>
          </a:ln>
        </p:spPr>
      </p:sp>
      <p:sp>
        <p:nvSpPr>
          <p:cNvPr id="13" name="Text 11"/>
          <p:cNvSpPr/>
          <p:nvPr/>
        </p:nvSpPr>
        <p:spPr>
          <a:xfrm>
            <a:off x="3319272" y="2240280"/>
            <a:ext cx="4075024" cy="566928"/>
          </a:xfrm>
          <a:prstGeom prst="rect">
            <a:avLst/>
          </a:prstGeom>
          <a:noFill/>
          <a:ln/>
        </p:spPr>
        <p:txBody>
          <a:bodyPr wrap="square" lIns="0" tIns="0" rIns="0" bIns="0" rtlCol="0" anchor="ctr"/>
          <a:lstStyle/>
          <a:p>
            <a:pPr algn="ctr" indent="0" marL="0">
              <a:buNone/>
            </a:pPr>
            <a:r>
              <a:rPr lang="en-US" sz="1100" dirty="0">
                <a:solidFill>
                  <a:srgbClr val="FF6B35"/>
                </a:solidFill>
                <a:latin typeface="Courier New" pitchFamily="34" charset="0"/>
                <a:ea typeface="Courier New" pitchFamily="34" charset="-122"/>
                <a:cs typeface="Courier New" pitchFamily="34" charset="-120"/>
              </a:rPr>
              <a:t>Sensar/actuar</a:t>
            </a:r>
            <a:endParaRPr lang="en-US" sz="1100" dirty="0"/>
          </a:p>
        </p:txBody>
      </p:sp>
      <p:sp>
        <p:nvSpPr>
          <p:cNvPr id="14" name="Shape 12"/>
          <p:cNvSpPr/>
          <p:nvPr/>
        </p:nvSpPr>
        <p:spPr>
          <a:xfrm>
            <a:off x="7467448" y="2240280"/>
            <a:ext cx="4221328" cy="566928"/>
          </a:xfrm>
          <a:prstGeom prst="rect">
            <a:avLst/>
          </a:prstGeom>
          <a:solidFill>
            <a:srgbClr val="151515"/>
          </a:solidFill>
          <a:ln w="12700">
            <a:solidFill>
              <a:srgbClr val="242424"/>
            </a:solidFill>
            <a:prstDash val="solid"/>
          </a:ln>
        </p:spPr>
      </p:sp>
      <p:sp>
        <p:nvSpPr>
          <p:cNvPr id="15" name="Text 13"/>
          <p:cNvSpPr/>
          <p:nvPr/>
        </p:nvSpPr>
        <p:spPr>
          <a:xfrm>
            <a:off x="7540600" y="2240280"/>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Sensor de vibración</a:t>
            </a:r>
            <a:endParaRPr lang="en-US" sz="1100" dirty="0"/>
          </a:p>
        </p:txBody>
      </p:sp>
      <p:sp>
        <p:nvSpPr>
          <p:cNvPr id="16" name="Shape 14"/>
          <p:cNvSpPr/>
          <p:nvPr/>
        </p:nvSpPr>
        <p:spPr>
          <a:xfrm>
            <a:off x="502920" y="2807208"/>
            <a:ext cx="2743200" cy="566928"/>
          </a:xfrm>
          <a:prstGeom prst="rect">
            <a:avLst/>
          </a:prstGeom>
          <a:solidFill>
            <a:srgbClr val="0B0B0B"/>
          </a:solidFill>
          <a:ln w="12700">
            <a:solidFill>
              <a:srgbClr val="242424"/>
            </a:solidFill>
            <a:prstDash val="solid"/>
          </a:ln>
        </p:spPr>
      </p:sp>
      <p:sp>
        <p:nvSpPr>
          <p:cNvPr id="17" name="Text 15"/>
          <p:cNvSpPr/>
          <p:nvPr/>
        </p:nvSpPr>
        <p:spPr>
          <a:xfrm>
            <a:off x="576072" y="2807208"/>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Gateway</a:t>
            </a:r>
            <a:endParaRPr lang="en-US" sz="1150" dirty="0"/>
          </a:p>
        </p:txBody>
      </p:sp>
      <p:sp>
        <p:nvSpPr>
          <p:cNvPr id="18" name="Shape 16"/>
          <p:cNvSpPr/>
          <p:nvPr/>
        </p:nvSpPr>
        <p:spPr>
          <a:xfrm>
            <a:off x="3246120" y="2807208"/>
            <a:ext cx="4221328" cy="566928"/>
          </a:xfrm>
          <a:prstGeom prst="rect">
            <a:avLst/>
          </a:prstGeom>
          <a:solidFill>
            <a:srgbClr val="0B0B0B"/>
          </a:solidFill>
          <a:ln w="12700">
            <a:solidFill>
              <a:srgbClr val="242424"/>
            </a:solidFill>
            <a:prstDash val="solid"/>
          </a:ln>
        </p:spPr>
      </p:sp>
      <p:sp>
        <p:nvSpPr>
          <p:cNvPr id="19" name="Text 17"/>
          <p:cNvSpPr/>
          <p:nvPr/>
        </p:nvSpPr>
        <p:spPr>
          <a:xfrm>
            <a:off x="3319272" y="2807208"/>
            <a:ext cx="407502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Traducir/agregar</a:t>
            </a:r>
            <a:endParaRPr lang="en-US" sz="1100" dirty="0"/>
          </a:p>
        </p:txBody>
      </p:sp>
      <p:sp>
        <p:nvSpPr>
          <p:cNvPr id="20" name="Shape 18"/>
          <p:cNvSpPr/>
          <p:nvPr/>
        </p:nvSpPr>
        <p:spPr>
          <a:xfrm>
            <a:off x="7467448" y="2807208"/>
            <a:ext cx="4221328" cy="566928"/>
          </a:xfrm>
          <a:prstGeom prst="rect">
            <a:avLst/>
          </a:prstGeom>
          <a:solidFill>
            <a:srgbClr val="0B0B0B"/>
          </a:solidFill>
          <a:ln w="12700">
            <a:solidFill>
              <a:srgbClr val="242424"/>
            </a:solidFill>
            <a:prstDash val="solid"/>
          </a:ln>
        </p:spPr>
      </p:sp>
      <p:sp>
        <p:nvSpPr>
          <p:cNvPr id="21" name="Text 19"/>
          <p:cNvSpPr/>
          <p:nvPr/>
        </p:nvSpPr>
        <p:spPr>
          <a:xfrm>
            <a:off x="7540600" y="2807208"/>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Modbus → MQTT</a:t>
            </a:r>
            <a:endParaRPr lang="en-US" sz="1100" dirty="0"/>
          </a:p>
        </p:txBody>
      </p:sp>
      <p:sp>
        <p:nvSpPr>
          <p:cNvPr id="22" name="Shape 20"/>
          <p:cNvSpPr/>
          <p:nvPr/>
        </p:nvSpPr>
        <p:spPr>
          <a:xfrm>
            <a:off x="502920" y="3374136"/>
            <a:ext cx="2743200" cy="566928"/>
          </a:xfrm>
          <a:prstGeom prst="rect">
            <a:avLst/>
          </a:prstGeom>
          <a:solidFill>
            <a:srgbClr val="151515"/>
          </a:solidFill>
          <a:ln w="12700">
            <a:solidFill>
              <a:srgbClr val="242424"/>
            </a:solidFill>
            <a:prstDash val="solid"/>
          </a:ln>
        </p:spPr>
      </p:sp>
      <p:sp>
        <p:nvSpPr>
          <p:cNvPr id="23" name="Text 21"/>
          <p:cNvSpPr/>
          <p:nvPr/>
        </p:nvSpPr>
        <p:spPr>
          <a:xfrm>
            <a:off x="576072" y="3374136"/>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Borde</a:t>
            </a:r>
            <a:endParaRPr lang="en-US" sz="1150" dirty="0"/>
          </a:p>
        </p:txBody>
      </p:sp>
      <p:sp>
        <p:nvSpPr>
          <p:cNvPr id="24" name="Shape 22"/>
          <p:cNvSpPr/>
          <p:nvPr/>
        </p:nvSpPr>
        <p:spPr>
          <a:xfrm>
            <a:off x="3246120" y="3374136"/>
            <a:ext cx="4221328" cy="566928"/>
          </a:xfrm>
          <a:prstGeom prst="rect">
            <a:avLst/>
          </a:prstGeom>
          <a:solidFill>
            <a:srgbClr val="151515"/>
          </a:solidFill>
          <a:ln w="12700">
            <a:solidFill>
              <a:srgbClr val="242424"/>
            </a:solidFill>
            <a:prstDash val="solid"/>
          </a:ln>
        </p:spPr>
      </p:sp>
      <p:sp>
        <p:nvSpPr>
          <p:cNvPr id="25" name="Text 23"/>
          <p:cNvSpPr/>
          <p:nvPr/>
        </p:nvSpPr>
        <p:spPr>
          <a:xfrm>
            <a:off x="3319272" y="3374136"/>
            <a:ext cx="40750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Procesar local</a:t>
            </a:r>
            <a:endParaRPr lang="en-US" sz="1100" dirty="0"/>
          </a:p>
        </p:txBody>
      </p:sp>
      <p:sp>
        <p:nvSpPr>
          <p:cNvPr id="26" name="Shape 24"/>
          <p:cNvSpPr/>
          <p:nvPr/>
        </p:nvSpPr>
        <p:spPr>
          <a:xfrm>
            <a:off x="7467448" y="3374136"/>
            <a:ext cx="4221328" cy="566928"/>
          </a:xfrm>
          <a:prstGeom prst="rect">
            <a:avLst/>
          </a:prstGeom>
          <a:solidFill>
            <a:srgbClr val="151515"/>
          </a:solidFill>
          <a:ln w="12700">
            <a:solidFill>
              <a:srgbClr val="242424"/>
            </a:solidFill>
            <a:prstDash val="solid"/>
          </a:ln>
        </p:spPr>
      </p:sp>
      <p:sp>
        <p:nvSpPr>
          <p:cNvPr id="27" name="Text 25"/>
          <p:cNvSpPr/>
          <p:nvPr/>
        </p:nvSpPr>
        <p:spPr>
          <a:xfrm>
            <a:off x="7540600" y="3374136"/>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Detección de anomalía</a:t>
            </a:r>
            <a:endParaRPr lang="en-US" sz="1100" dirty="0"/>
          </a:p>
        </p:txBody>
      </p:sp>
      <p:sp>
        <p:nvSpPr>
          <p:cNvPr id="28" name="Shape 26"/>
          <p:cNvSpPr/>
          <p:nvPr/>
        </p:nvSpPr>
        <p:spPr>
          <a:xfrm>
            <a:off x="502920" y="3941064"/>
            <a:ext cx="2743200" cy="566928"/>
          </a:xfrm>
          <a:prstGeom prst="rect">
            <a:avLst/>
          </a:prstGeom>
          <a:solidFill>
            <a:srgbClr val="0B0B0B"/>
          </a:solidFill>
          <a:ln w="12700">
            <a:solidFill>
              <a:srgbClr val="242424"/>
            </a:solidFill>
            <a:prstDash val="solid"/>
          </a:ln>
        </p:spPr>
      </p:sp>
      <p:sp>
        <p:nvSpPr>
          <p:cNvPr id="29" name="Text 27"/>
          <p:cNvSpPr/>
          <p:nvPr/>
        </p:nvSpPr>
        <p:spPr>
          <a:xfrm>
            <a:off x="576072" y="3941064"/>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Plataforma</a:t>
            </a:r>
            <a:endParaRPr lang="en-US" sz="1150" dirty="0"/>
          </a:p>
        </p:txBody>
      </p:sp>
      <p:sp>
        <p:nvSpPr>
          <p:cNvPr id="30" name="Shape 28"/>
          <p:cNvSpPr/>
          <p:nvPr/>
        </p:nvSpPr>
        <p:spPr>
          <a:xfrm>
            <a:off x="3246120" y="3941064"/>
            <a:ext cx="4221328" cy="566928"/>
          </a:xfrm>
          <a:prstGeom prst="rect">
            <a:avLst/>
          </a:prstGeom>
          <a:solidFill>
            <a:srgbClr val="0B0B0B"/>
          </a:solidFill>
          <a:ln w="12700">
            <a:solidFill>
              <a:srgbClr val="242424"/>
            </a:solidFill>
            <a:prstDash val="solid"/>
          </a:ln>
        </p:spPr>
      </p:sp>
      <p:sp>
        <p:nvSpPr>
          <p:cNvPr id="31" name="Text 29"/>
          <p:cNvSpPr/>
          <p:nvPr/>
        </p:nvSpPr>
        <p:spPr>
          <a:xfrm>
            <a:off x="3319272" y="3941064"/>
            <a:ext cx="407502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Escalar/almacenar</a:t>
            </a:r>
            <a:endParaRPr lang="en-US" sz="1100" dirty="0"/>
          </a:p>
        </p:txBody>
      </p:sp>
      <p:sp>
        <p:nvSpPr>
          <p:cNvPr id="32" name="Shape 30"/>
          <p:cNvSpPr/>
          <p:nvPr/>
        </p:nvSpPr>
        <p:spPr>
          <a:xfrm>
            <a:off x="7467448" y="3941064"/>
            <a:ext cx="4221328" cy="566928"/>
          </a:xfrm>
          <a:prstGeom prst="rect">
            <a:avLst/>
          </a:prstGeom>
          <a:solidFill>
            <a:srgbClr val="0B0B0B"/>
          </a:solidFill>
          <a:ln w="12700">
            <a:solidFill>
              <a:srgbClr val="242424"/>
            </a:solidFill>
            <a:prstDash val="solid"/>
          </a:ln>
        </p:spPr>
      </p:sp>
      <p:sp>
        <p:nvSpPr>
          <p:cNvPr id="33" name="Text 31"/>
          <p:cNvSpPr/>
          <p:nvPr/>
        </p:nvSpPr>
        <p:spPr>
          <a:xfrm>
            <a:off x="7540600" y="3941064"/>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Historiador en nube</a:t>
            </a:r>
            <a:endParaRPr lang="en-US" sz="1100" dirty="0"/>
          </a:p>
        </p:txBody>
      </p:sp>
      <p:sp>
        <p:nvSpPr>
          <p:cNvPr id="34" name="Shape 32"/>
          <p:cNvSpPr/>
          <p:nvPr/>
        </p:nvSpPr>
        <p:spPr>
          <a:xfrm>
            <a:off x="502920" y="4507992"/>
            <a:ext cx="2743200" cy="566928"/>
          </a:xfrm>
          <a:prstGeom prst="rect">
            <a:avLst/>
          </a:prstGeom>
          <a:solidFill>
            <a:srgbClr val="151515"/>
          </a:solidFill>
          <a:ln w="12700">
            <a:solidFill>
              <a:srgbClr val="242424"/>
            </a:solidFill>
            <a:prstDash val="solid"/>
          </a:ln>
        </p:spPr>
      </p:sp>
      <p:sp>
        <p:nvSpPr>
          <p:cNvPr id="35" name="Text 33"/>
          <p:cNvSpPr/>
          <p:nvPr/>
        </p:nvSpPr>
        <p:spPr>
          <a:xfrm>
            <a:off x="576072" y="4507992"/>
            <a:ext cx="25968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Aplicación</a:t>
            </a:r>
            <a:endParaRPr lang="en-US" sz="1150" dirty="0"/>
          </a:p>
        </p:txBody>
      </p:sp>
      <p:sp>
        <p:nvSpPr>
          <p:cNvPr id="36" name="Shape 34"/>
          <p:cNvSpPr/>
          <p:nvPr/>
        </p:nvSpPr>
        <p:spPr>
          <a:xfrm>
            <a:off x="3246120" y="4507992"/>
            <a:ext cx="4221328" cy="566928"/>
          </a:xfrm>
          <a:prstGeom prst="rect">
            <a:avLst/>
          </a:prstGeom>
          <a:solidFill>
            <a:srgbClr val="151515"/>
          </a:solidFill>
          <a:ln w="12700">
            <a:solidFill>
              <a:srgbClr val="242424"/>
            </a:solidFill>
            <a:prstDash val="solid"/>
          </a:ln>
        </p:spPr>
      </p:sp>
      <p:sp>
        <p:nvSpPr>
          <p:cNvPr id="37" name="Text 35"/>
          <p:cNvSpPr/>
          <p:nvPr/>
        </p:nvSpPr>
        <p:spPr>
          <a:xfrm>
            <a:off x="3319272" y="4507992"/>
            <a:ext cx="407502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Decidir/mostrar</a:t>
            </a:r>
            <a:endParaRPr lang="en-US" sz="1100" dirty="0"/>
          </a:p>
        </p:txBody>
      </p:sp>
      <p:sp>
        <p:nvSpPr>
          <p:cNvPr id="38" name="Shape 36"/>
          <p:cNvSpPr/>
          <p:nvPr/>
        </p:nvSpPr>
        <p:spPr>
          <a:xfrm>
            <a:off x="7467448" y="4507992"/>
            <a:ext cx="4221328" cy="566928"/>
          </a:xfrm>
          <a:prstGeom prst="rect">
            <a:avLst/>
          </a:prstGeom>
          <a:solidFill>
            <a:srgbClr val="151515"/>
          </a:solidFill>
          <a:ln w="12700">
            <a:solidFill>
              <a:srgbClr val="242424"/>
            </a:solidFill>
            <a:prstDash val="solid"/>
          </a:ln>
        </p:spPr>
      </p:sp>
      <p:sp>
        <p:nvSpPr>
          <p:cNvPr id="39" name="Text 37"/>
          <p:cNvSpPr/>
          <p:nvPr/>
        </p:nvSpPr>
        <p:spPr>
          <a:xfrm>
            <a:off x="7540600" y="4507992"/>
            <a:ext cx="40750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Tablero de OEE</a:t>
            </a:r>
            <a:endParaRPr lang="en-US" sz="1100" dirty="0"/>
          </a:p>
        </p:txBody>
      </p:sp>
      <p:sp>
        <p:nvSpPr>
          <p:cNvPr id="40" name="Text 3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41" name="Text 3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42" name="Text 4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09 / 46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08  ARQUITECTURA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IIOT FRENTE A IOT DE CONSUMO</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IIoT tiene exigencias que el IoT doméstico no.</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FIABILIDAD</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Debe operar 24/7 en ambientes duros (calor, polvo, vibración).</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DETERMINISMO</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Latencia y sincronía predecibles para el control.</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LONGEVIDAD</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Ciclos de vida de 10–20 años, no 2–3.</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SEGURIDAD</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Un fallo tiene consecuencias físicas, no solo de datos.</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10 / 46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09  ARQUITECTURA</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EL DATO ES EL NUEVO PRODUCTO DE LA PLANTA</a:t>
            </a:r>
            <a:endParaRPr lang="en-US" sz="27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VOLUMEN</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un solo activo genera miles de señales por segundo</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VALOR</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el dato bien usado predice, optimiza y prueba cumplimiento</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COSTO</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transmitir y almacenar todo a la nube es caro e innecesario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IIoT produce un torrente de datos. No todo debe subir a la nube: el gobierno decide qué se procesa en el borde (rápido y barato) y qué se envía a la nube (para analítica profunda). Enviar todo es un error de costo y de riesgo.</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11 / 46</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02</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EDGE, FOG Y CLOUD</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Dónde procesar y por qué</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46</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12 / 46</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10  EDGE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TRES LUGARES PARA EL CÓMPUTO</a:t>
            </a:r>
            <a:endParaRPr lang="en-US" sz="3300" dirty="0"/>
          </a:p>
        </p:txBody>
      </p:sp>
      <p:sp>
        <p:nvSpPr>
          <p:cNvPr id="4" name="Shape 2"/>
          <p:cNvSpPr/>
          <p:nvPr/>
        </p:nvSpPr>
        <p:spPr>
          <a:xfrm>
            <a:off x="502920"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5" name="Text 3"/>
          <p:cNvSpPr/>
          <p:nvPr/>
        </p:nvSpPr>
        <p:spPr>
          <a:xfrm>
            <a:off x="685800" y="1965960"/>
            <a:ext cx="3179978" cy="457200"/>
          </a:xfrm>
          <a:prstGeom prst="rect">
            <a:avLst/>
          </a:prstGeom>
          <a:noFill/>
          <a:ln/>
        </p:spPr>
        <p:txBody>
          <a:bodyPr wrap="square" lIns="0" tIns="0" rIns="0" bIns="0" rtlCol="0" anchor="t"/>
          <a:lstStyle/>
          <a:p>
            <a:pPr indent="0" marL="0">
              <a:buNone/>
            </a:pPr>
            <a:r>
              <a:rPr lang="en-US" sz="1700" dirty="0">
                <a:solidFill>
                  <a:srgbClr val="22E06B"/>
                </a:solidFill>
                <a:latin typeface="Arial Black" pitchFamily="34" charset="0"/>
                <a:ea typeface="Arial Black" pitchFamily="34" charset="-122"/>
                <a:cs typeface="Arial Black" pitchFamily="34" charset="-120"/>
              </a:rPr>
              <a:t>EDGE (BORDE)</a:t>
            </a:r>
            <a:endParaRPr lang="en-US" sz="1700" dirty="0"/>
          </a:p>
        </p:txBody>
      </p:sp>
      <p:sp>
        <p:nvSpPr>
          <p:cNvPr id="6" name="Text 4"/>
          <p:cNvSpPr/>
          <p:nvPr/>
        </p:nvSpPr>
        <p:spPr>
          <a:xfrm>
            <a:off x="685800"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Cómputo en o junto al dispositivo/máquina. Mínima latencia, opera sin red.</a:t>
            </a:r>
            <a:endParaRPr lang="en-US" sz="1150" dirty="0"/>
          </a:p>
        </p:txBody>
      </p:sp>
      <p:sp>
        <p:nvSpPr>
          <p:cNvPr id="7" name="Text 5"/>
          <p:cNvSpPr/>
          <p:nvPr/>
        </p:nvSpPr>
        <p:spPr>
          <a:xfrm>
            <a:off x="685800"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Gateway, PLC inteligente</a:t>
            </a:r>
            <a:endParaRPr lang="en-US" sz="950" dirty="0"/>
          </a:p>
        </p:txBody>
      </p:sp>
      <p:sp>
        <p:nvSpPr>
          <p:cNvPr id="8" name="Shape 6"/>
          <p:cNvSpPr/>
          <p:nvPr/>
        </p:nvSpPr>
        <p:spPr>
          <a:xfrm>
            <a:off x="4322978"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505858" y="1965960"/>
            <a:ext cx="3179978" cy="457200"/>
          </a:xfrm>
          <a:prstGeom prst="rect">
            <a:avLst/>
          </a:prstGeom>
          <a:noFill/>
          <a:ln/>
        </p:spPr>
        <p:txBody>
          <a:bodyPr wrap="square" lIns="0" tIns="0" rIns="0" bIns="0" rtlCol="0" anchor="t"/>
          <a:lstStyle/>
          <a:p>
            <a:pPr indent="0" marL="0">
              <a:buNone/>
            </a:pPr>
            <a:r>
              <a:rPr lang="en-US" sz="1700" dirty="0">
                <a:solidFill>
                  <a:srgbClr val="27E5E5"/>
                </a:solidFill>
                <a:latin typeface="Arial Black" pitchFamily="34" charset="0"/>
                <a:ea typeface="Arial Black" pitchFamily="34" charset="-122"/>
                <a:cs typeface="Arial Black" pitchFamily="34" charset="-120"/>
              </a:rPr>
              <a:t>FOG (NIEBLA)</a:t>
            </a:r>
            <a:endParaRPr lang="en-US" sz="1700" dirty="0"/>
          </a:p>
        </p:txBody>
      </p:sp>
      <p:sp>
        <p:nvSpPr>
          <p:cNvPr id="10" name="Text 8"/>
          <p:cNvSpPr/>
          <p:nvPr/>
        </p:nvSpPr>
        <p:spPr>
          <a:xfrm>
            <a:off x="4505858"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Capa intermedia a nivel de planta: agrega y coordina varios bordes.</a:t>
            </a:r>
            <a:endParaRPr lang="en-US" sz="1150" dirty="0"/>
          </a:p>
        </p:txBody>
      </p:sp>
      <p:sp>
        <p:nvSpPr>
          <p:cNvPr id="11" name="Text 9"/>
          <p:cNvSpPr/>
          <p:nvPr/>
        </p:nvSpPr>
        <p:spPr>
          <a:xfrm>
            <a:off x="4505858"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Servidor de planta</a:t>
            </a:r>
            <a:endParaRPr lang="en-US" sz="950" dirty="0"/>
          </a:p>
        </p:txBody>
      </p:sp>
      <p:sp>
        <p:nvSpPr>
          <p:cNvPr id="12" name="Shape 10"/>
          <p:cNvSpPr/>
          <p:nvPr/>
        </p:nvSpPr>
        <p:spPr>
          <a:xfrm>
            <a:off x="8143037" y="1783080"/>
            <a:ext cx="3545738" cy="2286000"/>
          </a:xfrm>
          <a:prstGeom prst="roundRect">
            <a:avLst>
              <a:gd name="adj" fmla="val 2400"/>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3" name="Text 11"/>
          <p:cNvSpPr/>
          <p:nvPr/>
        </p:nvSpPr>
        <p:spPr>
          <a:xfrm>
            <a:off x="8325917" y="1965960"/>
            <a:ext cx="3179978" cy="457200"/>
          </a:xfrm>
          <a:prstGeom prst="rect">
            <a:avLst/>
          </a:prstGeom>
          <a:noFill/>
          <a:ln/>
        </p:spPr>
        <p:txBody>
          <a:bodyPr wrap="square" lIns="0" tIns="0" rIns="0" bIns="0" rtlCol="0" anchor="t"/>
          <a:lstStyle/>
          <a:p>
            <a:pPr indent="0" marL="0">
              <a:buNone/>
            </a:pPr>
            <a:r>
              <a:rPr lang="en-US" sz="1700" dirty="0">
                <a:solidFill>
                  <a:srgbClr val="C6FF00"/>
                </a:solidFill>
                <a:latin typeface="Arial Black" pitchFamily="34" charset="0"/>
                <a:ea typeface="Arial Black" pitchFamily="34" charset="-122"/>
                <a:cs typeface="Arial Black" pitchFamily="34" charset="-120"/>
              </a:rPr>
              <a:t>CLOUD (NUBE)</a:t>
            </a:r>
            <a:endParaRPr lang="en-US" sz="1700" dirty="0"/>
          </a:p>
        </p:txBody>
      </p:sp>
      <p:sp>
        <p:nvSpPr>
          <p:cNvPr id="14" name="Text 12"/>
          <p:cNvSpPr/>
          <p:nvPr/>
        </p:nvSpPr>
        <p:spPr>
          <a:xfrm>
            <a:off x="8325917" y="2496312"/>
            <a:ext cx="3179978" cy="1005840"/>
          </a:xfrm>
          <a:prstGeom prst="rect">
            <a:avLst/>
          </a:prstGeom>
          <a:noFill/>
          <a:ln/>
        </p:spPr>
        <p:txBody>
          <a:bodyPr wrap="square" lIns="0" tIns="0" rIns="0" bIns="0" rtlCol="0" anchor="t"/>
          <a:lstStyle/>
          <a:p>
            <a:pPr indent="0" marL="0">
              <a:lnSpc>
                <a:spcPct val="105000"/>
              </a:lnSpc>
              <a:buNone/>
            </a:pPr>
            <a:r>
              <a:rPr lang="en-US" sz="1150" dirty="0">
                <a:solidFill>
                  <a:srgbClr val="F4F4F4"/>
                </a:solidFill>
                <a:latin typeface="Arial" pitchFamily="34" charset="0"/>
                <a:ea typeface="Arial" pitchFamily="34" charset="-122"/>
                <a:cs typeface="Arial" pitchFamily="34" charset="-120"/>
              </a:rPr>
              <a:t>Cómputo elástico y centralizado. Gran escala, pero con latencia y dependencia de red.</a:t>
            </a:r>
            <a:endParaRPr lang="en-US" sz="1150" dirty="0"/>
          </a:p>
        </p:txBody>
      </p:sp>
      <p:sp>
        <p:nvSpPr>
          <p:cNvPr id="15" name="Text 13"/>
          <p:cNvSpPr/>
          <p:nvPr/>
        </p:nvSpPr>
        <p:spPr>
          <a:xfrm>
            <a:off x="8325917" y="3566160"/>
            <a:ext cx="3179978" cy="457200"/>
          </a:xfrm>
          <a:prstGeom prst="rect">
            <a:avLst/>
          </a:prstGeom>
          <a:noFill/>
          <a:ln/>
        </p:spPr>
        <p:txBody>
          <a:bodyPr wrap="square" lIns="0" tIns="0" rIns="0" bIns="0" rtlCol="0" anchor="t"/>
          <a:lstStyle/>
          <a:p>
            <a:pPr indent="0" marL="0">
              <a:buNone/>
            </a:pPr>
            <a:r>
              <a:rPr lang="en-US" sz="950" dirty="0">
                <a:solidFill>
                  <a:srgbClr val="8C8C8C"/>
                </a:solidFill>
                <a:latin typeface="Courier New" pitchFamily="34" charset="0"/>
                <a:ea typeface="Courier New" pitchFamily="34" charset="-122"/>
                <a:cs typeface="Courier New" pitchFamily="34" charset="-120"/>
              </a:rPr>
              <a:t>Plataforma en nube</a:t>
            </a:r>
            <a:endParaRPr lang="en-US" sz="950" dirty="0"/>
          </a:p>
        </p:txBody>
      </p:sp>
      <p:sp>
        <p:nvSpPr>
          <p:cNvPr id="16" name="Text 14"/>
          <p:cNvSpPr/>
          <p:nvPr/>
        </p:nvSpPr>
        <p:spPr>
          <a:xfrm>
            <a:off x="502920" y="4297680"/>
            <a:ext cx="11185855" cy="1097280"/>
          </a:xfrm>
          <a:prstGeom prst="rect">
            <a:avLst/>
          </a:prstGeom>
          <a:noFill/>
          <a:ln/>
        </p:spPr>
        <p:txBody>
          <a:bodyPr wrap="square" lIns="0" tIns="0" rIns="0" bIns="0" rtlCol="0" anchor="t"/>
          <a:lstStyle/>
          <a:p>
            <a:pPr indent="0" marL="0">
              <a:lnSpc>
                <a:spcPct val="110000"/>
              </a:lnSpc>
              <a:buNone/>
            </a:pPr>
            <a:r>
              <a:rPr lang="en-US" sz="1250" dirty="0">
                <a:solidFill>
                  <a:srgbClr val="F4F4F4"/>
                </a:solidFill>
                <a:latin typeface="Arial" pitchFamily="34" charset="0"/>
                <a:ea typeface="Arial" pitchFamily="34" charset="-122"/>
                <a:cs typeface="Arial" pitchFamily="34" charset="-120"/>
              </a:rPr>
              <a:t>No es 'edge vs cloud': es un continuo. El cómputo se distribuye entre borde, niebla y nube según la necesidad de cada tarea.</a:t>
            </a:r>
            <a:endParaRPr lang="en-US" sz="125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13 / 46</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11  EDGE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LOS CINCO CRITERIOS DE DECISIÓN</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Qué determina si una tarea va al borde o a la nube.</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LATENCIA</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Control y seguridad exigen respuesta en ms → borde.</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ANCHO DE BANDA</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Datos masivos que no caben en la red → procesar en borde.</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SOBERANÍA</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Datos sensibles que no deben salir de planta/país → borde/local.</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DISPONIBILIDAD</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Debe operar sin conexión a internet → borde.</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COSTO</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Transmitir y almacenar todo en nube es caro → filtrar en borde.</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ESCALA / IA</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Analítica pesada y entrenamiento de modelos → nube.</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14 / 46</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12  EDGE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EDGE VS CLOUD — FORTALEZAS</a:t>
            </a:r>
            <a:endParaRPr lang="en-US" sz="3300" dirty="0"/>
          </a:p>
        </p:txBody>
      </p:sp>
      <p:sp>
        <p:nvSpPr>
          <p:cNvPr id="4" name="Shape 2"/>
          <p:cNvSpPr/>
          <p:nvPr/>
        </p:nvSpPr>
        <p:spPr>
          <a:xfrm>
            <a:off x="502920" y="1783080"/>
            <a:ext cx="5364328" cy="3986784"/>
          </a:xfrm>
          <a:prstGeom prst="roundRect">
            <a:avLst>
              <a:gd name="adj" fmla="val 1147"/>
            </a:avLst>
          </a:prstGeom>
          <a:solidFill>
            <a:srgbClr val="151515"/>
          </a:solidFill>
          <a:ln w="15875">
            <a:solidFill>
              <a:srgbClr val="22E06B"/>
            </a:solidFill>
            <a:prstDash val="solid"/>
          </a:ln>
        </p:spPr>
      </p:sp>
      <p:sp>
        <p:nvSpPr>
          <p:cNvPr id="5" name="Text 3"/>
          <p:cNvSpPr/>
          <p:nvPr/>
        </p:nvSpPr>
        <p:spPr>
          <a:xfrm>
            <a:off x="704088" y="1947672"/>
            <a:ext cx="4961992" cy="457200"/>
          </a:xfrm>
          <a:prstGeom prst="rect">
            <a:avLst/>
          </a:prstGeom>
          <a:noFill/>
          <a:ln/>
        </p:spPr>
        <p:txBody>
          <a:bodyPr wrap="square" lIns="0" tIns="0" rIns="0" bIns="0" rtlCol="0" anchor="t"/>
          <a:lstStyle/>
          <a:p>
            <a:pPr indent="0" marL="0">
              <a:buNone/>
            </a:pPr>
            <a:r>
              <a:rPr lang="en-US" sz="1500" dirty="0">
                <a:solidFill>
                  <a:srgbClr val="22E06B"/>
                </a:solidFill>
                <a:latin typeface="Arial Black" pitchFamily="34" charset="0"/>
                <a:ea typeface="Arial Black" pitchFamily="34" charset="-122"/>
                <a:cs typeface="Arial Black" pitchFamily="34" charset="-120"/>
              </a:rPr>
              <a:t>BORDE (EDGE)</a:t>
            </a:r>
            <a:endParaRPr lang="en-US" sz="1500" dirty="0"/>
          </a:p>
        </p:txBody>
      </p:sp>
      <p:sp>
        <p:nvSpPr>
          <p:cNvPr id="6" name="Text 4"/>
          <p:cNvSpPr/>
          <p:nvPr/>
        </p:nvSpPr>
        <p:spPr>
          <a:xfrm>
            <a:off x="704088"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Latencia mínima (control)</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Opera sin conexión</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Menos datos transmitidos</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Soberanía del dato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Respuesta en tiempo real</a:t>
            </a:r>
            <a:endParaRPr lang="en-US" sz="1200" dirty="0"/>
          </a:p>
        </p:txBody>
      </p:sp>
      <p:sp>
        <p:nvSpPr>
          <p:cNvPr id="7" name="Shape 5"/>
          <p:cNvSpPr/>
          <p:nvPr/>
        </p:nvSpPr>
        <p:spPr>
          <a:xfrm>
            <a:off x="6324448" y="1783080"/>
            <a:ext cx="5364328" cy="3986784"/>
          </a:xfrm>
          <a:prstGeom prst="roundRect">
            <a:avLst>
              <a:gd name="adj" fmla="val 1147"/>
            </a:avLst>
          </a:prstGeom>
          <a:solidFill>
            <a:srgbClr val="151515"/>
          </a:solidFill>
          <a:ln w="15875">
            <a:solidFill>
              <a:srgbClr val="C6FF00"/>
            </a:solidFill>
            <a:prstDash val="solid"/>
          </a:ln>
        </p:spPr>
      </p:sp>
      <p:sp>
        <p:nvSpPr>
          <p:cNvPr id="8" name="Text 6"/>
          <p:cNvSpPr/>
          <p:nvPr/>
        </p:nvSpPr>
        <p:spPr>
          <a:xfrm>
            <a:off x="6525616" y="1947672"/>
            <a:ext cx="4961992" cy="457200"/>
          </a:xfrm>
          <a:prstGeom prst="rect">
            <a:avLst/>
          </a:prstGeom>
          <a:noFill/>
          <a:ln/>
        </p:spPr>
        <p:txBody>
          <a:bodyPr wrap="square" lIns="0" tIns="0" rIns="0" bIns="0" rtlCol="0" anchor="t"/>
          <a:lstStyle/>
          <a:p>
            <a:pPr indent="0" marL="0">
              <a:buNone/>
            </a:pPr>
            <a:r>
              <a:rPr lang="en-US" sz="1500" dirty="0">
                <a:solidFill>
                  <a:srgbClr val="C6FF00"/>
                </a:solidFill>
                <a:latin typeface="Arial Black" pitchFamily="34" charset="0"/>
                <a:ea typeface="Arial Black" pitchFamily="34" charset="-122"/>
                <a:cs typeface="Arial Black" pitchFamily="34" charset="-120"/>
              </a:rPr>
              <a:t>NUBE (CLOUD)</a:t>
            </a:r>
            <a:endParaRPr lang="en-US" sz="1500" dirty="0"/>
          </a:p>
        </p:txBody>
      </p:sp>
      <p:sp>
        <p:nvSpPr>
          <p:cNvPr id="9" name="Text 7"/>
          <p:cNvSpPr/>
          <p:nvPr/>
        </p:nvSpPr>
        <p:spPr>
          <a:xfrm>
            <a:off x="6525616" y="2496312"/>
            <a:ext cx="4961992" cy="3118104"/>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Cómputo elástico e ilimitado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Entrenamiento de modelos IA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Almacenamiento masivo barato</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Vista consolidada de flota</a:t>
            </a:r>
            <a:endParaRPr lang="en-US" sz="1200" dirty="0"/>
          </a:p>
          <a:p>
            <a:pPr marL="342900" indent="-342900">
              <a:spcAft>
                <a:spcPts val="800"/>
              </a:spcAft>
              <a:buSzPct val="100000"/>
              <a:buChar char="−"/>
            </a:pPr>
            <a:r>
              <a:rPr lang="en-US" sz="1200" dirty="0">
                <a:solidFill>
                  <a:srgbClr val="F4F4F4"/>
                </a:solidFill>
                <a:latin typeface="Arial" pitchFamily="34" charset="0"/>
                <a:ea typeface="Arial" pitchFamily="34" charset="-122"/>
                <a:cs typeface="Arial" pitchFamily="34" charset="-120"/>
              </a:rPr>
              <a:t>Actualización centralizada</a:t>
            </a:r>
            <a:endParaRPr lang="en-US" sz="1200" dirty="0"/>
          </a:p>
        </p:txBody>
      </p:sp>
      <p:sp>
        <p:nvSpPr>
          <p:cNvPr id="10" name="Text 8"/>
          <p:cNvSpPr/>
          <p:nvPr/>
        </p:nvSpPr>
        <p:spPr>
          <a:xfrm>
            <a:off x="502920" y="5861304"/>
            <a:ext cx="11185855" cy="36576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a:t>
            </a:r>
            <a:pPr indent="0" marL="0">
              <a:buNone/>
            </a:pPr>
            <a:r>
              <a:rPr lang="en-US" sz="1100" dirty="0">
                <a:solidFill>
                  <a:srgbClr val="8C8C8C"/>
                </a:solidFill>
                <a:latin typeface="Courier New" pitchFamily="34" charset="0"/>
                <a:ea typeface="Courier New" pitchFamily="34" charset="-122"/>
                <a:cs typeface="Courier New" pitchFamily="34" charset="-120"/>
              </a:rPr>
              <a:t>La arquitectura moderna es híbrida: inferir en el borde, entrenar en la nube.</a:t>
            </a:r>
            <a:endParaRPr lang="en-US" sz="1100" dirty="0"/>
          </a:p>
        </p:txBody>
      </p:sp>
      <p:sp>
        <p:nvSpPr>
          <p:cNvPr id="11" name="Text 9"/>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2" name="Text 10"/>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3" name="Text 11"/>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15 / 46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13  EDGE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IA EN EL BORDE (EDGE AI)</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TENDENCIA 2024–2026</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INFERENCIA JUNTO AL PROCESO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Los modelos de IA se entrenan en la nube (con datos históricos de la flota) pero se ejecutan en el borde (inferencia en tiempo real sobre el proceso). Así se detecta una anomalía en milisegundos sin depender de la red. Es la tendencia que hace viable el mantenimiento predictivo en planta.</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PATRÓN</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Entrenar en nube · inferir en borde</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SE PROFUNDIZA EN</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Analítica y predictivo (S13)</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16 / 46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14  EDGE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DÓNDE PONER CADA TAREA</a:t>
            </a:r>
            <a:endParaRPr lang="en-US" sz="3300" dirty="0"/>
          </a:p>
        </p:txBody>
      </p:sp>
      <p:sp>
        <p:nvSpPr>
          <p:cNvPr id="4" name="Shape 2"/>
          <p:cNvSpPr/>
          <p:nvPr/>
        </p:nvSpPr>
        <p:spPr>
          <a:xfrm>
            <a:off x="502920" y="1783080"/>
            <a:ext cx="3657600" cy="457200"/>
          </a:xfrm>
          <a:prstGeom prst="rect">
            <a:avLst/>
          </a:prstGeom>
          <a:solidFill>
            <a:srgbClr val="1E1E1E"/>
          </a:solidFill>
          <a:ln w="12700">
            <a:solidFill>
              <a:srgbClr val="333333"/>
            </a:solidFill>
            <a:prstDash val="solid"/>
          </a:ln>
        </p:spPr>
      </p:sp>
      <p:sp>
        <p:nvSpPr>
          <p:cNvPr id="5" name="Text 3"/>
          <p:cNvSpPr/>
          <p:nvPr/>
        </p:nvSpPr>
        <p:spPr>
          <a:xfrm>
            <a:off x="576072" y="1783080"/>
            <a:ext cx="351129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TAREA</a:t>
            </a:r>
            <a:endParaRPr lang="en-US" sz="1050" dirty="0"/>
          </a:p>
        </p:txBody>
      </p:sp>
      <p:sp>
        <p:nvSpPr>
          <p:cNvPr id="6" name="Shape 4"/>
          <p:cNvSpPr/>
          <p:nvPr/>
        </p:nvSpPr>
        <p:spPr>
          <a:xfrm>
            <a:off x="4160520" y="1783080"/>
            <a:ext cx="3764128" cy="457200"/>
          </a:xfrm>
          <a:prstGeom prst="rect">
            <a:avLst/>
          </a:prstGeom>
          <a:solidFill>
            <a:srgbClr val="1E1E1E"/>
          </a:solidFill>
          <a:ln w="12700">
            <a:solidFill>
              <a:srgbClr val="333333"/>
            </a:solidFill>
            <a:prstDash val="solid"/>
          </a:ln>
        </p:spPr>
      </p:sp>
      <p:sp>
        <p:nvSpPr>
          <p:cNvPr id="7" name="Text 5"/>
          <p:cNvSpPr/>
          <p:nvPr/>
        </p:nvSpPr>
        <p:spPr>
          <a:xfrm>
            <a:off x="4233672" y="1783080"/>
            <a:ext cx="36178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DÓNDE</a:t>
            </a:r>
            <a:endParaRPr lang="en-US" sz="1050" dirty="0"/>
          </a:p>
        </p:txBody>
      </p:sp>
      <p:sp>
        <p:nvSpPr>
          <p:cNvPr id="8" name="Shape 6"/>
          <p:cNvSpPr/>
          <p:nvPr/>
        </p:nvSpPr>
        <p:spPr>
          <a:xfrm>
            <a:off x="7924648" y="1783080"/>
            <a:ext cx="3764128" cy="457200"/>
          </a:xfrm>
          <a:prstGeom prst="rect">
            <a:avLst/>
          </a:prstGeom>
          <a:solidFill>
            <a:srgbClr val="1E1E1E"/>
          </a:solidFill>
          <a:ln w="12700">
            <a:solidFill>
              <a:srgbClr val="333333"/>
            </a:solidFill>
            <a:prstDash val="solid"/>
          </a:ln>
        </p:spPr>
      </p:sp>
      <p:sp>
        <p:nvSpPr>
          <p:cNvPr id="9" name="Text 7"/>
          <p:cNvSpPr/>
          <p:nvPr/>
        </p:nvSpPr>
        <p:spPr>
          <a:xfrm>
            <a:off x="7997800" y="1783080"/>
            <a:ext cx="361782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POR QUÉ</a:t>
            </a:r>
            <a:endParaRPr lang="en-US" sz="1050" dirty="0"/>
          </a:p>
        </p:txBody>
      </p:sp>
      <p:sp>
        <p:nvSpPr>
          <p:cNvPr id="10" name="Shape 8"/>
          <p:cNvSpPr/>
          <p:nvPr/>
        </p:nvSpPr>
        <p:spPr>
          <a:xfrm>
            <a:off x="502920" y="2240280"/>
            <a:ext cx="3657600" cy="566928"/>
          </a:xfrm>
          <a:prstGeom prst="rect">
            <a:avLst/>
          </a:prstGeom>
          <a:solidFill>
            <a:srgbClr val="151515"/>
          </a:solidFill>
          <a:ln w="12700">
            <a:solidFill>
              <a:srgbClr val="242424"/>
            </a:solidFill>
            <a:prstDash val="solid"/>
          </a:ln>
        </p:spPr>
      </p:sp>
      <p:sp>
        <p:nvSpPr>
          <p:cNvPr id="11" name="Text 9"/>
          <p:cNvSpPr/>
          <p:nvPr/>
        </p:nvSpPr>
        <p:spPr>
          <a:xfrm>
            <a:off x="576072" y="2240280"/>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Control de la máquina</a:t>
            </a:r>
            <a:endParaRPr lang="en-US" sz="1150" dirty="0"/>
          </a:p>
        </p:txBody>
      </p:sp>
      <p:sp>
        <p:nvSpPr>
          <p:cNvPr id="12" name="Shape 10"/>
          <p:cNvSpPr/>
          <p:nvPr/>
        </p:nvSpPr>
        <p:spPr>
          <a:xfrm>
            <a:off x="4160520" y="2240280"/>
            <a:ext cx="3764128" cy="566928"/>
          </a:xfrm>
          <a:prstGeom prst="rect">
            <a:avLst/>
          </a:prstGeom>
          <a:solidFill>
            <a:srgbClr val="151515"/>
          </a:solidFill>
          <a:ln w="12700">
            <a:solidFill>
              <a:srgbClr val="242424"/>
            </a:solidFill>
            <a:prstDash val="solid"/>
          </a:ln>
        </p:spPr>
      </p:sp>
      <p:sp>
        <p:nvSpPr>
          <p:cNvPr id="13" name="Text 11"/>
          <p:cNvSpPr/>
          <p:nvPr/>
        </p:nvSpPr>
        <p:spPr>
          <a:xfrm>
            <a:off x="4233672" y="2240280"/>
            <a:ext cx="36178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Borde/PLC</a:t>
            </a:r>
            <a:endParaRPr lang="en-US" sz="1100" dirty="0"/>
          </a:p>
        </p:txBody>
      </p:sp>
      <p:sp>
        <p:nvSpPr>
          <p:cNvPr id="14" name="Shape 12"/>
          <p:cNvSpPr/>
          <p:nvPr/>
        </p:nvSpPr>
        <p:spPr>
          <a:xfrm>
            <a:off x="7924648" y="2240280"/>
            <a:ext cx="3764128" cy="566928"/>
          </a:xfrm>
          <a:prstGeom prst="rect">
            <a:avLst/>
          </a:prstGeom>
          <a:solidFill>
            <a:srgbClr val="151515"/>
          </a:solidFill>
          <a:ln w="12700">
            <a:solidFill>
              <a:srgbClr val="242424"/>
            </a:solidFill>
            <a:prstDash val="solid"/>
          </a:ln>
        </p:spPr>
      </p:sp>
      <p:sp>
        <p:nvSpPr>
          <p:cNvPr id="15" name="Text 13"/>
          <p:cNvSpPr/>
          <p:nvPr/>
        </p:nvSpPr>
        <p:spPr>
          <a:xfrm>
            <a:off x="7997800" y="2240280"/>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Latencia crítica</a:t>
            </a:r>
            <a:endParaRPr lang="en-US" sz="1100" dirty="0"/>
          </a:p>
        </p:txBody>
      </p:sp>
      <p:sp>
        <p:nvSpPr>
          <p:cNvPr id="16" name="Shape 14"/>
          <p:cNvSpPr/>
          <p:nvPr/>
        </p:nvSpPr>
        <p:spPr>
          <a:xfrm>
            <a:off x="502920" y="2807208"/>
            <a:ext cx="3657600" cy="566928"/>
          </a:xfrm>
          <a:prstGeom prst="rect">
            <a:avLst/>
          </a:prstGeom>
          <a:solidFill>
            <a:srgbClr val="0B0B0B"/>
          </a:solidFill>
          <a:ln w="12700">
            <a:solidFill>
              <a:srgbClr val="242424"/>
            </a:solidFill>
            <a:prstDash val="solid"/>
          </a:ln>
        </p:spPr>
      </p:sp>
      <p:sp>
        <p:nvSpPr>
          <p:cNvPr id="17" name="Text 15"/>
          <p:cNvSpPr/>
          <p:nvPr/>
        </p:nvSpPr>
        <p:spPr>
          <a:xfrm>
            <a:off x="576072" y="2807208"/>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Detección de anomalía</a:t>
            </a:r>
            <a:endParaRPr lang="en-US" sz="1150" dirty="0"/>
          </a:p>
        </p:txBody>
      </p:sp>
      <p:sp>
        <p:nvSpPr>
          <p:cNvPr id="18" name="Shape 16"/>
          <p:cNvSpPr/>
          <p:nvPr/>
        </p:nvSpPr>
        <p:spPr>
          <a:xfrm>
            <a:off x="4160520" y="2807208"/>
            <a:ext cx="3764128" cy="566928"/>
          </a:xfrm>
          <a:prstGeom prst="rect">
            <a:avLst/>
          </a:prstGeom>
          <a:solidFill>
            <a:srgbClr val="0B0B0B"/>
          </a:solidFill>
          <a:ln w="12700">
            <a:solidFill>
              <a:srgbClr val="242424"/>
            </a:solidFill>
            <a:prstDash val="solid"/>
          </a:ln>
        </p:spPr>
      </p:sp>
      <p:sp>
        <p:nvSpPr>
          <p:cNvPr id="19" name="Text 17"/>
          <p:cNvSpPr/>
          <p:nvPr/>
        </p:nvSpPr>
        <p:spPr>
          <a:xfrm>
            <a:off x="4233672" y="2807208"/>
            <a:ext cx="361782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Borde</a:t>
            </a:r>
            <a:endParaRPr lang="en-US" sz="1100" dirty="0"/>
          </a:p>
        </p:txBody>
      </p:sp>
      <p:sp>
        <p:nvSpPr>
          <p:cNvPr id="20" name="Shape 18"/>
          <p:cNvSpPr/>
          <p:nvPr/>
        </p:nvSpPr>
        <p:spPr>
          <a:xfrm>
            <a:off x="7924648" y="2807208"/>
            <a:ext cx="3764128" cy="566928"/>
          </a:xfrm>
          <a:prstGeom prst="rect">
            <a:avLst/>
          </a:prstGeom>
          <a:solidFill>
            <a:srgbClr val="0B0B0B"/>
          </a:solidFill>
          <a:ln w="12700">
            <a:solidFill>
              <a:srgbClr val="242424"/>
            </a:solidFill>
            <a:prstDash val="solid"/>
          </a:ln>
        </p:spPr>
      </p:sp>
      <p:sp>
        <p:nvSpPr>
          <p:cNvPr id="21" name="Text 19"/>
          <p:cNvSpPr/>
          <p:nvPr/>
        </p:nvSpPr>
        <p:spPr>
          <a:xfrm>
            <a:off x="7997800" y="2807208"/>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Tiempo real</a:t>
            </a:r>
            <a:endParaRPr lang="en-US" sz="1100" dirty="0"/>
          </a:p>
        </p:txBody>
      </p:sp>
      <p:sp>
        <p:nvSpPr>
          <p:cNvPr id="22" name="Shape 20"/>
          <p:cNvSpPr/>
          <p:nvPr/>
        </p:nvSpPr>
        <p:spPr>
          <a:xfrm>
            <a:off x="502920" y="3374136"/>
            <a:ext cx="3657600" cy="566928"/>
          </a:xfrm>
          <a:prstGeom prst="rect">
            <a:avLst/>
          </a:prstGeom>
          <a:solidFill>
            <a:srgbClr val="151515"/>
          </a:solidFill>
          <a:ln w="12700">
            <a:solidFill>
              <a:srgbClr val="242424"/>
            </a:solidFill>
            <a:prstDash val="solid"/>
          </a:ln>
        </p:spPr>
      </p:sp>
      <p:sp>
        <p:nvSpPr>
          <p:cNvPr id="23" name="Text 21"/>
          <p:cNvSpPr/>
          <p:nvPr/>
        </p:nvSpPr>
        <p:spPr>
          <a:xfrm>
            <a:off x="576072" y="3374136"/>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Entrenamiento de modelos</a:t>
            </a:r>
            <a:endParaRPr lang="en-US" sz="1150" dirty="0"/>
          </a:p>
        </p:txBody>
      </p:sp>
      <p:sp>
        <p:nvSpPr>
          <p:cNvPr id="24" name="Shape 22"/>
          <p:cNvSpPr/>
          <p:nvPr/>
        </p:nvSpPr>
        <p:spPr>
          <a:xfrm>
            <a:off x="4160520" y="3374136"/>
            <a:ext cx="3764128" cy="566928"/>
          </a:xfrm>
          <a:prstGeom prst="rect">
            <a:avLst/>
          </a:prstGeom>
          <a:solidFill>
            <a:srgbClr val="151515"/>
          </a:solidFill>
          <a:ln w="12700">
            <a:solidFill>
              <a:srgbClr val="242424"/>
            </a:solidFill>
            <a:prstDash val="solid"/>
          </a:ln>
        </p:spPr>
      </p:sp>
      <p:sp>
        <p:nvSpPr>
          <p:cNvPr id="25" name="Text 23"/>
          <p:cNvSpPr/>
          <p:nvPr/>
        </p:nvSpPr>
        <p:spPr>
          <a:xfrm>
            <a:off x="4233672" y="3374136"/>
            <a:ext cx="361782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Nube</a:t>
            </a:r>
            <a:endParaRPr lang="en-US" sz="1100" dirty="0"/>
          </a:p>
        </p:txBody>
      </p:sp>
      <p:sp>
        <p:nvSpPr>
          <p:cNvPr id="26" name="Shape 24"/>
          <p:cNvSpPr/>
          <p:nvPr/>
        </p:nvSpPr>
        <p:spPr>
          <a:xfrm>
            <a:off x="7924648" y="3374136"/>
            <a:ext cx="3764128" cy="566928"/>
          </a:xfrm>
          <a:prstGeom prst="rect">
            <a:avLst/>
          </a:prstGeom>
          <a:solidFill>
            <a:srgbClr val="151515"/>
          </a:solidFill>
          <a:ln w="12700">
            <a:solidFill>
              <a:srgbClr val="242424"/>
            </a:solidFill>
            <a:prstDash val="solid"/>
          </a:ln>
        </p:spPr>
      </p:sp>
      <p:sp>
        <p:nvSpPr>
          <p:cNvPr id="27" name="Text 25"/>
          <p:cNvSpPr/>
          <p:nvPr/>
        </p:nvSpPr>
        <p:spPr>
          <a:xfrm>
            <a:off x="7997800" y="3374136"/>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Escala de cómputo</a:t>
            </a:r>
            <a:endParaRPr lang="en-US" sz="1100" dirty="0"/>
          </a:p>
        </p:txBody>
      </p:sp>
      <p:sp>
        <p:nvSpPr>
          <p:cNvPr id="28" name="Shape 26"/>
          <p:cNvSpPr/>
          <p:nvPr/>
        </p:nvSpPr>
        <p:spPr>
          <a:xfrm>
            <a:off x="502920" y="3941064"/>
            <a:ext cx="3657600" cy="566928"/>
          </a:xfrm>
          <a:prstGeom prst="rect">
            <a:avLst/>
          </a:prstGeom>
          <a:solidFill>
            <a:srgbClr val="0B0B0B"/>
          </a:solidFill>
          <a:ln w="12700">
            <a:solidFill>
              <a:srgbClr val="242424"/>
            </a:solidFill>
            <a:prstDash val="solid"/>
          </a:ln>
        </p:spPr>
      </p:sp>
      <p:sp>
        <p:nvSpPr>
          <p:cNvPr id="29" name="Text 27"/>
          <p:cNvSpPr/>
          <p:nvPr/>
        </p:nvSpPr>
        <p:spPr>
          <a:xfrm>
            <a:off x="576072" y="3941064"/>
            <a:ext cx="351129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Tablero de flota</a:t>
            </a:r>
            <a:endParaRPr lang="en-US" sz="1150" dirty="0"/>
          </a:p>
        </p:txBody>
      </p:sp>
      <p:sp>
        <p:nvSpPr>
          <p:cNvPr id="30" name="Shape 28"/>
          <p:cNvSpPr/>
          <p:nvPr/>
        </p:nvSpPr>
        <p:spPr>
          <a:xfrm>
            <a:off x="4160520" y="3941064"/>
            <a:ext cx="3764128" cy="566928"/>
          </a:xfrm>
          <a:prstGeom prst="rect">
            <a:avLst/>
          </a:prstGeom>
          <a:solidFill>
            <a:srgbClr val="0B0B0B"/>
          </a:solidFill>
          <a:ln w="12700">
            <a:solidFill>
              <a:srgbClr val="242424"/>
            </a:solidFill>
            <a:prstDash val="solid"/>
          </a:ln>
        </p:spPr>
      </p:sp>
      <p:sp>
        <p:nvSpPr>
          <p:cNvPr id="31" name="Text 29"/>
          <p:cNvSpPr/>
          <p:nvPr/>
        </p:nvSpPr>
        <p:spPr>
          <a:xfrm>
            <a:off x="4233672" y="3941064"/>
            <a:ext cx="361782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Nube</a:t>
            </a:r>
            <a:endParaRPr lang="en-US" sz="1100" dirty="0"/>
          </a:p>
        </p:txBody>
      </p:sp>
      <p:sp>
        <p:nvSpPr>
          <p:cNvPr id="32" name="Shape 30"/>
          <p:cNvSpPr/>
          <p:nvPr/>
        </p:nvSpPr>
        <p:spPr>
          <a:xfrm>
            <a:off x="7924648" y="3941064"/>
            <a:ext cx="3764128" cy="566928"/>
          </a:xfrm>
          <a:prstGeom prst="rect">
            <a:avLst/>
          </a:prstGeom>
          <a:solidFill>
            <a:srgbClr val="0B0B0B"/>
          </a:solidFill>
          <a:ln w="12700">
            <a:solidFill>
              <a:srgbClr val="242424"/>
            </a:solidFill>
            <a:prstDash val="solid"/>
          </a:ln>
        </p:spPr>
      </p:sp>
      <p:sp>
        <p:nvSpPr>
          <p:cNvPr id="33" name="Text 31"/>
          <p:cNvSpPr/>
          <p:nvPr/>
        </p:nvSpPr>
        <p:spPr>
          <a:xfrm>
            <a:off x="7997800" y="3941064"/>
            <a:ext cx="361782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Vista consolidada</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17 / 46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15  EDGE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ERROR DE 'TODO A LA NUBE'</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LATENCIA</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el control no puede esperar el viaje de ida y vuelta a la nube</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2900" dirty="0">
                <a:solidFill>
                  <a:srgbClr val="FFB000"/>
                </a:solidFill>
                <a:latin typeface="Arial Black" pitchFamily="34" charset="0"/>
                <a:ea typeface="Arial Black" pitchFamily="34" charset="-122"/>
                <a:cs typeface="Arial Black" pitchFamily="34" charset="-120"/>
              </a:rPr>
              <a:t>DEPENDENCIA</a:t>
            </a:r>
            <a:endParaRPr lang="en-US" sz="29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si cae internet, la planta no puede quedar ciega o detenida</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27E5E5"/>
                </a:solidFill>
                <a:latin typeface="Arial Black" pitchFamily="34" charset="0"/>
                <a:ea typeface="Arial Black" pitchFamily="34" charset="-122"/>
                <a:cs typeface="Arial Black" pitchFamily="34" charset="-120"/>
              </a:rPr>
              <a:t>COSTO</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transmitir y almacenar todo dispara el gasto operativo</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Enviar todo a la nube parece simple pero falla: el control necesita el borde, la operación no puede depender de internet y el costo se dispara. La nube es para lo que aporta escala, no para todo. El gobierno evita este error.</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18 / 46</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03</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PLATAFORMAS INDUSTRIALES</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Capacidades, elección y dependencia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46</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19 / 46</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16  PLATAFORMAS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QUÉ HACE UNA PLATAFORMA IIOT</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Las capacidades típicas de una plataforma industrial.</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CONECTIVIDAD</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Conectar y gestionar miles de dispositivos y protocolos.</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GESTIÓN DE DATOS</a:t>
            </a:r>
            <a:endParaRPr lang="en-US" sz="13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Ingesta, almacenamiento (series de tiempo) y contexto.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ANALÍTICA</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Motores de reglas, ML y visualización.</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GESTIÓN DE DISPOSITIVOS</a:t>
            </a:r>
            <a:endParaRPr lang="en-US" sz="13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Aprovisionar, actualizar y monitorear el parque.</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INTEGRACIÓN</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APIs para conectar con ERP, MES y otras apps.</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SEGURIDAD</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Identidad, cifrado y control de acceso de dispositivos.</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20 / 46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17  PLATAFORMAS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TIPOS DE PLATAFORMA</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mercado ofrece distintos enfoques.</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27E5E5"/>
                </a:solidFill>
                <a:latin typeface="Arial Black" pitchFamily="34" charset="0"/>
                <a:ea typeface="Arial Black" pitchFamily="34" charset="-122"/>
                <a:cs typeface="Arial Black" pitchFamily="34" charset="-120"/>
              </a:rPr>
              <a:t>NUBE HIPERESCALA</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Plataformas IoT de grandes proveedores de nube. Potentes, riesgo de lock-in.</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ESPECIALISTA INDUSTRIAL</a:t>
            </a:r>
            <a:endParaRPr lang="en-US" sz="13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Proveedores enfocados en OT y manufactura.</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ABIERTA / OPEN SOURCE</a:t>
            </a:r>
            <a:endParaRPr lang="en-US" sz="13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Componentes abiertos (Node-RED, Grafana, brokers). Flexible, exige capacidad propia.</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DEL FABRICANTE</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Plataforma del fabricante de la maquinaria. Cómoda, fuerte dependencia.</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HÍBRIDA</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Combinación: núcleo abierto + servicios de nube.</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CRITERIO</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elección depende de estrategia, talento y apetito de dependencia.</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21 / 46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18  PLATAFORMAS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EL RIESGO DE VENDOR LOCK-IN</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RIESGO CLAVE</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LA CAUTIVIDAD DE PROVEEDOR</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Adoptar una plataforma propietaria puede atar a la empresa por décadas: datos en formatos cerrados, integraciones específicas, costos crecientes y dificultad para cambiar. En OT, con ciclos de 15–20 años, el lock-in es un riesgo de gobierno mayor. Se mitiga con estándares abiertos (OPC UA, MQTT), portabilidad de datos y arquitecturas desacopladas.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MITIGACIÓN</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Estándares abiertos · portabilidad · UNS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PRINCIPIO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Adquisición analizada (38500)</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22 / 46</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19  PLATAFORMAS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CRITERIOS PARA ELEGIR PLATAFORMA</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Qué evaluar antes de comprometerse.</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ESTÁNDARES</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¿Soporta OPC UA, MQTT y formatos abiertos de datos?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PORTABILIDAD</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¿Puedo llevarme mis datos y modelos si cambio de proveedor?</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SOBERANÍA</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¿Dónde se almacenan los datos? ¿Cumple la regulación?</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TCO</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¿Cuál es el costo total a 10 años, no solo la licencia inicial?</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23 / 46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20  PLATAFORMAS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HERRAMIENTAS ABIERTAS DEL LABORATORIO</a:t>
            </a:r>
            <a:endParaRPr lang="en-US" sz="3000" dirty="0"/>
          </a:p>
        </p:txBody>
      </p:sp>
      <p:sp>
        <p:nvSpPr>
          <p:cNvPr id="4" name="Shape 2"/>
          <p:cNvSpPr/>
          <p:nvPr/>
        </p:nvSpPr>
        <p:spPr>
          <a:xfrm>
            <a:off x="502920" y="1783080"/>
            <a:ext cx="3108960" cy="457200"/>
          </a:xfrm>
          <a:prstGeom prst="rect">
            <a:avLst/>
          </a:prstGeom>
          <a:solidFill>
            <a:srgbClr val="1E1E1E"/>
          </a:solidFill>
          <a:ln w="12700">
            <a:solidFill>
              <a:srgbClr val="333333"/>
            </a:solidFill>
            <a:prstDash val="solid"/>
          </a:ln>
        </p:spPr>
      </p:sp>
      <p:sp>
        <p:nvSpPr>
          <p:cNvPr id="5" name="Text 3"/>
          <p:cNvSpPr/>
          <p:nvPr/>
        </p:nvSpPr>
        <p:spPr>
          <a:xfrm>
            <a:off x="576072" y="1783080"/>
            <a:ext cx="296265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HERRAMIENTA</a:t>
            </a:r>
            <a:endParaRPr lang="en-US" sz="1050" dirty="0"/>
          </a:p>
        </p:txBody>
      </p:sp>
      <p:sp>
        <p:nvSpPr>
          <p:cNvPr id="6" name="Shape 4"/>
          <p:cNvSpPr/>
          <p:nvPr/>
        </p:nvSpPr>
        <p:spPr>
          <a:xfrm>
            <a:off x="3611880" y="1783080"/>
            <a:ext cx="4038448" cy="457200"/>
          </a:xfrm>
          <a:prstGeom prst="rect">
            <a:avLst/>
          </a:prstGeom>
          <a:solidFill>
            <a:srgbClr val="1E1E1E"/>
          </a:solidFill>
          <a:ln w="12700">
            <a:solidFill>
              <a:srgbClr val="333333"/>
            </a:solidFill>
            <a:prstDash val="solid"/>
          </a:ln>
        </p:spPr>
      </p:sp>
      <p:sp>
        <p:nvSpPr>
          <p:cNvPr id="7" name="Text 5"/>
          <p:cNvSpPr/>
          <p:nvPr/>
        </p:nvSpPr>
        <p:spPr>
          <a:xfrm>
            <a:off x="3685032" y="1783080"/>
            <a:ext cx="389214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FUNCIÓN</a:t>
            </a:r>
            <a:endParaRPr lang="en-US" sz="1050" dirty="0"/>
          </a:p>
        </p:txBody>
      </p:sp>
      <p:sp>
        <p:nvSpPr>
          <p:cNvPr id="8" name="Shape 6"/>
          <p:cNvSpPr/>
          <p:nvPr/>
        </p:nvSpPr>
        <p:spPr>
          <a:xfrm>
            <a:off x="7650328" y="1783080"/>
            <a:ext cx="4038448" cy="457200"/>
          </a:xfrm>
          <a:prstGeom prst="rect">
            <a:avLst/>
          </a:prstGeom>
          <a:solidFill>
            <a:srgbClr val="1E1E1E"/>
          </a:solidFill>
          <a:ln w="12700">
            <a:solidFill>
              <a:srgbClr val="333333"/>
            </a:solidFill>
            <a:prstDash val="solid"/>
          </a:ln>
        </p:spPr>
      </p:sp>
      <p:sp>
        <p:nvSpPr>
          <p:cNvPr id="9" name="Text 7"/>
          <p:cNvSpPr/>
          <p:nvPr/>
        </p:nvSpPr>
        <p:spPr>
          <a:xfrm>
            <a:off x="7723480" y="1783080"/>
            <a:ext cx="389214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CAPA</a:t>
            </a:r>
            <a:endParaRPr lang="en-US" sz="1050" dirty="0"/>
          </a:p>
        </p:txBody>
      </p:sp>
      <p:sp>
        <p:nvSpPr>
          <p:cNvPr id="10" name="Shape 8"/>
          <p:cNvSpPr/>
          <p:nvPr/>
        </p:nvSpPr>
        <p:spPr>
          <a:xfrm>
            <a:off x="502920" y="2240280"/>
            <a:ext cx="3108960" cy="566928"/>
          </a:xfrm>
          <a:prstGeom prst="rect">
            <a:avLst/>
          </a:prstGeom>
          <a:solidFill>
            <a:srgbClr val="151515"/>
          </a:solidFill>
          <a:ln w="12700">
            <a:solidFill>
              <a:srgbClr val="242424"/>
            </a:solidFill>
            <a:prstDash val="solid"/>
          </a:ln>
        </p:spPr>
      </p:sp>
      <p:sp>
        <p:nvSpPr>
          <p:cNvPr id="11" name="Text 9"/>
          <p:cNvSpPr/>
          <p:nvPr/>
        </p:nvSpPr>
        <p:spPr>
          <a:xfrm>
            <a:off x="576072" y="2240280"/>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Mosquitto</a:t>
            </a:r>
            <a:endParaRPr lang="en-US" sz="1150" dirty="0"/>
          </a:p>
        </p:txBody>
      </p:sp>
      <p:sp>
        <p:nvSpPr>
          <p:cNvPr id="12" name="Shape 10"/>
          <p:cNvSpPr/>
          <p:nvPr/>
        </p:nvSpPr>
        <p:spPr>
          <a:xfrm>
            <a:off x="3611880" y="2240280"/>
            <a:ext cx="4038448" cy="566928"/>
          </a:xfrm>
          <a:prstGeom prst="rect">
            <a:avLst/>
          </a:prstGeom>
          <a:solidFill>
            <a:srgbClr val="151515"/>
          </a:solidFill>
          <a:ln w="12700">
            <a:solidFill>
              <a:srgbClr val="242424"/>
            </a:solidFill>
            <a:prstDash val="solid"/>
          </a:ln>
        </p:spPr>
      </p:sp>
      <p:sp>
        <p:nvSpPr>
          <p:cNvPr id="13" name="Text 11"/>
          <p:cNvSpPr/>
          <p:nvPr/>
        </p:nvSpPr>
        <p:spPr>
          <a:xfrm>
            <a:off x="3685032" y="2240280"/>
            <a:ext cx="389214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Broker MQTT</a:t>
            </a:r>
            <a:endParaRPr lang="en-US" sz="1100" dirty="0"/>
          </a:p>
        </p:txBody>
      </p:sp>
      <p:sp>
        <p:nvSpPr>
          <p:cNvPr id="14" name="Shape 12"/>
          <p:cNvSpPr/>
          <p:nvPr/>
        </p:nvSpPr>
        <p:spPr>
          <a:xfrm>
            <a:off x="7650328" y="2240280"/>
            <a:ext cx="4038448" cy="566928"/>
          </a:xfrm>
          <a:prstGeom prst="rect">
            <a:avLst/>
          </a:prstGeom>
          <a:solidFill>
            <a:srgbClr val="151515"/>
          </a:solidFill>
          <a:ln w="12700">
            <a:solidFill>
              <a:srgbClr val="242424"/>
            </a:solidFill>
            <a:prstDash val="solid"/>
          </a:ln>
        </p:spPr>
      </p:sp>
      <p:sp>
        <p:nvSpPr>
          <p:cNvPr id="15" name="Text 13"/>
          <p:cNvSpPr/>
          <p:nvPr/>
        </p:nvSpPr>
        <p:spPr>
          <a:xfrm>
            <a:off x="7723480" y="2240280"/>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Conectividad</a:t>
            </a:r>
            <a:endParaRPr lang="en-US" sz="1100" dirty="0"/>
          </a:p>
        </p:txBody>
      </p:sp>
      <p:sp>
        <p:nvSpPr>
          <p:cNvPr id="16" name="Shape 14"/>
          <p:cNvSpPr/>
          <p:nvPr/>
        </p:nvSpPr>
        <p:spPr>
          <a:xfrm>
            <a:off x="502920" y="2807208"/>
            <a:ext cx="3108960" cy="566928"/>
          </a:xfrm>
          <a:prstGeom prst="rect">
            <a:avLst/>
          </a:prstGeom>
          <a:solidFill>
            <a:srgbClr val="0B0B0B"/>
          </a:solidFill>
          <a:ln w="12700">
            <a:solidFill>
              <a:srgbClr val="242424"/>
            </a:solidFill>
            <a:prstDash val="solid"/>
          </a:ln>
        </p:spPr>
      </p:sp>
      <p:sp>
        <p:nvSpPr>
          <p:cNvPr id="17" name="Text 15"/>
          <p:cNvSpPr/>
          <p:nvPr/>
        </p:nvSpPr>
        <p:spPr>
          <a:xfrm>
            <a:off x="576072" y="2807208"/>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Node-RED</a:t>
            </a:r>
            <a:endParaRPr lang="en-US" sz="1150" dirty="0"/>
          </a:p>
        </p:txBody>
      </p:sp>
      <p:sp>
        <p:nvSpPr>
          <p:cNvPr id="18" name="Shape 16"/>
          <p:cNvSpPr/>
          <p:nvPr/>
        </p:nvSpPr>
        <p:spPr>
          <a:xfrm>
            <a:off x="3611880" y="2807208"/>
            <a:ext cx="4038448" cy="566928"/>
          </a:xfrm>
          <a:prstGeom prst="rect">
            <a:avLst/>
          </a:prstGeom>
          <a:solidFill>
            <a:srgbClr val="0B0B0B"/>
          </a:solidFill>
          <a:ln w="12700">
            <a:solidFill>
              <a:srgbClr val="242424"/>
            </a:solidFill>
            <a:prstDash val="solid"/>
          </a:ln>
        </p:spPr>
      </p:sp>
      <p:sp>
        <p:nvSpPr>
          <p:cNvPr id="19" name="Text 17"/>
          <p:cNvSpPr/>
          <p:nvPr/>
        </p:nvSpPr>
        <p:spPr>
          <a:xfrm>
            <a:off x="3685032" y="2807208"/>
            <a:ext cx="389214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Orquestación de flujos</a:t>
            </a:r>
            <a:endParaRPr lang="en-US" sz="1100" dirty="0"/>
          </a:p>
        </p:txBody>
      </p:sp>
      <p:sp>
        <p:nvSpPr>
          <p:cNvPr id="20" name="Shape 18"/>
          <p:cNvSpPr/>
          <p:nvPr/>
        </p:nvSpPr>
        <p:spPr>
          <a:xfrm>
            <a:off x="7650328" y="2807208"/>
            <a:ext cx="4038448" cy="566928"/>
          </a:xfrm>
          <a:prstGeom prst="rect">
            <a:avLst/>
          </a:prstGeom>
          <a:solidFill>
            <a:srgbClr val="0B0B0B"/>
          </a:solidFill>
          <a:ln w="12700">
            <a:solidFill>
              <a:srgbClr val="242424"/>
            </a:solidFill>
            <a:prstDash val="solid"/>
          </a:ln>
        </p:spPr>
      </p:sp>
      <p:sp>
        <p:nvSpPr>
          <p:cNvPr id="21" name="Text 19"/>
          <p:cNvSpPr/>
          <p:nvPr/>
        </p:nvSpPr>
        <p:spPr>
          <a:xfrm>
            <a:off x="7723480" y="2807208"/>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Borde/integración</a:t>
            </a:r>
            <a:endParaRPr lang="en-US" sz="1100" dirty="0"/>
          </a:p>
        </p:txBody>
      </p:sp>
      <p:sp>
        <p:nvSpPr>
          <p:cNvPr id="22" name="Shape 20"/>
          <p:cNvSpPr/>
          <p:nvPr/>
        </p:nvSpPr>
        <p:spPr>
          <a:xfrm>
            <a:off x="502920" y="3374136"/>
            <a:ext cx="3108960" cy="566928"/>
          </a:xfrm>
          <a:prstGeom prst="rect">
            <a:avLst/>
          </a:prstGeom>
          <a:solidFill>
            <a:srgbClr val="151515"/>
          </a:solidFill>
          <a:ln w="12700">
            <a:solidFill>
              <a:srgbClr val="242424"/>
            </a:solidFill>
            <a:prstDash val="solid"/>
          </a:ln>
        </p:spPr>
      </p:sp>
      <p:sp>
        <p:nvSpPr>
          <p:cNvPr id="23" name="Text 21"/>
          <p:cNvSpPr/>
          <p:nvPr/>
        </p:nvSpPr>
        <p:spPr>
          <a:xfrm>
            <a:off x="576072" y="3374136"/>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InfluxDB/Timescale</a:t>
            </a:r>
            <a:endParaRPr lang="en-US" sz="1150" dirty="0"/>
          </a:p>
        </p:txBody>
      </p:sp>
      <p:sp>
        <p:nvSpPr>
          <p:cNvPr id="24" name="Shape 22"/>
          <p:cNvSpPr/>
          <p:nvPr/>
        </p:nvSpPr>
        <p:spPr>
          <a:xfrm>
            <a:off x="3611880" y="3374136"/>
            <a:ext cx="4038448" cy="566928"/>
          </a:xfrm>
          <a:prstGeom prst="rect">
            <a:avLst/>
          </a:prstGeom>
          <a:solidFill>
            <a:srgbClr val="151515"/>
          </a:solidFill>
          <a:ln w="12700">
            <a:solidFill>
              <a:srgbClr val="242424"/>
            </a:solidFill>
            <a:prstDash val="solid"/>
          </a:ln>
        </p:spPr>
      </p:sp>
      <p:sp>
        <p:nvSpPr>
          <p:cNvPr id="25" name="Text 23"/>
          <p:cNvSpPr/>
          <p:nvPr/>
        </p:nvSpPr>
        <p:spPr>
          <a:xfrm>
            <a:off x="3685032" y="3374136"/>
            <a:ext cx="389214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Series de tiempo</a:t>
            </a:r>
            <a:endParaRPr lang="en-US" sz="1100" dirty="0"/>
          </a:p>
        </p:txBody>
      </p:sp>
      <p:sp>
        <p:nvSpPr>
          <p:cNvPr id="26" name="Shape 24"/>
          <p:cNvSpPr/>
          <p:nvPr/>
        </p:nvSpPr>
        <p:spPr>
          <a:xfrm>
            <a:off x="7650328" y="3374136"/>
            <a:ext cx="4038448" cy="566928"/>
          </a:xfrm>
          <a:prstGeom prst="rect">
            <a:avLst/>
          </a:prstGeom>
          <a:solidFill>
            <a:srgbClr val="151515"/>
          </a:solidFill>
          <a:ln w="12700">
            <a:solidFill>
              <a:srgbClr val="242424"/>
            </a:solidFill>
            <a:prstDash val="solid"/>
          </a:ln>
        </p:spPr>
      </p:sp>
      <p:sp>
        <p:nvSpPr>
          <p:cNvPr id="27" name="Text 25"/>
          <p:cNvSpPr/>
          <p:nvPr/>
        </p:nvSpPr>
        <p:spPr>
          <a:xfrm>
            <a:off x="7723480" y="3374136"/>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Datos</a:t>
            </a:r>
            <a:endParaRPr lang="en-US" sz="1100" dirty="0"/>
          </a:p>
        </p:txBody>
      </p:sp>
      <p:sp>
        <p:nvSpPr>
          <p:cNvPr id="28" name="Shape 26"/>
          <p:cNvSpPr/>
          <p:nvPr/>
        </p:nvSpPr>
        <p:spPr>
          <a:xfrm>
            <a:off x="502920" y="3941064"/>
            <a:ext cx="3108960" cy="566928"/>
          </a:xfrm>
          <a:prstGeom prst="rect">
            <a:avLst/>
          </a:prstGeom>
          <a:solidFill>
            <a:srgbClr val="0B0B0B"/>
          </a:solidFill>
          <a:ln w="12700">
            <a:solidFill>
              <a:srgbClr val="242424"/>
            </a:solidFill>
            <a:prstDash val="solid"/>
          </a:ln>
        </p:spPr>
      </p:sp>
      <p:sp>
        <p:nvSpPr>
          <p:cNvPr id="29" name="Text 27"/>
          <p:cNvSpPr/>
          <p:nvPr/>
        </p:nvSpPr>
        <p:spPr>
          <a:xfrm>
            <a:off x="576072" y="3941064"/>
            <a:ext cx="296265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Grafana</a:t>
            </a:r>
            <a:endParaRPr lang="en-US" sz="1150" dirty="0"/>
          </a:p>
        </p:txBody>
      </p:sp>
      <p:sp>
        <p:nvSpPr>
          <p:cNvPr id="30" name="Shape 28"/>
          <p:cNvSpPr/>
          <p:nvPr/>
        </p:nvSpPr>
        <p:spPr>
          <a:xfrm>
            <a:off x="3611880" y="3941064"/>
            <a:ext cx="4038448" cy="566928"/>
          </a:xfrm>
          <a:prstGeom prst="rect">
            <a:avLst/>
          </a:prstGeom>
          <a:solidFill>
            <a:srgbClr val="0B0B0B"/>
          </a:solidFill>
          <a:ln w="12700">
            <a:solidFill>
              <a:srgbClr val="242424"/>
            </a:solidFill>
            <a:prstDash val="solid"/>
          </a:ln>
        </p:spPr>
      </p:sp>
      <p:sp>
        <p:nvSpPr>
          <p:cNvPr id="31" name="Text 29"/>
          <p:cNvSpPr/>
          <p:nvPr/>
        </p:nvSpPr>
        <p:spPr>
          <a:xfrm>
            <a:off x="3685032" y="3941064"/>
            <a:ext cx="3892144" cy="566928"/>
          </a:xfrm>
          <a:prstGeom prst="rect">
            <a:avLst/>
          </a:prstGeom>
          <a:noFill/>
          <a:ln/>
        </p:spPr>
        <p:txBody>
          <a:bodyPr wrap="square" lIns="0" tIns="0" rIns="0" bIns="0" rtlCol="0" anchor="ctr"/>
          <a:lstStyle/>
          <a:p>
            <a:pPr algn="ctr" indent="0" marL="0">
              <a:buNone/>
            </a:pPr>
            <a:r>
              <a:rPr lang="en-US" sz="1100" dirty="0">
                <a:solidFill>
                  <a:srgbClr val="22E06B"/>
                </a:solidFill>
                <a:latin typeface="Courier New" pitchFamily="34" charset="0"/>
                <a:ea typeface="Courier New" pitchFamily="34" charset="-122"/>
                <a:cs typeface="Courier New" pitchFamily="34" charset="-120"/>
              </a:rPr>
              <a:t>Visualización</a:t>
            </a:r>
            <a:endParaRPr lang="en-US" sz="1100" dirty="0"/>
          </a:p>
        </p:txBody>
      </p:sp>
      <p:sp>
        <p:nvSpPr>
          <p:cNvPr id="32" name="Shape 30"/>
          <p:cNvSpPr/>
          <p:nvPr/>
        </p:nvSpPr>
        <p:spPr>
          <a:xfrm>
            <a:off x="7650328" y="3941064"/>
            <a:ext cx="4038448" cy="566928"/>
          </a:xfrm>
          <a:prstGeom prst="rect">
            <a:avLst/>
          </a:prstGeom>
          <a:solidFill>
            <a:srgbClr val="0B0B0B"/>
          </a:solidFill>
          <a:ln w="12700">
            <a:solidFill>
              <a:srgbClr val="242424"/>
            </a:solidFill>
            <a:prstDash val="solid"/>
          </a:ln>
        </p:spPr>
      </p:sp>
      <p:sp>
        <p:nvSpPr>
          <p:cNvPr id="33" name="Text 31"/>
          <p:cNvSpPr/>
          <p:nvPr/>
        </p:nvSpPr>
        <p:spPr>
          <a:xfrm>
            <a:off x="7723480" y="3941064"/>
            <a:ext cx="389214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Aplicación</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24 / 46</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21  PLATAFORMAS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COMPRAR CAPACIDAD, NO DEPENDENCIA</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ESTÁNDAR</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exigir OPC UA/MQTT y datos portables en cada compra</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200" dirty="0">
                <a:solidFill>
                  <a:srgbClr val="27E5E5"/>
                </a:solidFill>
                <a:latin typeface="Arial Black" pitchFamily="34" charset="0"/>
                <a:ea typeface="Arial Black" pitchFamily="34" charset="-122"/>
                <a:cs typeface="Arial Black" pitchFamily="34" charset="-120"/>
              </a:rPr>
              <a:t>DESACOPLAR</a:t>
            </a:r>
            <a:endParaRPr lang="en-US" sz="32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un UNS entre la planta y las apps reduce la dependencia</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GOBERNAR</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la plataforma es una decisión estratégica de 10+ años</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El objetivo del gobierno no es evitar los proveedores, sino comprar capacidad sin quedar cautivo. Estándares abiertos, portabilidad de datos y arquitecturas desacopladas (UNS) mantienen la libertad de elegir a futuro.</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25 / 46</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22  PLATAFORMAS</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MODELOS DE SERVICIO EN LA NUBE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Cuánto gestiona el proveedor y cuánto tú.</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IAAS</a:t>
            </a:r>
            <a:endParaRPr lang="en-US" sz="16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Infraestructura: tú gestionas casi todo. Máximo control.</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PAAS</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Plataforma: el proveedor gestiona el entorno; tú, la app.</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SAAS</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Software listo: mínimo esfuerzo, máxima dependencia.</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IIOT PAAS</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Plataformas industriales como servicio.</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300" dirty="0">
                <a:solidFill>
                  <a:srgbClr val="9D6BFF"/>
                </a:solidFill>
                <a:latin typeface="Arial Black" pitchFamily="34" charset="0"/>
                <a:ea typeface="Arial Black" pitchFamily="34" charset="-122"/>
                <a:cs typeface="Arial Black" pitchFamily="34" charset="-120"/>
              </a:rPr>
              <a:t>EDGE-AS-A-SERVICE</a:t>
            </a:r>
            <a:endParaRPr lang="en-US" sz="13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Gestión del borde desde la nube.</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CRITERIO</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A más servicio, menos esfuerzo pero más dependencia.</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26 / 46</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04</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GOBIERNO DE LA ARQUITECTURA NUBE-PLANTA</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Qué va dónde y quién lo decide</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46</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27 / 46</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23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2700" dirty="0">
                <a:solidFill>
                  <a:srgbClr val="F4F4F4"/>
                </a:solidFill>
                <a:latin typeface="Arial Black" pitchFamily="34" charset="0"/>
                <a:ea typeface="Arial Black" pitchFamily="34" charset="-122"/>
                <a:cs typeface="Arial Black" pitchFamily="34" charset="-120"/>
              </a:rPr>
              <a:t>LA DECISIÓN DE ARQUITECTURA COMO GOBIERNO</a:t>
            </a:r>
            <a:endParaRPr lang="en-US" sz="27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APO03</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QUÉ SE QUEDA Y QUÉ SUBE</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Decidir qué datos y funciones viven en el borde, la planta o la nube es una decisión de arquitectura empresarial (APO03) con impacto de una década. Afecta latencia, costo, riesgo, soberanía y dependencia. No debe improvisarla un integrador: la gobierna un comité con principios de arquitectura claros.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DECIDE</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Comité de arquitectura IT/OT · principios</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IMPACTO</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Costo, riesgo y agilidad a 10 años</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28 / 46</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24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SOBERANÍA Y RESIDENCIA DEL DATO</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Dónde vive el dato tiene implicaciones legales y estratégicas.</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RESIDENCIA</a:t>
            </a:r>
            <a:endParaRPr lang="en-US" sz="16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En qué país/jurisdicción se almacena el dato (regulación aplicable).</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SOBERANÍA</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Quién tiene jurisdicción legal sobre el dato, aunque esté en la nube.</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SENSIBILIDAD</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Datos de proceso, recetas y calidad pueden ser secretos industriales.</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CUMPLIMIENTO</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Ley 1581 (datos personales) y normas sectoriales aplican al dato en nube.</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29 / 46</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25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PRINCIPIOS DE ARQUITECTURA NUBE-PLANTA</a:t>
            </a:r>
            <a:endParaRPr lang="en-US" sz="30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Reglas que un comité de arquitectura debería fijar.</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22E06B"/>
                </a:solidFill>
                <a:latin typeface="Arial Black" pitchFamily="34" charset="0"/>
                <a:ea typeface="Arial Black" pitchFamily="34" charset="-122"/>
                <a:cs typeface="Arial Black" pitchFamily="34" charset="-120"/>
              </a:rPr>
              <a:t>CONTROL EN EL BORDE</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control y la seguridad crítica no dependen de la nube.</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300" dirty="0">
                <a:solidFill>
                  <a:srgbClr val="FF3B30"/>
                </a:solidFill>
                <a:latin typeface="Arial Black" pitchFamily="34" charset="0"/>
                <a:ea typeface="Arial Black" pitchFamily="34" charset="-122"/>
                <a:cs typeface="Arial Black" pitchFamily="34" charset="-120"/>
              </a:rPr>
              <a:t>DATO SENSIBLE LOCAL</a:t>
            </a:r>
            <a:endParaRPr lang="en-US" sz="13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Recetas y datos regulados no salen sin autorización.</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ESTÁNDARES ABIERTOS</a:t>
            </a:r>
            <a:endParaRPr lang="en-US" sz="13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OPC UA/MQTT y portabilidad para evitar lock-in.</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300" dirty="0">
                <a:solidFill>
                  <a:srgbClr val="FFB000"/>
                </a:solidFill>
                <a:latin typeface="Arial Black" pitchFamily="34" charset="0"/>
                <a:ea typeface="Arial Black" pitchFamily="34" charset="-122"/>
                <a:cs typeface="Arial Black" pitchFamily="34" charset="-120"/>
              </a:rPr>
              <a:t>OPERACIÓN SIN RED</a:t>
            </a:r>
            <a:endParaRPr lang="en-US" sz="13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 planta sigue operando aunque caiga internet.</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30 / 46</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26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QUIÉN APRUEBA QUÉ CRUZA A LA NUBE</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DECISIÓN</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EL FLUJO DE APROBACIÓN</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Antes de enviar un flujo de datos a la nube o dar acceso remoto a un proveedor, debe haber una aprobación explícita: ¿qué dato? ¿a dónde? ¿con qué protección? ¿quién responde? Sin este control, cada área conecta su nube y se pierde la visión (y el control) del riesgo IT/OT.</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PREGUNTAS</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¿Qué dato, a dónde, con qué control?</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RIESGO SI FALTA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Shadow cloud y fuga de datos</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31 / 46</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27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REPARTO DE RESPONSABILIDAD (MODELO)</a:t>
            </a:r>
            <a:endParaRPr lang="en-US" sz="3000" dirty="0"/>
          </a:p>
        </p:txBody>
      </p:sp>
      <p:sp>
        <p:nvSpPr>
          <p:cNvPr id="4" name="Shape 2"/>
          <p:cNvSpPr/>
          <p:nvPr/>
        </p:nvSpPr>
        <p:spPr>
          <a:xfrm>
            <a:off x="502920" y="1783080"/>
            <a:ext cx="3291840" cy="457200"/>
          </a:xfrm>
          <a:prstGeom prst="rect">
            <a:avLst/>
          </a:prstGeom>
          <a:solidFill>
            <a:srgbClr val="1E1E1E"/>
          </a:solidFill>
          <a:ln w="12700">
            <a:solidFill>
              <a:srgbClr val="333333"/>
            </a:solidFill>
            <a:prstDash val="solid"/>
          </a:ln>
        </p:spPr>
      </p:sp>
      <p:sp>
        <p:nvSpPr>
          <p:cNvPr id="5" name="Text 3"/>
          <p:cNvSpPr/>
          <p:nvPr/>
        </p:nvSpPr>
        <p:spPr>
          <a:xfrm>
            <a:off x="576072" y="1783080"/>
            <a:ext cx="3145536" cy="457200"/>
          </a:xfrm>
          <a:prstGeom prst="rect">
            <a:avLst/>
          </a:prstGeom>
          <a:noFill/>
          <a:ln/>
        </p:spPr>
        <p:txBody>
          <a:bodyPr wrap="square" lIns="0" tIns="0" rIns="0" bIns="0" rtlCol="0" anchor="ctr"/>
          <a:lstStyle/>
          <a:p>
            <a:pPr algn="l" indent="0" marL="0">
              <a:buNone/>
            </a:pPr>
            <a:r>
              <a:rPr lang="en-US" sz="1050" b="1" dirty="0">
                <a:solidFill>
                  <a:srgbClr val="C6FF00"/>
                </a:solidFill>
                <a:latin typeface="Courier New" pitchFamily="34" charset="0"/>
                <a:ea typeface="Courier New" pitchFamily="34" charset="-122"/>
                <a:cs typeface="Courier New" pitchFamily="34" charset="-120"/>
              </a:rPr>
              <a:t>DECISIÓN</a:t>
            </a:r>
            <a:endParaRPr lang="en-US" sz="1050" dirty="0"/>
          </a:p>
        </p:txBody>
      </p:sp>
      <p:sp>
        <p:nvSpPr>
          <p:cNvPr id="6" name="Shape 4"/>
          <p:cNvSpPr/>
          <p:nvPr/>
        </p:nvSpPr>
        <p:spPr>
          <a:xfrm>
            <a:off x="3794760" y="1783080"/>
            <a:ext cx="3947008" cy="457200"/>
          </a:xfrm>
          <a:prstGeom prst="rect">
            <a:avLst/>
          </a:prstGeom>
          <a:solidFill>
            <a:srgbClr val="1E1E1E"/>
          </a:solidFill>
          <a:ln w="12700">
            <a:solidFill>
              <a:srgbClr val="333333"/>
            </a:solidFill>
            <a:prstDash val="solid"/>
          </a:ln>
        </p:spPr>
      </p:sp>
      <p:sp>
        <p:nvSpPr>
          <p:cNvPr id="7" name="Text 5"/>
          <p:cNvSpPr/>
          <p:nvPr/>
        </p:nvSpPr>
        <p:spPr>
          <a:xfrm>
            <a:off x="3867912"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DECIDE</a:t>
            </a:r>
            <a:endParaRPr lang="en-US" sz="1050" dirty="0"/>
          </a:p>
        </p:txBody>
      </p:sp>
      <p:sp>
        <p:nvSpPr>
          <p:cNvPr id="8" name="Shape 6"/>
          <p:cNvSpPr/>
          <p:nvPr/>
        </p:nvSpPr>
        <p:spPr>
          <a:xfrm>
            <a:off x="7741768" y="1783080"/>
            <a:ext cx="3947008" cy="457200"/>
          </a:xfrm>
          <a:prstGeom prst="rect">
            <a:avLst/>
          </a:prstGeom>
          <a:solidFill>
            <a:srgbClr val="1E1E1E"/>
          </a:solidFill>
          <a:ln w="12700">
            <a:solidFill>
              <a:srgbClr val="333333"/>
            </a:solidFill>
            <a:prstDash val="solid"/>
          </a:ln>
        </p:spPr>
      </p:sp>
      <p:sp>
        <p:nvSpPr>
          <p:cNvPr id="9" name="Text 7"/>
          <p:cNvSpPr/>
          <p:nvPr/>
        </p:nvSpPr>
        <p:spPr>
          <a:xfrm>
            <a:off x="7814920" y="1783080"/>
            <a:ext cx="3800704" cy="457200"/>
          </a:xfrm>
          <a:prstGeom prst="rect">
            <a:avLst/>
          </a:prstGeom>
          <a:noFill/>
          <a:ln/>
        </p:spPr>
        <p:txBody>
          <a:bodyPr wrap="square" lIns="0" tIns="0" rIns="0" bIns="0" rtlCol="0" anchor="ctr"/>
          <a:lstStyle/>
          <a:p>
            <a:pPr algn="ctr" indent="0" marL="0">
              <a:buNone/>
            </a:pPr>
            <a:r>
              <a:rPr lang="en-US" sz="1050" b="1" dirty="0">
                <a:solidFill>
                  <a:srgbClr val="C6FF00"/>
                </a:solidFill>
                <a:latin typeface="Courier New" pitchFamily="34" charset="0"/>
                <a:ea typeface="Courier New" pitchFamily="34" charset="-122"/>
                <a:cs typeface="Courier New" pitchFamily="34" charset="-120"/>
              </a:rPr>
              <a:t>CONSULTA</a:t>
            </a:r>
            <a:endParaRPr lang="en-US" sz="1050" dirty="0"/>
          </a:p>
        </p:txBody>
      </p:sp>
      <p:sp>
        <p:nvSpPr>
          <p:cNvPr id="10" name="Shape 8"/>
          <p:cNvSpPr/>
          <p:nvPr/>
        </p:nvSpPr>
        <p:spPr>
          <a:xfrm>
            <a:off x="502920" y="2240280"/>
            <a:ext cx="3291840" cy="566928"/>
          </a:xfrm>
          <a:prstGeom prst="rect">
            <a:avLst/>
          </a:prstGeom>
          <a:solidFill>
            <a:srgbClr val="151515"/>
          </a:solidFill>
          <a:ln w="12700">
            <a:solidFill>
              <a:srgbClr val="242424"/>
            </a:solidFill>
            <a:prstDash val="solid"/>
          </a:ln>
        </p:spPr>
      </p:sp>
      <p:sp>
        <p:nvSpPr>
          <p:cNvPr id="11" name="Text 9"/>
          <p:cNvSpPr/>
          <p:nvPr/>
        </p:nvSpPr>
        <p:spPr>
          <a:xfrm>
            <a:off x="576072" y="2240280"/>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Qué va a la nube</a:t>
            </a:r>
            <a:endParaRPr lang="en-US" sz="1150" dirty="0"/>
          </a:p>
        </p:txBody>
      </p:sp>
      <p:sp>
        <p:nvSpPr>
          <p:cNvPr id="12" name="Shape 10"/>
          <p:cNvSpPr/>
          <p:nvPr/>
        </p:nvSpPr>
        <p:spPr>
          <a:xfrm>
            <a:off x="3794760" y="2240280"/>
            <a:ext cx="3947008" cy="566928"/>
          </a:xfrm>
          <a:prstGeom prst="rect">
            <a:avLst/>
          </a:prstGeom>
          <a:solidFill>
            <a:srgbClr val="151515"/>
          </a:solidFill>
          <a:ln w="12700">
            <a:solidFill>
              <a:srgbClr val="242424"/>
            </a:solidFill>
            <a:prstDash val="solid"/>
          </a:ln>
        </p:spPr>
      </p:sp>
      <p:sp>
        <p:nvSpPr>
          <p:cNvPr id="13" name="Text 11"/>
          <p:cNvSpPr/>
          <p:nvPr/>
        </p:nvSpPr>
        <p:spPr>
          <a:xfrm>
            <a:off x="3867912" y="2240280"/>
            <a:ext cx="3800704" cy="566928"/>
          </a:xfrm>
          <a:prstGeom prst="rect">
            <a:avLst/>
          </a:prstGeom>
          <a:noFill/>
          <a:ln/>
        </p:spPr>
        <p:txBody>
          <a:bodyPr wrap="square" lIns="0" tIns="0" rIns="0" bIns="0" rtlCol="0" anchor="ctr"/>
          <a:lstStyle/>
          <a:p>
            <a:pPr algn="ctr" indent="0" marL="0">
              <a:buNone/>
            </a:pPr>
            <a:r>
              <a:rPr lang="en-US" sz="1100" dirty="0">
                <a:solidFill>
                  <a:srgbClr val="C6FF00"/>
                </a:solidFill>
                <a:latin typeface="Courier New" pitchFamily="34" charset="0"/>
                <a:ea typeface="Courier New" pitchFamily="34" charset="-122"/>
                <a:cs typeface="Courier New" pitchFamily="34" charset="-120"/>
              </a:rPr>
              <a:t>Comité arquitectura</a:t>
            </a:r>
            <a:endParaRPr lang="en-US" sz="1100" dirty="0"/>
          </a:p>
        </p:txBody>
      </p:sp>
      <p:sp>
        <p:nvSpPr>
          <p:cNvPr id="14" name="Shape 12"/>
          <p:cNvSpPr/>
          <p:nvPr/>
        </p:nvSpPr>
        <p:spPr>
          <a:xfrm>
            <a:off x="7741768" y="2240280"/>
            <a:ext cx="3947008" cy="566928"/>
          </a:xfrm>
          <a:prstGeom prst="rect">
            <a:avLst/>
          </a:prstGeom>
          <a:solidFill>
            <a:srgbClr val="151515"/>
          </a:solidFill>
          <a:ln w="12700">
            <a:solidFill>
              <a:srgbClr val="242424"/>
            </a:solidFill>
            <a:prstDash val="solid"/>
          </a:ln>
        </p:spPr>
      </p:sp>
      <p:sp>
        <p:nvSpPr>
          <p:cNvPr id="15" name="Text 13"/>
          <p:cNvSpPr/>
          <p:nvPr/>
        </p:nvSpPr>
        <p:spPr>
          <a:xfrm>
            <a:off x="7814920" y="2240280"/>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CISO, planta</a:t>
            </a:r>
            <a:endParaRPr lang="en-US" sz="1100" dirty="0"/>
          </a:p>
        </p:txBody>
      </p:sp>
      <p:sp>
        <p:nvSpPr>
          <p:cNvPr id="16" name="Shape 14"/>
          <p:cNvSpPr/>
          <p:nvPr/>
        </p:nvSpPr>
        <p:spPr>
          <a:xfrm>
            <a:off x="502920" y="2807208"/>
            <a:ext cx="3291840" cy="566928"/>
          </a:xfrm>
          <a:prstGeom prst="rect">
            <a:avLst/>
          </a:prstGeom>
          <a:solidFill>
            <a:srgbClr val="0B0B0B"/>
          </a:solidFill>
          <a:ln w="12700">
            <a:solidFill>
              <a:srgbClr val="242424"/>
            </a:solidFill>
            <a:prstDash val="solid"/>
          </a:ln>
        </p:spPr>
      </p:sp>
      <p:sp>
        <p:nvSpPr>
          <p:cNvPr id="17" name="Text 15"/>
          <p:cNvSpPr/>
          <p:nvPr/>
        </p:nvSpPr>
        <p:spPr>
          <a:xfrm>
            <a:off x="576072" y="2807208"/>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Acceso remoto proveedor</a:t>
            </a:r>
            <a:endParaRPr lang="en-US" sz="1150" dirty="0"/>
          </a:p>
        </p:txBody>
      </p:sp>
      <p:sp>
        <p:nvSpPr>
          <p:cNvPr id="18" name="Shape 16"/>
          <p:cNvSpPr/>
          <p:nvPr/>
        </p:nvSpPr>
        <p:spPr>
          <a:xfrm>
            <a:off x="3794760" y="2807208"/>
            <a:ext cx="3947008" cy="566928"/>
          </a:xfrm>
          <a:prstGeom prst="rect">
            <a:avLst/>
          </a:prstGeom>
          <a:solidFill>
            <a:srgbClr val="0B0B0B"/>
          </a:solidFill>
          <a:ln w="12700">
            <a:solidFill>
              <a:srgbClr val="242424"/>
            </a:solidFill>
            <a:prstDash val="solid"/>
          </a:ln>
        </p:spPr>
      </p:sp>
      <p:sp>
        <p:nvSpPr>
          <p:cNvPr id="19" name="Text 17"/>
          <p:cNvSpPr/>
          <p:nvPr/>
        </p:nvSpPr>
        <p:spPr>
          <a:xfrm>
            <a:off x="3867912" y="2807208"/>
            <a:ext cx="3800704" cy="566928"/>
          </a:xfrm>
          <a:prstGeom prst="rect">
            <a:avLst/>
          </a:prstGeom>
          <a:noFill/>
          <a:ln/>
        </p:spPr>
        <p:txBody>
          <a:bodyPr wrap="square" lIns="0" tIns="0" rIns="0" bIns="0" rtlCol="0" anchor="ctr"/>
          <a:lstStyle/>
          <a:p>
            <a:pPr algn="ctr" indent="0" marL="0">
              <a:buNone/>
            </a:pPr>
            <a:r>
              <a:rPr lang="en-US" sz="1100" dirty="0">
                <a:solidFill>
                  <a:srgbClr val="FF3B30"/>
                </a:solidFill>
                <a:latin typeface="Courier New" pitchFamily="34" charset="0"/>
                <a:ea typeface="Courier New" pitchFamily="34" charset="-122"/>
                <a:cs typeface="Courier New" pitchFamily="34" charset="-120"/>
              </a:rPr>
              <a:t>CISO</a:t>
            </a:r>
            <a:endParaRPr lang="en-US" sz="1100" dirty="0"/>
          </a:p>
        </p:txBody>
      </p:sp>
      <p:sp>
        <p:nvSpPr>
          <p:cNvPr id="20" name="Shape 18"/>
          <p:cNvSpPr/>
          <p:nvPr/>
        </p:nvSpPr>
        <p:spPr>
          <a:xfrm>
            <a:off x="7741768" y="2807208"/>
            <a:ext cx="3947008" cy="566928"/>
          </a:xfrm>
          <a:prstGeom prst="rect">
            <a:avLst/>
          </a:prstGeom>
          <a:solidFill>
            <a:srgbClr val="0B0B0B"/>
          </a:solidFill>
          <a:ln w="12700">
            <a:solidFill>
              <a:srgbClr val="242424"/>
            </a:solidFill>
            <a:prstDash val="solid"/>
          </a:ln>
        </p:spPr>
      </p:sp>
      <p:sp>
        <p:nvSpPr>
          <p:cNvPr id="21" name="Text 19"/>
          <p:cNvSpPr/>
          <p:nvPr/>
        </p:nvSpPr>
        <p:spPr>
          <a:xfrm>
            <a:off x="7814920" y="2807208"/>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Planta, legal</a:t>
            </a:r>
            <a:endParaRPr lang="en-US" sz="1100" dirty="0"/>
          </a:p>
        </p:txBody>
      </p:sp>
      <p:sp>
        <p:nvSpPr>
          <p:cNvPr id="22" name="Shape 20"/>
          <p:cNvSpPr/>
          <p:nvPr/>
        </p:nvSpPr>
        <p:spPr>
          <a:xfrm>
            <a:off x="502920" y="3374136"/>
            <a:ext cx="3291840" cy="566928"/>
          </a:xfrm>
          <a:prstGeom prst="rect">
            <a:avLst/>
          </a:prstGeom>
          <a:solidFill>
            <a:srgbClr val="151515"/>
          </a:solidFill>
          <a:ln w="12700">
            <a:solidFill>
              <a:srgbClr val="242424"/>
            </a:solidFill>
            <a:prstDash val="solid"/>
          </a:ln>
        </p:spPr>
      </p:sp>
      <p:sp>
        <p:nvSpPr>
          <p:cNvPr id="23" name="Text 21"/>
          <p:cNvSpPr/>
          <p:nvPr/>
        </p:nvSpPr>
        <p:spPr>
          <a:xfrm>
            <a:off x="576072" y="3374136"/>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Residencia del dato</a:t>
            </a:r>
            <a:endParaRPr lang="en-US" sz="1150" dirty="0"/>
          </a:p>
        </p:txBody>
      </p:sp>
      <p:sp>
        <p:nvSpPr>
          <p:cNvPr id="24" name="Shape 22"/>
          <p:cNvSpPr/>
          <p:nvPr/>
        </p:nvSpPr>
        <p:spPr>
          <a:xfrm>
            <a:off x="3794760" y="3374136"/>
            <a:ext cx="3947008" cy="566928"/>
          </a:xfrm>
          <a:prstGeom prst="rect">
            <a:avLst/>
          </a:prstGeom>
          <a:solidFill>
            <a:srgbClr val="151515"/>
          </a:solidFill>
          <a:ln w="12700">
            <a:solidFill>
              <a:srgbClr val="242424"/>
            </a:solidFill>
            <a:prstDash val="solid"/>
          </a:ln>
        </p:spPr>
      </p:sp>
      <p:sp>
        <p:nvSpPr>
          <p:cNvPr id="25" name="Text 23"/>
          <p:cNvSpPr/>
          <p:nvPr/>
        </p:nvSpPr>
        <p:spPr>
          <a:xfrm>
            <a:off x="3867912" y="3374136"/>
            <a:ext cx="3800704" cy="566928"/>
          </a:xfrm>
          <a:prstGeom prst="rect">
            <a:avLst/>
          </a:prstGeom>
          <a:noFill/>
          <a:ln/>
        </p:spPr>
        <p:txBody>
          <a:bodyPr wrap="square" lIns="0" tIns="0" rIns="0" bIns="0" rtlCol="0" anchor="ctr"/>
          <a:lstStyle/>
          <a:p>
            <a:pPr algn="ctr" indent="0" marL="0">
              <a:buNone/>
            </a:pPr>
            <a:r>
              <a:rPr lang="en-US" sz="1100" dirty="0">
                <a:solidFill>
                  <a:srgbClr val="FFB000"/>
                </a:solidFill>
                <a:latin typeface="Courier New" pitchFamily="34" charset="0"/>
                <a:ea typeface="Courier New" pitchFamily="34" charset="-122"/>
                <a:cs typeface="Courier New" pitchFamily="34" charset="-120"/>
              </a:rPr>
              <a:t>Legal/cumplimiento</a:t>
            </a:r>
            <a:endParaRPr lang="en-US" sz="1100" dirty="0"/>
          </a:p>
        </p:txBody>
      </p:sp>
      <p:sp>
        <p:nvSpPr>
          <p:cNvPr id="26" name="Shape 24"/>
          <p:cNvSpPr/>
          <p:nvPr/>
        </p:nvSpPr>
        <p:spPr>
          <a:xfrm>
            <a:off x="7741768" y="3374136"/>
            <a:ext cx="3947008" cy="566928"/>
          </a:xfrm>
          <a:prstGeom prst="rect">
            <a:avLst/>
          </a:prstGeom>
          <a:solidFill>
            <a:srgbClr val="151515"/>
          </a:solidFill>
          <a:ln w="12700">
            <a:solidFill>
              <a:srgbClr val="242424"/>
            </a:solidFill>
            <a:prstDash val="solid"/>
          </a:ln>
        </p:spPr>
      </p:sp>
      <p:sp>
        <p:nvSpPr>
          <p:cNvPr id="27" name="Text 25"/>
          <p:cNvSpPr/>
          <p:nvPr/>
        </p:nvSpPr>
        <p:spPr>
          <a:xfrm>
            <a:off x="7814920" y="3374136"/>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CIO</a:t>
            </a:r>
            <a:endParaRPr lang="en-US" sz="1100" dirty="0"/>
          </a:p>
        </p:txBody>
      </p:sp>
      <p:sp>
        <p:nvSpPr>
          <p:cNvPr id="28" name="Shape 26"/>
          <p:cNvSpPr/>
          <p:nvPr/>
        </p:nvSpPr>
        <p:spPr>
          <a:xfrm>
            <a:off x="502920" y="3941064"/>
            <a:ext cx="3291840" cy="566928"/>
          </a:xfrm>
          <a:prstGeom prst="rect">
            <a:avLst/>
          </a:prstGeom>
          <a:solidFill>
            <a:srgbClr val="0B0B0B"/>
          </a:solidFill>
          <a:ln w="12700">
            <a:solidFill>
              <a:srgbClr val="242424"/>
            </a:solidFill>
            <a:prstDash val="solid"/>
          </a:ln>
        </p:spPr>
      </p:sp>
      <p:sp>
        <p:nvSpPr>
          <p:cNvPr id="29" name="Text 27"/>
          <p:cNvSpPr/>
          <p:nvPr/>
        </p:nvSpPr>
        <p:spPr>
          <a:xfrm>
            <a:off x="576072" y="3941064"/>
            <a:ext cx="3145536" cy="566928"/>
          </a:xfrm>
          <a:prstGeom prst="rect">
            <a:avLst/>
          </a:prstGeom>
          <a:noFill/>
          <a:ln/>
        </p:spPr>
        <p:txBody>
          <a:bodyPr wrap="square" lIns="0" tIns="0" rIns="0" bIns="0" rtlCol="0" anchor="ctr"/>
          <a:lstStyle/>
          <a:p>
            <a:pPr algn="l" indent="0" marL="0">
              <a:buNone/>
            </a:pPr>
            <a:r>
              <a:rPr lang="en-US" sz="1150" b="1" dirty="0">
                <a:solidFill>
                  <a:srgbClr val="F4F4F4"/>
                </a:solidFill>
                <a:latin typeface="Arial" pitchFamily="34" charset="0"/>
                <a:ea typeface="Arial" pitchFamily="34" charset="-122"/>
                <a:cs typeface="Arial" pitchFamily="34" charset="-120"/>
              </a:rPr>
              <a:t>Elección de plataforma</a:t>
            </a:r>
            <a:endParaRPr lang="en-US" sz="1150" dirty="0"/>
          </a:p>
        </p:txBody>
      </p:sp>
      <p:sp>
        <p:nvSpPr>
          <p:cNvPr id="30" name="Shape 28"/>
          <p:cNvSpPr/>
          <p:nvPr/>
        </p:nvSpPr>
        <p:spPr>
          <a:xfrm>
            <a:off x="3794760" y="3941064"/>
            <a:ext cx="3947008" cy="566928"/>
          </a:xfrm>
          <a:prstGeom prst="rect">
            <a:avLst/>
          </a:prstGeom>
          <a:solidFill>
            <a:srgbClr val="0B0B0B"/>
          </a:solidFill>
          <a:ln w="12700">
            <a:solidFill>
              <a:srgbClr val="242424"/>
            </a:solidFill>
            <a:prstDash val="solid"/>
          </a:ln>
        </p:spPr>
      </p:sp>
      <p:sp>
        <p:nvSpPr>
          <p:cNvPr id="31" name="Text 29"/>
          <p:cNvSpPr/>
          <p:nvPr/>
        </p:nvSpPr>
        <p:spPr>
          <a:xfrm>
            <a:off x="3867912" y="3941064"/>
            <a:ext cx="3800704" cy="566928"/>
          </a:xfrm>
          <a:prstGeom prst="rect">
            <a:avLst/>
          </a:prstGeom>
          <a:noFill/>
          <a:ln/>
        </p:spPr>
        <p:txBody>
          <a:bodyPr wrap="square" lIns="0" tIns="0" rIns="0" bIns="0" rtlCol="0" anchor="ctr"/>
          <a:lstStyle/>
          <a:p>
            <a:pPr algn="ctr" indent="0" marL="0">
              <a:buNone/>
            </a:pPr>
            <a:r>
              <a:rPr lang="en-US" sz="1100" dirty="0">
                <a:solidFill>
                  <a:srgbClr val="27E5E5"/>
                </a:solidFill>
                <a:latin typeface="Courier New" pitchFamily="34" charset="0"/>
                <a:ea typeface="Courier New" pitchFamily="34" charset="-122"/>
                <a:cs typeface="Courier New" pitchFamily="34" charset="-120"/>
              </a:rPr>
              <a:t>CIO/CTO</a:t>
            </a:r>
            <a:endParaRPr lang="en-US" sz="1100" dirty="0"/>
          </a:p>
        </p:txBody>
      </p:sp>
      <p:sp>
        <p:nvSpPr>
          <p:cNvPr id="32" name="Shape 30"/>
          <p:cNvSpPr/>
          <p:nvPr/>
        </p:nvSpPr>
        <p:spPr>
          <a:xfrm>
            <a:off x="7741768" y="3941064"/>
            <a:ext cx="3947008" cy="566928"/>
          </a:xfrm>
          <a:prstGeom prst="rect">
            <a:avLst/>
          </a:prstGeom>
          <a:solidFill>
            <a:srgbClr val="0B0B0B"/>
          </a:solidFill>
          <a:ln w="12700">
            <a:solidFill>
              <a:srgbClr val="242424"/>
            </a:solidFill>
            <a:prstDash val="solid"/>
          </a:ln>
        </p:spPr>
      </p:sp>
      <p:sp>
        <p:nvSpPr>
          <p:cNvPr id="33" name="Text 31"/>
          <p:cNvSpPr/>
          <p:nvPr/>
        </p:nvSpPr>
        <p:spPr>
          <a:xfrm>
            <a:off x="7814920" y="3941064"/>
            <a:ext cx="3800704" cy="566928"/>
          </a:xfrm>
          <a:prstGeom prst="rect">
            <a:avLst/>
          </a:prstGeom>
          <a:noFill/>
          <a:ln/>
        </p:spPr>
        <p:txBody>
          <a:bodyPr wrap="square" lIns="0" tIns="0" rIns="0" bIns="0" rtlCol="0" anchor="ctr"/>
          <a:lstStyle/>
          <a:p>
            <a:pPr algn="ctr" indent="0" marL="0">
              <a:buNone/>
            </a:pPr>
            <a:r>
              <a:rPr lang="en-US" sz="1100" dirty="0">
                <a:solidFill>
                  <a:srgbClr val="8C8C8C"/>
                </a:solidFill>
                <a:latin typeface="Courier New" pitchFamily="34" charset="0"/>
                <a:ea typeface="Courier New" pitchFamily="34" charset="-122"/>
                <a:cs typeface="Courier New" pitchFamily="34" charset="-120"/>
              </a:rPr>
              <a:t>Comité TI</a:t>
            </a:r>
            <a:endParaRPr lang="en-US" sz="1100" dirty="0"/>
          </a:p>
        </p:txBody>
      </p:sp>
      <p:sp>
        <p:nvSpPr>
          <p:cNvPr id="34" name="Text 32"/>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35" name="Text 33"/>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36" name="Text 34"/>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32 / 46</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28  GOBIERNO</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ARQUITECTURA SIN GOBIERNO = DEUDA</a:t>
            </a:r>
            <a:endParaRPr lang="en-US" sz="3300" dirty="0"/>
          </a:p>
        </p:txBody>
      </p:sp>
      <p:sp>
        <p:nvSpPr>
          <p:cNvPr id="4" name="Shape 2"/>
          <p:cNvSpPr/>
          <p:nvPr/>
        </p:nvSpPr>
        <p:spPr>
          <a:xfrm>
            <a:off x="502920" y="1783080"/>
            <a:ext cx="3545738" cy="1828800"/>
          </a:xfrm>
          <a:prstGeom prst="roundRect">
            <a:avLst>
              <a:gd name="adj" fmla="val 3000"/>
            </a:avLst>
          </a:prstGeom>
          <a:solidFill>
            <a:srgbClr val="151515"/>
          </a:solidFill>
          <a:ln w="12700">
            <a:solidFill>
              <a:srgbClr val="333333"/>
            </a:solidFill>
            <a:prstDash val="solid"/>
          </a:ln>
        </p:spPr>
      </p:sp>
      <p:sp>
        <p:nvSpPr>
          <p:cNvPr id="5" name="Text 3"/>
          <p:cNvSpPr/>
          <p:nvPr/>
        </p:nvSpPr>
        <p:spPr>
          <a:xfrm>
            <a:off x="640080" y="1965960"/>
            <a:ext cx="3271418" cy="868680"/>
          </a:xfrm>
          <a:prstGeom prst="rect">
            <a:avLst/>
          </a:prstGeom>
          <a:noFill/>
          <a:ln/>
        </p:spPr>
        <p:txBody>
          <a:bodyPr wrap="square" lIns="0" tIns="0" rIns="0" bIns="0" rtlCol="0" anchor="ctr"/>
          <a:lstStyle/>
          <a:p>
            <a:pPr algn="ctr" indent="0" marL="0">
              <a:buNone/>
            </a:pPr>
            <a:r>
              <a:rPr lang="en-US" sz="3800" dirty="0">
                <a:solidFill>
                  <a:srgbClr val="FF3B30"/>
                </a:solidFill>
                <a:latin typeface="Arial Black" pitchFamily="34" charset="0"/>
                <a:ea typeface="Arial Black" pitchFamily="34" charset="-122"/>
                <a:cs typeface="Arial Black" pitchFamily="34" charset="-120"/>
              </a:rPr>
              <a:t>SHADOW</a:t>
            </a:r>
            <a:endParaRPr lang="en-US" sz="3800" dirty="0"/>
          </a:p>
        </p:txBody>
      </p:sp>
      <p:sp>
        <p:nvSpPr>
          <p:cNvPr id="6" name="Text 4"/>
          <p:cNvSpPr/>
          <p:nvPr/>
        </p:nvSpPr>
        <p:spPr>
          <a:xfrm>
            <a:off x="685800"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cada área conecta su nube sin coordinación: caos y riesgo</a:t>
            </a:r>
            <a:endParaRPr lang="en-US" sz="1100" dirty="0"/>
          </a:p>
        </p:txBody>
      </p:sp>
      <p:sp>
        <p:nvSpPr>
          <p:cNvPr id="7" name="Shape 5"/>
          <p:cNvSpPr/>
          <p:nvPr/>
        </p:nvSpPr>
        <p:spPr>
          <a:xfrm>
            <a:off x="4322978" y="1783080"/>
            <a:ext cx="3545738" cy="1828800"/>
          </a:xfrm>
          <a:prstGeom prst="roundRect">
            <a:avLst>
              <a:gd name="adj" fmla="val 3000"/>
            </a:avLst>
          </a:prstGeom>
          <a:solidFill>
            <a:srgbClr val="151515"/>
          </a:solidFill>
          <a:ln w="12700">
            <a:solidFill>
              <a:srgbClr val="333333"/>
            </a:solidFill>
            <a:prstDash val="solid"/>
          </a:ln>
        </p:spPr>
      </p:sp>
      <p:sp>
        <p:nvSpPr>
          <p:cNvPr id="8" name="Text 6"/>
          <p:cNvSpPr/>
          <p:nvPr/>
        </p:nvSpPr>
        <p:spPr>
          <a:xfrm>
            <a:off x="4460138" y="1965960"/>
            <a:ext cx="3271418" cy="868680"/>
          </a:xfrm>
          <a:prstGeom prst="rect">
            <a:avLst/>
          </a:prstGeom>
          <a:noFill/>
          <a:ln/>
        </p:spPr>
        <p:txBody>
          <a:bodyPr wrap="square" lIns="0" tIns="0" rIns="0" bIns="0" rtlCol="0" anchor="ctr"/>
          <a:lstStyle/>
          <a:p>
            <a:pPr algn="ctr" indent="0" marL="0">
              <a:buNone/>
            </a:pPr>
            <a:r>
              <a:rPr lang="en-US" sz="3800" dirty="0">
                <a:solidFill>
                  <a:srgbClr val="FFB000"/>
                </a:solidFill>
                <a:latin typeface="Arial Black" pitchFamily="34" charset="0"/>
                <a:ea typeface="Arial Black" pitchFamily="34" charset="-122"/>
                <a:cs typeface="Arial Black" pitchFamily="34" charset="-120"/>
              </a:rPr>
              <a:t>LOCK-IN</a:t>
            </a:r>
            <a:endParaRPr lang="en-US" sz="3800" dirty="0"/>
          </a:p>
        </p:txBody>
      </p:sp>
      <p:sp>
        <p:nvSpPr>
          <p:cNvPr id="9" name="Text 7"/>
          <p:cNvSpPr/>
          <p:nvPr/>
        </p:nvSpPr>
        <p:spPr>
          <a:xfrm>
            <a:off x="4505858"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decisiones ad hoc que atan a la empresa por décadas</a:t>
            </a:r>
            <a:endParaRPr lang="en-US" sz="1100" dirty="0"/>
          </a:p>
        </p:txBody>
      </p:sp>
      <p:sp>
        <p:nvSpPr>
          <p:cNvPr id="10" name="Shape 8"/>
          <p:cNvSpPr/>
          <p:nvPr/>
        </p:nvSpPr>
        <p:spPr>
          <a:xfrm>
            <a:off x="8143037" y="1783080"/>
            <a:ext cx="3545738" cy="1828800"/>
          </a:xfrm>
          <a:prstGeom prst="roundRect">
            <a:avLst>
              <a:gd name="adj" fmla="val 3000"/>
            </a:avLst>
          </a:prstGeom>
          <a:solidFill>
            <a:srgbClr val="151515"/>
          </a:solidFill>
          <a:ln w="12700">
            <a:solidFill>
              <a:srgbClr val="333333"/>
            </a:solidFill>
            <a:prstDash val="solid"/>
          </a:ln>
        </p:spPr>
      </p:sp>
      <p:sp>
        <p:nvSpPr>
          <p:cNvPr id="11" name="Text 9"/>
          <p:cNvSpPr/>
          <p:nvPr/>
        </p:nvSpPr>
        <p:spPr>
          <a:xfrm>
            <a:off x="8280197" y="1965960"/>
            <a:ext cx="3271418" cy="868680"/>
          </a:xfrm>
          <a:prstGeom prst="rect">
            <a:avLst/>
          </a:prstGeom>
          <a:noFill/>
          <a:ln/>
        </p:spPr>
        <p:txBody>
          <a:bodyPr wrap="square" lIns="0" tIns="0" rIns="0" bIns="0" rtlCol="0" anchor="ctr"/>
          <a:lstStyle/>
          <a:p>
            <a:pPr algn="ctr" indent="0" marL="0">
              <a:buNone/>
            </a:pPr>
            <a:r>
              <a:rPr lang="en-US" sz="3800" dirty="0">
                <a:solidFill>
                  <a:srgbClr val="C6FF00"/>
                </a:solidFill>
                <a:latin typeface="Arial Black" pitchFamily="34" charset="0"/>
                <a:ea typeface="Arial Black" pitchFamily="34" charset="-122"/>
                <a:cs typeface="Arial Black" pitchFamily="34" charset="-120"/>
              </a:rPr>
              <a:t>GOBERNAR</a:t>
            </a:r>
            <a:endParaRPr lang="en-US" sz="3800" dirty="0"/>
          </a:p>
        </p:txBody>
      </p:sp>
      <p:sp>
        <p:nvSpPr>
          <p:cNvPr id="12" name="Text 10"/>
          <p:cNvSpPr/>
          <p:nvPr/>
        </p:nvSpPr>
        <p:spPr>
          <a:xfrm>
            <a:off x="8325917" y="2834640"/>
            <a:ext cx="3179978" cy="685800"/>
          </a:xfrm>
          <a:prstGeom prst="rect">
            <a:avLst/>
          </a:prstGeom>
          <a:noFill/>
          <a:ln/>
        </p:spPr>
        <p:txBody>
          <a:bodyPr wrap="square" lIns="0" tIns="0" rIns="0" bIns="0" rtlCol="0" anchor="t"/>
          <a:lstStyle/>
          <a:p>
            <a:pPr algn="ctr" indent="0" marL="0">
              <a:buNone/>
            </a:pPr>
            <a:r>
              <a:rPr lang="en-US" sz="1100" dirty="0">
                <a:solidFill>
                  <a:srgbClr val="8C8C8C"/>
                </a:solidFill>
                <a:latin typeface="Arial" pitchFamily="34" charset="0"/>
                <a:ea typeface="Arial" pitchFamily="34" charset="-122"/>
                <a:cs typeface="Arial" pitchFamily="34" charset="-120"/>
              </a:rPr>
              <a:t>principios de arquitectura y aprobación evitan la deuda técnica</a:t>
            </a:r>
            <a:endParaRPr lang="en-US" sz="1100" dirty="0"/>
          </a:p>
        </p:txBody>
      </p:sp>
      <p:sp>
        <p:nvSpPr>
          <p:cNvPr id="13" name="Text 11"/>
          <p:cNvSpPr/>
          <p:nvPr/>
        </p:nvSpPr>
        <p:spPr>
          <a:xfrm>
            <a:off x="502920" y="388620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LECTURA CLAVE</a:t>
            </a:r>
            <a:endParaRPr lang="en-US" sz="1100" dirty="0"/>
          </a:p>
        </p:txBody>
      </p:sp>
      <p:sp>
        <p:nvSpPr>
          <p:cNvPr id="14" name="Text 12"/>
          <p:cNvSpPr/>
          <p:nvPr/>
        </p:nvSpPr>
        <p:spPr>
          <a:xfrm>
            <a:off x="502920" y="4270248"/>
            <a:ext cx="11185855" cy="1463040"/>
          </a:xfrm>
          <a:prstGeom prst="rect">
            <a:avLst/>
          </a:prstGeom>
          <a:noFill/>
          <a:ln/>
        </p:spPr>
        <p:txBody>
          <a:bodyPr wrap="square" lIns="0" tIns="0" rIns="0" bIns="0" rtlCol="0" anchor="t"/>
          <a:lstStyle/>
          <a:p>
            <a:pPr indent="0" marL="0">
              <a:lnSpc>
                <a:spcPct val="110000"/>
              </a:lnSpc>
              <a:buNone/>
            </a:pPr>
            <a:r>
              <a:rPr lang="en-US" sz="1300" dirty="0">
                <a:solidFill>
                  <a:srgbClr val="F4F4F4"/>
                </a:solidFill>
                <a:latin typeface="Arial" pitchFamily="34" charset="0"/>
                <a:ea typeface="Arial" pitchFamily="34" charset="-122"/>
                <a:cs typeface="Arial" pitchFamily="34" charset="-120"/>
              </a:rPr>
              <a:t>Una arquitectura nube-planta sin gobierno acumula deuda técnica, riesgo y dependencia. Con principios claros, un comité y un flujo de aprobación, la misma tecnología se vuelve un activo estratégico coherente.</a:t>
            </a:r>
            <a:endParaRPr lang="en-US" sz="13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33 / 46</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05</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CONECTIVIDAD Y SEGURIDAD DEL BORDE</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Redes deterministas y protección de la periferia</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46</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34 / 46</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29  CONECTIVIDAD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TECNOLOGÍAS DE CONECTIVIDAD</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Cómo se conectan los dispositivos en planta.</a:t>
            </a:r>
            <a:endParaRPr lang="en-US" sz="1250" dirty="0"/>
          </a:p>
        </p:txBody>
      </p:sp>
      <p:sp>
        <p:nvSpPr>
          <p:cNvPr id="5" name="Shape 3"/>
          <p:cNvSpPr/>
          <p:nvPr/>
        </p:nvSpPr>
        <p:spPr>
          <a:xfrm>
            <a:off x="502920"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3192170"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ETHERNET INDUSTRIAL</a:t>
            </a:r>
            <a:endParaRPr lang="en-US" sz="1300" dirty="0"/>
          </a:p>
        </p:txBody>
      </p:sp>
      <p:sp>
        <p:nvSpPr>
          <p:cNvPr id="7" name="Text 5"/>
          <p:cNvSpPr/>
          <p:nvPr/>
        </p:nvSpPr>
        <p:spPr>
          <a:xfrm>
            <a:off x="685800"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PROFINET, EtherNet/IP, EtherCAT: cableado determinista.</a:t>
            </a:r>
            <a:endParaRPr lang="en-US" sz="1100" dirty="0"/>
          </a:p>
        </p:txBody>
      </p:sp>
      <p:sp>
        <p:nvSpPr>
          <p:cNvPr id="8" name="Shape 6"/>
          <p:cNvSpPr/>
          <p:nvPr/>
        </p:nvSpPr>
        <p:spPr>
          <a:xfrm>
            <a:off x="4316882"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4499762" y="2066544"/>
            <a:ext cx="3192170"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TSN</a:t>
            </a:r>
            <a:endParaRPr lang="en-US" sz="1600" dirty="0"/>
          </a:p>
        </p:txBody>
      </p:sp>
      <p:sp>
        <p:nvSpPr>
          <p:cNvPr id="10" name="Text 8"/>
          <p:cNvSpPr/>
          <p:nvPr/>
        </p:nvSpPr>
        <p:spPr>
          <a:xfrm>
            <a:off x="4499762"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Time-Sensitive Networking: Ethernet estándar con determinismo.</a:t>
            </a:r>
            <a:endParaRPr lang="en-US" sz="1100" dirty="0"/>
          </a:p>
        </p:txBody>
      </p:sp>
      <p:sp>
        <p:nvSpPr>
          <p:cNvPr id="11" name="Shape 9"/>
          <p:cNvSpPr/>
          <p:nvPr/>
        </p:nvSpPr>
        <p:spPr>
          <a:xfrm>
            <a:off x="8130845" y="19202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8313725" y="2066544"/>
            <a:ext cx="3192170"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5G PRIVADO</a:t>
            </a:r>
            <a:endParaRPr lang="en-US" sz="1600" dirty="0"/>
          </a:p>
        </p:txBody>
      </p:sp>
      <p:sp>
        <p:nvSpPr>
          <p:cNvPr id="13" name="Text 11"/>
          <p:cNvSpPr/>
          <p:nvPr/>
        </p:nvSpPr>
        <p:spPr>
          <a:xfrm>
            <a:off x="8313725" y="25237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Red celular privada de baja latencia para planta.</a:t>
            </a:r>
            <a:endParaRPr lang="en-US" sz="1100" dirty="0"/>
          </a:p>
        </p:txBody>
      </p:sp>
      <p:sp>
        <p:nvSpPr>
          <p:cNvPr id="14" name="Shape 12"/>
          <p:cNvSpPr/>
          <p:nvPr/>
        </p:nvSpPr>
        <p:spPr>
          <a:xfrm>
            <a:off x="502920"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85800" y="3895344"/>
            <a:ext cx="3192170" cy="411480"/>
          </a:xfrm>
          <a:prstGeom prst="rect">
            <a:avLst/>
          </a:prstGeom>
          <a:noFill/>
          <a:ln/>
        </p:spPr>
        <p:txBody>
          <a:bodyPr wrap="square" lIns="0" tIns="0" rIns="0" bIns="0" rtlCol="0" anchor="t"/>
          <a:lstStyle/>
          <a:p>
            <a:pPr indent="0" marL="0">
              <a:buNone/>
            </a:pPr>
            <a:r>
              <a:rPr lang="en-US" sz="1600" dirty="0">
                <a:solidFill>
                  <a:srgbClr val="22E06B"/>
                </a:solidFill>
                <a:latin typeface="Arial Black" pitchFamily="34" charset="0"/>
                <a:ea typeface="Arial Black" pitchFamily="34" charset="-122"/>
                <a:cs typeface="Arial Black" pitchFamily="34" charset="-120"/>
              </a:rPr>
              <a:t>WI-FI 6</a:t>
            </a:r>
            <a:endParaRPr lang="en-US" sz="1600" dirty="0"/>
          </a:p>
        </p:txBody>
      </p:sp>
      <p:sp>
        <p:nvSpPr>
          <p:cNvPr id="16" name="Text 14"/>
          <p:cNvSpPr/>
          <p:nvPr/>
        </p:nvSpPr>
        <p:spPr>
          <a:xfrm>
            <a:off x="685800"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Inalámbrico de alta capacidad para movilidad (AMR, tablets).</a:t>
            </a:r>
            <a:endParaRPr lang="en-US" sz="1100" dirty="0"/>
          </a:p>
        </p:txBody>
      </p:sp>
      <p:sp>
        <p:nvSpPr>
          <p:cNvPr id="17" name="Shape 15"/>
          <p:cNvSpPr/>
          <p:nvPr/>
        </p:nvSpPr>
        <p:spPr>
          <a:xfrm>
            <a:off x="4316882"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8" name="Text 16"/>
          <p:cNvSpPr/>
          <p:nvPr/>
        </p:nvSpPr>
        <p:spPr>
          <a:xfrm>
            <a:off x="4499762" y="3895344"/>
            <a:ext cx="3192170" cy="411480"/>
          </a:xfrm>
          <a:prstGeom prst="rect">
            <a:avLst/>
          </a:prstGeom>
          <a:noFill/>
          <a:ln/>
        </p:spPr>
        <p:txBody>
          <a:bodyPr wrap="square" lIns="0" tIns="0" rIns="0" bIns="0" rtlCol="0" anchor="t"/>
          <a:lstStyle/>
          <a:p>
            <a:pPr indent="0" marL="0">
              <a:buNone/>
            </a:pPr>
            <a:r>
              <a:rPr lang="en-US" sz="1600" dirty="0">
                <a:solidFill>
                  <a:srgbClr val="9D6BFF"/>
                </a:solidFill>
                <a:latin typeface="Arial Black" pitchFamily="34" charset="0"/>
                <a:ea typeface="Arial Black" pitchFamily="34" charset="-122"/>
                <a:cs typeface="Arial Black" pitchFamily="34" charset="-120"/>
              </a:rPr>
              <a:t>LPWAN</a:t>
            </a:r>
            <a:endParaRPr lang="en-US" sz="1600" dirty="0"/>
          </a:p>
        </p:txBody>
      </p:sp>
      <p:sp>
        <p:nvSpPr>
          <p:cNvPr id="19" name="Text 17"/>
          <p:cNvSpPr/>
          <p:nvPr/>
        </p:nvSpPr>
        <p:spPr>
          <a:xfrm>
            <a:off x="4499762"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LoRa, NB-IoT: sensores de bajo consumo y largo alcance.</a:t>
            </a:r>
            <a:endParaRPr lang="en-US" sz="1100" dirty="0"/>
          </a:p>
        </p:txBody>
      </p:sp>
      <p:sp>
        <p:nvSpPr>
          <p:cNvPr id="20" name="Shape 18"/>
          <p:cNvSpPr/>
          <p:nvPr/>
        </p:nvSpPr>
        <p:spPr>
          <a:xfrm>
            <a:off x="8130845" y="3749040"/>
            <a:ext cx="3557930"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21" name="Text 19"/>
          <p:cNvSpPr/>
          <p:nvPr/>
        </p:nvSpPr>
        <p:spPr>
          <a:xfrm>
            <a:off x="8313725" y="3895344"/>
            <a:ext cx="3192170" cy="411480"/>
          </a:xfrm>
          <a:prstGeom prst="rect">
            <a:avLst/>
          </a:prstGeom>
          <a:noFill/>
          <a:ln/>
        </p:spPr>
        <p:txBody>
          <a:bodyPr wrap="square" lIns="0" tIns="0" rIns="0" bIns="0" rtlCol="0" anchor="t"/>
          <a:lstStyle/>
          <a:p>
            <a:pPr indent="0" marL="0">
              <a:buNone/>
            </a:pPr>
            <a:r>
              <a:rPr lang="en-US" sz="1600" dirty="0">
                <a:solidFill>
                  <a:srgbClr val="FF6B35"/>
                </a:solidFill>
                <a:latin typeface="Arial Black" pitchFamily="34" charset="0"/>
                <a:ea typeface="Arial Black" pitchFamily="34" charset="-122"/>
                <a:cs typeface="Arial Black" pitchFamily="34" charset="-120"/>
              </a:rPr>
              <a:t>CRITERIO</a:t>
            </a:r>
            <a:endParaRPr lang="en-US" sz="1600" dirty="0"/>
          </a:p>
        </p:txBody>
      </p:sp>
      <p:sp>
        <p:nvSpPr>
          <p:cNvPr id="22" name="Text 20"/>
          <p:cNvSpPr/>
          <p:nvPr/>
        </p:nvSpPr>
        <p:spPr>
          <a:xfrm>
            <a:off x="8313725" y="4352544"/>
            <a:ext cx="3192170"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Latencia, determinismo, movilidad y alcance definen la elección.</a:t>
            </a:r>
            <a:endParaRPr lang="en-US" sz="1100" dirty="0"/>
          </a:p>
        </p:txBody>
      </p:sp>
      <p:sp>
        <p:nvSpPr>
          <p:cNvPr id="23" name="Text 21"/>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4" name="Text 22"/>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5" name="Text 23"/>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35 / 46</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30  CONECTIVIDAD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5G Y TSN — CONTROL DETERMINISTA</a:t>
            </a:r>
            <a:endParaRPr lang="en-US" sz="33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TENDENCIA</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TIEMPO REAL SOBRE RED ESTÁNDAR</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TSN lleva determinismo (latencia y sincronía garantizadas) al Ethernet estándar; el 5G privado lo hace inalámbrico. Juntos permiten control en tiempo real sin cableado dedicado, habilitando líneas flexibles y móviles. Es una de las tendencias que más cambiará la arquitectura de planta en 2024–2026.</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HABILITA</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Control inalámbrico · líneas flexibles · AMR</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CONSIDERAR</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Nuevas superficies de ataque</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36 / 46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31  CONECTIVIDAD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SEGURIDAD DEL BORDE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borde amplía la superficie de ataque; hay que protegerlo.</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C6FF00"/>
                </a:solidFill>
                <a:latin typeface="Arial Black" pitchFamily="34" charset="0"/>
                <a:ea typeface="Arial Black" pitchFamily="34" charset="-122"/>
                <a:cs typeface="Arial Black" pitchFamily="34" charset="-120"/>
              </a:rPr>
              <a:t>IDENTIDAD DE DISPOSITIVO</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Cada dispositivo autenticado con certificado; nada anónimo.</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CIFRADO</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Datos cifrados en tránsito (TLS) y en reposo.</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SEGMENTACIÓN</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El borde en su zona; nada cruza sin control (modelo Purdue).</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FF3B30"/>
                </a:solidFill>
                <a:latin typeface="Arial Black" pitchFamily="34" charset="0"/>
                <a:ea typeface="Arial Black" pitchFamily="34" charset="-122"/>
                <a:cs typeface="Arial Black" pitchFamily="34" charset="-120"/>
              </a:rPr>
              <a:t>ACTUALIZACIÓN</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Firmware actualizable de forma segura (reto en OT longevo).</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37 / 46</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32  CONECTIVIDAD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COSTOS OCULTOS DE LA NUBE</a:t>
            </a:r>
            <a:endParaRPr lang="en-US" sz="3300" dirty="0"/>
          </a:p>
        </p:txBody>
      </p:sp>
      <p:sp>
        <p:nvSpPr>
          <p:cNvPr id="4" name="Text 2"/>
          <p:cNvSpPr/>
          <p:nvPr/>
        </p:nvSpPr>
        <p:spPr>
          <a:xfrm>
            <a:off x="502920" y="1536192"/>
            <a:ext cx="11185855" cy="457200"/>
          </a:xfrm>
          <a:prstGeom prst="rect">
            <a:avLst/>
          </a:prstGeom>
          <a:noFill/>
          <a:ln/>
        </p:spPr>
        <p:txBody>
          <a:bodyPr wrap="square" lIns="0" tIns="0" rIns="0" bIns="0" rtlCol="0" anchor="t"/>
          <a:lstStyle/>
          <a:p>
            <a:pPr indent="0" marL="0">
              <a:buNone/>
            </a:pPr>
            <a:r>
              <a:rPr lang="en-US" sz="1250" dirty="0">
                <a:solidFill>
                  <a:srgbClr val="8C8C8C"/>
                </a:solidFill>
                <a:latin typeface="Arial" pitchFamily="34" charset="0"/>
                <a:ea typeface="Arial" pitchFamily="34" charset="-122"/>
                <a:cs typeface="Arial" pitchFamily="34" charset="-120"/>
              </a:rPr>
              <a:t>El OPEX que sorprende en la factura.</a:t>
            </a:r>
            <a:endParaRPr lang="en-US" sz="1250" dirty="0"/>
          </a:p>
        </p:txBody>
      </p:sp>
      <p:sp>
        <p:nvSpPr>
          <p:cNvPr id="5" name="Shape 3"/>
          <p:cNvSpPr/>
          <p:nvPr/>
        </p:nvSpPr>
        <p:spPr>
          <a:xfrm>
            <a:off x="502920"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685800" y="2066544"/>
            <a:ext cx="5099152" cy="411480"/>
          </a:xfrm>
          <a:prstGeom prst="rect">
            <a:avLst/>
          </a:prstGeom>
          <a:noFill/>
          <a:ln/>
        </p:spPr>
        <p:txBody>
          <a:bodyPr wrap="square" lIns="0" tIns="0" rIns="0" bIns="0" rtlCol="0" anchor="t"/>
          <a:lstStyle/>
          <a:p>
            <a:pPr indent="0" marL="0">
              <a:buNone/>
            </a:pPr>
            <a:r>
              <a:rPr lang="en-US" sz="1300" dirty="0">
                <a:solidFill>
                  <a:srgbClr val="FF3B30"/>
                </a:solidFill>
                <a:latin typeface="Arial Black" pitchFamily="34" charset="0"/>
                <a:ea typeface="Arial Black" pitchFamily="34" charset="-122"/>
                <a:cs typeface="Arial Black" pitchFamily="34" charset="-120"/>
              </a:rPr>
              <a:t>EGRESO DE DATOS</a:t>
            </a:r>
            <a:endParaRPr lang="en-US" sz="1300" dirty="0"/>
          </a:p>
        </p:txBody>
      </p:sp>
      <p:sp>
        <p:nvSpPr>
          <p:cNvPr id="7" name="Text 5"/>
          <p:cNvSpPr/>
          <p:nvPr/>
        </p:nvSpPr>
        <p:spPr>
          <a:xfrm>
            <a:off x="685800"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Sacar datos de la nube cuesta; el ingreso suele ser gratis.</a:t>
            </a:r>
            <a:endParaRPr lang="en-US" sz="1100" dirty="0"/>
          </a:p>
        </p:txBody>
      </p:sp>
      <p:sp>
        <p:nvSpPr>
          <p:cNvPr id="8" name="Shape 6"/>
          <p:cNvSpPr/>
          <p:nvPr/>
        </p:nvSpPr>
        <p:spPr>
          <a:xfrm>
            <a:off x="6223864" y="19202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9" name="Text 7"/>
          <p:cNvSpPr/>
          <p:nvPr/>
        </p:nvSpPr>
        <p:spPr>
          <a:xfrm>
            <a:off x="6406744" y="2066544"/>
            <a:ext cx="5099152" cy="411480"/>
          </a:xfrm>
          <a:prstGeom prst="rect">
            <a:avLst/>
          </a:prstGeom>
          <a:noFill/>
          <a:ln/>
        </p:spPr>
        <p:txBody>
          <a:bodyPr wrap="square" lIns="0" tIns="0" rIns="0" bIns="0" rtlCol="0" anchor="t"/>
          <a:lstStyle/>
          <a:p>
            <a:pPr indent="0" marL="0">
              <a:buNone/>
            </a:pPr>
            <a:r>
              <a:rPr lang="en-US" sz="1600" dirty="0">
                <a:solidFill>
                  <a:srgbClr val="FFB000"/>
                </a:solidFill>
                <a:latin typeface="Arial Black" pitchFamily="34" charset="0"/>
                <a:ea typeface="Arial Black" pitchFamily="34" charset="-122"/>
                <a:cs typeface="Arial Black" pitchFamily="34" charset="-120"/>
              </a:rPr>
              <a:t>ALMACENAMIENTO</a:t>
            </a:r>
            <a:endParaRPr lang="en-US" sz="1600" dirty="0"/>
          </a:p>
        </p:txBody>
      </p:sp>
      <p:sp>
        <p:nvSpPr>
          <p:cNvPr id="10" name="Text 8"/>
          <p:cNvSpPr/>
          <p:nvPr/>
        </p:nvSpPr>
        <p:spPr>
          <a:xfrm>
            <a:off x="6406744" y="25237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Guardar todo el histórico crece sin límite si no se gestiona.</a:t>
            </a:r>
            <a:endParaRPr lang="en-US" sz="1100" dirty="0"/>
          </a:p>
        </p:txBody>
      </p:sp>
      <p:sp>
        <p:nvSpPr>
          <p:cNvPr id="11" name="Shape 9"/>
          <p:cNvSpPr/>
          <p:nvPr/>
        </p:nvSpPr>
        <p:spPr>
          <a:xfrm>
            <a:off x="502920"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2" name="Text 10"/>
          <p:cNvSpPr/>
          <p:nvPr/>
        </p:nvSpPr>
        <p:spPr>
          <a:xfrm>
            <a:off x="685800" y="3895344"/>
            <a:ext cx="5099152" cy="411480"/>
          </a:xfrm>
          <a:prstGeom prst="rect">
            <a:avLst/>
          </a:prstGeom>
          <a:noFill/>
          <a:ln/>
        </p:spPr>
        <p:txBody>
          <a:bodyPr wrap="square" lIns="0" tIns="0" rIns="0" bIns="0" rtlCol="0" anchor="t"/>
          <a:lstStyle/>
          <a:p>
            <a:pPr indent="0" marL="0">
              <a:buNone/>
            </a:pPr>
            <a:r>
              <a:rPr lang="en-US" sz="1600" dirty="0">
                <a:solidFill>
                  <a:srgbClr val="27E5E5"/>
                </a:solidFill>
                <a:latin typeface="Arial Black" pitchFamily="34" charset="0"/>
                <a:ea typeface="Arial Black" pitchFamily="34" charset="-122"/>
                <a:cs typeface="Arial Black" pitchFamily="34" charset="-120"/>
              </a:rPr>
              <a:t>CÓMPUTO</a:t>
            </a:r>
            <a:endParaRPr lang="en-US" sz="1600" dirty="0"/>
          </a:p>
        </p:txBody>
      </p:sp>
      <p:sp>
        <p:nvSpPr>
          <p:cNvPr id="13" name="Text 11"/>
          <p:cNvSpPr/>
          <p:nvPr/>
        </p:nvSpPr>
        <p:spPr>
          <a:xfrm>
            <a:off x="685800"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Entrenar modelos y consultas pesadas se pagan por uso.</a:t>
            </a:r>
            <a:endParaRPr lang="en-US" sz="1100" dirty="0"/>
          </a:p>
        </p:txBody>
      </p:sp>
      <p:sp>
        <p:nvSpPr>
          <p:cNvPr id="14" name="Shape 12"/>
          <p:cNvSpPr/>
          <p:nvPr/>
        </p:nvSpPr>
        <p:spPr>
          <a:xfrm>
            <a:off x="6223864" y="3749040"/>
            <a:ext cx="5464912" cy="1572768"/>
          </a:xfrm>
          <a:prstGeom prst="roundRect">
            <a:avLst>
              <a:gd name="adj" fmla="val 348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15" name="Text 13"/>
          <p:cNvSpPr/>
          <p:nvPr/>
        </p:nvSpPr>
        <p:spPr>
          <a:xfrm>
            <a:off x="6406744" y="3895344"/>
            <a:ext cx="5099152" cy="411480"/>
          </a:xfrm>
          <a:prstGeom prst="rect">
            <a:avLst/>
          </a:prstGeom>
          <a:noFill/>
          <a:ln/>
        </p:spPr>
        <p:txBody>
          <a:bodyPr wrap="square" lIns="0" tIns="0" rIns="0" bIns="0" rtlCol="0" anchor="t"/>
          <a:lstStyle/>
          <a:p>
            <a:pPr indent="0" marL="0">
              <a:buNone/>
            </a:pPr>
            <a:r>
              <a:rPr lang="en-US" sz="1600" dirty="0">
                <a:solidFill>
                  <a:srgbClr val="C6FF00"/>
                </a:solidFill>
                <a:latin typeface="Arial Black" pitchFamily="34" charset="0"/>
                <a:ea typeface="Arial Black" pitchFamily="34" charset="-122"/>
                <a:cs typeface="Arial Black" pitchFamily="34" charset="-120"/>
              </a:rPr>
              <a:t>OPTIMIZAR</a:t>
            </a:r>
            <a:endParaRPr lang="en-US" sz="1600" dirty="0"/>
          </a:p>
        </p:txBody>
      </p:sp>
      <p:sp>
        <p:nvSpPr>
          <p:cNvPr id="16" name="Text 14"/>
          <p:cNvSpPr/>
          <p:nvPr/>
        </p:nvSpPr>
        <p:spPr>
          <a:xfrm>
            <a:off x="6406744" y="4352544"/>
            <a:ext cx="5099152" cy="841248"/>
          </a:xfrm>
          <a:prstGeom prst="rect">
            <a:avLst/>
          </a:prstGeom>
          <a:noFill/>
          <a:ln/>
        </p:spPr>
        <p:txBody>
          <a:bodyPr wrap="square" lIns="0" tIns="0" rIns="0" bIns="0" rtlCol="0" anchor="t"/>
          <a:lstStyle/>
          <a:p>
            <a:pPr indent="0" marL="0">
              <a:lnSpc>
                <a:spcPct val="105000"/>
              </a:lnSpc>
              <a:buNone/>
            </a:pPr>
            <a:r>
              <a:rPr lang="en-US" sz="1100" dirty="0">
                <a:solidFill>
                  <a:srgbClr val="F4F4F4"/>
                </a:solidFill>
                <a:latin typeface="Arial" pitchFamily="34" charset="0"/>
                <a:ea typeface="Arial" pitchFamily="34" charset="-122"/>
                <a:cs typeface="Arial" pitchFamily="34" charset="-120"/>
              </a:rPr>
              <a:t>Filtrar en el borde reduce egreso y almacenamiento.</a:t>
            </a:r>
            <a:endParaRPr lang="en-US" sz="1100" dirty="0"/>
          </a:p>
        </p:txBody>
      </p:sp>
      <p:sp>
        <p:nvSpPr>
          <p:cNvPr id="17" name="Text 1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8" name="Text 1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9" name="Text 1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38 / 46</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33  CONECTIVIDAD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LAB 4 — ARQUITECTURA DE REFERENCIA IIOT</a:t>
            </a:r>
            <a:endParaRPr lang="en-US" sz="3000" dirty="0"/>
          </a:p>
        </p:txBody>
      </p:sp>
      <p:sp>
        <p:nvSpPr>
          <p:cNvPr id="4" name="Shape 2"/>
          <p:cNvSpPr/>
          <p:nvPr/>
        </p:nvSpPr>
        <p:spPr>
          <a:xfrm>
            <a:off x="502920" y="1783080"/>
            <a:ext cx="11185855" cy="1280160"/>
          </a:xfrm>
          <a:prstGeom prst="roundRect">
            <a:avLst>
              <a:gd name="adj" fmla="val 4286"/>
            </a:avLst>
          </a:prstGeom>
          <a:solidFill>
            <a:srgbClr val="1E1E1E"/>
          </a:solidFill>
          <a:ln w="12700">
            <a:solidFill>
              <a:srgbClr val="333333"/>
            </a:solidFill>
            <a:prstDash val="solid"/>
          </a:ln>
        </p:spPr>
      </p:sp>
      <p:sp>
        <p:nvSpPr>
          <p:cNvPr id="5" name="Text 3"/>
          <p:cNvSpPr/>
          <p:nvPr/>
        </p:nvSpPr>
        <p:spPr>
          <a:xfrm>
            <a:off x="731520" y="1965960"/>
            <a:ext cx="2743200" cy="365760"/>
          </a:xfrm>
          <a:prstGeom prst="rect">
            <a:avLst/>
          </a:prstGeom>
          <a:noFill/>
          <a:ln/>
        </p:spPr>
        <p:txBody>
          <a:bodyPr wrap="square" lIns="0" tIns="0" rIns="0" bIns="0" rtlCol="0" anchor="t"/>
          <a:lstStyle/>
          <a:p>
            <a:pPr indent="0" marL="0">
              <a:buNone/>
            </a:pPr>
            <a:r>
              <a:rPr lang="en-US" sz="1200" b="1" dirty="0">
                <a:solidFill>
                  <a:srgbClr val="C6FF00"/>
                </a:solidFill>
                <a:latin typeface="Courier New" pitchFamily="34" charset="0"/>
                <a:ea typeface="Courier New" pitchFamily="34" charset="-122"/>
                <a:cs typeface="Courier New" pitchFamily="34" charset="-120"/>
              </a:rPr>
              <a:t>SEGUIMIENTO</a:t>
            </a:r>
            <a:endParaRPr lang="en-US" sz="1200" dirty="0"/>
          </a:p>
        </p:txBody>
      </p:sp>
      <p:sp>
        <p:nvSpPr>
          <p:cNvPr id="6" name="Text 4"/>
          <p:cNvSpPr/>
          <p:nvPr/>
        </p:nvSpPr>
        <p:spPr>
          <a:xfrm>
            <a:off x="731520" y="2286000"/>
            <a:ext cx="10728655" cy="731520"/>
          </a:xfrm>
          <a:prstGeom prst="rect">
            <a:avLst/>
          </a:prstGeom>
          <a:noFill/>
          <a:ln/>
        </p:spPr>
        <p:txBody>
          <a:bodyPr wrap="square" lIns="0" tIns="0" rIns="0" bIns="0" rtlCol="0" anchor="t"/>
          <a:lstStyle/>
          <a:p>
            <a:pPr indent="0" marL="0">
              <a:buNone/>
            </a:pPr>
            <a:r>
              <a:rPr lang="en-US" sz="2600" dirty="0">
                <a:solidFill>
                  <a:srgbClr val="F4F4F4"/>
                </a:solidFill>
                <a:latin typeface="Arial Black" pitchFamily="34" charset="0"/>
                <a:ea typeface="Arial Black" pitchFamily="34" charset="-122"/>
                <a:cs typeface="Arial Black" pitchFamily="34" charset="-120"/>
              </a:rPr>
              <a:t>DISEÑAR LA ARQUITECTURA DEL PROYECTO</a:t>
            </a:r>
            <a:endParaRPr lang="en-US" sz="2600" dirty="0"/>
          </a:p>
        </p:txBody>
      </p:sp>
      <p:sp>
        <p:nvSpPr>
          <p:cNvPr id="7" name="Text 5"/>
          <p:cNvSpPr/>
          <p:nvPr/>
        </p:nvSpPr>
        <p:spPr>
          <a:xfrm>
            <a:off x="502920" y="3291840"/>
            <a:ext cx="11185855" cy="320040"/>
          </a:xfrm>
          <a:prstGeom prst="rect">
            <a:avLst/>
          </a:prstGeom>
          <a:noFill/>
          <a:ln/>
        </p:spPr>
        <p:txBody>
          <a:bodyPr wrap="square" lIns="0" tIns="0" rIns="0" bIns="0" rtlCol="0" anchor="ctr"/>
          <a:lstStyle/>
          <a:p>
            <a:pPr indent="0" marL="0">
              <a:buNone/>
            </a:pPr>
            <a:r>
              <a:rPr lang="en-US" sz="1100" b="1" dirty="0">
                <a:solidFill>
                  <a:srgbClr val="C6FF00"/>
                </a:solidFill>
                <a:latin typeface="Courier New" pitchFamily="34" charset="0"/>
                <a:ea typeface="Courier New" pitchFamily="34" charset="-122"/>
                <a:cs typeface="Courier New" pitchFamily="34" charset="-120"/>
              </a:rPr>
              <a:t>// QUÉ SE HACE</a:t>
            </a:r>
            <a:endParaRPr lang="en-US" sz="1100" dirty="0"/>
          </a:p>
        </p:txBody>
      </p:sp>
      <p:sp>
        <p:nvSpPr>
          <p:cNvPr id="8" name="Text 6"/>
          <p:cNvSpPr/>
          <p:nvPr/>
        </p:nvSpPr>
        <p:spPr>
          <a:xfrm>
            <a:off x="502920" y="3657600"/>
            <a:ext cx="11185855" cy="1280160"/>
          </a:xfrm>
          <a:prstGeom prst="rect">
            <a:avLst/>
          </a:prstGeom>
          <a:noFill/>
          <a:ln/>
        </p:spPr>
        <p:txBody>
          <a:bodyPr wrap="square" lIns="0" tIns="0" rIns="0" bIns="0" rtlCol="0" anchor="t"/>
          <a:lstStyle/>
          <a:p>
            <a:pPr indent="0" marL="0">
              <a:lnSpc>
                <a:spcPct val="112000"/>
              </a:lnSpc>
              <a:buNone/>
            </a:pPr>
            <a:r>
              <a:rPr lang="en-US" sz="1300" dirty="0">
                <a:solidFill>
                  <a:srgbClr val="F4F4F4"/>
                </a:solidFill>
                <a:latin typeface="Arial" pitchFamily="34" charset="0"/>
                <a:ea typeface="Arial" pitchFamily="34" charset="-122"/>
                <a:cs typeface="Arial" pitchFamily="34" charset="-120"/>
              </a:rPr>
              <a:t>Para el proyecto: 1) diseña la arquitectura IIoT de referencia (dispositivo→gateway→borde→plataforma→app). 2) Justifica qué se procesa en el borde y qué en la nube con los cinco criterios. 3) Marca los flujos que cruzan la frontera IT/OT y su control. Entregable: diagrama de arquitectura con decisiones justificadas.</a:t>
            </a:r>
            <a:endParaRPr lang="en-US" sz="1300" dirty="0"/>
          </a:p>
        </p:txBody>
      </p:sp>
      <p:sp>
        <p:nvSpPr>
          <p:cNvPr id="9" name="Shape 7"/>
          <p:cNvSpPr/>
          <p:nvPr/>
        </p:nvSpPr>
        <p:spPr>
          <a:xfrm>
            <a:off x="502920" y="5358384"/>
            <a:ext cx="5364328" cy="914400"/>
          </a:xfrm>
          <a:prstGeom prst="roundRect">
            <a:avLst>
              <a:gd name="adj" fmla="val 5000"/>
            </a:avLst>
          </a:prstGeom>
          <a:solidFill>
            <a:srgbClr val="151515"/>
          </a:solidFill>
          <a:ln w="12700">
            <a:solidFill>
              <a:srgbClr val="333333"/>
            </a:solidFill>
            <a:prstDash val="solid"/>
          </a:ln>
        </p:spPr>
      </p:sp>
      <p:sp>
        <p:nvSpPr>
          <p:cNvPr id="10" name="Text 8"/>
          <p:cNvSpPr/>
          <p:nvPr/>
        </p:nvSpPr>
        <p:spPr>
          <a:xfrm>
            <a:off x="685800" y="5486400"/>
            <a:ext cx="4998568" cy="320040"/>
          </a:xfrm>
          <a:prstGeom prst="rect">
            <a:avLst/>
          </a:prstGeom>
          <a:noFill/>
          <a:ln/>
        </p:spPr>
        <p:txBody>
          <a:bodyPr wrap="square" lIns="0" tIns="0" rIns="0" bIns="0" rtlCol="0" anchor="ctr"/>
          <a:lstStyle/>
          <a:p>
            <a:pPr indent="0" marL="0">
              <a:buNone/>
            </a:pPr>
            <a:r>
              <a:rPr lang="en-US" sz="950" b="1" dirty="0">
                <a:solidFill>
                  <a:srgbClr val="27E5E5"/>
                </a:solidFill>
                <a:latin typeface="Courier New" pitchFamily="34" charset="0"/>
                <a:ea typeface="Courier New" pitchFamily="34" charset="-122"/>
                <a:cs typeface="Courier New" pitchFamily="34" charset="-120"/>
              </a:rPr>
              <a:t>FORMATO</a:t>
            </a:r>
            <a:endParaRPr lang="en-US" sz="950" dirty="0"/>
          </a:p>
        </p:txBody>
      </p:sp>
      <p:sp>
        <p:nvSpPr>
          <p:cNvPr id="11" name="Text 9"/>
          <p:cNvSpPr/>
          <p:nvPr/>
        </p:nvSpPr>
        <p:spPr>
          <a:xfrm>
            <a:off x="685800"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Diagrama + tabla de decisiones edge/cloud</a:t>
            </a:r>
            <a:endParaRPr lang="en-US" sz="1200" dirty="0"/>
          </a:p>
        </p:txBody>
      </p:sp>
      <p:sp>
        <p:nvSpPr>
          <p:cNvPr id="12" name="Shape 10"/>
          <p:cNvSpPr/>
          <p:nvPr/>
        </p:nvSpPr>
        <p:spPr>
          <a:xfrm>
            <a:off x="6324448" y="5358384"/>
            <a:ext cx="5364328" cy="914400"/>
          </a:xfrm>
          <a:prstGeom prst="roundRect">
            <a:avLst>
              <a:gd name="adj" fmla="val 5000"/>
            </a:avLst>
          </a:prstGeom>
          <a:solidFill>
            <a:srgbClr val="151515"/>
          </a:solidFill>
          <a:ln w="12700">
            <a:solidFill>
              <a:srgbClr val="333333"/>
            </a:solidFill>
            <a:prstDash val="solid"/>
          </a:ln>
        </p:spPr>
      </p:sp>
      <p:sp>
        <p:nvSpPr>
          <p:cNvPr id="13" name="Text 11"/>
          <p:cNvSpPr/>
          <p:nvPr/>
        </p:nvSpPr>
        <p:spPr>
          <a:xfrm>
            <a:off x="6507328" y="5486400"/>
            <a:ext cx="4998568" cy="320040"/>
          </a:xfrm>
          <a:prstGeom prst="rect">
            <a:avLst/>
          </a:prstGeom>
          <a:noFill/>
          <a:ln/>
        </p:spPr>
        <p:txBody>
          <a:bodyPr wrap="square" lIns="0" tIns="0" rIns="0" bIns="0" rtlCol="0" anchor="ctr"/>
          <a:lstStyle/>
          <a:p>
            <a:pPr indent="0" marL="0">
              <a:buNone/>
            </a:pPr>
            <a:r>
              <a:rPr lang="en-US" sz="950" b="1" dirty="0">
                <a:solidFill>
                  <a:srgbClr val="FFB000"/>
                </a:solidFill>
                <a:latin typeface="Courier New" pitchFamily="34" charset="0"/>
                <a:ea typeface="Courier New" pitchFamily="34" charset="-122"/>
                <a:cs typeface="Courier New" pitchFamily="34" charset="-120"/>
              </a:rPr>
              <a:t>ALIMENTA</a:t>
            </a:r>
            <a:endParaRPr lang="en-US" sz="950" dirty="0"/>
          </a:p>
        </p:txBody>
      </p:sp>
      <p:sp>
        <p:nvSpPr>
          <p:cNvPr id="14" name="Text 12"/>
          <p:cNvSpPr/>
          <p:nvPr/>
        </p:nvSpPr>
        <p:spPr>
          <a:xfrm>
            <a:off x="6507328" y="5779008"/>
            <a:ext cx="4998568" cy="457200"/>
          </a:xfrm>
          <a:prstGeom prst="rect">
            <a:avLst/>
          </a:prstGeom>
          <a:noFill/>
          <a:ln/>
        </p:spPr>
        <p:txBody>
          <a:bodyPr wrap="square" lIns="0" tIns="0" rIns="0" bIns="0" rtlCol="0" anchor="t"/>
          <a:lstStyle/>
          <a:p>
            <a:pPr indent="0" marL="0">
              <a:buNone/>
            </a:pPr>
            <a:r>
              <a:rPr lang="en-US" sz="1200" dirty="0">
                <a:solidFill>
                  <a:srgbClr val="F4F4F4"/>
                </a:solidFill>
                <a:latin typeface="Arial" pitchFamily="34" charset="0"/>
                <a:ea typeface="Arial" pitchFamily="34" charset="-122"/>
                <a:cs typeface="Arial" pitchFamily="34" charset="-120"/>
              </a:rPr>
              <a:t>Entregable 2 (semana 13)</a:t>
            </a:r>
            <a:endParaRPr lang="en-US" sz="1200" dirty="0"/>
          </a:p>
        </p:txBody>
      </p:sp>
      <p:sp>
        <p:nvSpPr>
          <p:cNvPr id="15" name="Text 13"/>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6" name="Text 14"/>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7" name="Text 15"/>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39 / 46</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34  CONECTIVIDAD</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IDEAS PARA EL PROYECTO</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REPARTE CON CRITERIO</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Usa los cinco criterios para decidir borde vs nube.</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CONTROL AL BORDE</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 control crítico nunca depende de la nube.</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EVITA EL LOCK-IN</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Exige estándares abiertos y portabilidad.</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PROTEGE EL BORDE</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Identidad, cifrado y segmentación desde el inicio.</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GOBIERNA EL DATO</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Decide y aprueba qué cruza a la nube.</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40 / 46</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01010"/>
        </a:solidFill>
      </p:bgPr>
    </p:bg>
    <p:spTree>
      <p:nvGrpSpPr>
        <p:cNvPr id="1" name=""/>
        <p:cNvGrpSpPr/>
        <p:nvPr/>
      </p:nvGrpSpPr>
      <p:grpSpPr>
        <a:xfrm>
          <a:off x="0" y="0"/>
          <a:ext cx="0" cy="0"/>
          <a:chOff x="0" y="0"/>
          <a:chExt cx="0" cy="0"/>
        </a:xfrm>
      </p:grpSpPr>
      <p:sp>
        <p:nvSpPr>
          <p:cNvPr id="2" name="Text 0"/>
          <p:cNvSpPr/>
          <p:nvPr/>
        </p:nvSpPr>
        <p:spPr>
          <a:xfrm>
            <a:off x="502920" y="2011680"/>
            <a:ext cx="5486400" cy="365760"/>
          </a:xfrm>
          <a:prstGeom prst="rect">
            <a:avLst/>
          </a:prstGeom>
          <a:noFill/>
          <a:ln/>
        </p:spPr>
        <p:txBody>
          <a:bodyPr wrap="square" lIns="0" tIns="0" rIns="0" bIns="0" rtlCol="0" anchor="ctr"/>
          <a:lstStyle/>
          <a:p>
            <a:pPr indent="0" marL="0">
              <a:buNone/>
            </a:pPr>
            <a:r>
              <a:rPr lang="en-US" sz="1400" b="1" spc="300" kern="0" dirty="0">
                <a:solidFill>
                  <a:srgbClr val="C6FF00"/>
                </a:solidFill>
                <a:latin typeface="Courier New" pitchFamily="34" charset="0"/>
                <a:ea typeface="Courier New" pitchFamily="34" charset="-122"/>
                <a:cs typeface="Courier New" pitchFamily="34" charset="-120"/>
              </a:rPr>
              <a:t>SECCIÓN</a:t>
            </a:r>
            <a:endParaRPr lang="en-US" sz="1400" dirty="0"/>
          </a:p>
        </p:txBody>
      </p:sp>
      <p:sp>
        <p:nvSpPr>
          <p:cNvPr id="3" name="Text 1"/>
          <p:cNvSpPr/>
          <p:nvPr/>
        </p:nvSpPr>
        <p:spPr>
          <a:xfrm>
            <a:off x="7848295" y="1097280"/>
            <a:ext cx="3840480" cy="3840480"/>
          </a:xfrm>
          <a:prstGeom prst="rect">
            <a:avLst/>
          </a:prstGeom>
          <a:noFill/>
          <a:ln/>
        </p:spPr>
        <p:txBody>
          <a:bodyPr wrap="square" lIns="0" tIns="0" rIns="0" bIns="0" rtlCol="0" anchor="ctr"/>
          <a:lstStyle/>
          <a:p>
            <a:pPr algn="r" indent="0" marL="0">
              <a:buNone/>
            </a:pPr>
            <a:r>
              <a:rPr lang="en-US" sz="20000" dirty="0">
                <a:solidFill>
                  <a:srgbClr val="151515"/>
                </a:solidFill>
                <a:latin typeface="Arial Black" pitchFamily="34" charset="0"/>
                <a:ea typeface="Arial Black" pitchFamily="34" charset="-122"/>
                <a:cs typeface="Arial Black" pitchFamily="34" charset="-120"/>
              </a:rPr>
              <a:t>06</a:t>
            </a:r>
            <a:endParaRPr lang="en-US" sz="20000" dirty="0"/>
          </a:p>
        </p:txBody>
      </p:sp>
      <p:sp>
        <p:nvSpPr>
          <p:cNvPr id="4" name="Text 2"/>
          <p:cNvSpPr/>
          <p:nvPr/>
        </p:nvSpPr>
        <p:spPr>
          <a:xfrm>
            <a:off x="502920" y="2423160"/>
            <a:ext cx="10271455" cy="1737360"/>
          </a:xfrm>
          <a:prstGeom prst="rect">
            <a:avLst/>
          </a:prstGeom>
          <a:noFill/>
          <a:ln/>
        </p:spPr>
        <p:txBody>
          <a:bodyPr wrap="square" lIns="0" tIns="0" rIns="0" bIns="0" rtlCol="0" anchor="t"/>
          <a:lstStyle/>
          <a:p>
            <a:pPr indent="0" marL="0">
              <a:lnSpc>
                <a:spcPct val="96000"/>
              </a:lnSpc>
              <a:buNone/>
            </a:pPr>
            <a:r>
              <a:rPr lang="en-US" sz="4000" dirty="0">
                <a:solidFill>
                  <a:srgbClr val="F4F4F4"/>
                </a:solidFill>
                <a:latin typeface="Arial Black" pitchFamily="34" charset="0"/>
                <a:ea typeface="Arial Black" pitchFamily="34" charset="-122"/>
                <a:cs typeface="Arial Black" pitchFamily="34" charset="-120"/>
              </a:rPr>
              <a:t>CIERRE DE LA UNIDAD 2</a:t>
            </a:r>
            <a:endParaRPr lang="en-US" sz="4000" dirty="0"/>
          </a:p>
        </p:txBody>
      </p:sp>
      <p:sp>
        <p:nvSpPr>
          <p:cNvPr id="5" name="Text 3"/>
          <p:cNvSpPr/>
          <p:nvPr/>
        </p:nvSpPr>
        <p:spPr>
          <a:xfrm>
            <a:off x="502920" y="4343400"/>
            <a:ext cx="11185855" cy="548640"/>
          </a:xfrm>
          <a:prstGeom prst="rect">
            <a:avLst/>
          </a:prstGeom>
          <a:noFill/>
          <a:ln/>
        </p:spPr>
        <p:txBody>
          <a:bodyPr wrap="square" lIns="0" tIns="0" rIns="0" bIns="0" rtlCol="0" anchor="t"/>
          <a:lstStyle/>
          <a:p>
            <a:pPr indent="0" marL="0">
              <a:buNone/>
            </a:pPr>
            <a:r>
              <a:rPr lang="en-US" sz="1300" b="1" dirty="0">
                <a:solidFill>
                  <a:srgbClr val="C6FF00"/>
                </a:solidFill>
                <a:latin typeface="Courier New" pitchFamily="34" charset="0"/>
                <a:ea typeface="Courier New" pitchFamily="34" charset="-122"/>
                <a:cs typeface="Courier New" pitchFamily="34" charset="-120"/>
              </a:rPr>
              <a:t>&gt; </a:t>
            </a:r>
            <a:pPr indent="0" marL="0">
              <a:buNone/>
            </a:pPr>
            <a:r>
              <a:rPr lang="en-US" sz="1300" dirty="0">
                <a:solidFill>
                  <a:srgbClr val="8C8C8C"/>
                </a:solidFill>
                <a:latin typeface="Courier New" pitchFamily="34" charset="0"/>
                <a:ea typeface="Courier New" pitchFamily="34" charset="-122"/>
                <a:cs typeface="Courier New" pitchFamily="34" charset="-120"/>
              </a:rPr>
              <a:t>Síntesis, glosario y referencias</a:t>
            </a:r>
            <a:endParaRPr lang="en-US" sz="1300" dirty="0"/>
          </a:p>
        </p:txBody>
      </p:sp>
      <p:sp>
        <p:nvSpPr>
          <p:cNvPr id="6" name="Text 4"/>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7" name="Text 5"/>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8" name="Text 6"/>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41 / 46</a:t>
            </a:r>
            <a:endParaRPr lang="en-US" sz="800" dirty="0"/>
          </a:p>
        </p:txBody>
      </p:sp>
      <p:sp>
        <p:nvSpPr>
          <p:cNvPr id="9" name="Text 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10" name="Text 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1" name="Text 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41 / 46</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35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PUNTOS CLAVE PARA RECORDAR</a:t>
            </a:r>
            <a:endParaRPr lang="en-US" sz="3300" dirty="0"/>
          </a:p>
        </p:txBody>
      </p:sp>
      <p:sp>
        <p:nvSpPr>
          <p:cNvPr id="4" name="Shape 2"/>
          <p:cNvSpPr/>
          <p:nvPr/>
        </p:nvSpPr>
        <p:spPr>
          <a:xfrm>
            <a:off x="502920" y="1783080"/>
            <a:ext cx="11185855" cy="780898"/>
          </a:xfrm>
          <a:prstGeom prst="roundRect">
            <a:avLst>
              <a:gd name="adj" fmla="val 5855"/>
            </a:avLst>
          </a:prstGeom>
          <a:solidFill>
            <a:srgbClr val="151515"/>
          </a:solidFill>
          <a:ln w="12700">
            <a:solidFill>
              <a:srgbClr val="333333"/>
            </a:solidFill>
            <a:prstDash val="solid"/>
          </a:ln>
        </p:spPr>
      </p:sp>
      <p:sp>
        <p:nvSpPr>
          <p:cNvPr id="5" name="Text 3"/>
          <p:cNvSpPr/>
          <p:nvPr/>
        </p:nvSpPr>
        <p:spPr>
          <a:xfrm>
            <a:off x="731520" y="1783080"/>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ARQUITECTURA IIOT</a:t>
            </a:r>
            <a:endParaRPr lang="en-US" sz="1200" dirty="0"/>
          </a:p>
        </p:txBody>
      </p:sp>
      <p:sp>
        <p:nvSpPr>
          <p:cNvPr id="6" name="Text 4"/>
          <p:cNvSpPr/>
          <p:nvPr/>
        </p:nvSpPr>
        <p:spPr>
          <a:xfrm>
            <a:off x="4251960" y="1783080"/>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Dispositivo → gateway → borde → plataforma → app.</a:t>
            </a:r>
            <a:endParaRPr lang="en-US" sz="1250" dirty="0"/>
          </a:p>
        </p:txBody>
      </p:sp>
      <p:sp>
        <p:nvSpPr>
          <p:cNvPr id="7" name="Shape 5"/>
          <p:cNvSpPr/>
          <p:nvPr/>
        </p:nvSpPr>
        <p:spPr>
          <a:xfrm>
            <a:off x="502920" y="2710282"/>
            <a:ext cx="11185855" cy="780898"/>
          </a:xfrm>
          <a:prstGeom prst="roundRect">
            <a:avLst>
              <a:gd name="adj" fmla="val 5855"/>
            </a:avLst>
          </a:prstGeom>
          <a:solidFill>
            <a:srgbClr val="151515"/>
          </a:solidFill>
          <a:ln w="12700">
            <a:solidFill>
              <a:srgbClr val="333333"/>
            </a:solidFill>
            <a:prstDash val="solid"/>
          </a:ln>
        </p:spPr>
      </p:sp>
      <p:sp>
        <p:nvSpPr>
          <p:cNvPr id="8" name="Text 6"/>
          <p:cNvSpPr/>
          <p:nvPr/>
        </p:nvSpPr>
        <p:spPr>
          <a:xfrm>
            <a:off x="731520" y="2710282"/>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EDGE/FOG/CLOUD</a:t>
            </a:r>
            <a:endParaRPr lang="en-US" sz="1200" dirty="0"/>
          </a:p>
        </p:txBody>
      </p:sp>
      <p:sp>
        <p:nvSpPr>
          <p:cNvPr id="9" name="Text 7"/>
          <p:cNvSpPr/>
          <p:nvPr/>
        </p:nvSpPr>
        <p:spPr>
          <a:xfrm>
            <a:off x="4251960" y="2710282"/>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Un continuo; se reparte con cinco criterios.</a:t>
            </a:r>
            <a:endParaRPr lang="en-US" sz="1250" dirty="0"/>
          </a:p>
        </p:txBody>
      </p:sp>
      <p:sp>
        <p:nvSpPr>
          <p:cNvPr id="10" name="Shape 8"/>
          <p:cNvSpPr/>
          <p:nvPr/>
        </p:nvSpPr>
        <p:spPr>
          <a:xfrm>
            <a:off x="502920" y="3637483"/>
            <a:ext cx="11185855" cy="780898"/>
          </a:xfrm>
          <a:prstGeom prst="roundRect">
            <a:avLst>
              <a:gd name="adj" fmla="val 5855"/>
            </a:avLst>
          </a:prstGeom>
          <a:solidFill>
            <a:srgbClr val="151515"/>
          </a:solidFill>
          <a:ln w="12700">
            <a:solidFill>
              <a:srgbClr val="333333"/>
            </a:solidFill>
            <a:prstDash val="solid"/>
          </a:ln>
        </p:spPr>
      </p:sp>
      <p:sp>
        <p:nvSpPr>
          <p:cNvPr id="11" name="Text 9"/>
          <p:cNvSpPr/>
          <p:nvPr/>
        </p:nvSpPr>
        <p:spPr>
          <a:xfrm>
            <a:off x="731520" y="3637483"/>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PLATAFORMAS</a:t>
            </a:r>
            <a:endParaRPr lang="en-US" sz="1200" dirty="0"/>
          </a:p>
        </p:txBody>
      </p:sp>
      <p:sp>
        <p:nvSpPr>
          <p:cNvPr id="12" name="Text 10"/>
          <p:cNvSpPr/>
          <p:nvPr/>
        </p:nvSpPr>
        <p:spPr>
          <a:xfrm>
            <a:off x="4251960" y="3637483"/>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Elegir sin quedar cautivo: estándares abiertos.</a:t>
            </a:r>
            <a:endParaRPr lang="en-US" sz="1250" dirty="0"/>
          </a:p>
        </p:txBody>
      </p:sp>
      <p:sp>
        <p:nvSpPr>
          <p:cNvPr id="13" name="Shape 11"/>
          <p:cNvSpPr/>
          <p:nvPr/>
        </p:nvSpPr>
        <p:spPr>
          <a:xfrm>
            <a:off x="502920" y="4564685"/>
            <a:ext cx="11185855" cy="780898"/>
          </a:xfrm>
          <a:prstGeom prst="roundRect">
            <a:avLst>
              <a:gd name="adj" fmla="val 5855"/>
            </a:avLst>
          </a:prstGeom>
          <a:solidFill>
            <a:srgbClr val="151515"/>
          </a:solidFill>
          <a:ln w="12700">
            <a:solidFill>
              <a:srgbClr val="333333"/>
            </a:solidFill>
            <a:prstDash val="solid"/>
          </a:ln>
        </p:spPr>
      </p:sp>
      <p:sp>
        <p:nvSpPr>
          <p:cNvPr id="14" name="Text 12"/>
          <p:cNvSpPr/>
          <p:nvPr/>
        </p:nvSpPr>
        <p:spPr>
          <a:xfrm>
            <a:off x="731520" y="4564685"/>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GOBIERNO</a:t>
            </a:r>
            <a:endParaRPr lang="en-US" sz="1200" dirty="0"/>
          </a:p>
        </p:txBody>
      </p:sp>
      <p:sp>
        <p:nvSpPr>
          <p:cNvPr id="15" name="Text 13"/>
          <p:cNvSpPr/>
          <p:nvPr/>
        </p:nvSpPr>
        <p:spPr>
          <a:xfrm>
            <a:off x="4251960" y="4564685"/>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Qué va dónde es una decisión APO03 con impacto de años.</a:t>
            </a:r>
            <a:endParaRPr lang="en-US" sz="1250" dirty="0"/>
          </a:p>
        </p:txBody>
      </p:sp>
      <p:sp>
        <p:nvSpPr>
          <p:cNvPr id="16" name="Shape 14"/>
          <p:cNvSpPr/>
          <p:nvPr/>
        </p:nvSpPr>
        <p:spPr>
          <a:xfrm>
            <a:off x="502920" y="5491886"/>
            <a:ext cx="11185855" cy="780898"/>
          </a:xfrm>
          <a:prstGeom prst="roundRect">
            <a:avLst>
              <a:gd name="adj" fmla="val 5855"/>
            </a:avLst>
          </a:prstGeom>
          <a:solidFill>
            <a:srgbClr val="151515"/>
          </a:solidFill>
          <a:ln w="12700">
            <a:solidFill>
              <a:srgbClr val="333333"/>
            </a:solidFill>
            <a:prstDash val="solid"/>
          </a:ln>
        </p:spPr>
      </p:sp>
      <p:sp>
        <p:nvSpPr>
          <p:cNvPr id="17" name="Text 15"/>
          <p:cNvSpPr/>
          <p:nvPr/>
        </p:nvSpPr>
        <p:spPr>
          <a:xfrm>
            <a:off x="731520" y="5491886"/>
            <a:ext cx="3474720" cy="780898"/>
          </a:xfrm>
          <a:prstGeom prst="rect">
            <a:avLst/>
          </a:prstGeom>
          <a:noFill/>
          <a:ln/>
        </p:spPr>
        <p:txBody>
          <a:bodyPr wrap="square" lIns="0" tIns="0" rIns="0" bIns="0" rtlCol="0" anchor="ctr"/>
          <a:lstStyle/>
          <a:p>
            <a:pPr indent="0" marL="0">
              <a:buNone/>
            </a:pPr>
            <a:r>
              <a:rPr lang="en-US" sz="1200" b="1" dirty="0">
                <a:solidFill>
                  <a:srgbClr val="C6FF00"/>
                </a:solidFill>
                <a:latin typeface="Courier New" pitchFamily="34" charset="0"/>
                <a:ea typeface="Courier New" pitchFamily="34" charset="-122"/>
                <a:cs typeface="Courier New" pitchFamily="34" charset="-120"/>
              </a:rPr>
              <a:t>SEGURIDAD DEL BORDE</a:t>
            </a:r>
            <a:endParaRPr lang="en-US" sz="1200" dirty="0"/>
          </a:p>
        </p:txBody>
      </p:sp>
      <p:sp>
        <p:nvSpPr>
          <p:cNvPr id="18" name="Text 16"/>
          <p:cNvSpPr/>
          <p:nvPr/>
        </p:nvSpPr>
        <p:spPr>
          <a:xfrm>
            <a:off x="4251960" y="5491886"/>
            <a:ext cx="7208215" cy="780898"/>
          </a:xfrm>
          <a:prstGeom prst="rect">
            <a:avLst/>
          </a:prstGeom>
          <a:noFill/>
          <a:ln/>
        </p:spPr>
        <p:txBody>
          <a:bodyPr wrap="square" lIns="0" tIns="0" rIns="0" bIns="0" rtlCol="0" anchor="ctr"/>
          <a:lstStyle/>
          <a:p>
            <a:pPr indent="0" marL="0">
              <a:buNone/>
            </a:pPr>
            <a:r>
              <a:rPr lang="en-US" sz="1250" dirty="0">
                <a:solidFill>
                  <a:srgbClr val="F4F4F4"/>
                </a:solidFill>
                <a:latin typeface="Arial" pitchFamily="34" charset="0"/>
                <a:ea typeface="Arial" pitchFamily="34" charset="-122"/>
                <a:cs typeface="Arial" pitchFamily="34" charset="-120"/>
              </a:rPr>
              <a:t>Se diseña desde el inicio, no después.</a:t>
            </a:r>
            <a:endParaRPr lang="en-US" sz="1250" dirty="0"/>
          </a:p>
        </p:txBody>
      </p:sp>
      <p:sp>
        <p:nvSpPr>
          <p:cNvPr id="19" name="Text 17"/>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0" name="Text 18"/>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1" name="Text 19"/>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42 / 46</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36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000" dirty="0">
                <a:solidFill>
                  <a:srgbClr val="F4F4F4"/>
                </a:solidFill>
                <a:latin typeface="Arial Black" pitchFamily="34" charset="0"/>
                <a:ea typeface="Arial Black" pitchFamily="34" charset="-122"/>
                <a:cs typeface="Arial Black" pitchFamily="34" charset="-120"/>
              </a:rPr>
              <a:t>CERRAMOS LA UNIDAD 2 — VAMOS A LA 3</a:t>
            </a:r>
            <a:endParaRPr lang="en-US" sz="3000" dirty="0"/>
          </a:p>
        </p:txBody>
      </p:sp>
      <p:sp>
        <p:nvSpPr>
          <p:cNvPr id="4" name="Shape 2"/>
          <p:cNvSpPr/>
          <p:nvPr/>
        </p:nvSpPr>
        <p:spPr>
          <a:xfrm>
            <a:off x="502920" y="1783080"/>
            <a:ext cx="2625014" cy="1554480"/>
          </a:xfrm>
          <a:prstGeom prst="roundRect">
            <a:avLst>
              <a:gd name="adj" fmla="val 3529"/>
            </a:avLst>
          </a:prstGeom>
          <a:solidFill>
            <a:srgbClr val="151515"/>
          </a:solidFill>
          <a:ln w="12700">
            <a:solidFill>
              <a:srgbClr val="333333"/>
            </a:solidFill>
            <a:prstDash val="solid"/>
          </a:ln>
        </p:spPr>
      </p:sp>
      <p:sp>
        <p:nvSpPr>
          <p:cNvPr id="5" name="Text 3"/>
          <p:cNvSpPr/>
          <p:nvPr/>
        </p:nvSpPr>
        <p:spPr>
          <a:xfrm>
            <a:off x="649224" y="1892808"/>
            <a:ext cx="914400" cy="502920"/>
          </a:xfrm>
          <a:prstGeom prst="rect">
            <a:avLst/>
          </a:prstGeom>
          <a:noFill/>
          <a:ln/>
        </p:spPr>
        <p:txBody>
          <a:bodyPr wrap="square" lIns="0" tIns="0" rIns="0" bIns="0" rtlCol="0" anchor="t"/>
          <a:lstStyle/>
          <a:p>
            <a:pPr indent="0" marL="0">
              <a:buNone/>
            </a:pPr>
            <a:r>
              <a:rPr lang="en-US" sz="2200" dirty="0">
                <a:solidFill>
                  <a:srgbClr val="22E06B"/>
                </a:solidFill>
                <a:latin typeface="Arial Black" pitchFamily="34" charset="0"/>
                <a:ea typeface="Arial Black" pitchFamily="34" charset="-122"/>
                <a:cs typeface="Arial Black" pitchFamily="34" charset="-120"/>
              </a:rPr>
              <a:t>U2 ✓</a:t>
            </a:r>
            <a:endParaRPr lang="en-US" sz="2200" dirty="0"/>
          </a:p>
        </p:txBody>
      </p:sp>
      <p:sp>
        <p:nvSpPr>
          <p:cNvPr id="6" name="Text 4"/>
          <p:cNvSpPr/>
          <p:nvPr/>
        </p:nvSpPr>
        <p:spPr>
          <a:xfrm>
            <a:off x="649224"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CPPS</a:t>
            </a:r>
            <a:endParaRPr lang="en-US" sz="1100" dirty="0"/>
          </a:p>
        </p:txBody>
      </p:sp>
      <p:sp>
        <p:nvSpPr>
          <p:cNvPr id="7" name="Text 5"/>
          <p:cNvSpPr/>
          <p:nvPr/>
        </p:nvSpPr>
        <p:spPr>
          <a:xfrm>
            <a:off x="649224"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S06–09 completada.</a:t>
            </a:r>
            <a:endParaRPr lang="en-US" sz="1000" dirty="0"/>
          </a:p>
        </p:txBody>
      </p:sp>
      <p:sp>
        <p:nvSpPr>
          <p:cNvPr id="8" name="Shape 6"/>
          <p:cNvSpPr/>
          <p:nvPr/>
        </p:nvSpPr>
        <p:spPr>
          <a:xfrm>
            <a:off x="3356534" y="1783080"/>
            <a:ext cx="2625014" cy="1554480"/>
          </a:xfrm>
          <a:prstGeom prst="roundRect">
            <a:avLst>
              <a:gd name="adj" fmla="val 3529"/>
            </a:avLst>
          </a:prstGeom>
          <a:solidFill>
            <a:srgbClr val="151515"/>
          </a:solidFill>
          <a:ln w="12700">
            <a:solidFill>
              <a:srgbClr val="333333"/>
            </a:solidFill>
            <a:prstDash val="solid"/>
          </a:ln>
        </p:spPr>
      </p:sp>
      <p:sp>
        <p:nvSpPr>
          <p:cNvPr id="9" name="Text 7"/>
          <p:cNvSpPr/>
          <p:nvPr/>
        </p:nvSpPr>
        <p:spPr>
          <a:xfrm>
            <a:off x="3502838" y="1892808"/>
            <a:ext cx="914400" cy="502920"/>
          </a:xfrm>
          <a:prstGeom prst="rect">
            <a:avLst/>
          </a:prstGeom>
          <a:noFill/>
          <a:ln/>
        </p:spPr>
        <p:txBody>
          <a:bodyPr wrap="square" lIns="0" tIns="0" rIns="0" bIns="0" rtlCol="0" anchor="t"/>
          <a:lstStyle/>
          <a:p>
            <a:pPr indent="0" marL="0">
              <a:buNone/>
            </a:pPr>
            <a:r>
              <a:rPr lang="en-US" sz="2200" dirty="0">
                <a:solidFill>
                  <a:srgbClr val="27E5E5"/>
                </a:solidFill>
                <a:latin typeface="Arial Black" pitchFamily="34" charset="0"/>
                <a:ea typeface="Arial Black" pitchFamily="34" charset="-122"/>
                <a:cs typeface="Arial Black" pitchFamily="34" charset="-120"/>
              </a:rPr>
              <a:t>S10</a:t>
            </a:r>
            <a:endParaRPr lang="en-US" sz="2200" dirty="0"/>
          </a:p>
        </p:txBody>
      </p:sp>
      <p:sp>
        <p:nvSpPr>
          <p:cNvPr id="10" name="Text 8"/>
          <p:cNvSpPr/>
          <p:nvPr/>
        </p:nvSpPr>
        <p:spPr>
          <a:xfrm>
            <a:off x="3502838"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OPC UA</a:t>
            </a:r>
            <a:endParaRPr lang="en-US" sz="1100" dirty="0"/>
          </a:p>
        </p:txBody>
      </p:sp>
      <p:sp>
        <p:nvSpPr>
          <p:cNvPr id="11" name="Text 9"/>
          <p:cNvSpPr/>
          <p:nvPr/>
        </p:nvSpPr>
        <p:spPr>
          <a:xfrm>
            <a:off x="3502838"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Protocolos industriales.</a:t>
            </a:r>
            <a:endParaRPr lang="en-US" sz="1000" dirty="0"/>
          </a:p>
        </p:txBody>
      </p:sp>
      <p:sp>
        <p:nvSpPr>
          <p:cNvPr id="12" name="Shape 10"/>
          <p:cNvSpPr/>
          <p:nvPr/>
        </p:nvSpPr>
        <p:spPr>
          <a:xfrm>
            <a:off x="6210148" y="1783080"/>
            <a:ext cx="2625014" cy="1554480"/>
          </a:xfrm>
          <a:prstGeom prst="roundRect">
            <a:avLst>
              <a:gd name="adj" fmla="val 3529"/>
            </a:avLst>
          </a:prstGeom>
          <a:solidFill>
            <a:srgbClr val="151515"/>
          </a:solidFill>
          <a:ln w="12700">
            <a:solidFill>
              <a:srgbClr val="333333"/>
            </a:solidFill>
            <a:prstDash val="solid"/>
          </a:ln>
        </p:spPr>
      </p:sp>
      <p:sp>
        <p:nvSpPr>
          <p:cNvPr id="13" name="Text 11"/>
          <p:cNvSpPr/>
          <p:nvPr/>
        </p:nvSpPr>
        <p:spPr>
          <a:xfrm>
            <a:off x="6356452" y="1892808"/>
            <a:ext cx="914400" cy="502920"/>
          </a:xfrm>
          <a:prstGeom prst="rect">
            <a:avLst/>
          </a:prstGeom>
          <a:noFill/>
          <a:ln/>
        </p:spPr>
        <p:txBody>
          <a:bodyPr wrap="square" lIns="0" tIns="0" rIns="0" bIns="0" rtlCol="0" anchor="t"/>
          <a:lstStyle/>
          <a:p>
            <a:pPr indent="0" marL="0">
              <a:buNone/>
            </a:pPr>
            <a:r>
              <a:rPr lang="en-US" sz="2200" dirty="0">
                <a:solidFill>
                  <a:srgbClr val="FFB000"/>
                </a:solidFill>
                <a:latin typeface="Arial Black" pitchFamily="34" charset="0"/>
                <a:ea typeface="Arial Black" pitchFamily="34" charset="-122"/>
                <a:cs typeface="Arial Black" pitchFamily="34" charset="-120"/>
              </a:rPr>
              <a:t>S11</a:t>
            </a:r>
            <a:endParaRPr lang="en-US" sz="2200" dirty="0"/>
          </a:p>
        </p:txBody>
      </p:sp>
      <p:sp>
        <p:nvSpPr>
          <p:cNvPr id="14" name="Text 12"/>
          <p:cNvSpPr/>
          <p:nvPr/>
        </p:nvSpPr>
        <p:spPr>
          <a:xfrm>
            <a:off x="6356452"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MQTT / UNS</a:t>
            </a:r>
            <a:endParaRPr lang="en-US" sz="1100" dirty="0"/>
          </a:p>
        </p:txBody>
      </p:sp>
      <p:sp>
        <p:nvSpPr>
          <p:cNvPr id="15" name="Text 13"/>
          <p:cNvSpPr/>
          <p:nvPr/>
        </p:nvSpPr>
        <p:spPr>
          <a:xfrm>
            <a:off x="6356452"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Pub/sub y namespace unificado.</a:t>
            </a:r>
            <a:endParaRPr lang="en-US" sz="1000" dirty="0"/>
          </a:p>
        </p:txBody>
      </p:sp>
      <p:sp>
        <p:nvSpPr>
          <p:cNvPr id="16" name="Shape 14"/>
          <p:cNvSpPr/>
          <p:nvPr/>
        </p:nvSpPr>
        <p:spPr>
          <a:xfrm>
            <a:off x="9063761" y="1783080"/>
            <a:ext cx="2625014" cy="1554480"/>
          </a:xfrm>
          <a:prstGeom prst="roundRect">
            <a:avLst>
              <a:gd name="adj" fmla="val 3529"/>
            </a:avLst>
          </a:prstGeom>
          <a:solidFill>
            <a:srgbClr val="151515"/>
          </a:solidFill>
          <a:ln w="12700">
            <a:solidFill>
              <a:srgbClr val="333333"/>
            </a:solidFill>
            <a:prstDash val="solid"/>
          </a:ln>
        </p:spPr>
      </p:sp>
      <p:sp>
        <p:nvSpPr>
          <p:cNvPr id="17" name="Text 15"/>
          <p:cNvSpPr/>
          <p:nvPr/>
        </p:nvSpPr>
        <p:spPr>
          <a:xfrm>
            <a:off x="9210065" y="1892808"/>
            <a:ext cx="914400" cy="502920"/>
          </a:xfrm>
          <a:prstGeom prst="rect">
            <a:avLst/>
          </a:prstGeom>
          <a:noFill/>
          <a:ln/>
        </p:spPr>
        <p:txBody>
          <a:bodyPr wrap="square" lIns="0" tIns="0" rIns="0" bIns="0" rtlCol="0" anchor="t"/>
          <a:lstStyle/>
          <a:p>
            <a:pPr indent="0" marL="0">
              <a:buNone/>
            </a:pPr>
            <a:r>
              <a:rPr lang="en-US" sz="2200" dirty="0">
                <a:solidFill>
                  <a:srgbClr val="C6FF00"/>
                </a:solidFill>
                <a:latin typeface="Arial Black" pitchFamily="34" charset="0"/>
                <a:ea typeface="Arial Black" pitchFamily="34" charset="-122"/>
                <a:cs typeface="Arial Black" pitchFamily="34" charset="-120"/>
              </a:rPr>
              <a:t>U3</a:t>
            </a:r>
            <a:endParaRPr lang="en-US" sz="2200" dirty="0"/>
          </a:p>
        </p:txBody>
      </p:sp>
      <p:sp>
        <p:nvSpPr>
          <p:cNvPr id="18" name="Text 16"/>
          <p:cNvSpPr/>
          <p:nvPr/>
        </p:nvSpPr>
        <p:spPr>
          <a:xfrm>
            <a:off x="9210065" y="2386584"/>
            <a:ext cx="2332406" cy="457200"/>
          </a:xfrm>
          <a:prstGeom prst="rect">
            <a:avLst/>
          </a:prstGeom>
          <a:noFill/>
          <a:ln/>
        </p:spPr>
        <p:txBody>
          <a:bodyPr wrap="square" lIns="0" tIns="0" rIns="0" bIns="0" rtlCol="0" anchor="t"/>
          <a:lstStyle/>
          <a:p>
            <a:pPr indent="0" marL="0">
              <a:buNone/>
            </a:pPr>
            <a:r>
              <a:rPr lang="en-US" sz="1100" b="1" dirty="0">
                <a:solidFill>
                  <a:srgbClr val="F4F4F4"/>
                </a:solidFill>
                <a:latin typeface="Courier New" pitchFamily="34" charset="0"/>
                <a:ea typeface="Courier New" pitchFamily="34" charset="-122"/>
                <a:cs typeface="Courier New" pitchFamily="34" charset="-120"/>
              </a:rPr>
              <a:t>INTEGRACIÓN IT/OT</a:t>
            </a:r>
            <a:endParaRPr lang="en-US" sz="1100" dirty="0"/>
          </a:p>
        </p:txBody>
      </p:sp>
      <p:sp>
        <p:nvSpPr>
          <p:cNvPr id="19" name="Text 17"/>
          <p:cNvSpPr/>
          <p:nvPr/>
        </p:nvSpPr>
        <p:spPr>
          <a:xfrm>
            <a:off x="9210065" y="2752344"/>
            <a:ext cx="2332406" cy="502920"/>
          </a:xfrm>
          <a:prstGeom prst="rect">
            <a:avLst/>
          </a:prstGeom>
          <a:noFill/>
          <a:ln/>
        </p:spPr>
        <p:txBody>
          <a:bodyPr wrap="square" lIns="0" tIns="0" rIns="0" bIns="0" rtlCol="0" anchor="t"/>
          <a:lstStyle/>
          <a:p>
            <a:pPr indent="0" marL="0">
              <a:lnSpc>
                <a:spcPct val="102000"/>
              </a:lnSpc>
              <a:buNone/>
            </a:pPr>
            <a:r>
              <a:rPr lang="en-US" sz="1000" dirty="0">
                <a:solidFill>
                  <a:srgbClr val="8C8C8C"/>
                </a:solidFill>
                <a:latin typeface="Arial" pitchFamily="34" charset="0"/>
                <a:ea typeface="Arial" pitchFamily="34" charset="-122"/>
                <a:cs typeface="Arial" pitchFamily="34" charset="-120"/>
              </a:rPr>
              <a:t>S10–13.</a:t>
            </a:r>
            <a:endParaRPr lang="en-US" sz="1000" dirty="0"/>
          </a:p>
        </p:txBody>
      </p:sp>
      <p:sp>
        <p:nvSpPr>
          <p:cNvPr id="20" name="Text 18"/>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1" name="Text 19"/>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22" name="Text 20"/>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43 / 46</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37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GLOSARIO ESENCIAL</a:t>
            </a:r>
            <a:endParaRPr lang="en-US" sz="3300" dirty="0"/>
          </a:p>
        </p:txBody>
      </p:sp>
      <p:sp>
        <p:nvSpPr>
          <p:cNvPr id="4" name="Shape 2"/>
          <p:cNvSpPr/>
          <p:nvPr/>
        </p:nvSpPr>
        <p:spPr>
          <a:xfrm>
            <a:off x="502920" y="1783080"/>
            <a:ext cx="5364328" cy="786384"/>
          </a:xfrm>
          <a:prstGeom prst="roundRect">
            <a:avLst>
              <a:gd name="adj" fmla="val 4651"/>
            </a:avLst>
          </a:prstGeom>
          <a:solidFill>
            <a:srgbClr val="151515"/>
          </a:solidFill>
          <a:ln w="12700">
            <a:solidFill>
              <a:srgbClr val="242424"/>
            </a:solidFill>
            <a:prstDash val="solid"/>
          </a:ln>
        </p:spPr>
      </p:sp>
      <p:sp>
        <p:nvSpPr>
          <p:cNvPr id="5" name="Text 3"/>
          <p:cNvSpPr/>
          <p:nvPr/>
        </p:nvSpPr>
        <p:spPr>
          <a:xfrm>
            <a:off x="667512"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IIoT</a:t>
            </a:r>
            <a:endParaRPr lang="en-US" sz="1200" dirty="0"/>
          </a:p>
        </p:txBody>
      </p:sp>
      <p:sp>
        <p:nvSpPr>
          <p:cNvPr id="6" name="Text 4"/>
          <p:cNvSpPr/>
          <p:nvPr/>
        </p:nvSpPr>
        <p:spPr>
          <a:xfrm>
            <a:off x="667512"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Internet Industrial de las Cosas.</a:t>
            </a:r>
            <a:endParaRPr lang="en-US" sz="1050" dirty="0"/>
          </a:p>
        </p:txBody>
      </p:sp>
      <p:sp>
        <p:nvSpPr>
          <p:cNvPr id="7" name="Shape 5"/>
          <p:cNvSpPr/>
          <p:nvPr/>
        </p:nvSpPr>
        <p:spPr>
          <a:xfrm>
            <a:off x="6324448" y="1783080"/>
            <a:ext cx="5364328" cy="786384"/>
          </a:xfrm>
          <a:prstGeom prst="roundRect">
            <a:avLst>
              <a:gd name="adj" fmla="val 4651"/>
            </a:avLst>
          </a:prstGeom>
          <a:solidFill>
            <a:srgbClr val="151515"/>
          </a:solidFill>
          <a:ln w="12700">
            <a:solidFill>
              <a:srgbClr val="242424"/>
            </a:solidFill>
            <a:prstDash val="solid"/>
          </a:ln>
        </p:spPr>
      </p:sp>
      <p:sp>
        <p:nvSpPr>
          <p:cNvPr id="8" name="Text 6"/>
          <p:cNvSpPr/>
          <p:nvPr/>
        </p:nvSpPr>
        <p:spPr>
          <a:xfrm>
            <a:off x="6489040" y="18562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Edge / borde</a:t>
            </a:r>
            <a:endParaRPr lang="en-US" sz="1200" dirty="0"/>
          </a:p>
        </p:txBody>
      </p:sp>
      <p:sp>
        <p:nvSpPr>
          <p:cNvPr id="9" name="Text 7"/>
          <p:cNvSpPr/>
          <p:nvPr/>
        </p:nvSpPr>
        <p:spPr>
          <a:xfrm>
            <a:off x="6489040" y="21671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Cómputo junto al proceso físico.</a:t>
            </a:r>
            <a:endParaRPr lang="en-US" sz="1050" dirty="0"/>
          </a:p>
        </p:txBody>
      </p:sp>
      <p:sp>
        <p:nvSpPr>
          <p:cNvPr id="10" name="Shape 8"/>
          <p:cNvSpPr/>
          <p:nvPr/>
        </p:nvSpPr>
        <p:spPr>
          <a:xfrm>
            <a:off x="502920" y="2697480"/>
            <a:ext cx="5364328" cy="786384"/>
          </a:xfrm>
          <a:prstGeom prst="roundRect">
            <a:avLst>
              <a:gd name="adj" fmla="val 4651"/>
            </a:avLst>
          </a:prstGeom>
          <a:solidFill>
            <a:srgbClr val="151515"/>
          </a:solidFill>
          <a:ln w="12700">
            <a:solidFill>
              <a:srgbClr val="242424"/>
            </a:solidFill>
            <a:prstDash val="solid"/>
          </a:ln>
        </p:spPr>
      </p:sp>
      <p:sp>
        <p:nvSpPr>
          <p:cNvPr id="11" name="Text 9"/>
          <p:cNvSpPr/>
          <p:nvPr/>
        </p:nvSpPr>
        <p:spPr>
          <a:xfrm>
            <a:off x="667512"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Fog / niebla</a:t>
            </a:r>
            <a:endParaRPr lang="en-US" sz="1200" dirty="0"/>
          </a:p>
        </p:txBody>
      </p:sp>
      <p:sp>
        <p:nvSpPr>
          <p:cNvPr id="12" name="Text 10"/>
          <p:cNvSpPr/>
          <p:nvPr/>
        </p:nvSpPr>
        <p:spPr>
          <a:xfrm>
            <a:off x="667512"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Capa intermedia a nivel de planta.</a:t>
            </a:r>
            <a:endParaRPr lang="en-US" sz="1050" dirty="0"/>
          </a:p>
        </p:txBody>
      </p:sp>
      <p:sp>
        <p:nvSpPr>
          <p:cNvPr id="13" name="Shape 11"/>
          <p:cNvSpPr/>
          <p:nvPr/>
        </p:nvSpPr>
        <p:spPr>
          <a:xfrm>
            <a:off x="6324448" y="2697480"/>
            <a:ext cx="5364328" cy="786384"/>
          </a:xfrm>
          <a:prstGeom prst="roundRect">
            <a:avLst>
              <a:gd name="adj" fmla="val 4651"/>
            </a:avLst>
          </a:prstGeom>
          <a:solidFill>
            <a:srgbClr val="151515"/>
          </a:solidFill>
          <a:ln w="12700">
            <a:solidFill>
              <a:srgbClr val="242424"/>
            </a:solidFill>
            <a:prstDash val="solid"/>
          </a:ln>
        </p:spPr>
      </p:sp>
      <p:sp>
        <p:nvSpPr>
          <p:cNvPr id="14" name="Text 12"/>
          <p:cNvSpPr/>
          <p:nvPr/>
        </p:nvSpPr>
        <p:spPr>
          <a:xfrm>
            <a:off x="6489040" y="27706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Cloud / nube</a:t>
            </a:r>
            <a:endParaRPr lang="en-US" sz="1200" dirty="0"/>
          </a:p>
        </p:txBody>
      </p:sp>
      <p:sp>
        <p:nvSpPr>
          <p:cNvPr id="15" name="Text 13"/>
          <p:cNvSpPr/>
          <p:nvPr/>
        </p:nvSpPr>
        <p:spPr>
          <a:xfrm>
            <a:off x="6489040" y="30815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Cómputo elástico centralizado.</a:t>
            </a:r>
            <a:endParaRPr lang="en-US" sz="1050" dirty="0"/>
          </a:p>
        </p:txBody>
      </p:sp>
      <p:sp>
        <p:nvSpPr>
          <p:cNvPr id="16" name="Shape 14"/>
          <p:cNvSpPr/>
          <p:nvPr/>
        </p:nvSpPr>
        <p:spPr>
          <a:xfrm>
            <a:off x="502920" y="3611880"/>
            <a:ext cx="5364328" cy="786384"/>
          </a:xfrm>
          <a:prstGeom prst="roundRect">
            <a:avLst>
              <a:gd name="adj" fmla="val 4651"/>
            </a:avLst>
          </a:prstGeom>
          <a:solidFill>
            <a:srgbClr val="151515"/>
          </a:solidFill>
          <a:ln w="12700">
            <a:solidFill>
              <a:srgbClr val="242424"/>
            </a:solidFill>
            <a:prstDash val="solid"/>
          </a:ln>
        </p:spPr>
      </p:sp>
      <p:sp>
        <p:nvSpPr>
          <p:cNvPr id="17" name="Text 15"/>
          <p:cNvSpPr/>
          <p:nvPr/>
        </p:nvSpPr>
        <p:spPr>
          <a:xfrm>
            <a:off x="667512"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Gateway</a:t>
            </a:r>
            <a:endParaRPr lang="en-US" sz="1200" dirty="0"/>
          </a:p>
        </p:txBody>
      </p:sp>
      <p:sp>
        <p:nvSpPr>
          <p:cNvPr id="18" name="Text 16"/>
          <p:cNvSpPr/>
          <p:nvPr/>
        </p:nvSpPr>
        <p:spPr>
          <a:xfrm>
            <a:off x="667512"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Traductor de protocolos IT/OT.</a:t>
            </a:r>
            <a:endParaRPr lang="en-US" sz="1050" dirty="0"/>
          </a:p>
        </p:txBody>
      </p:sp>
      <p:sp>
        <p:nvSpPr>
          <p:cNvPr id="19" name="Shape 17"/>
          <p:cNvSpPr/>
          <p:nvPr/>
        </p:nvSpPr>
        <p:spPr>
          <a:xfrm>
            <a:off x="6324448" y="3611880"/>
            <a:ext cx="5364328" cy="786384"/>
          </a:xfrm>
          <a:prstGeom prst="roundRect">
            <a:avLst>
              <a:gd name="adj" fmla="val 4651"/>
            </a:avLst>
          </a:prstGeom>
          <a:solidFill>
            <a:srgbClr val="151515"/>
          </a:solidFill>
          <a:ln w="12700">
            <a:solidFill>
              <a:srgbClr val="242424"/>
            </a:solidFill>
            <a:prstDash val="solid"/>
          </a:ln>
        </p:spPr>
      </p:sp>
      <p:sp>
        <p:nvSpPr>
          <p:cNvPr id="20" name="Text 18"/>
          <p:cNvSpPr/>
          <p:nvPr/>
        </p:nvSpPr>
        <p:spPr>
          <a:xfrm>
            <a:off x="6489040" y="36850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Vendor lock-in</a:t>
            </a:r>
            <a:endParaRPr lang="en-US" sz="1200" dirty="0"/>
          </a:p>
        </p:txBody>
      </p:sp>
      <p:sp>
        <p:nvSpPr>
          <p:cNvPr id="21" name="Text 19"/>
          <p:cNvSpPr/>
          <p:nvPr/>
        </p:nvSpPr>
        <p:spPr>
          <a:xfrm>
            <a:off x="6489040" y="39959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Dependencia cautiva de un proveedor.</a:t>
            </a:r>
            <a:endParaRPr lang="en-US" sz="1050" dirty="0"/>
          </a:p>
        </p:txBody>
      </p:sp>
      <p:sp>
        <p:nvSpPr>
          <p:cNvPr id="22" name="Shape 20"/>
          <p:cNvSpPr/>
          <p:nvPr/>
        </p:nvSpPr>
        <p:spPr>
          <a:xfrm>
            <a:off x="502920" y="4526280"/>
            <a:ext cx="5364328" cy="786384"/>
          </a:xfrm>
          <a:prstGeom prst="roundRect">
            <a:avLst>
              <a:gd name="adj" fmla="val 4651"/>
            </a:avLst>
          </a:prstGeom>
          <a:solidFill>
            <a:srgbClr val="151515"/>
          </a:solidFill>
          <a:ln w="12700">
            <a:solidFill>
              <a:srgbClr val="242424"/>
            </a:solidFill>
            <a:prstDash val="solid"/>
          </a:ln>
        </p:spPr>
      </p:sp>
      <p:sp>
        <p:nvSpPr>
          <p:cNvPr id="23" name="Text 21"/>
          <p:cNvSpPr/>
          <p:nvPr/>
        </p:nvSpPr>
        <p:spPr>
          <a:xfrm>
            <a:off x="667512"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Soberanía del dato</a:t>
            </a:r>
            <a:endParaRPr lang="en-US" sz="1200" dirty="0"/>
          </a:p>
        </p:txBody>
      </p:sp>
      <p:sp>
        <p:nvSpPr>
          <p:cNvPr id="24" name="Text 22"/>
          <p:cNvSpPr/>
          <p:nvPr/>
        </p:nvSpPr>
        <p:spPr>
          <a:xfrm>
            <a:off x="667512"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Jurisdicción legal sobre los datos.</a:t>
            </a:r>
            <a:endParaRPr lang="en-US" sz="1050" dirty="0"/>
          </a:p>
        </p:txBody>
      </p:sp>
      <p:sp>
        <p:nvSpPr>
          <p:cNvPr id="25" name="Shape 23"/>
          <p:cNvSpPr/>
          <p:nvPr/>
        </p:nvSpPr>
        <p:spPr>
          <a:xfrm>
            <a:off x="6324448" y="4526280"/>
            <a:ext cx="5364328" cy="786384"/>
          </a:xfrm>
          <a:prstGeom prst="roundRect">
            <a:avLst>
              <a:gd name="adj" fmla="val 4651"/>
            </a:avLst>
          </a:prstGeom>
          <a:solidFill>
            <a:srgbClr val="151515"/>
          </a:solidFill>
          <a:ln w="12700">
            <a:solidFill>
              <a:srgbClr val="242424"/>
            </a:solidFill>
            <a:prstDash val="solid"/>
          </a:ln>
        </p:spPr>
      </p:sp>
      <p:sp>
        <p:nvSpPr>
          <p:cNvPr id="26" name="Text 24"/>
          <p:cNvSpPr/>
          <p:nvPr/>
        </p:nvSpPr>
        <p:spPr>
          <a:xfrm>
            <a:off x="6489040" y="4599432"/>
            <a:ext cx="5035144" cy="310896"/>
          </a:xfrm>
          <a:prstGeom prst="rect">
            <a:avLst/>
          </a:prstGeom>
          <a:noFill/>
          <a:ln/>
        </p:spPr>
        <p:txBody>
          <a:bodyPr wrap="square" lIns="0" tIns="0" rIns="0" bIns="0" rtlCol="0" anchor="t"/>
          <a:lstStyle/>
          <a:p>
            <a:pPr indent="0" marL="0">
              <a:buNone/>
            </a:pPr>
            <a:r>
              <a:rPr lang="en-US" sz="1200" b="1" dirty="0">
                <a:solidFill>
                  <a:srgbClr val="27E5E5"/>
                </a:solidFill>
                <a:latin typeface="Courier New" pitchFamily="34" charset="0"/>
                <a:ea typeface="Courier New" pitchFamily="34" charset="-122"/>
                <a:cs typeface="Courier New" pitchFamily="34" charset="-120"/>
              </a:rPr>
              <a:t>TSN / 5G privado</a:t>
            </a:r>
            <a:endParaRPr lang="en-US" sz="1200" dirty="0"/>
          </a:p>
        </p:txBody>
      </p:sp>
      <p:sp>
        <p:nvSpPr>
          <p:cNvPr id="27" name="Text 25"/>
          <p:cNvSpPr/>
          <p:nvPr/>
        </p:nvSpPr>
        <p:spPr>
          <a:xfrm>
            <a:off x="6489040" y="4910328"/>
            <a:ext cx="5035144" cy="365760"/>
          </a:xfrm>
          <a:prstGeom prst="rect">
            <a:avLst/>
          </a:prstGeom>
          <a:noFill/>
          <a:ln/>
        </p:spPr>
        <p:txBody>
          <a:bodyPr wrap="square" lIns="0" tIns="0" rIns="0" bIns="0" rtlCol="0" anchor="t"/>
          <a:lstStyle/>
          <a:p>
            <a:pPr indent="0" marL="0">
              <a:buNone/>
            </a:pPr>
            <a:r>
              <a:rPr lang="en-US" sz="1050" dirty="0">
                <a:solidFill>
                  <a:srgbClr val="8C8C8C"/>
                </a:solidFill>
                <a:latin typeface="Arial" pitchFamily="34" charset="0"/>
                <a:ea typeface="Arial" pitchFamily="34" charset="-122"/>
                <a:cs typeface="Arial" pitchFamily="34" charset="-120"/>
              </a:rPr>
              <a:t>Redes deterministas para control.</a:t>
            </a:r>
            <a:endParaRPr lang="en-US" sz="1050" dirty="0"/>
          </a:p>
        </p:txBody>
      </p:sp>
      <p:sp>
        <p:nvSpPr>
          <p:cNvPr id="28" name="Text 2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29" name="Text 2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30" name="Text 2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44 / 46</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365760"/>
            <a:ext cx="11185855" cy="274320"/>
          </a:xfrm>
          <a:prstGeom prst="rect">
            <a:avLst/>
          </a:prstGeom>
          <a:noFill/>
          <a:ln/>
        </p:spPr>
        <p:txBody>
          <a:bodyPr wrap="square" lIns="0" tIns="0" rIns="0" bIns="0" rtlCol="0" anchor="ctr"/>
          <a:lstStyle/>
          <a:p>
            <a:pPr algn="l" indent="0" marL="0">
              <a:buNone/>
            </a:pPr>
            <a:r>
              <a:rPr lang="en-US" sz="1100" b="1" spc="100" kern="0" dirty="0">
                <a:solidFill>
                  <a:srgbClr val="C6FF00"/>
                </a:solidFill>
                <a:latin typeface="Courier New" pitchFamily="34" charset="0"/>
                <a:ea typeface="Courier New" pitchFamily="34" charset="-122"/>
                <a:cs typeface="Courier New" pitchFamily="34" charset="-120"/>
              </a:rPr>
              <a:t>// 38  CIERRE</a:t>
            </a:r>
            <a:endParaRPr lang="en-US" sz="1100" dirty="0"/>
          </a:p>
        </p:txBody>
      </p:sp>
      <p:sp>
        <p:nvSpPr>
          <p:cNvPr id="3" name="Text 1"/>
          <p:cNvSpPr/>
          <p:nvPr/>
        </p:nvSpPr>
        <p:spPr>
          <a:xfrm>
            <a:off x="502920" y="676656"/>
            <a:ext cx="11185855" cy="822960"/>
          </a:xfrm>
          <a:prstGeom prst="rect">
            <a:avLst/>
          </a:prstGeom>
          <a:noFill/>
          <a:ln/>
        </p:spPr>
        <p:txBody>
          <a:bodyPr wrap="square" lIns="0" tIns="0" rIns="0" bIns="0" rtlCol="0" anchor="t"/>
          <a:lstStyle/>
          <a:p>
            <a:pPr algn="l" indent="0" marL="0">
              <a:lnSpc>
                <a:spcPct val="95000"/>
              </a:lnSpc>
              <a:buNone/>
            </a:pPr>
            <a:r>
              <a:rPr lang="en-US" sz="3300" dirty="0">
                <a:solidFill>
                  <a:srgbClr val="F4F4F4"/>
                </a:solidFill>
                <a:latin typeface="Arial Black" pitchFamily="34" charset="0"/>
                <a:ea typeface="Arial Black" pitchFamily="34" charset="-122"/>
                <a:cs typeface="Arial Black" pitchFamily="34" charset="-120"/>
              </a:rPr>
              <a:t>REFERENCIAS Y RECURSOS</a:t>
            </a:r>
            <a:endParaRPr lang="en-US" sz="3300" dirty="0"/>
          </a:p>
        </p:txBody>
      </p:sp>
      <p:sp>
        <p:nvSpPr>
          <p:cNvPr id="4" name="Text 2"/>
          <p:cNvSpPr/>
          <p:nvPr/>
        </p:nvSpPr>
        <p:spPr>
          <a:xfrm>
            <a:off x="502920" y="1517904"/>
            <a:ext cx="11185855" cy="457200"/>
          </a:xfrm>
          <a:prstGeom prst="rect">
            <a:avLst/>
          </a:prstGeom>
          <a:noFill/>
          <a:ln/>
        </p:spPr>
        <p:txBody>
          <a:bodyPr wrap="square" lIns="0" tIns="0" rIns="0" bIns="0" rtlCol="0" anchor="t"/>
          <a:lstStyle/>
          <a:p>
            <a:pPr algn="l" indent="0" marL="0">
              <a:buNone/>
            </a:pPr>
            <a:r>
              <a:rPr lang="en-US" sz="1350" dirty="0">
                <a:solidFill>
                  <a:srgbClr val="8C8C8C"/>
                </a:solidFill>
                <a:latin typeface="Arial" pitchFamily="34" charset="0"/>
                <a:ea typeface="Arial" pitchFamily="34" charset="-122"/>
                <a:cs typeface="Arial" pitchFamily="34" charset="-120"/>
              </a:rPr>
              <a:t>Toca el enlace para abrir la fuente · libre = acceso gratuito · de pago = compra o biblioteca</a:t>
            </a:r>
            <a:endParaRPr lang="en-US" sz="1350" dirty="0"/>
          </a:p>
        </p:txBody>
      </p:sp>
      <p:sp>
        <p:nvSpPr>
          <p:cNvPr id="5" name="Shape 3"/>
          <p:cNvSpPr/>
          <p:nvPr/>
        </p:nvSpPr>
        <p:spPr>
          <a:xfrm>
            <a:off x="502920" y="1783080"/>
            <a:ext cx="11185855" cy="4489704"/>
          </a:xfrm>
          <a:prstGeom prst="roundRect">
            <a:avLst>
              <a:gd name="adj" fmla="val 1018"/>
            </a:avLst>
          </a:prstGeom>
          <a:solidFill>
            <a:srgbClr val="151515"/>
          </a:solidFill>
          <a:ln w="12700">
            <a:solidFill>
              <a:srgbClr val="333333"/>
            </a:solidFill>
            <a:prstDash val="solid"/>
          </a:ln>
          <a:effectLst>
            <a:outerShdw sx="100000" sy="100000" kx="0" ky="0" algn="bl" rotWithShape="0" blurRad="88900" dist="38100" dir="5400000">
              <a:srgbClr val="000000">
                <a:alpha val="55000"/>
              </a:srgbClr>
            </a:outerShdw>
          </a:effectLst>
        </p:spPr>
      </p:sp>
      <p:sp>
        <p:nvSpPr>
          <p:cNvPr id="6" name="Text 4"/>
          <p:cNvSpPr/>
          <p:nvPr/>
        </p:nvSpPr>
        <p:spPr>
          <a:xfrm>
            <a:off x="822960" y="1984248"/>
            <a:ext cx="10545775" cy="4123944"/>
          </a:xfrm>
          <a:prstGeom prst="rect">
            <a:avLst/>
          </a:prstGeom>
          <a:noFill/>
          <a:ln/>
        </p:spPr>
        <p:txBody>
          <a:bodyPr wrap="square" lIns="0" tIns="0" rIns="0" bIns="0" rtlCol="0" anchor="t"/>
          <a:lstStyle/>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NIST SP 500-325 — Fog Computing Conceptual Model</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https://doi.org/10.6028/NIST.SP.500-325</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Industrial Internet Consortium — Edge Computing / IIRA</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https://www.iiconsortium.org/iira/</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IEEE 802.1 TSN — Time-Sensitive Networking</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https://1.ieee802.org/tsn/</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5G-ACIA — 5G para la industria (whitepapers)</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https://5g-acia.org/</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Shi et al. (2016) — Edge Computing: Vision and Challenges (IEEE)</a:t>
            </a:r>
            <a:pPr indent="0" marL="0">
              <a:lnSpc>
                <a:spcPct val="102000"/>
              </a:lnSpc>
              <a:spcAft>
                <a:spcPts val="100"/>
              </a:spcAft>
              <a:buNone/>
            </a:pPr>
            <a:r>
              <a:rPr lang="en-US" sz="850" b="1" dirty="0">
                <a:solidFill>
                  <a:srgbClr val="FFB000"/>
                </a:solidFill>
                <a:latin typeface="Courier New" pitchFamily="34" charset="0"/>
                <a:ea typeface="Courier New" pitchFamily="34" charset="-122"/>
                <a:cs typeface="Courier New" pitchFamily="34" charset="-120"/>
              </a:rPr>
              <a:t>   · de pago</a:t>
            </a:r>
            <a:endParaRPr lang="en-US" sz="1150" dirty="0"/>
          </a:p>
          <a:p>
            <a:pPr indent="0" marL="0">
              <a:lnSpc>
                <a:spcPct val="102000"/>
              </a:lnSpc>
              <a:spcAft>
                <a:spcPts val="700"/>
              </a:spcAft>
              <a:buNone/>
            </a:pPr>
            <a:r>
              <a:rPr lang="en-US" sz="850" u="sng" dirty="0">
                <a:solidFill>
                  <a:srgbClr val="27E5E5"/>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https://doi.org/10.1109/JIOT.2016.2579198</a:t>
            </a:r>
            <a:endParaRPr lang="en-US" sz="1150" dirty="0"/>
          </a:p>
          <a:p>
            <a:pPr marL="342900" indent="-342900">
              <a:lnSpc>
                <a:spcPct val="102000"/>
              </a:lnSpc>
              <a:spcAft>
                <a:spcPts val="100"/>
              </a:spcAft>
              <a:buSzPct val="100000"/>
              <a:buChar char="–"/>
            </a:pPr>
            <a:r>
              <a:rPr lang="en-US" sz="1150" dirty="0">
                <a:solidFill>
                  <a:srgbClr val="F4F4F4"/>
                </a:solidFill>
                <a:latin typeface="Arial" pitchFamily="34" charset="0"/>
                <a:ea typeface="Arial" pitchFamily="34" charset="-122"/>
                <a:cs typeface="Arial" pitchFamily="34" charset="-120"/>
              </a:rPr>
              <a:t>Docs del laboratorio: Mosquitto, Node-RED, InfluxDB, Grafana</a:t>
            </a:r>
            <a:pPr indent="0" marL="0">
              <a:lnSpc>
                <a:spcPct val="102000"/>
              </a:lnSpc>
              <a:spcAft>
                <a:spcPts val="100"/>
              </a:spcAft>
              <a:buNone/>
            </a:pPr>
            <a:r>
              <a:rPr lang="en-US" sz="850" b="1" dirty="0">
                <a:solidFill>
                  <a:srgbClr val="22E06B"/>
                </a:solidFill>
                <a:latin typeface="Courier New" pitchFamily="34" charset="0"/>
                <a:ea typeface="Courier New" pitchFamily="34" charset="-122"/>
                <a:cs typeface="Courier New" pitchFamily="34" charset="-120"/>
              </a:rPr>
              <a:t>   · libre</a:t>
            </a:r>
            <a:endParaRPr lang="en-US" sz="1150" dirty="0"/>
          </a:p>
          <a:p>
            <a:pPr indent="0" marL="0">
              <a:lnSpc>
                <a:spcPct val="102000"/>
              </a:lnSpc>
              <a:buNone/>
            </a:pPr>
            <a:r>
              <a:rPr lang="en-US" sz="850" u="sng" dirty="0">
                <a:solidFill>
                  <a:srgbClr val="27E5E5"/>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https://nodered.org/docs/</a:t>
            </a:r>
            <a:endParaRPr lang="en-US" sz="1150" dirty="0"/>
          </a:p>
        </p:txBody>
      </p:sp>
      <p:sp>
        <p:nvSpPr>
          <p:cNvPr id="7" name="Text 5"/>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8" name="Text 6"/>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9" name="Text 7"/>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45 / 46</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B0B0B"/>
        </a:solidFill>
      </p:bgPr>
    </p:bg>
    <p:spTree>
      <p:nvGrpSpPr>
        <p:cNvPr id="1" name=""/>
        <p:cNvGrpSpPr/>
        <p:nvPr/>
      </p:nvGrpSpPr>
      <p:grpSpPr>
        <a:xfrm>
          <a:off x="0" y="0"/>
          <a:ext cx="0" cy="0"/>
          <a:chOff x="0" y="0"/>
          <a:chExt cx="0" cy="0"/>
        </a:xfrm>
      </p:grpSpPr>
      <p:sp>
        <p:nvSpPr>
          <p:cNvPr id="2" name="Text 0"/>
          <p:cNvSpPr/>
          <p:nvPr/>
        </p:nvSpPr>
        <p:spPr>
          <a:xfrm>
            <a:off x="502920" y="1188720"/>
            <a:ext cx="11185855" cy="548640"/>
          </a:xfrm>
          <a:prstGeom prst="rect">
            <a:avLst/>
          </a:prstGeom>
          <a:noFill/>
          <a:ln/>
        </p:spPr>
        <p:txBody>
          <a:bodyPr wrap="square" lIns="0" tIns="0" rIns="0" bIns="0" rtlCol="0" anchor="ctr"/>
          <a:lstStyle/>
          <a:p>
            <a:pPr indent="0" marL="0">
              <a:buNone/>
            </a:pPr>
            <a:r>
              <a:rPr lang="en-US" sz="1500" spc="200" kern="0" dirty="0">
                <a:solidFill>
                  <a:srgbClr val="8C8C8C"/>
                </a:solidFill>
                <a:latin typeface="Courier New" pitchFamily="34" charset="0"/>
                <a:ea typeface="Courier New" pitchFamily="34" charset="-122"/>
                <a:cs typeface="Courier New" pitchFamily="34" charset="-120"/>
              </a:rPr>
              <a:t>FIN SESIÓN 09</a:t>
            </a:r>
            <a:endParaRPr lang="en-US" sz="1500" dirty="0"/>
          </a:p>
        </p:txBody>
      </p:sp>
      <p:sp>
        <p:nvSpPr>
          <p:cNvPr id="3" name="Text 1"/>
          <p:cNvSpPr/>
          <p:nvPr/>
        </p:nvSpPr>
        <p:spPr>
          <a:xfrm>
            <a:off x="502920" y="2011680"/>
            <a:ext cx="11185855" cy="457200"/>
          </a:xfrm>
          <a:prstGeom prst="rect">
            <a:avLst/>
          </a:prstGeom>
          <a:noFill/>
          <a:ln/>
        </p:spPr>
        <p:txBody>
          <a:bodyPr wrap="square" lIns="0" tIns="0" rIns="0" bIns="0" rtlCol="0" anchor="ctr"/>
          <a:lstStyle/>
          <a:p>
            <a:pPr indent="0" marL="0">
              <a:buNone/>
            </a:pPr>
            <a:r>
              <a:rPr lang="en-US" sz="1300" b="1" spc="200" kern="0" dirty="0">
                <a:solidFill>
                  <a:srgbClr val="C6FF00"/>
                </a:solidFill>
                <a:latin typeface="Courier New" pitchFamily="34" charset="0"/>
                <a:ea typeface="Courier New" pitchFamily="34" charset="-122"/>
                <a:cs typeface="Courier New" pitchFamily="34" charset="-120"/>
              </a:rPr>
              <a:t>PRÓXIMA</a:t>
            </a:r>
            <a:endParaRPr lang="en-US" sz="1300" dirty="0"/>
          </a:p>
        </p:txBody>
      </p:sp>
      <p:sp>
        <p:nvSpPr>
          <p:cNvPr id="4" name="Text 2"/>
          <p:cNvSpPr/>
          <p:nvPr/>
        </p:nvSpPr>
        <p:spPr>
          <a:xfrm>
            <a:off x="502920" y="2377440"/>
            <a:ext cx="11185855" cy="1188720"/>
          </a:xfrm>
          <a:prstGeom prst="rect">
            <a:avLst/>
          </a:prstGeom>
          <a:noFill/>
          <a:ln/>
        </p:spPr>
        <p:txBody>
          <a:bodyPr wrap="square" lIns="0" tIns="0" rIns="0" bIns="0" rtlCol="0" anchor="t"/>
          <a:lstStyle/>
          <a:p>
            <a:pPr indent="0" marL="0">
              <a:buNone/>
            </a:pPr>
            <a:r>
              <a:rPr lang="en-US" sz="4600" dirty="0">
                <a:solidFill>
                  <a:srgbClr val="F4F4F4"/>
                </a:solidFill>
                <a:latin typeface="Arial Black" pitchFamily="34" charset="0"/>
                <a:ea typeface="Arial Black" pitchFamily="34" charset="-122"/>
                <a:cs typeface="Arial Black" pitchFamily="34" charset="-120"/>
              </a:rPr>
              <a:t>SESIÓN 10</a:t>
            </a:r>
            <a:endParaRPr lang="en-US" sz="4600" dirty="0"/>
          </a:p>
        </p:txBody>
      </p:sp>
      <p:sp>
        <p:nvSpPr>
          <p:cNvPr id="5" name="Text 3"/>
          <p:cNvSpPr/>
          <p:nvPr/>
        </p:nvSpPr>
        <p:spPr>
          <a:xfrm>
            <a:off x="502920" y="3657600"/>
            <a:ext cx="11185855" cy="548640"/>
          </a:xfrm>
          <a:prstGeom prst="rect">
            <a:avLst/>
          </a:prstGeom>
          <a:noFill/>
          <a:ln/>
        </p:spPr>
        <p:txBody>
          <a:bodyPr wrap="square" lIns="0" tIns="0" rIns="0" bIns="0" rtlCol="0" anchor="t"/>
          <a:lstStyle/>
          <a:p>
            <a:pPr indent="0" marL="0">
              <a:buNone/>
            </a:pPr>
            <a:r>
              <a:rPr lang="en-US" sz="1500" b="1" dirty="0">
                <a:solidFill>
                  <a:srgbClr val="C6FF00"/>
                </a:solidFill>
                <a:latin typeface="Courier New" pitchFamily="34" charset="0"/>
                <a:ea typeface="Courier New" pitchFamily="34" charset="-122"/>
                <a:cs typeface="Courier New" pitchFamily="34" charset="-120"/>
              </a:rPr>
              <a:t>&gt; </a:t>
            </a:r>
            <a:pPr indent="0" marL="0">
              <a:buNone/>
            </a:pPr>
            <a:r>
              <a:rPr lang="en-US" sz="1500" dirty="0">
                <a:solidFill>
                  <a:srgbClr val="F4F4F4"/>
                </a:solidFill>
                <a:latin typeface="Courier New" pitchFamily="34" charset="0"/>
                <a:ea typeface="Courier New" pitchFamily="34" charset="-122"/>
                <a:cs typeface="Courier New" pitchFamily="34" charset="-120"/>
              </a:rPr>
              <a:t>OPC UA Y PROTOCOLOS INDUSTRIALES</a:t>
            </a:r>
            <a:endParaRPr lang="en-US" sz="1500" dirty="0"/>
          </a:p>
        </p:txBody>
      </p:sp>
      <p:sp>
        <p:nvSpPr>
          <p:cNvPr id="6" name="Text 4"/>
          <p:cNvSpPr/>
          <p:nvPr/>
        </p:nvSpPr>
        <p:spPr>
          <a:xfrm>
            <a:off x="502920" y="4160520"/>
            <a:ext cx="11185855" cy="822960"/>
          </a:xfrm>
          <a:prstGeom prst="rect">
            <a:avLst/>
          </a:prstGeom>
          <a:noFill/>
          <a:ln/>
        </p:spPr>
        <p:txBody>
          <a:bodyPr wrap="square" lIns="0" tIns="0" rIns="0" bIns="0" rtlCol="0" anchor="t"/>
          <a:lstStyle/>
          <a:p>
            <a:pPr indent="0" marL="0">
              <a:lnSpc>
                <a:spcPct val="110000"/>
              </a:lnSpc>
              <a:buNone/>
            </a:pPr>
            <a:r>
              <a:rPr lang="en-US" sz="1300" dirty="0">
                <a:solidFill>
                  <a:srgbClr val="8C8C8C"/>
                </a:solidFill>
                <a:latin typeface="Arial" pitchFamily="34" charset="0"/>
                <a:ea typeface="Arial" pitchFamily="34" charset="-122"/>
                <a:cs typeface="Arial" pitchFamily="34" charset="-120"/>
              </a:rPr>
              <a:t>Inicio de la Unidad 3: el modelo de información de OPC UA, seguridad, PubSub y el panorama de protocolos industriales.</a:t>
            </a:r>
            <a:endParaRPr lang="en-US" sz="1300" dirty="0"/>
          </a:p>
        </p:txBody>
      </p:sp>
      <p:sp>
        <p:nvSpPr>
          <p:cNvPr id="7" name="Text 5"/>
          <p:cNvSpPr/>
          <p:nvPr/>
        </p:nvSpPr>
        <p:spPr>
          <a:xfrm>
            <a:off x="502920" y="5303520"/>
            <a:ext cx="11185855" cy="457200"/>
          </a:xfrm>
          <a:prstGeom prst="rect">
            <a:avLst/>
          </a:prstGeom>
          <a:noFill/>
          <a:ln/>
        </p:spPr>
        <p:txBody>
          <a:bodyPr wrap="square" lIns="0" tIns="0" rIns="0" bIns="0" rtlCol="0" anchor="ctr"/>
          <a:lstStyle/>
          <a:p>
            <a:pPr indent="0" marL="0">
              <a:buNone/>
            </a:pPr>
            <a:r>
              <a:rPr lang="en-US" sz="1400" dirty="0">
                <a:solidFill>
                  <a:srgbClr val="C6FF00"/>
                </a:solidFill>
                <a:latin typeface="Courier New" pitchFamily="34" charset="0"/>
                <a:ea typeface="Courier New" pitchFamily="34" charset="-122"/>
                <a:cs typeface="Courier New" pitchFamily="34" charset="-120"/>
              </a:rPr>
              <a:t>root@planta:~# next --unit 3 --session 10 _</a:t>
            </a:r>
            <a:endParaRPr lang="en-US" sz="1400" dirty="0"/>
          </a:p>
        </p:txBody>
      </p:sp>
      <p:sp>
        <p:nvSpPr>
          <p:cNvPr id="8" name="Text 6"/>
          <p:cNvSpPr/>
          <p:nvPr/>
        </p:nvSpPr>
        <p:spPr>
          <a:xfrm>
            <a:off x="502920" y="6382512"/>
            <a:ext cx="4114800" cy="274320"/>
          </a:xfrm>
          <a:prstGeom prst="rect">
            <a:avLst/>
          </a:prstGeom>
          <a:noFill/>
          <a:ln/>
        </p:spPr>
        <p:txBody>
          <a:bodyPr wrap="square" lIns="0" tIns="0" rIns="0" bIns="0" rtlCol="0" anchor="ctr"/>
          <a:lstStyle/>
          <a:p>
            <a:pPr algn="l" indent="0" marL="0">
              <a:buNone/>
            </a:pPr>
            <a:r>
              <a:rPr lang="en-US" sz="800" dirty="0">
                <a:solidFill>
                  <a:srgbClr val="5A5A5A"/>
                </a:solidFill>
                <a:latin typeface="Courier New" pitchFamily="34" charset="0"/>
                <a:ea typeface="Courier New" pitchFamily="34" charset="-122"/>
                <a:cs typeface="Courier New" pitchFamily="34" charset="-120"/>
              </a:rPr>
              <a:t>GOBIERNO DE TI · CPPS</a:t>
            </a:r>
            <a:endParaRPr lang="en-US" sz="800" dirty="0"/>
          </a:p>
        </p:txBody>
      </p:sp>
      <p:sp>
        <p:nvSpPr>
          <p:cNvPr id="9" name="Text 7"/>
          <p:cNvSpPr/>
          <p:nvPr/>
        </p:nvSpPr>
        <p:spPr>
          <a:xfrm>
            <a:off x="3352648" y="6382512"/>
            <a:ext cx="5486400" cy="274320"/>
          </a:xfrm>
          <a:prstGeom prst="rect">
            <a:avLst/>
          </a:prstGeom>
          <a:noFill/>
          <a:ln/>
        </p:spPr>
        <p:txBody>
          <a:bodyPr wrap="square" lIns="0" tIns="0" rIns="0" bIns="0" rtlCol="0" anchor="ctr"/>
          <a:lstStyle/>
          <a:p>
            <a:pPr algn="ctr" indent="0" marL="0">
              <a:buNone/>
            </a:pPr>
            <a:r>
              <a:rPr lang="en-US" sz="800" dirty="0">
                <a:solidFill>
                  <a:srgbClr val="8C8C8C"/>
                </a:solidFill>
                <a:latin typeface="Courier New" pitchFamily="34" charset="0"/>
                <a:ea typeface="Courier New" pitchFamily="34" charset="-122"/>
                <a:cs typeface="Courier New" pitchFamily="34" charset="-120"/>
              </a:rPr>
              <a:t>S09 · IIoT · EDGE</a:t>
            </a:r>
            <a:endParaRPr lang="en-US" sz="800" dirty="0"/>
          </a:p>
        </p:txBody>
      </p:sp>
      <p:sp>
        <p:nvSpPr>
          <p:cNvPr id="10" name="Text 8"/>
          <p:cNvSpPr/>
          <p:nvPr/>
        </p:nvSpPr>
        <p:spPr>
          <a:xfrm>
            <a:off x="8945575" y="6382512"/>
            <a:ext cx="2743200" cy="274320"/>
          </a:xfrm>
          <a:prstGeom prst="rect">
            <a:avLst/>
          </a:prstGeom>
          <a:noFill/>
          <a:ln/>
        </p:spPr>
        <p:txBody>
          <a:bodyPr wrap="square" lIns="0" tIns="0" rIns="0" bIns="0" rtlCol="0" anchor="ctr"/>
          <a:lstStyle/>
          <a:p>
            <a:pPr algn="r" indent="0" marL="0">
              <a:buNone/>
            </a:pPr>
            <a:r>
              <a:rPr lang="en-US" sz="800" dirty="0">
                <a:solidFill>
                  <a:srgbClr val="8C8C8C"/>
                </a:solidFill>
                <a:latin typeface="Courier New" pitchFamily="34" charset="0"/>
                <a:ea typeface="Courier New" pitchFamily="34" charset="-122"/>
                <a:cs typeface="Courier New" pitchFamily="34" charset="-120"/>
              </a:rPr>
              <a:t>46 / 46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Universidad de San Buenaventura — Medellín (Bello)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GOBIERNO DE TI Y SISTEMAS CIBER-FÍSICOS DE PRODUCCIÓN · 2026-2</dc:title>
  <dc:subject>PptxGenJS Presentation</dc:subject>
  <dc:creator>Jorge Andrés Dapena — MSc.</dc:creator>
  <cp:lastModifiedBy>Jorge Andrés Dapena — MSc.</cp:lastModifiedBy>
  <cp:revision>1</cp:revision>
  <dcterms:created xsi:type="dcterms:W3CDTF">2026-09-18T01:20:52Z</dcterms:created>
  <dcterms:modified xsi:type="dcterms:W3CDTF">2026-09-18T01:20:52Z</dcterms:modified>
</cp:coreProperties>
</file>