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Cuarta sesión. Del catálogo de 40 objetivos al sistema de gobierno concreto que UNA empresa necesita. Revisar la cascada del taller de S03.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por qué (talla única falla) a cómo (flujo de diseño) y a la práctica (CPPS).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Design Guide es un documento aparte de COBIT 2019, con un toolkit (hoja de cálculo) para el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entregable: un diseño a medida (alcance + niveles objetivo) que completa el Entregable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estados. El principio 3 (dinámico) y el 5 (a medida) de S03 se materializan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diseño filtra los 40 y fija el nivel objetivo. Dos decisiones, no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salidas. El proyecto debe producir al menos alcance priorizado + niveles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Visión general del flujo; se detalla en la sección 4. Los factores de diseño alimentan los pasos 2 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entradas son los factores de diseño. Recogerlas bien es la mitad del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Contraste que guía el taller. El pecado más común: fijar todos los niveles al máximo (nivel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contraintuitiva: más capacidad cuesta más. Se busca el nivel adecuado, no el máximo.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11 factores. Los 1-4 fijan el alcance inicial; 5-10 lo refinan; 11 (tamaño) ajusta. No memorizar: entender qué mueve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planta con estrategia de costo prioriza eficiencia y continuidad (DSS04), no innovación disruptiva.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CPPS, factores 3 y 5 casi siempre empujan seguridad y riesgo al tope. La amenaza OT es alta por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rol de TI 'fábrica' (crítica para operar) exige alta disponibilidad; el aprovisionamiento híbrido, gobierno de terceros.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tamaño (F11) permite simplificar; pero incluso una pyme industrial no puede escatimar en seguridad OT si está conectada.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Traducción práctica: cada factor 'empuja' ciertos objetivos hacia arriba en la prioridad.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accionable: en industria, estos tres factores casi siempre mandan.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Capacidad se mide por proceso. El nivel objetivo es una decisión de gobierno, no un ideal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basados en CMMI. Cada nivel incluye al anterior. La mayoría de procesos maduros de industria viven en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capacidad (objetivo) de madurez (área). La madurez es más 'ejecutiva'; la capacidad, más operativa.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Distinción clave para el análisis de casos. Capacidad es granular; madurez, agregada.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brecha prioriza el plan de mejora: primero los +2 en objetivos críticos (riesgo,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Recalcar: la evaluación se basa en evidencia, no en opinión. El proyecto puede hacer una evaluación cualitativa fundamentada.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económico: la capacidad tiene costo. Se invierte donde el riesgo lo paga.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pasos del Design Guide. Cada paso usa el toolkit (hoja de cálculo) para calcular sugerencias.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más subestimado. Un buen diseño empieza por entender el negocio, no por la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toolkit convierte los factores en puntajes por objetivo. El resultado es orientativo, se refina en el paso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refinamiento ajusta el borrador. Cada factor puede subir o bajar la importancia de objetivos.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4 exige juicio: el toolkit sugiere, la dirección decide. Aquí se cierra el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toolkit es una guía cuantitativa, no un oráculo: sus sugerencias se ajustan con juicio (paso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conflictos entre factores son normales; el juicio directivo los resuelve. El proyecto documentará al menos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realista completo. Muestra cómo los factores producen un alcance concreto y manejable.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Perfil orientativo para la industria regional. El proyecto lo ajustará a su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cuatro efectos explican por qué el diseño de un CPPS siempre prioriza seguridad, continuidad y terceros.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taller cierra el núcleo del Entregable 1: diagnóstico + diseño a medida del sistema de gobierno.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Advertencias antes del taller para que el diseño del proyecto sea realista.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Verificar que distinguen capacidad de madurez y factores de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Vocabulario de diseño a medida.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cierra la Unidad 1 con valor, riesgo, recursos e ITIL 4, y recoge el Entregable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Guide e Implementation Guide son los documentos clave de esta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el Entregable 1 se entrega en la semana 5 (S05). Traer el diseño a medida del 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www.isaca.org/resources/cobit" TargetMode="External"/><Relationship Id="rId2" Type="http://schemas.openxmlformats.org/officeDocument/2006/relationships/hyperlink" Target="https://www.isaca.org/resources/cobit" TargetMode="External"/><Relationship Id="rId3" Type="http://schemas.openxmlformats.org/officeDocument/2006/relationships/hyperlink" Target="https://www.isaca.org/resources/cobit" TargetMode="External"/><Relationship Id="rId4" Type="http://schemas.openxmlformats.org/officeDocument/2006/relationships/hyperlink" Target="https://cmmiinstitute.com/" TargetMode="External"/><Relationship Id="rId5" Type="http://schemas.openxmlformats.org/officeDocument/2006/relationships/hyperlink" Target="https://link.springer.com/book/10.1007/978-3-030-25918-1" TargetMode="External"/><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lIns="0" tIns="0" rIns="0" bIns="0" rtlCol="0" anchor="ctr"/>
          <a:lstStyle/>
          <a:p>
            <a:pPr algn="l" indent="0" marL="0">
              <a:buNone/>
            </a:pPr>
            <a:r>
              <a:rPr lang="en-US" sz="950" dirty="0">
                <a:solidFill>
                  <a:srgbClr val="333333"/>
                </a:solidFill>
                <a:latin typeface="Courier New" pitchFamily="34" charset="0"/>
                <a:ea typeface="Courier New" pitchFamily="34" charset="-122"/>
                <a:cs typeface="Courier New" pitchFamily="34" charset="-120"/>
              </a:rPr>
              <a:t>01000111 01001111 01000010 01001001 01000101 01010010 01001110 01001111  01000100 01000101  01010100 01001001</a:t>
            </a:r>
            <a:endParaRPr lang="en-US" sz="950" dirty="0"/>
          </a:p>
        </p:txBody>
      </p:sp>
      <p:sp>
        <p:nvSpPr>
          <p:cNvPr id="3" name="Text 1"/>
          <p:cNvSpPr/>
          <p:nvPr/>
        </p:nvSpPr>
        <p:spPr>
          <a:xfrm>
            <a:off x="502920" y="1051560"/>
            <a:ext cx="7315200" cy="320040"/>
          </a:xfrm>
          <a:prstGeom prst="rect">
            <a:avLst/>
          </a:prstGeom>
          <a:noFill/>
          <a:ln/>
        </p:spPr>
        <p:txBody>
          <a:bodyPr wrap="square" lIns="0" tIns="0" rIns="0" bIns="0" rtlCol="0" anchor="ctr"/>
          <a:lstStyle/>
          <a:p>
            <a:pPr indent="0" marL="0">
              <a:buNone/>
            </a:pPr>
            <a:r>
              <a:rPr lang="en-US" sz="1200" b="1" spc="200" kern="0" dirty="0">
                <a:solidFill>
                  <a:srgbClr val="C6FF00"/>
                </a:solidFill>
                <a:latin typeface="Courier New" pitchFamily="34" charset="0"/>
                <a:ea typeface="Courier New" pitchFamily="34" charset="-122"/>
                <a:cs typeface="Courier New" pitchFamily="34" charset="-120"/>
              </a:rPr>
              <a:t>8 50155-3M · PREGRADO</a:t>
            </a:r>
            <a:endParaRPr lang="en-US" sz="1200" dirty="0"/>
          </a:p>
        </p:txBody>
      </p:sp>
      <p:sp>
        <p:nvSpPr>
          <p:cNvPr id="4" name="Text 2"/>
          <p:cNvSpPr/>
          <p:nvPr/>
        </p:nvSpPr>
        <p:spPr>
          <a:xfrm>
            <a:off x="7116775" y="1051560"/>
            <a:ext cx="4572000" cy="320040"/>
          </a:xfrm>
          <a:prstGeom prst="rect">
            <a:avLst/>
          </a:prstGeom>
          <a:noFill/>
          <a:ln/>
        </p:spPr>
        <p:txBody>
          <a:bodyPr wrap="square" lIns="0" tIns="0" rIns="0" bIns="0" rtlCol="0" anchor="ctr"/>
          <a:lstStyle/>
          <a:p>
            <a:pPr algn="r" indent="0" marL="0">
              <a:buNone/>
            </a:pPr>
            <a:r>
              <a:rPr lang="en-US" sz="1200" spc="100" kern="0" dirty="0">
                <a:solidFill>
                  <a:srgbClr val="8C8C8C"/>
                </a:solidFill>
                <a:latin typeface="Courier New" pitchFamily="34" charset="0"/>
                <a:ea typeface="Courier New" pitchFamily="34" charset="-122"/>
                <a:cs typeface="Courier New" pitchFamily="34" charset="-120"/>
              </a:rPr>
              <a:t>SESIÓN 04 / 16</a:t>
            </a:r>
            <a:endParaRPr lang="en-US" sz="1200" dirty="0"/>
          </a:p>
        </p:txBody>
      </p:sp>
      <p:sp>
        <p:nvSpPr>
          <p:cNvPr id="5" name="Text 3"/>
          <p:cNvSpPr/>
          <p:nvPr/>
        </p:nvSpPr>
        <p:spPr>
          <a:xfrm>
            <a:off x="502920" y="1783080"/>
            <a:ext cx="11185855" cy="2011680"/>
          </a:xfrm>
          <a:prstGeom prst="rect">
            <a:avLst/>
          </a:prstGeom>
          <a:noFill/>
          <a:ln/>
        </p:spPr>
        <p:txBody>
          <a:bodyPr wrap="square" lIns="0" tIns="0" rIns="0" bIns="0" rtlCol="0" anchor="t"/>
          <a:lstStyle/>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COBIT 2019</a:t>
            </a:r>
            <a:endParaRPr lang="en-US" sz="5200" dirty="0"/>
          </a:p>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DISEÑO A MEDIDA</a:t>
            </a:r>
            <a:endParaRPr lang="en-US" sz="5200" dirty="0"/>
          </a:p>
        </p:txBody>
      </p:sp>
      <p:sp>
        <p:nvSpPr>
          <p:cNvPr id="6" name="Text 4"/>
          <p:cNvSpPr/>
          <p:nvPr/>
        </p:nvSpPr>
        <p:spPr>
          <a:xfrm>
            <a:off x="502920" y="3977640"/>
            <a:ext cx="11185855" cy="731520"/>
          </a:xfrm>
          <a:prstGeom prst="rect">
            <a:avLst/>
          </a:prstGeom>
          <a:noFill/>
          <a:ln/>
        </p:spPr>
        <p:txBody>
          <a:bodyPr wrap="square" lIns="0" tIns="0" rIns="0" bIns="0" rtlCol="0" anchor="t"/>
          <a:lstStyle/>
          <a:p>
            <a:pPr indent="0" marL="0">
              <a:lnSpc>
                <a:spcPct val="105000"/>
              </a:lnSpc>
              <a:buNone/>
            </a:pPr>
            <a:r>
              <a:rPr lang="en-US" sz="1500" b="1" dirty="0">
                <a:solidFill>
                  <a:srgbClr val="C6FF00"/>
                </a:solidFill>
                <a:latin typeface="Courier New" pitchFamily="34" charset="0"/>
                <a:ea typeface="Courier New" pitchFamily="34" charset="-122"/>
                <a:cs typeface="Courier New" pitchFamily="34" charset="-120"/>
              </a:rPr>
              <a:t>&gt; </a:t>
            </a:r>
            <a:pPr indent="0" marL="0">
              <a:lnSpc>
                <a:spcPct val="105000"/>
              </a:lnSpc>
              <a:buNone/>
            </a:pPr>
            <a:r>
              <a:rPr lang="en-US" sz="1500" dirty="0">
                <a:solidFill>
                  <a:srgbClr val="F4F4F4"/>
                </a:solidFill>
                <a:latin typeface="Courier New" pitchFamily="34" charset="0"/>
                <a:ea typeface="Courier New" pitchFamily="34" charset="-122"/>
                <a:cs typeface="Courier New" pitchFamily="34" charset="-120"/>
              </a:rPr>
              <a:t>Factores de diseño, niveles de capacidad y madurez del sistema de gobierno</a:t>
            </a:r>
            <a:endParaRPr lang="en-US" sz="1500" dirty="0"/>
          </a:p>
        </p:txBody>
      </p:sp>
      <p:sp>
        <p:nvSpPr>
          <p:cNvPr id="7" name="Shape 5"/>
          <p:cNvSpPr/>
          <p:nvPr/>
        </p:nvSpPr>
        <p:spPr>
          <a:xfrm>
            <a:off x="502920" y="5074920"/>
            <a:ext cx="11185855" cy="0"/>
          </a:xfrm>
          <a:prstGeom prst="line">
            <a:avLst/>
          </a:prstGeom>
          <a:noFill/>
          <a:ln w="12700">
            <a:solidFill>
              <a:srgbClr val="333333"/>
            </a:solidFill>
            <a:prstDash val="solid"/>
          </a:ln>
        </p:spPr>
      </p:sp>
      <p:sp>
        <p:nvSpPr>
          <p:cNvPr id="8" name="Text 6"/>
          <p:cNvSpPr/>
          <p:nvPr/>
        </p:nvSpPr>
        <p:spPr>
          <a:xfrm>
            <a:off x="502920" y="5257800"/>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DOCENTE</a:t>
            </a:r>
            <a:endParaRPr lang="en-US" sz="1000" dirty="0"/>
          </a:p>
        </p:txBody>
      </p:sp>
      <p:sp>
        <p:nvSpPr>
          <p:cNvPr id="9" name="Text 7"/>
          <p:cNvSpPr/>
          <p:nvPr/>
        </p:nvSpPr>
        <p:spPr>
          <a:xfrm>
            <a:off x="2468880" y="5257800"/>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Jorge Andrés Dapena — MSc.</a:t>
            </a:r>
            <a:endParaRPr lang="en-US" sz="1200" dirty="0"/>
          </a:p>
        </p:txBody>
      </p:sp>
      <p:sp>
        <p:nvSpPr>
          <p:cNvPr id="10" name="Text 8"/>
          <p:cNvSpPr/>
          <p:nvPr/>
        </p:nvSpPr>
        <p:spPr>
          <a:xfrm>
            <a:off x="502920" y="5641848"/>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UNIDAD</a:t>
            </a:r>
            <a:endParaRPr lang="en-US" sz="1000" dirty="0"/>
          </a:p>
        </p:txBody>
      </p:sp>
      <p:sp>
        <p:nvSpPr>
          <p:cNvPr id="11" name="Text 9"/>
          <p:cNvSpPr/>
          <p:nvPr/>
        </p:nvSpPr>
        <p:spPr>
          <a:xfrm>
            <a:off x="2468880" y="5641848"/>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U1 · Gobierno de TI    ·    SEMANA 4</a:t>
            </a:r>
            <a:endParaRPr lang="en-US" sz="1200" dirty="0"/>
          </a:p>
        </p:txBody>
      </p:sp>
      <p:sp>
        <p:nvSpPr>
          <p:cNvPr id="12" name="Text 10"/>
          <p:cNvSpPr/>
          <p:nvPr/>
        </p:nvSpPr>
        <p:spPr>
          <a:xfrm>
            <a:off x="502920" y="6025896"/>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INSTITUCIÓN</a:t>
            </a:r>
            <a:endParaRPr lang="en-US" sz="1000" dirty="0"/>
          </a:p>
        </p:txBody>
      </p:sp>
      <p:sp>
        <p:nvSpPr>
          <p:cNvPr id="13" name="Text 11"/>
          <p:cNvSpPr/>
          <p:nvPr/>
        </p:nvSpPr>
        <p:spPr>
          <a:xfrm>
            <a:off x="2468880" y="6025896"/>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Universidad de San Buenaventura — Medellín (Bello)</a:t>
            </a:r>
            <a:endParaRPr lang="en-US" sz="1200" dirty="0"/>
          </a:p>
        </p:txBody>
      </p:sp>
      <p:sp>
        <p:nvSpPr>
          <p:cNvPr id="14" name="Text 12"/>
          <p:cNvSpPr/>
          <p:nvPr/>
        </p:nvSpPr>
        <p:spPr>
          <a:xfrm>
            <a:off x="502920" y="6382512"/>
            <a:ext cx="11185855"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Y SISTEMAS CIBER-FÍSICOS DE PRODUCCIÓN · 2026-2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01  INICIO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AGENDA DE LA SESIÓN</a:t>
            </a:r>
            <a:endParaRPr lang="en-US" sz="3300" dirty="0"/>
          </a:p>
        </p:txBody>
      </p:sp>
      <p:sp>
        <p:nvSpPr>
          <p:cNvPr id="4" name="Shape 2"/>
          <p:cNvSpPr/>
          <p:nvPr/>
        </p:nvSpPr>
        <p:spPr>
          <a:xfrm>
            <a:off x="502920" y="1828800"/>
            <a:ext cx="5364328" cy="1298448"/>
          </a:xfrm>
          <a:prstGeom prst="roundRect">
            <a:avLst>
              <a:gd name="adj" fmla="val 4225"/>
            </a:avLst>
          </a:prstGeom>
          <a:solidFill>
            <a:srgbClr val="151515"/>
          </a:solidFill>
          <a:ln w="12700">
            <a:solidFill>
              <a:srgbClr val="333333"/>
            </a:solidFill>
            <a:prstDash val="solid"/>
          </a:ln>
        </p:spPr>
      </p:sp>
      <p:sp>
        <p:nvSpPr>
          <p:cNvPr id="5" name="Text 3"/>
          <p:cNvSpPr/>
          <p:nvPr/>
        </p:nvSpPr>
        <p:spPr>
          <a:xfrm>
            <a:off x="667512"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A</a:t>
            </a:r>
            <a:endParaRPr lang="en-US" sz="2600" dirty="0"/>
          </a:p>
        </p:txBody>
      </p:sp>
      <p:sp>
        <p:nvSpPr>
          <p:cNvPr id="6" name="Text 4"/>
          <p:cNvSpPr/>
          <p:nvPr/>
        </p:nvSpPr>
        <p:spPr>
          <a:xfrm>
            <a:off x="1417320"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Por qué a medida</a:t>
            </a:r>
            <a:endParaRPr lang="en-US" sz="1450" dirty="0"/>
          </a:p>
        </p:txBody>
      </p:sp>
      <p:sp>
        <p:nvSpPr>
          <p:cNvPr id="7" name="Text 5"/>
          <p:cNvSpPr/>
          <p:nvPr/>
        </p:nvSpPr>
        <p:spPr>
          <a:xfrm>
            <a:off x="1417320"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El fin de la talla única y el flujo de diseño</a:t>
            </a:r>
            <a:endParaRPr lang="en-US" sz="1050" dirty="0"/>
          </a:p>
        </p:txBody>
      </p:sp>
      <p:sp>
        <p:nvSpPr>
          <p:cNvPr id="8" name="Shape 6"/>
          <p:cNvSpPr/>
          <p:nvPr/>
        </p:nvSpPr>
        <p:spPr>
          <a:xfrm>
            <a:off x="6324448" y="1828800"/>
            <a:ext cx="5364328" cy="1298448"/>
          </a:xfrm>
          <a:prstGeom prst="roundRect">
            <a:avLst>
              <a:gd name="adj" fmla="val 4225"/>
            </a:avLst>
          </a:prstGeom>
          <a:solidFill>
            <a:srgbClr val="151515"/>
          </a:solidFill>
          <a:ln w="12700">
            <a:solidFill>
              <a:srgbClr val="333333"/>
            </a:solidFill>
            <a:prstDash val="solid"/>
          </a:ln>
        </p:spPr>
      </p:sp>
      <p:sp>
        <p:nvSpPr>
          <p:cNvPr id="9" name="Text 7"/>
          <p:cNvSpPr/>
          <p:nvPr/>
        </p:nvSpPr>
        <p:spPr>
          <a:xfrm>
            <a:off x="6489040"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B</a:t>
            </a:r>
            <a:endParaRPr lang="en-US" sz="2600" dirty="0"/>
          </a:p>
        </p:txBody>
      </p:sp>
      <p:sp>
        <p:nvSpPr>
          <p:cNvPr id="10" name="Text 8"/>
          <p:cNvSpPr/>
          <p:nvPr/>
        </p:nvSpPr>
        <p:spPr>
          <a:xfrm>
            <a:off x="7238848"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Los 11 factores</a:t>
            </a:r>
            <a:endParaRPr lang="en-US" sz="1450" dirty="0"/>
          </a:p>
        </p:txBody>
      </p:sp>
      <p:sp>
        <p:nvSpPr>
          <p:cNvPr id="11" name="Text 9"/>
          <p:cNvSpPr/>
          <p:nvPr/>
        </p:nvSpPr>
        <p:spPr>
          <a:xfrm>
            <a:off x="7238848"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Qué mueve el diseño del sistema de gobierno</a:t>
            </a:r>
            <a:endParaRPr lang="en-US" sz="1050" dirty="0"/>
          </a:p>
        </p:txBody>
      </p:sp>
      <p:sp>
        <p:nvSpPr>
          <p:cNvPr id="12" name="Shape 10"/>
          <p:cNvSpPr/>
          <p:nvPr/>
        </p:nvSpPr>
        <p:spPr>
          <a:xfrm>
            <a:off x="502920" y="3383280"/>
            <a:ext cx="5364328" cy="1298448"/>
          </a:xfrm>
          <a:prstGeom prst="roundRect">
            <a:avLst>
              <a:gd name="adj" fmla="val 4225"/>
            </a:avLst>
          </a:prstGeom>
          <a:solidFill>
            <a:srgbClr val="151515"/>
          </a:solidFill>
          <a:ln w="12700">
            <a:solidFill>
              <a:srgbClr val="333333"/>
            </a:solidFill>
            <a:prstDash val="solid"/>
          </a:ln>
        </p:spPr>
      </p:sp>
      <p:sp>
        <p:nvSpPr>
          <p:cNvPr id="13" name="Text 11"/>
          <p:cNvSpPr/>
          <p:nvPr/>
        </p:nvSpPr>
        <p:spPr>
          <a:xfrm>
            <a:off x="667512"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C</a:t>
            </a:r>
            <a:endParaRPr lang="en-US" sz="2600" dirty="0"/>
          </a:p>
        </p:txBody>
      </p:sp>
      <p:sp>
        <p:nvSpPr>
          <p:cNvPr id="14" name="Text 12"/>
          <p:cNvSpPr/>
          <p:nvPr/>
        </p:nvSpPr>
        <p:spPr>
          <a:xfrm>
            <a:off x="1417320"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Capacidad y madurez</a:t>
            </a:r>
            <a:endParaRPr lang="en-US" sz="1450" dirty="0"/>
          </a:p>
        </p:txBody>
      </p:sp>
      <p:sp>
        <p:nvSpPr>
          <p:cNvPr id="15" name="Text 13"/>
          <p:cNvSpPr/>
          <p:nvPr/>
        </p:nvSpPr>
        <p:spPr>
          <a:xfrm>
            <a:off x="1417320"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Niveles 0–5 y evaluación de brechas</a:t>
            </a:r>
            <a:endParaRPr lang="en-US" sz="1050" dirty="0"/>
          </a:p>
        </p:txBody>
      </p:sp>
      <p:sp>
        <p:nvSpPr>
          <p:cNvPr id="16" name="Shape 14"/>
          <p:cNvSpPr/>
          <p:nvPr/>
        </p:nvSpPr>
        <p:spPr>
          <a:xfrm>
            <a:off x="6324448" y="3383280"/>
            <a:ext cx="5364328" cy="1298448"/>
          </a:xfrm>
          <a:prstGeom prst="roundRect">
            <a:avLst>
              <a:gd name="adj" fmla="val 4225"/>
            </a:avLst>
          </a:prstGeom>
          <a:solidFill>
            <a:srgbClr val="151515"/>
          </a:solidFill>
          <a:ln w="12700">
            <a:solidFill>
              <a:srgbClr val="333333"/>
            </a:solidFill>
            <a:prstDash val="solid"/>
          </a:ln>
        </p:spPr>
      </p:sp>
      <p:sp>
        <p:nvSpPr>
          <p:cNvPr id="17" name="Text 15"/>
          <p:cNvSpPr/>
          <p:nvPr/>
        </p:nvSpPr>
        <p:spPr>
          <a:xfrm>
            <a:off x="6489040"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D</a:t>
            </a:r>
            <a:endParaRPr lang="en-US" sz="2600" dirty="0"/>
          </a:p>
        </p:txBody>
      </p:sp>
      <p:sp>
        <p:nvSpPr>
          <p:cNvPr id="18" name="Text 16"/>
          <p:cNvSpPr/>
          <p:nvPr/>
        </p:nvSpPr>
        <p:spPr>
          <a:xfrm>
            <a:off x="7238848"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El flujo de diseño</a:t>
            </a:r>
            <a:endParaRPr lang="en-US" sz="1450" dirty="0"/>
          </a:p>
        </p:txBody>
      </p:sp>
      <p:sp>
        <p:nvSpPr>
          <p:cNvPr id="19" name="Text 17"/>
          <p:cNvSpPr/>
          <p:nvPr/>
        </p:nvSpPr>
        <p:spPr>
          <a:xfrm>
            <a:off x="7238848"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Los cuatro pasos del Design Guide</a:t>
            </a:r>
            <a:endParaRPr lang="en-US" sz="1050" dirty="0"/>
          </a:p>
        </p:txBody>
      </p:sp>
      <p:sp>
        <p:nvSpPr>
          <p:cNvPr id="20" name="Shape 18"/>
          <p:cNvSpPr/>
          <p:nvPr/>
        </p:nvSpPr>
        <p:spPr>
          <a:xfrm>
            <a:off x="502920" y="4937760"/>
            <a:ext cx="5364328" cy="1298448"/>
          </a:xfrm>
          <a:prstGeom prst="roundRect">
            <a:avLst>
              <a:gd name="adj" fmla="val 4225"/>
            </a:avLst>
          </a:prstGeom>
          <a:solidFill>
            <a:srgbClr val="151515"/>
          </a:solidFill>
          <a:ln w="12700">
            <a:solidFill>
              <a:srgbClr val="333333"/>
            </a:solidFill>
            <a:prstDash val="solid"/>
          </a:ln>
        </p:spPr>
      </p:sp>
      <p:sp>
        <p:nvSpPr>
          <p:cNvPr id="21" name="Text 19"/>
          <p:cNvSpPr/>
          <p:nvPr/>
        </p:nvSpPr>
        <p:spPr>
          <a:xfrm>
            <a:off x="667512"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E</a:t>
            </a:r>
            <a:endParaRPr lang="en-US" sz="2600" dirty="0"/>
          </a:p>
        </p:txBody>
      </p:sp>
      <p:sp>
        <p:nvSpPr>
          <p:cNvPr id="22" name="Text 20"/>
          <p:cNvSpPr/>
          <p:nvPr/>
        </p:nvSpPr>
        <p:spPr>
          <a:xfrm>
            <a:off x="1417320"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Diseño para un CPPS</a:t>
            </a:r>
            <a:endParaRPr lang="en-US" sz="1450" dirty="0"/>
          </a:p>
        </p:txBody>
      </p:sp>
      <p:sp>
        <p:nvSpPr>
          <p:cNvPr id="23" name="Text 21"/>
          <p:cNvSpPr/>
          <p:nvPr/>
        </p:nvSpPr>
        <p:spPr>
          <a:xfrm>
            <a:off x="1417320"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Factores aplicados al piso de planta</a:t>
            </a:r>
            <a:endParaRPr lang="en-US" sz="1050" dirty="0"/>
          </a:p>
        </p:txBody>
      </p:sp>
      <p:sp>
        <p:nvSpPr>
          <p:cNvPr id="24" name="Shape 22"/>
          <p:cNvSpPr/>
          <p:nvPr/>
        </p:nvSpPr>
        <p:spPr>
          <a:xfrm>
            <a:off x="6324448" y="4937760"/>
            <a:ext cx="5364328" cy="1298448"/>
          </a:xfrm>
          <a:prstGeom prst="roundRect">
            <a:avLst>
              <a:gd name="adj" fmla="val 4225"/>
            </a:avLst>
          </a:prstGeom>
          <a:solidFill>
            <a:srgbClr val="151515"/>
          </a:solidFill>
          <a:ln w="12700">
            <a:solidFill>
              <a:srgbClr val="333333"/>
            </a:solidFill>
            <a:prstDash val="solid"/>
          </a:ln>
        </p:spPr>
      </p:sp>
      <p:sp>
        <p:nvSpPr>
          <p:cNvPr id="25" name="Text 23"/>
          <p:cNvSpPr/>
          <p:nvPr/>
        </p:nvSpPr>
        <p:spPr>
          <a:xfrm>
            <a:off x="6489040"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F</a:t>
            </a:r>
            <a:endParaRPr lang="en-US" sz="2600" dirty="0"/>
          </a:p>
        </p:txBody>
      </p:sp>
      <p:sp>
        <p:nvSpPr>
          <p:cNvPr id="26" name="Text 24"/>
          <p:cNvSpPr/>
          <p:nvPr/>
        </p:nvSpPr>
        <p:spPr>
          <a:xfrm>
            <a:off x="7238848"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Cierre y taller</a:t>
            </a:r>
            <a:endParaRPr lang="en-US" sz="1450" dirty="0"/>
          </a:p>
        </p:txBody>
      </p:sp>
      <p:sp>
        <p:nvSpPr>
          <p:cNvPr id="27" name="Text 25"/>
          <p:cNvSpPr/>
          <p:nvPr/>
        </p:nvSpPr>
        <p:spPr>
          <a:xfrm>
            <a:off x="7238848"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Diseñar el sistema de gobierno del proyecto</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02 / 48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02  DISEÑO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DISEÑO A MEDIDA EN CIFRAS</a:t>
            </a:r>
            <a:endParaRPr lang="en-US" sz="3300" dirty="0"/>
          </a:p>
        </p:txBody>
      </p:sp>
      <p:sp>
        <p:nvSpPr>
          <p:cNvPr id="4" name="Shape 2"/>
          <p:cNvSpPr/>
          <p:nvPr/>
        </p:nvSpPr>
        <p:spPr>
          <a:xfrm>
            <a:off x="502920" y="1783080"/>
            <a:ext cx="2590724" cy="1371600"/>
          </a:xfrm>
          <a:prstGeom prst="roundRect">
            <a:avLst>
              <a:gd name="adj" fmla="val 4000"/>
            </a:avLst>
          </a:prstGeom>
          <a:solidFill>
            <a:srgbClr val="151515"/>
          </a:solidFill>
          <a:ln w="12700">
            <a:solidFill>
              <a:srgbClr val="333333"/>
            </a:solidFill>
            <a:prstDash val="solid"/>
          </a:ln>
        </p:spPr>
      </p:sp>
      <p:sp>
        <p:nvSpPr>
          <p:cNvPr id="5" name="Text 3"/>
          <p:cNvSpPr/>
          <p:nvPr/>
        </p:nvSpPr>
        <p:spPr>
          <a:xfrm>
            <a:off x="502920"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11</a:t>
            </a:r>
            <a:endParaRPr lang="en-US" sz="4000" dirty="0"/>
          </a:p>
        </p:txBody>
      </p:sp>
      <p:sp>
        <p:nvSpPr>
          <p:cNvPr id="6" name="Text 4"/>
          <p:cNvSpPr/>
          <p:nvPr/>
        </p:nvSpPr>
        <p:spPr>
          <a:xfrm>
            <a:off x="502920"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FACTORES DISEÑO</a:t>
            </a:r>
            <a:endParaRPr lang="en-US" sz="950" dirty="0"/>
          </a:p>
        </p:txBody>
      </p:sp>
      <p:sp>
        <p:nvSpPr>
          <p:cNvPr id="7" name="Shape 5"/>
          <p:cNvSpPr/>
          <p:nvPr/>
        </p:nvSpPr>
        <p:spPr>
          <a:xfrm>
            <a:off x="3367964" y="1783080"/>
            <a:ext cx="2590724" cy="1371600"/>
          </a:xfrm>
          <a:prstGeom prst="roundRect">
            <a:avLst>
              <a:gd name="adj" fmla="val 4000"/>
            </a:avLst>
          </a:prstGeom>
          <a:solidFill>
            <a:srgbClr val="151515"/>
          </a:solidFill>
          <a:ln w="12700">
            <a:solidFill>
              <a:srgbClr val="333333"/>
            </a:solidFill>
            <a:prstDash val="solid"/>
          </a:ln>
        </p:spPr>
      </p:sp>
      <p:sp>
        <p:nvSpPr>
          <p:cNvPr id="8" name="Text 6"/>
          <p:cNvSpPr/>
          <p:nvPr/>
        </p:nvSpPr>
        <p:spPr>
          <a:xfrm>
            <a:off x="3367964"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4</a:t>
            </a:r>
            <a:endParaRPr lang="en-US" sz="4000" dirty="0"/>
          </a:p>
        </p:txBody>
      </p:sp>
      <p:sp>
        <p:nvSpPr>
          <p:cNvPr id="9" name="Text 7"/>
          <p:cNvSpPr/>
          <p:nvPr/>
        </p:nvSpPr>
        <p:spPr>
          <a:xfrm>
            <a:off x="3367964"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PASOS DE DISEÑO</a:t>
            </a:r>
            <a:endParaRPr lang="en-US" sz="950" dirty="0"/>
          </a:p>
        </p:txBody>
      </p:sp>
      <p:sp>
        <p:nvSpPr>
          <p:cNvPr id="10" name="Shape 8"/>
          <p:cNvSpPr/>
          <p:nvPr/>
        </p:nvSpPr>
        <p:spPr>
          <a:xfrm>
            <a:off x="6233008" y="1783080"/>
            <a:ext cx="2590724" cy="1371600"/>
          </a:xfrm>
          <a:prstGeom prst="roundRect">
            <a:avLst>
              <a:gd name="adj" fmla="val 4000"/>
            </a:avLst>
          </a:prstGeom>
          <a:solidFill>
            <a:srgbClr val="151515"/>
          </a:solidFill>
          <a:ln w="12700">
            <a:solidFill>
              <a:srgbClr val="333333"/>
            </a:solidFill>
            <a:prstDash val="solid"/>
          </a:ln>
        </p:spPr>
      </p:sp>
      <p:sp>
        <p:nvSpPr>
          <p:cNvPr id="11" name="Text 9"/>
          <p:cNvSpPr/>
          <p:nvPr/>
        </p:nvSpPr>
        <p:spPr>
          <a:xfrm>
            <a:off x="6233008"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0–5</a:t>
            </a:r>
            <a:endParaRPr lang="en-US" sz="4000" dirty="0"/>
          </a:p>
        </p:txBody>
      </p:sp>
      <p:sp>
        <p:nvSpPr>
          <p:cNvPr id="12" name="Text 10"/>
          <p:cNvSpPr/>
          <p:nvPr/>
        </p:nvSpPr>
        <p:spPr>
          <a:xfrm>
            <a:off x="6233008"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NIVELES CAPACIDAD</a:t>
            </a:r>
            <a:endParaRPr lang="en-US" sz="950" dirty="0"/>
          </a:p>
        </p:txBody>
      </p:sp>
      <p:sp>
        <p:nvSpPr>
          <p:cNvPr id="13" name="Shape 11"/>
          <p:cNvSpPr/>
          <p:nvPr/>
        </p:nvSpPr>
        <p:spPr>
          <a:xfrm>
            <a:off x="9098051" y="1783080"/>
            <a:ext cx="2590724" cy="1371600"/>
          </a:xfrm>
          <a:prstGeom prst="roundRect">
            <a:avLst>
              <a:gd name="adj" fmla="val 4000"/>
            </a:avLst>
          </a:prstGeom>
          <a:solidFill>
            <a:srgbClr val="151515"/>
          </a:solidFill>
          <a:ln w="12700">
            <a:solidFill>
              <a:srgbClr val="333333"/>
            </a:solidFill>
            <a:prstDash val="solid"/>
          </a:ln>
        </p:spPr>
      </p:sp>
      <p:sp>
        <p:nvSpPr>
          <p:cNvPr id="14" name="Text 12"/>
          <p:cNvSpPr/>
          <p:nvPr/>
        </p:nvSpPr>
        <p:spPr>
          <a:xfrm>
            <a:off x="9098051"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40</a:t>
            </a:r>
            <a:endParaRPr lang="en-US" sz="4000" dirty="0"/>
          </a:p>
        </p:txBody>
      </p:sp>
      <p:sp>
        <p:nvSpPr>
          <p:cNvPr id="15" name="Text 13"/>
          <p:cNvSpPr/>
          <p:nvPr/>
        </p:nvSpPr>
        <p:spPr>
          <a:xfrm>
            <a:off x="9098051"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OBJETIVOS A FILTRAR</a:t>
            </a:r>
            <a:endParaRPr lang="en-US" sz="950" dirty="0"/>
          </a:p>
        </p:txBody>
      </p:sp>
      <p:sp>
        <p:nvSpPr>
          <p:cNvPr id="16" name="Text 14"/>
          <p:cNvSpPr/>
          <p:nvPr/>
        </p:nvSpPr>
        <p:spPr>
          <a:xfrm>
            <a:off x="502920"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HERRAMIENTA</a:t>
            </a:r>
            <a:endParaRPr lang="en-US" sz="1050" dirty="0"/>
          </a:p>
        </p:txBody>
      </p:sp>
      <p:sp>
        <p:nvSpPr>
          <p:cNvPr id="17" name="Text 15"/>
          <p:cNvSpPr/>
          <p:nvPr/>
        </p:nvSpPr>
        <p:spPr>
          <a:xfrm>
            <a:off x="3291840"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COBIT 2019 Design Guide + Toolkit</a:t>
            </a:r>
            <a:endParaRPr lang="en-US" sz="1200" dirty="0"/>
          </a:p>
        </p:txBody>
      </p:sp>
      <p:sp>
        <p:nvSpPr>
          <p:cNvPr id="18" name="Text 16"/>
          <p:cNvSpPr/>
          <p:nvPr/>
        </p:nvSpPr>
        <p:spPr>
          <a:xfrm>
            <a:off x="6324448"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ENTRADA</a:t>
            </a:r>
            <a:endParaRPr lang="en-US" sz="1050" dirty="0"/>
          </a:p>
        </p:txBody>
      </p:sp>
      <p:sp>
        <p:nvSpPr>
          <p:cNvPr id="19" name="Text 17"/>
          <p:cNvSpPr/>
          <p:nvPr/>
        </p:nvSpPr>
        <p:spPr>
          <a:xfrm>
            <a:off x="9113368"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Contexto y estrategia de la empresa</a:t>
            </a:r>
            <a:endParaRPr lang="en-US" sz="1200" dirty="0"/>
          </a:p>
        </p:txBody>
      </p:sp>
      <p:sp>
        <p:nvSpPr>
          <p:cNvPr id="20" name="Text 18"/>
          <p:cNvSpPr/>
          <p:nvPr/>
        </p:nvSpPr>
        <p:spPr>
          <a:xfrm>
            <a:off x="502920"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SALIDA</a:t>
            </a:r>
            <a:endParaRPr lang="en-US" sz="1050" dirty="0"/>
          </a:p>
        </p:txBody>
      </p:sp>
      <p:sp>
        <p:nvSpPr>
          <p:cNvPr id="21" name="Text 19"/>
          <p:cNvSpPr/>
          <p:nvPr/>
        </p:nvSpPr>
        <p:spPr>
          <a:xfrm>
            <a:off x="3291840"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Alcance + niveles objetivo + prioridades</a:t>
            </a:r>
            <a:endParaRPr lang="en-US" sz="1200" dirty="0"/>
          </a:p>
        </p:txBody>
      </p:sp>
      <p:sp>
        <p:nvSpPr>
          <p:cNvPr id="22" name="Text 20"/>
          <p:cNvSpPr/>
          <p:nvPr/>
        </p:nvSpPr>
        <p:spPr>
          <a:xfrm>
            <a:off x="6324448"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CAPACIDAD</a:t>
            </a:r>
            <a:endParaRPr lang="en-US" sz="1050" dirty="0"/>
          </a:p>
        </p:txBody>
      </p:sp>
      <p:sp>
        <p:nvSpPr>
          <p:cNvPr id="23" name="Text 21"/>
          <p:cNvSpPr/>
          <p:nvPr/>
        </p:nvSpPr>
        <p:spPr>
          <a:xfrm>
            <a:off x="9113368"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Basada en CMMI (procesos)</a:t>
            </a:r>
            <a:endParaRPr lang="en-US" sz="1200" dirty="0"/>
          </a:p>
        </p:txBody>
      </p:sp>
      <p:sp>
        <p:nvSpPr>
          <p:cNvPr id="24" name="Text 22"/>
          <p:cNvSpPr/>
          <p:nvPr/>
        </p:nvSpPr>
        <p:spPr>
          <a:xfrm>
            <a:off x="502920"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MADUREZ</a:t>
            </a:r>
            <a:endParaRPr lang="en-US" sz="1050" dirty="0"/>
          </a:p>
        </p:txBody>
      </p:sp>
      <p:sp>
        <p:nvSpPr>
          <p:cNvPr id="25" name="Text 23"/>
          <p:cNvSpPr/>
          <p:nvPr/>
        </p:nvSpPr>
        <p:spPr>
          <a:xfrm>
            <a:off x="3291840"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Por área de enfoque (focus area)</a:t>
            </a:r>
            <a:endParaRPr lang="en-US" sz="1200" dirty="0"/>
          </a:p>
        </p:txBody>
      </p:sp>
      <p:sp>
        <p:nvSpPr>
          <p:cNvPr id="26" name="Text 24"/>
          <p:cNvSpPr/>
          <p:nvPr/>
        </p:nvSpPr>
        <p:spPr>
          <a:xfrm>
            <a:off x="6324448"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NOVEDAD 2019</a:t>
            </a:r>
            <a:endParaRPr lang="en-US" sz="1050" dirty="0"/>
          </a:p>
        </p:txBody>
      </p:sp>
      <p:sp>
        <p:nvSpPr>
          <p:cNvPr id="27" name="Text 25"/>
          <p:cNvSpPr/>
          <p:nvPr/>
        </p:nvSpPr>
        <p:spPr>
          <a:xfrm>
            <a:off x="9113368"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Sistema dinámico, no estático</a:t>
            </a:r>
            <a:endParaRPr lang="en-US" sz="12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03 / 48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03  DISEÑO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OBJETIVOS DE LA SESIÓN</a:t>
            </a:r>
            <a:endParaRPr lang="en-US" sz="3300" dirty="0"/>
          </a:p>
        </p:txBody>
      </p:sp>
      <p:sp>
        <p:nvSpPr>
          <p:cNvPr id="4" name="Shape 2"/>
          <p:cNvSpPr/>
          <p:nvPr/>
        </p:nvSpPr>
        <p:spPr>
          <a:xfrm>
            <a:off x="502920" y="1783080"/>
            <a:ext cx="11185855" cy="766267"/>
          </a:xfrm>
          <a:prstGeom prst="roundRect">
            <a:avLst>
              <a:gd name="adj" fmla="val 5967"/>
            </a:avLst>
          </a:prstGeom>
          <a:solidFill>
            <a:srgbClr val="151515"/>
          </a:solidFill>
          <a:ln w="12700">
            <a:solidFill>
              <a:srgbClr val="333333"/>
            </a:solidFill>
            <a:prstDash val="solid"/>
          </a:ln>
        </p:spPr>
      </p:sp>
      <p:sp>
        <p:nvSpPr>
          <p:cNvPr id="5" name="Text 3"/>
          <p:cNvSpPr/>
          <p:nvPr/>
        </p:nvSpPr>
        <p:spPr>
          <a:xfrm>
            <a:off x="685800" y="1783080"/>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01</a:t>
            </a:r>
            <a:endParaRPr lang="en-US" sz="2600" dirty="0"/>
          </a:p>
        </p:txBody>
      </p:sp>
      <p:sp>
        <p:nvSpPr>
          <p:cNvPr id="6" name="Text 4"/>
          <p:cNvSpPr/>
          <p:nvPr/>
        </p:nvSpPr>
        <p:spPr>
          <a:xfrm>
            <a:off x="1691640" y="1783080"/>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Justificar  </a:t>
            </a:r>
            <a:pPr indent="0" marL="0">
              <a:buNone/>
            </a:pPr>
            <a:r>
              <a:rPr lang="en-US" sz="1350" dirty="0">
                <a:solidFill>
                  <a:srgbClr val="F4F4F4"/>
                </a:solidFill>
                <a:latin typeface="Arial" pitchFamily="34" charset="0"/>
                <a:ea typeface="Arial" pitchFamily="34" charset="-122"/>
                <a:cs typeface="Arial" pitchFamily="34" charset="-120"/>
              </a:rPr>
              <a:t>por qué el gobierno se diseña a medida y no se copia.</a:t>
            </a:r>
            <a:endParaRPr lang="en-US" sz="1350" dirty="0"/>
          </a:p>
        </p:txBody>
      </p:sp>
      <p:sp>
        <p:nvSpPr>
          <p:cNvPr id="7" name="Shape 5"/>
          <p:cNvSpPr/>
          <p:nvPr/>
        </p:nvSpPr>
        <p:spPr>
          <a:xfrm>
            <a:off x="502920" y="2713939"/>
            <a:ext cx="11185855" cy="766267"/>
          </a:xfrm>
          <a:prstGeom prst="roundRect">
            <a:avLst>
              <a:gd name="adj" fmla="val 5967"/>
            </a:avLst>
          </a:prstGeom>
          <a:solidFill>
            <a:srgbClr val="151515"/>
          </a:solidFill>
          <a:ln w="12700">
            <a:solidFill>
              <a:srgbClr val="333333"/>
            </a:solidFill>
            <a:prstDash val="solid"/>
          </a:ln>
        </p:spPr>
      </p:sp>
      <p:sp>
        <p:nvSpPr>
          <p:cNvPr id="8" name="Text 6"/>
          <p:cNvSpPr/>
          <p:nvPr/>
        </p:nvSpPr>
        <p:spPr>
          <a:xfrm>
            <a:off x="685800" y="2713939"/>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02</a:t>
            </a:r>
            <a:endParaRPr lang="en-US" sz="2600" dirty="0"/>
          </a:p>
        </p:txBody>
      </p:sp>
      <p:sp>
        <p:nvSpPr>
          <p:cNvPr id="9" name="Text 7"/>
          <p:cNvSpPr/>
          <p:nvPr/>
        </p:nvSpPr>
        <p:spPr>
          <a:xfrm>
            <a:off x="1691640" y="2713939"/>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Enumerar  </a:t>
            </a:r>
            <a:pPr indent="0" marL="0">
              <a:buNone/>
            </a:pPr>
            <a:r>
              <a:rPr lang="en-US" sz="1350" dirty="0">
                <a:solidFill>
                  <a:srgbClr val="F4F4F4"/>
                </a:solidFill>
                <a:latin typeface="Arial" pitchFamily="34" charset="0"/>
                <a:ea typeface="Arial" pitchFamily="34" charset="-122"/>
                <a:cs typeface="Arial" pitchFamily="34" charset="-120"/>
              </a:rPr>
              <a:t>los once factores de diseño y su efecto.</a:t>
            </a:r>
            <a:endParaRPr lang="en-US" sz="1350" dirty="0"/>
          </a:p>
        </p:txBody>
      </p:sp>
      <p:sp>
        <p:nvSpPr>
          <p:cNvPr id="10" name="Shape 8"/>
          <p:cNvSpPr/>
          <p:nvPr/>
        </p:nvSpPr>
        <p:spPr>
          <a:xfrm>
            <a:off x="502920" y="3644798"/>
            <a:ext cx="11185855" cy="766267"/>
          </a:xfrm>
          <a:prstGeom prst="roundRect">
            <a:avLst>
              <a:gd name="adj" fmla="val 5967"/>
            </a:avLst>
          </a:prstGeom>
          <a:solidFill>
            <a:srgbClr val="151515"/>
          </a:solidFill>
          <a:ln w="12700">
            <a:solidFill>
              <a:srgbClr val="333333"/>
            </a:solidFill>
            <a:prstDash val="solid"/>
          </a:ln>
        </p:spPr>
      </p:sp>
      <p:sp>
        <p:nvSpPr>
          <p:cNvPr id="11" name="Text 9"/>
          <p:cNvSpPr/>
          <p:nvPr/>
        </p:nvSpPr>
        <p:spPr>
          <a:xfrm>
            <a:off x="685800" y="364479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03</a:t>
            </a:r>
            <a:endParaRPr lang="en-US" sz="2600" dirty="0"/>
          </a:p>
        </p:txBody>
      </p:sp>
      <p:sp>
        <p:nvSpPr>
          <p:cNvPr id="12" name="Text 10"/>
          <p:cNvSpPr/>
          <p:nvPr/>
        </p:nvSpPr>
        <p:spPr>
          <a:xfrm>
            <a:off x="1691640" y="364479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Distinguir  </a:t>
            </a:r>
            <a:pPr indent="0" marL="0">
              <a:buNone/>
            </a:pPr>
            <a:r>
              <a:rPr lang="en-US" sz="1350" dirty="0">
                <a:solidFill>
                  <a:srgbClr val="F4F4F4"/>
                </a:solidFill>
                <a:latin typeface="Arial" pitchFamily="34" charset="0"/>
                <a:ea typeface="Arial" pitchFamily="34" charset="-122"/>
                <a:cs typeface="Arial" pitchFamily="34" charset="-120"/>
              </a:rPr>
              <a:t>niveles de capacidad de proceso y madurez de área de enfoque.</a:t>
            </a:r>
            <a:endParaRPr lang="en-US" sz="1350" dirty="0"/>
          </a:p>
        </p:txBody>
      </p:sp>
      <p:sp>
        <p:nvSpPr>
          <p:cNvPr id="13" name="Shape 11"/>
          <p:cNvSpPr/>
          <p:nvPr/>
        </p:nvSpPr>
        <p:spPr>
          <a:xfrm>
            <a:off x="502920" y="4575658"/>
            <a:ext cx="11185855" cy="766267"/>
          </a:xfrm>
          <a:prstGeom prst="roundRect">
            <a:avLst>
              <a:gd name="adj" fmla="val 5967"/>
            </a:avLst>
          </a:prstGeom>
          <a:solidFill>
            <a:srgbClr val="151515"/>
          </a:solidFill>
          <a:ln w="12700">
            <a:solidFill>
              <a:srgbClr val="333333"/>
            </a:solidFill>
            <a:prstDash val="solid"/>
          </a:ln>
        </p:spPr>
      </p:sp>
      <p:sp>
        <p:nvSpPr>
          <p:cNvPr id="14" name="Text 12"/>
          <p:cNvSpPr/>
          <p:nvPr/>
        </p:nvSpPr>
        <p:spPr>
          <a:xfrm>
            <a:off x="685800" y="457565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04</a:t>
            </a:r>
            <a:endParaRPr lang="en-US" sz="2600" dirty="0"/>
          </a:p>
        </p:txBody>
      </p:sp>
      <p:sp>
        <p:nvSpPr>
          <p:cNvPr id="15" name="Text 13"/>
          <p:cNvSpPr/>
          <p:nvPr/>
        </p:nvSpPr>
        <p:spPr>
          <a:xfrm>
            <a:off x="1691640" y="457565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Aplicar  </a:t>
            </a:r>
            <a:pPr indent="0" marL="0">
              <a:buNone/>
            </a:pPr>
            <a:r>
              <a:rPr lang="en-US" sz="1350" dirty="0">
                <a:solidFill>
                  <a:srgbClr val="F4F4F4"/>
                </a:solidFill>
                <a:latin typeface="Arial" pitchFamily="34" charset="0"/>
                <a:ea typeface="Arial" pitchFamily="34" charset="-122"/>
                <a:cs typeface="Arial" pitchFamily="34" charset="-120"/>
              </a:rPr>
              <a:t>los cuatro pasos del flujo de diseño de COBIT.</a:t>
            </a:r>
            <a:endParaRPr lang="en-US" sz="1350" dirty="0"/>
          </a:p>
        </p:txBody>
      </p:sp>
      <p:sp>
        <p:nvSpPr>
          <p:cNvPr id="16" name="Shape 14"/>
          <p:cNvSpPr/>
          <p:nvPr/>
        </p:nvSpPr>
        <p:spPr>
          <a:xfrm>
            <a:off x="502920" y="5506517"/>
            <a:ext cx="11185855" cy="766267"/>
          </a:xfrm>
          <a:prstGeom prst="roundRect">
            <a:avLst>
              <a:gd name="adj" fmla="val 5967"/>
            </a:avLst>
          </a:prstGeom>
          <a:solidFill>
            <a:srgbClr val="151515"/>
          </a:solidFill>
          <a:ln w="12700">
            <a:solidFill>
              <a:srgbClr val="333333"/>
            </a:solidFill>
            <a:prstDash val="solid"/>
          </a:ln>
        </p:spPr>
      </p:sp>
      <p:sp>
        <p:nvSpPr>
          <p:cNvPr id="17" name="Text 15"/>
          <p:cNvSpPr/>
          <p:nvPr/>
        </p:nvSpPr>
        <p:spPr>
          <a:xfrm>
            <a:off x="685800" y="5506517"/>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05</a:t>
            </a:r>
            <a:endParaRPr lang="en-US" sz="2600" dirty="0"/>
          </a:p>
        </p:txBody>
      </p:sp>
      <p:sp>
        <p:nvSpPr>
          <p:cNvPr id="18" name="Text 16"/>
          <p:cNvSpPr/>
          <p:nvPr/>
        </p:nvSpPr>
        <p:spPr>
          <a:xfrm>
            <a:off x="1691640" y="5506517"/>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Diseñar  </a:t>
            </a:r>
            <a:pPr indent="0" marL="0">
              <a:buNone/>
            </a:pPr>
            <a:r>
              <a:rPr lang="en-US" sz="1350" dirty="0">
                <a:solidFill>
                  <a:srgbClr val="F4F4F4"/>
                </a:solidFill>
                <a:latin typeface="Arial" pitchFamily="34" charset="0"/>
                <a:ea typeface="Arial" pitchFamily="34" charset="-122"/>
                <a:cs typeface="Arial" pitchFamily="34" charset="-120"/>
              </a:rPr>
              <a:t>el sistema de gobierno a medida de un CPPS.</a:t>
            </a:r>
            <a:endParaRPr lang="en-US" sz="13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04 / 48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01</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POR QUÉ DISEÑAR A MEDIDA</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El fin de la 'talla única' en el gobierno de TI</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48</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48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04  DISEÑO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ESTÁTICO, A MEDIDA Y DINÁMICO</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FF3B30"/>
                </a:solidFill>
                <a:latin typeface="Arial Black" pitchFamily="34" charset="0"/>
                <a:ea typeface="Arial Black" pitchFamily="34" charset="-122"/>
                <a:cs typeface="Arial Black" pitchFamily="34" charset="-120"/>
              </a:rPr>
              <a:t>TALLA ÚNICA</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Copiar el modelo de otra empresa o implementar los 40 objetivos por igual. Fracasa: cada empresa es distinta.</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El error clásico</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A MEDIDA</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Seleccionar y priorizar objetivos y niveles según los factores de diseño de ESTA empresa.</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COBIT 2019</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DINÁMICO</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El diseño se revisa cuando cambia un factor (nueva regulación, nueva amenaza, fusión).</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Principio 3</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El gobierno no es un traje estándar: es a medida y se re-ajusta. Copiar el sistema de gobierno de otra empresa es como usar su radiografía para tu diagnóstico.</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06 / 48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05  DISEÑO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PROBLEMA QUE RESUELVE EL DISEÑO</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40</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objetivos en el catálogo: implementarlos todos es inviable</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POCOS</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los que de verdad importan según el contexto de la empresa</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NIVEL</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además, cada objetivo necesita un nivel de capacidad objetivo distinto</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El diseño responde dos preguntas: ¿QUÉ objetivos priorizar? y ¿a QUÉ nivel de capacidad llevarlos? Sin diseño, se cae en 'todo importa' (parálisis) o en 'copiar al vecino' (irrelevancia).</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07 / 48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06  DISEÑO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PRODUCE EL DISEÑO</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flujo de diseño entrega tres resultados concretos.</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ALCANCE PRIORIZADO</a:t>
            </a:r>
            <a:endParaRPr lang="en-US" sz="13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subconjunto de objetivos de gobierno/gestión relevantes para la empresa.</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NIVELES OBJETIVO</a:t>
            </a:r>
            <a:endParaRPr lang="en-US" sz="13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nivel de capacidad/madurez al que llevar cada objetivo priorizado.</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COMPONENTES A MEDIDA</a:t>
            </a:r>
            <a:endParaRPr lang="en-US" sz="13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Las variantes de componentes (procesos, estructuras) adaptadas al contexto.</a:t>
            </a:r>
            <a:endParaRPr lang="en-US" sz="1100" dirty="0"/>
          </a:p>
        </p:txBody>
      </p:sp>
      <p:sp>
        <p:nvSpPr>
          <p:cNvPr id="14" name="Text 1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5" name="Text 1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6" name="Text 1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08 / 48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07  DISEÑO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FLUJO DE DISEÑO EN CUATRO PASOS</a:t>
            </a:r>
            <a:endParaRPr lang="en-US" sz="3300" dirty="0"/>
          </a:p>
        </p:txBody>
      </p:sp>
      <p:sp>
        <p:nvSpPr>
          <p:cNvPr id="4" name="Shape 2"/>
          <p:cNvSpPr/>
          <p:nvPr/>
        </p:nvSpPr>
        <p:spPr>
          <a:xfrm>
            <a:off x="502920" y="1783080"/>
            <a:ext cx="2625014"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01</a:t>
            </a:r>
            <a:endParaRPr lang="en-US" sz="2200" dirty="0"/>
          </a:p>
        </p:txBody>
      </p:sp>
      <p:sp>
        <p:nvSpPr>
          <p:cNvPr id="6" name="Text 4"/>
          <p:cNvSpPr/>
          <p:nvPr/>
        </p:nvSpPr>
        <p:spPr>
          <a:xfrm>
            <a:off x="649224"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CONTEXTO</a:t>
            </a:r>
            <a:endParaRPr lang="en-US" sz="1100" dirty="0"/>
          </a:p>
        </p:txBody>
      </p:sp>
      <p:sp>
        <p:nvSpPr>
          <p:cNvPr id="7" name="Text 5"/>
          <p:cNvSpPr/>
          <p:nvPr/>
        </p:nvSpPr>
        <p:spPr>
          <a:xfrm>
            <a:off x="649224"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Entender estrategia y objetivos.</a:t>
            </a:r>
            <a:endParaRPr lang="en-US" sz="1000" dirty="0"/>
          </a:p>
        </p:txBody>
      </p:sp>
      <p:sp>
        <p:nvSpPr>
          <p:cNvPr id="8" name="Shape 6"/>
          <p:cNvSpPr/>
          <p:nvPr/>
        </p:nvSpPr>
        <p:spPr>
          <a:xfrm>
            <a:off x="3356534" y="1783080"/>
            <a:ext cx="2625014"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3502838"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02</a:t>
            </a:r>
            <a:endParaRPr lang="en-US" sz="2200" dirty="0"/>
          </a:p>
        </p:txBody>
      </p:sp>
      <p:sp>
        <p:nvSpPr>
          <p:cNvPr id="10" name="Text 8"/>
          <p:cNvSpPr/>
          <p:nvPr/>
        </p:nvSpPr>
        <p:spPr>
          <a:xfrm>
            <a:off x="3502838"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ALCANCE INICIAL</a:t>
            </a:r>
            <a:endParaRPr lang="en-US" sz="1100" dirty="0"/>
          </a:p>
        </p:txBody>
      </p:sp>
      <p:sp>
        <p:nvSpPr>
          <p:cNvPr id="11" name="Text 9"/>
          <p:cNvSpPr/>
          <p:nvPr/>
        </p:nvSpPr>
        <p:spPr>
          <a:xfrm>
            <a:off x="3502838"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Factores 1–4.</a:t>
            </a:r>
            <a:endParaRPr lang="en-US" sz="1000" dirty="0"/>
          </a:p>
        </p:txBody>
      </p:sp>
      <p:sp>
        <p:nvSpPr>
          <p:cNvPr id="12" name="Shape 10"/>
          <p:cNvSpPr/>
          <p:nvPr/>
        </p:nvSpPr>
        <p:spPr>
          <a:xfrm>
            <a:off x="6210148" y="1783080"/>
            <a:ext cx="2625014"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6356452"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03</a:t>
            </a:r>
            <a:endParaRPr lang="en-US" sz="2200" dirty="0"/>
          </a:p>
        </p:txBody>
      </p:sp>
      <p:sp>
        <p:nvSpPr>
          <p:cNvPr id="14" name="Text 12"/>
          <p:cNvSpPr/>
          <p:nvPr/>
        </p:nvSpPr>
        <p:spPr>
          <a:xfrm>
            <a:off x="6356452"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REFINAR</a:t>
            </a:r>
            <a:endParaRPr lang="en-US" sz="1100" dirty="0"/>
          </a:p>
        </p:txBody>
      </p:sp>
      <p:sp>
        <p:nvSpPr>
          <p:cNvPr id="15" name="Text 13"/>
          <p:cNvSpPr/>
          <p:nvPr/>
        </p:nvSpPr>
        <p:spPr>
          <a:xfrm>
            <a:off x="6356452"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Factores 5–10.</a:t>
            </a:r>
            <a:endParaRPr lang="en-US" sz="1000" dirty="0"/>
          </a:p>
        </p:txBody>
      </p:sp>
      <p:sp>
        <p:nvSpPr>
          <p:cNvPr id="16" name="Shape 14"/>
          <p:cNvSpPr/>
          <p:nvPr/>
        </p:nvSpPr>
        <p:spPr>
          <a:xfrm>
            <a:off x="9063761" y="1783080"/>
            <a:ext cx="2625014"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9210065" y="189280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04</a:t>
            </a:r>
            <a:endParaRPr lang="en-US" sz="2200" dirty="0"/>
          </a:p>
        </p:txBody>
      </p:sp>
      <p:sp>
        <p:nvSpPr>
          <p:cNvPr id="18" name="Text 16"/>
          <p:cNvSpPr/>
          <p:nvPr/>
        </p:nvSpPr>
        <p:spPr>
          <a:xfrm>
            <a:off x="9210065"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CONCLUIR</a:t>
            </a:r>
            <a:endParaRPr lang="en-US" sz="1100" dirty="0"/>
          </a:p>
        </p:txBody>
      </p:sp>
      <p:sp>
        <p:nvSpPr>
          <p:cNvPr id="19" name="Text 17"/>
          <p:cNvSpPr/>
          <p:nvPr/>
        </p:nvSpPr>
        <p:spPr>
          <a:xfrm>
            <a:off x="9210065"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Resolver conflictos y priorizar.</a:t>
            </a:r>
            <a:endParaRPr lang="en-US" sz="1000" dirty="0"/>
          </a:p>
        </p:txBody>
      </p:sp>
      <p:sp>
        <p:nvSpPr>
          <p:cNvPr id="20" name="Text 1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1" name="Text 1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22" name="Text 2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09 / 48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08  DISEÑO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ENTRADAS DEL DISEÑO</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Para diseñar, se necesita conocer bien la empresa.</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ESTRATEGIA Y METAS</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Hacia dónde va la empresa y qué metas persigue.</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300" dirty="0">
                <a:solidFill>
                  <a:srgbClr val="FF3B30"/>
                </a:solidFill>
                <a:latin typeface="Arial Black" pitchFamily="34" charset="0"/>
                <a:ea typeface="Arial Black" pitchFamily="34" charset="-122"/>
                <a:cs typeface="Arial Black" pitchFamily="34" charset="-120"/>
              </a:rPr>
              <a:t>PERFIL DE RIESGO</a:t>
            </a:r>
            <a:endParaRPr lang="en-US" sz="13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Qué riesgos enfrenta y cuánto tolera.</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PANORAMA DE AMENAZAS</a:t>
            </a:r>
            <a:endParaRPr lang="en-US" sz="13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entorno de amenazas, alto en OT conectada.</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CONTEXTO OPERATIVO</a:t>
            </a:r>
            <a:endParaRPr lang="en-US" sz="13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Tamaño, rol de la TI, modelo de aprovisionamiento, cumplimiento.</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10 / 48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09  DISEÑO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DISEÑO BIEN HECHO VS MAL HECHO</a:t>
            </a:r>
            <a:endParaRPr lang="en-US" sz="3300" dirty="0"/>
          </a:p>
        </p:txBody>
      </p:sp>
      <p:sp>
        <p:nvSpPr>
          <p:cNvPr id="4" name="Shape 2"/>
          <p:cNvSpPr/>
          <p:nvPr/>
        </p:nvSpPr>
        <p:spPr>
          <a:xfrm>
            <a:off x="502920" y="1783080"/>
            <a:ext cx="5364328" cy="4489704"/>
          </a:xfrm>
          <a:prstGeom prst="roundRect">
            <a:avLst>
              <a:gd name="adj" fmla="val 1018"/>
            </a:avLst>
          </a:prstGeom>
          <a:solidFill>
            <a:srgbClr val="151515"/>
          </a:solidFill>
          <a:ln w="15875">
            <a:solidFill>
              <a:srgbClr val="C6FF00"/>
            </a:solidFill>
            <a:prstDash val="solid"/>
          </a:ln>
        </p:spPr>
      </p:sp>
      <p:sp>
        <p:nvSpPr>
          <p:cNvPr id="5" name="Text 3"/>
          <p:cNvSpPr/>
          <p:nvPr/>
        </p:nvSpPr>
        <p:spPr>
          <a:xfrm>
            <a:off x="704088" y="1947672"/>
            <a:ext cx="4961992" cy="457200"/>
          </a:xfrm>
          <a:prstGeom prst="rect">
            <a:avLst/>
          </a:prstGeom>
          <a:noFill/>
          <a:ln/>
        </p:spPr>
        <p:txBody>
          <a:bodyPr wrap="square" lIns="0" tIns="0" rIns="0" bIns="0" rtlCol="0" anchor="t"/>
          <a:lstStyle/>
          <a:p>
            <a:pPr indent="0" marL="0">
              <a:buNone/>
            </a:pPr>
            <a:r>
              <a:rPr lang="en-US" sz="1500" dirty="0">
                <a:solidFill>
                  <a:srgbClr val="C6FF00"/>
                </a:solidFill>
                <a:latin typeface="Arial Black" pitchFamily="34" charset="0"/>
                <a:ea typeface="Arial Black" pitchFamily="34" charset="-122"/>
                <a:cs typeface="Arial Black" pitchFamily="34" charset="-120"/>
              </a:rPr>
              <a:t>DISEÑO ROBUSTO</a:t>
            </a:r>
            <a:endParaRPr lang="en-US" sz="1500" dirty="0"/>
          </a:p>
        </p:txBody>
      </p:sp>
      <p:sp>
        <p:nvSpPr>
          <p:cNvPr id="6" name="Text 4"/>
          <p:cNvSpPr/>
          <p:nvPr/>
        </p:nvSpPr>
        <p:spPr>
          <a:xfrm>
            <a:off x="704088" y="2496312"/>
            <a:ext cx="4961992" cy="362102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Parte de la estrategia real</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Prioriza pocos objetivos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Fija niveles objetivo justificados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Cubre IT y OT</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Se revisa cuando cambia el contexto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Usa el toolkit con evidencia</a:t>
            </a:r>
            <a:endParaRPr lang="en-US" sz="1200" dirty="0"/>
          </a:p>
        </p:txBody>
      </p:sp>
      <p:sp>
        <p:nvSpPr>
          <p:cNvPr id="7" name="Shape 5"/>
          <p:cNvSpPr/>
          <p:nvPr/>
        </p:nvSpPr>
        <p:spPr>
          <a:xfrm>
            <a:off x="6324448" y="1783080"/>
            <a:ext cx="5364328" cy="4489704"/>
          </a:xfrm>
          <a:prstGeom prst="roundRect">
            <a:avLst>
              <a:gd name="adj" fmla="val 1018"/>
            </a:avLst>
          </a:prstGeom>
          <a:solidFill>
            <a:srgbClr val="151515"/>
          </a:solidFill>
          <a:ln w="15875">
            <a:solidFill>
              <a:srgbClr val="FF3B30"/>
            </a:solidFill>
            <a:prstDash val="solid"/>
          </a:ln>
        </p:spPr>
      </p:sp>
      <p:sp>
        <p:nvSpPr>
          <p:cNvPr id="8" name="Text 6"/>
          <p:cNvSpPr/>
          <p:nvPr/>
        </p:nvSpPr>
        <p:spPr>
          <a:xfrm>
            <a:off x="6525616" y="1947672"/>
            <a:ext cx="4961992" cy="457200"/>
          </a:xfrm>
          <a:prstGeom prst="rect">
            <a:avLst/>
          </a:prstGeom>
          <a:noFill/>
          <a:ln/>
        </p:spPr>
        <p:txBody>
          <a:bodyPr wrap="square" lIns="0" tIns="0" rIns="0" bIns="0" rtlCol="0" anchor="t"/>
          <a:lstStyle/>
          <a:p>
            <a:pPr indent="0" marL="0">
              <a:buNone/>
            </a:pPr>
            <a:r>
              <a:rPr lang="en-US" sz="1500" dirty="0">
                <a:solidFill>
                  <a:srgbClr val="FF3B30"/>
                </a:solidFill>
                <a:latin typeface="Arial Black" pitchFamily="34" charset="0"/>
                <a:ea typeface="Arial Black" pitchFamily="34" charset="-122"/>
                <a:cs typeface="Arial Black" pitchFamily="34" charset="-120"/>
              </a:rPr>
              <a:t>DISEÑO DEFICIENTE</a:t>
            </a:r>
            <a:endParaRPr lang="en-US" sz="1500" dirty="0"/>
          </a:p>
        </p:txBody>
      </p:sp>
      <p:sp>
        <p:nvSpPr>
          <p:cNvPr id="9" name="Text 7"/>
          <p:cNvSpPr/>
          <p:nvPr/>
        </p:nvSpPr>
        <p:spPr>
          <a:xfrm>
            <a:off x="6525616" y="2496312"/>
            <a:ext cx="4961992" cy="362102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Copiado de otra empresa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'Todos los 40 importan'</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Niveles arbitrarios o máximos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Ignora la planta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Estático, nunca se revisa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Intuición sin datos</a:t>
            </a:r>
            <a:endParaRPr lang="en-US" sz="1200" dirty="0"/>
          </a:p>
        </p:txBody>
      </p:sp>
      <p:sp>
        <p:nvSpPr>
          <p:cNvPr id="10" name="Text 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1" name="Text 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2" name="Text 1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11 / 48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10  DISEÑO</a:t>
            </a:r>
            <a:endParaRPr lang="en-US" sz="1100" dirty="0"/>
          </a:p>
        </p:txBody>
      </p:sp>
      <p:sp>
        <p:nvSpPr>
          <p:cNvPr id="3" name="Text 1"/>
          <p:cNvSpPr/>
          <p:nvPr/>
        </p:nvSpPr>
        <p:spPr>
          <a:xfrm>
            <a:off x="1005840" y="1920240"/>
            <a:ext cx="10180015" cy="2743200"/>
          </a:xfrm>
          <a:prstGeom prst="rect">
            <a:avLst/>
          </a:prstGeom>
          <a:noFill/>
          <a:ln/>
        </p:spPr>
        <p:txBody>
          <a:bodyPr wrap="square" lIns="0" tIns="0" rIns="0" bIns="0" rtlCol="0" anchor="ctr"/>
          <a:lstStyle/>
          <a:p>
            <a:pPr algn="l" indent="0" marL="0">
              <a:lnSpc>
                <a:spcPct val="105000"/>
              </a:lnSpc>
              <a:buNone/>
            </a:pPr>
            <a:r>
              <a:rPr lang="en-US" sz="2800" dirty="0">
                <a:solidFill>
                  <a:srgbClr val="C6FF00"/>
                </a:solidFill>
                <a:latin typeface="Arial Black" pitchFamily="34" charset="0"/>
                <a:ea typeface="Arial Black" pitchFamily="34" charset="-122"/>
                <a:cs typeface="Arial Black" pitchFamily="34" charset="-120"/>
              </a:rPr>
              <a:t>“</a:t>
            </a:r>
            <a:pPr algn="l" indent="0" marL="0">
              <a:lnSpc>
                <a:spcPct val="105000"/>
              </a:lnSpc>
              <a:buNone/>
            </a:pPr>
            <a:r>
              <a:rPr lang="en-US" sz="2800" dirty="0">
                <a:solidFill>
                  <a:srgbClr val="F4F4F4"/>
                </a:solidFill>
                <a:latin typeface="Arial Black" pitchFamily="34" charset="0"/>
                <a:ea typeface="Arial Black" pitchFamily="34" charset="-122"/>
                <a:cs typeface="Arial Black" pitchFamily="34" charset="-120"/>
              </a:rPr>
              <a:t>El nivel de capacidad objetivo no siempre es 5: es el nivel que el riesgo y la estrategia justifican pagar.</a:t>
            </a:r>
            <a:pPr algn="l" indent="0" marL="0">
              <a:lnSpc>
                <a:spcPct val="105000"/>
              </a:lnSpc>
              <a:buNone/>
            </a:pPr>
            <a:r>
              <a:rPr lang="en-US" sz="2800" dirty="0">
                <a:solidFill>
                  <a:srgbClr val="C6FF00"/>
                </a:solidFill>
                <a:latin typeface="Arial Black" pitchFamily="34" charset="0"/>
                <a:ea typeface="Arial Black" pitchFamily="34" charset="-122"/>
                <a:cs typeface="Arial Black" pitchFamily="34" charset="-120"/>
              </a:rPr>
              <a:t>”</a:t>
            </a:r>
            <a:endParaRPr lang="en-US" sz="2800" dirty="0"/>
          </a:p>
        </p:txBody>
      </p:sp>
      <p:sp>
        <p:nvSpPr>
          <p:cNvPr id="4" name="Text 2"/>
          <p:cNvSpPr/>
          <p:nvPr/>
        </p:nvSpPr>
        <p:spPr>
          <a:xfrm>
            <a:off x="1005840" y="4846320"/>
            <a:ext cx="10180015" cy="457200"/>
          </a:xfrm>
          <a:prstGeom prst="rect">
            <a:avLst/>
          </a:prstGeom>
          <a:noFill/>
          <a:ln/>
        </p:spPr>
        <p:txBody>
          <a:bodyPr wrap="square" lIns="0" tIns="0" rIns="0" bIns="0" rtlCol="0" anchor="ctr"/>
          <a:lstStyle/>
          <a:p>
            <a:pPr indent="0" marL="0">
              <a:buNone/>
            </a:pPr>
            <a:r>
              <a:rPr lang="en-US" sz="1200" dirty="0">
                <a:solidFill>
                  <a:srgbClr val="8C8C8C"/>
                </a:solidFill>
                <a:latin typeface="Courier New" pitchFamily="34" charset="0"/>
                <a:ea typeface="Courier New" pitchFamily="34" charset="-122"/>
                <a:cs typeface="Courier New" pitchFamily="34" charset="-120"/>
              </a:rPr>
              <a:t>— Principio del diseño a medida</a:t>
            </a:r>
            <a:endParaRPr lang="en-US" sz="12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6" name="Text 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7" name="Text 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12 / 48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02</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LOS 11 FACTORES DE DISEÑO</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Qué determina el sistema de gobierno de una empresa</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13 / 48</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13 / 48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11  FACTORES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VISTA DE LOS ONCE FACTORES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Once factores agrupan el contexto que moldea el gobierno.</a:t>
            </a:r>
            <a:endParaRPr lang="en-US" sz="1250" dirty="0"/>
          </a:p>
        </p:txBody>
      </p:sp>
      <p:sp>
        <p:nvSpPr>
          <p:cNvPr id="5" name="Shape 3"/>
          <p:cNvSpPr/>
          <p:nvPr/>
        </p:nvSpPr>
        <p:spPr>
          <a:xfrm>
            <a:off x="502920" y="1920240"/>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223868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1 ESTRATEGIA</a:t>
            </a:r>
            <a:endParaRPr lang="en-US" sz="1600" dirty="0"/>
          </a:p>
        </p:txBody>
      </p:sp>
      <p:sp>
        <p:nvSpPr>
          <p:cNvPr id="7" name="Text 5"/>
          <p:cNvSpPr/>
          <p:nvPr/>
        </p:nvSpPr>
        <p:spPr>
          <a:xfrm>
            <a:off x="685800" y="2523744"/>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Crecimiento, innovación, costo, servicio, estabilidad.</a:t>
            </a:r>
            <a:endParaRPr lang="en-US" sz="1100" dirty="0"/>
          </a:p>
        </p:txBody>
      </p:sp>
      <p:sp>
        <p:nvSpPr>
          <p:cNvPr id="8" name="Shape 6"/>
          <p:cNvSpPr/>
          <p:nvPr/>
        </p:nvSpPr>
        <p:spPr>
          <a:xfrm>
            <a:off x="3363392" y="1920240"/>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3546272" y="2066544"/>
            <a:ext cx="223868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2 METAS EMPRESA</a:t>
            </a:r>
            <a:endParaRPr lang="en-US" sz="1300" dirty="0"/>
          </a:p>
        </p:txBody>
      </p:sp>
      <p:sp>
        <p:nvSpPr>
          <p:cNvPr id="10" name="Text 8"/>
          <p:cNvSpPr/>
          <p:nvPr/>
        </p:nvSpPr>
        <p:spPr>
          <a:xfrm>
            <a:off x="3546272" y="2523744"/>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Las 13 metas empresariales priorizadas.</a:t>
            </a:r>
            <a:endParaRPr lang="en-US" sz="1100" dirty="0"/>
          </a:p>
        </p:txBody>
      </p:sp>
      <p:sp>
        <p:nvSpPr>
          <p:cNvPr id="11" name="Shape 9"/>
          <p:cNvSpPr/>
          <p:nvPr/>
        </p:nvSpPr>
        <p:spPr>
          <a:xfrm>
            <a:off x="6223864" y="1920240"/>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406744" y="2066544"/>
            <a:ext cx="2238680" cy="411480"/>
          </a:xfrm>
          <a:prstGeom prst="rect">
            <a:avLst/>
          </a:prstGeom>
          <a:noFill/>
          <a:ln/>
        </p:spPr>
        <p:txBody>
          <a:bodyPr wrap="square" lIns="0" tIns="0" rIns="0" bIns="0" rtlCol="0" anchor="t"/>
          <a:lstStyle/>
          <a:p>
            <a:pPr indent="0" marL="0">
              <a:buNone/>
            </a:pPr>
            <a:r>
              <a:rPr lang="en-US" sz="1300" dirty="0">
                <a:solidFill>
                  <a:srgbClr val="FF3B30"/>
                </a:solidFill>
                <a:latin typeface="Arial Black" pitchFamily="34" charset="0"/>
                <a:ea typeface="Arial Black" pitchFamily="34" charset="-122"/>
                <a:cs typeface="Arial Black" pitchFamily="34" charset="-120"/>
              </a:rPr>
              <a:t>3 PERFIL RIESGO</a:t>
            </a:r>
            <a:endParaRPr lang="en-US" sz="1300" dirty="0"/>
          </a:p>
        </p:txBody>
      </p:sp>
      <p:sp>
        <p:nvSpPr>
          <p:cNvPr id="13" name="Text 11"/>
          <p:cNvSpPr/>
          <p:nvPr/>
        </p:nvSpPr>
        <p:spPr>
          <a:xfrm>
            <a:off x="6406744" y="2523744"/>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Categorías de riesgo y su magnitud.</a:t>
            </a:r>
            <a:endParaRPr lang="en-US" sz="1100" dirty="0"/>
          </a:p>
        </p:txBody>
      </p:sp>
      <p:sp>
        <p:nvSpPr>
          <p:cNvPr id="14" name="Shape 12"/>
          <p:cNvSpPr/>
          <p:nvPr/>
        </p:nvSpPr>
        <p:spPr>
          <a:xfrm>
            <a:off x="9084335" y="1920240"/>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9267215" y="2066544"/>
            <a:ext cx="223868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4 ISSUES I&amp;T</a:t>
            </a:r>
            <a:endParaRPr lang="en-US" sz="1600" dirty="0"/>
          </a:p>
        </p:txBody>
      </p:sp>
      <p:sp>
        <p:nvSpPr>
          <p:cNvPr id="16" name="Text 14"/>
          <p:cNvSpPr/>
          <p:nvPr/>
        </p:nvSpPr>
        <p:spPr>
          <a:xfrm>
            <a:off x="9267215" y="2523744"/>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Problemas actuales de TI a resolver.</a:t>
            </a:r>
            <a:endParaRPr lang="en-US" sz="1100" dirty="0"/>
          </a:p>
        </p:txBody>
      </p:sp>
      <p:sp>
        <p:nvSpPr>
          <p:cNvPr id="17" name="Shape 15"/>
          <p:cNvSpPr/>
          <p:nvPr/>
        </p:nvSpPr>
        <p:spPr>
          <a:xfrm>
            <a:off x="502920" y="3456432"/>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685800" y="3602736"/>
            <a:ext cx="223868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5 AMENAZAS</a:t>
            </a:r>
            <a:endParaRPr lang="en-US" sz="1600" dirty="0"/>
          </a:p>
        </p:txBody>
      </p:sp>
      <p:sp>
        <p:nvSpPr>
          <p:cNvPr id="19" name="Text 17"/>
          <p:cNvSpPr/>
          <p:nvPr/>
        </p:nvSpPr>
        <p:spPr>
          <a:xfrm>
            <a:off x="685800" y="4059936"/>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Panorama de amenazas (normal/alto).</a:t>
            </a:r>
            <a:endParaRPr lang="en-US" sz="1100" dirty="0"/>
          </a:p>
        </p:txBody>
      </p:sp>
      <p:sp>
        <p:nvSpPr>
          <p:cNvPr id="20" name="Shape 18"/>
          <p:cNvSpPr/>
          <p:nvPr/>
        </p:nvSpPr>
        <p:spPr>
          <a:xfrm>
            <a:off x="3363392" y="3456432"/>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3546272" y="3602736"/>
            <a:ext cx="223868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6 CUMPLIMIENTO</a:t>
            </a:r>
            <a:endParaRPr lang="en-US" sz="1600" dirty="0"/>
          </a:p>
        </p:txBody>
      </p:sp>
      <p:sp>
        <p:nvSpPr>
          <p:cNvPr id="22" name="Text 20"/>
          <p:cNvSpPr/>
          <p:nvPr/>
        </p:nvSpPr>
        <p:spPr>
          <a:xfrm>
            <a:off x="3546272" y="4059936"/>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Requisitos regulatorios (bajo/alto).</a:t>
            </a:r>
            <a:endParaRPr lang="en-US" sz="1100" dirty="0"/>
          </a:p>
        </p:txBody>
      </p:sp>
      <p:sp>
        <p:nvSpPr>
          <p:cNvPr id="23" name="Shape 21"/>
          <p:cNvSpPr/>
          <p:nvPr/>
        </p:nvSpPr>
        <p:spPr>
          <a:xfrm>
            <a:off x="6223864" y="3456432"/>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4" name="Text 22"/>
          <p:cNvSpPr/>
          <p:nvPr/>
        </p:nvSpPr>
        <p:spPr>
          <a:xfrm>
            <a:off x="6406744" y="3602736"/>
            <a:ext cx="223868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7 ROL DE TI</a:t>
            </a:r>
            <a:endParaRPr lang="en-US" sz="1600" dirty="0"/>
          </a:p>
        </p:txBody>
      </p:sp>
      <p:sp>
        <p:nvSpPr>
          <p:cNvPr id="25" name="Text 23"/>
          <p:cNvSpPr/>
          <p:nvPr/>
        </p:nvSpPr>
        <p:spPr>
          <a:xfrm>
            <a:off x="6406744" y="4059936"/>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Soporte, fábrica, turnaround, estratégico.</a:t>
            </a:r>
            <a:endParaRPr lang="en-US" sz="1100" dirty="0"/>
          </a:p>
        </p:txBody>
      </p:sp>
      <p:sp>
        <p:nvSpPr>
          <p:cNvPr id="26" name="Shape 24"/>
          <p:cNvSpPr/>
          <p:nvPr/>
        </p:nvSpPr>
        <p:spPr>
          <a:xfrm>
            <a:off x="9084335" y="3456432"/>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7" name="Text 25"/>
          <p:cNvSpPr/>
          <p:nvPr/>
        </p:nvSpPr>
        <p:spPr>
          <a:xfrm>
            <a:off x="9267215" y="3602736"/>
            <a:ext cx="2238680"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8 APROVISIONAM.</a:t>
            </a:r>
            <a:endParaRPr lang="en-US" sz="1300" dirty="0"/>
          </a:p>
        </p:txBody>
      </p:sp>
      <p:sp>
        <p:nvSpPr>
          <p:cNvPr id="28" name="Text 26"/>
          <p:cNvSpPr/>
          <p:nvPr/>
        </p:nvSpPr>
        <p:spPr>
          <a:xfrm>
            <a:off x="9267215" y="4059936"/>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Interno, outsourcing, nube, híbrido.</a:t>
            </a:r>
            <a:endParaRPr lang="en-US" sz="1100" dirty="0"/>
          </a:p>
        </p:txBody>
      </p:sp>
      <p:sp>
        <p:nvSpPr>
          <p:cNvPr id="29" name="Shape 27"/>
          <p:cNvSpPr/>
          <p:nvPr/>
        </p:nvSpPr>
        <p:spPr>
          <a:xfrm>
            <a:off x="502920" y="4992624"/>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30" name="Text 28"/>
          <p:cNvSpPr/>
          <p:nvPr/>
        </p:nvSpPr>
        <p:spPr>
          <a:xfrm>
            <a:off x="685800" y="5138928"/>
            <a:ext cx="2238680" cy="411480"/>
          </a:xfrm>
          <a:prstGeom prst="rect">
            <a:avLst/>
          </a:prstGeom>
          <a:noFill/>
          <a:ln/>
        </p:spPr>
        <p:txBody>
          <a:bodyPr wrap="square" lIns="0" tIns="0" rIns="0" bIns="0" rtlCol="0" anchor="t"/>
          <a:lstStyle/>
          <a:p>
            <a:pPr indent="0" marL="0">
              <a:buNone/>
            </a:pPr>
            <a:r>
              <a:rPr lang="en-US" sz="1300" dirty="0">
                <a:solidFill>
                  <a:srgbClr val="9D6BFF"/>
                </a:solidFill>
                <a:latin typeface="Arial Black" pitchFamily="34" charset="0"/>
                <a:ea typeface="Arial Black" pitchFamily="34" charset="-122"/>
                <a:cs typeface="Arial Black" pitchFamily="34" charset="-120"/>
              </a:rPr>
              <a:t>9 MÉTODOS IMPL.</a:t>
            </a:r>
            <a:endParaRPr lang="en-US" sz="1300" dirty="0"/>
          </a:p>
        </p:txBody>
      </p:sp>
      <p:sp>
        <p:nvSpPr>
          <p:cNvPr id="31" name="Text 29"/>
          <p:cNvSpPr/>
          <p:nvPr/>
        </p:nvSpPr>
        <p:spPr>
          <a:xfrm>
            <a:off x="685800" y="5596128"/>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Ágil, DevOps, tradicional, híbrido.</a:t>
            </a:r>
            <a:endParaRPr lang="en-US" sz="1100" dirty="0"/>
          </a:p>
        </p:txBody>
      </p:sp>
      <p:sp>
        <p:nvSpPr>
          <p:cNvPr id="32" name="Shape 30"/>
          <p:cNvSpPr/>
          <p:nvPr/>
        </p:nvSpPr>
        <p:spPr>
          <a:xfrm>
            <a:off x="3363392" y="4992624"/>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33" name="Text 31"/>
          <p:cNvSpPr/>
          <p:nvPr/>
        </p:nvSpPr>
        <p:spPr>
          <a:xfrm>
            <a:off x="3546272" y="5138928"/>
            <a:ext cx="2238680" cy="411480"/>
          </a:xfrm>
          <a:prstGeom prst="rect">
            <a:avLst/>
          </a:prstGeom>
          <a:noFill/>
          <a:ln/>
        </p:spPr>
        <p:txBody>
          <a:bodyPr wrap="square" lIns="0" tIns="0" rIns="0" bIns="0" rtlCol="0" anchor="t"/>
          <a:lstStyle/>
          <a:p>
            <a:pPr indent="0" marL="0">
              <a:buNone/>
            </a:pPr>
            <a:r>
              <a:rPr lang="en-US" sz="1300" dirty="0">
                <a:solidFill>
                  <a:srgbClr val="9D6BFF"/>
                </a:solidFill>
                <a:latin typeface="Arial Black" pitchFamily="34" charset="0"/>
                <a:ea typeface="Arial Black" pitchFamily="34" charset="-122"/>
                <a:cs typeface="Arial Black" pitchFamily="34" charset="-120"/>
              </a:rPr>
              <a:t>10 ADOPCIÓN TEC.</a:t>
            </a:r>
            <a:endParaRPr lang="en-US" sz="1300" dirty="0"/>
          </a:p>
        </p:txBody>
      </p:sp>
      <p:sp>
        <p:nvSpPr>
          <p:cNvPr id="34" name="Text 32"/>
          <p:cNvSpPr/>
          <p:nvPr/>
        </p:nvSpPr>
        <p:spPr>
          <a:xfrm>
            <a:off x="3546272" y="5596128"/>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Pionero, seguidor, rezagado.</a:t>
            </a:r>
            <a:endParaRPr lang="en-US" sz="1100" dirty="0"/>
          </a:p>
        </p:txBody>
      </p:sp>
      <p:sp>
        <p:nvSpPr>
          <p:cNvPr id="35" name="Shape 33"/>
          <p:cNvSpPr/>
          <p:nvPr/>
        </p:nvSpPr>
        <p:spPr>
          <a:xfrm>
            <a:off x="6223864" y="4992624"/>
            <a:ext cx="2604440" cy="1280160"/>
          </a:xfrm>
          <a:prstGeom prst="roundRect">
            <a:avLst>
              <a:gd name="adj" fmla="val 4286"/>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36" name="Text 34"/>
          <p:cNvSpPr/>
          <p:nvPr/>
        </p:nvSpPr>
        <p:spPr>
          <a:xfrm>
            <a:off x="6406744" y="5138928"/>
            <a:ext cx="223868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11 TAMAÑO</a:t>
            </a:r>
            <a:endParaRPr lang="en-US" sz="1600" dirty="0"/>
          </a:p>
        </p:txBody>
      </p:sp>
      <p:sp>
        <p:nvSpPr>
          <p:cNvPr id="37" name="Text 35"/>
          <p:cNvSpPr/>
          <p:nvPr/>
        </p:nvSpPr>
        <p:spPr>
          <a:xfrm>
            <a:off x="6406744" y="5596128"/>
            <a:ext cx="2238680" cy="548640"/>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Grande o pyme.</a:t>
            </a:r>
            <a:endParaRPr lang="en-US" sz="1100" dirty="0"/>
          </a:p>
        </p:txBody>
      </p:sp>
      <p:sp>
        <p:nvSpPr>
          <p:cNvPr id="38" name="Text 3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9" name="Text 3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40" name="Text 3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14 / 48</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12  FACTORES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FACTORES 1–2 — ESTRATEGIA Y METAS</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ALCANCE INICIAL</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HACIA DÓNDE VA LA EMPRESA</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FACTOR 1 (estrategia): arquetipos como crecimiento/adquisición, innovación/diferenciación, liderazgo en costos, servicio al cliente/estabilidad. FACTOR 2 (metas empresariales): cuáles de las 13 metas son prioritarias. Juntos, orientan qué objetivos de gobierno cobran relevancia.</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EN UNA MANUFACTURA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Estrategia de costo + calidad; metas de eficiencia y continuidad</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MUEVE</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Objetivos de optimización y riesgo</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15 / 48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13  FACTORES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FACTORES 3–5 — RIESGO, ISSUES Y AMENAZAS</a:t>
            </a:r>
            <a:endParaRPr lang="en-US" sz="30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RIESGO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QUÉ PUEDE SALIR MAL</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FACTOR 3 (perfil de riesgo): magnitud por categoría (inversión, seguridad, continuidad, cumplimiento…). FACTOR 4 (issues I&amp;T): problemas actuales (deuda técnica, incidentes). FACTOR 5 (panorama de amenazas): normal o alto — en OT conectada es típicamente ALTO. Elevan la prioridad de objetivos de riesgo y seguridad.</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EN UN CPPS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Amenaza OT alta · continuidad crítica · seguridad física</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MUEVE</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EDM03, APO12, APO13, DSS05 arriba</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16 / 48</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14  FACTORES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400" dirty="0">
                <a:solidFill>
                  <a:srgbClr val="F4F4F4"/>
                </a:solidFill>
                <a:latin typeface="Arial Black" pitchFamily="34" charset="0"/>
                <a:ea typeface="Arial Black" pitchFamily="34" charset="-122"/>
                <a:cs typeface="Arial Black" pitchFamily="34" charset="-120"/>
              </a:rPr>
              <a:t>FACTORES 6–8 — CUMPLIMIENTO, ROL Y APROVISIONAMIENTO</a:t>
            </a:r>
            <a:endParaRPr lang="en-US" sz="24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CONTEXTO OPERATIVO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CÓMO OPERA LA TI</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FACTOR 6 (cumplimiento): entorno regulatorio bajo/normal/alto. FACTOR 7 (rol de TI): soporte, fábrica, turnaround o estratégico. FACTOR 8 (modelo de aprovisionamiento): interno, outsourcing, nube, híbrido. En un CPPS con integradores y nube, el aprovisionamiento es híbrido y aumenta el riesgo de terceros.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EN UN CPPS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Rol de TI 'fábrica/estratégico' · integradores OT · nube industrial</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MUEVE</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APO09/APO10 proveedores, MEA03</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17 / 48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15  FACTORES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FACTORES 9–11 — MÉTODOS, ADOPCIÓN Y TAMAÑO</a:t>
            </a:r>
            <a:endParaRPr lang="en-US" sz="27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REFINAMIENTO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CÓMO CONSTRUYE Y QUÉ TAN GRANDE ES</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FACTOR 9 (métodos de implementación): ágil, DevOps, tradicional. FACTOR 10 (estrategia de adopción tecnológica): pionero (first mover), seguidor o rezagado. FACTOR 11 (tamaño): las pymes usan un gobierno más ligero. La mayoría de la industria colombiana es pyme seguidora.</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EN LA INDUSTRIA REGIONAL</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Pyme · adopción seguidora · métodos tradicionales</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MUEVE</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Gobierno ligero pero con foco en riesgo</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18 / 48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16  FACTORES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CÓMO CADA FACTOR MUEVE EL ALCANCE</a:t>
            </a:r>
            <a:endParaRPr lang="en-US" sz="3300" dirty="0"/>
          </a:p>
        </p:txBody>
      </p:sp>
      <p:sp>
        <p:nvSpPr>
          <p:cNvPr id="4" name="Shape 2"/>
          <p:cNvSpPr/>
          <p:nvPr/>
        </p:nvSpPr>
        <p:spPr>
          <a:xfrm>
            <a:off x="502920" y="1783080"/>
            <a:ext cx="3657600" cy="457200"/>
          </a:xfrm>
          <a:prstGeom prst="rect">
            <a:avLst/>
          </a:prstGeom>
          <a:solidFill>
            <a:srgbClr val="1E1E1E"/>
          </a:solidFill>
          <a:ln w="12700">
            <a:solidFill>
              <a:srgbClr val="333333"/>
            </a:solidFill>
            <a:prstDash val="solid"/>
          </a:ln>
        </p:spPr>
      </p:sp>
      <p:sp>
        <p:nvSpPr>
          <p:cNvPr id="5" name="Text 3"/>
          <p:cNvSpPr/>
          <p:nvPr/>
        </p:nvSpPr>
        <p:spPr>
          <a:xfrm>
            <a:off x="576072" y="1783080"/>
            <a:ext cx="351129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FACTOR</a:t>
            </a:r>
            <a:endParaRPr lang="en-US" sz="1050" dirty="0"/>
          </a:p>
        </p:txBody>
      </p:sp>
      <p:sp>
        <p:nvSpPr>
          <p:cNvPr id="6" name="Shape 4"/>
          <p:cNvSpPr/>
          <p:nvPr/>
        </p:nvSpPr>
        <p:spPr>
          <a:xfrm>
            <a:off x="4160520" y="1783080"/>
            <a:ext cx="3764128" cy="457200"/>
          </a:xfrm>
          <a:prstGeom prst="rect">
            <a:avLst/>
          </a:prstGeom>
          <a:solidFill>
            <a:srgbClr val="1E1E1E"/>
          </a:solidFill>
          <a:ln w="12700">
            <a:solidFill>
              <a:srgbClr val="333333"/>
            </a:solidFill>
            <a:prstDash val="solid"/>
          </a:ln>
        </p:spPr>
      </p:sp>
      <p:sp>
        <p:nvSpPr>
          <p:cNvPr id="7" name="Text 5"/>
          <p:cNvSpPr/>
          <p:nvPr/>
        </p:nvSpPr>
        <p:spPr>
          <a:xfrm>
            <a:off x="4233672" y="1783080"/>
            <a:ext cx="36178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SI ES ALTO/CRÍTICO…</a:t>
            </a:r>
            <a:endParaRPr lang="en-US" sz="1050" dirty="0"/>
          </a:p>
        </p:txBody>
      </p:sp>
      <p:sp>
        <p:nvSpPr>
          <p:cNvPr id="8" name="Shape 6"/>
          <p:cNvSpPr/>
          <p:nvPr/>
        </p:nvSpPr>
        <p:spPr>
          <a:xfrm>
            <a:off x="7924648" y="1783080"/>
            <a:ext cx="3764128" cy="457200"/>
          </a:xfrm>
          <a:prstGeom prst="rect">
            <a:avLst/>
          </a:prstGeom>
          <a:solidFill>
            <a:srgbClr val="1E1E1E"/>
          </a:solidFill>
          <a:ln w="12700">
            <a:solidFill>
              <a:srgbClr val="333333"/>
            </a:solidFill>
            <a:prstDash val="solid"/>
          </a:ln>
        </p:spPr>
      </p:sp>
      <p:sp>
        <p:nvSpPr>
          <p:cNvPr id="9" name="Text 7"/>
          <p:cNvSpPr/>
          <p:nvPr/>
        </p:nvSpPr>
        <p:spPr>
          <a:xfrm>
            <a:off x="7997800" y="1783080"/>
            <a:ext cx="36178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SUBE LA PRIORIDAD DE</a:t>
            </a:r>
            <a:endParaRPr lang="en-US" sz="1050" dirty="0"/>
          </a:p>
        </p:txBody>
      </p:sp>
      <p:sp>
        <p:nvSpPr>
          <p:cNvPr id="10" name="Shape 8"/>
          <p:cNvSpPr/>
          <p:nvPr/>
        </p:nvSpPr>
        <p:spPr>
          <a:xfrm>
            <a:off x="502920" y="2240280"/>
            <a:ext cx="3657600" cy="566928"/>
          </a:xfrm>
          <a:prstGeom prst="rect">
            <a:avLst/>
          </a:prstGeom>
          <a:solidFill>
            <a:srgbClr val="151515"/>
          </a:solidFill>
          <a:ln w="12700">
            <a:solidFill>
              <a:srgbClr val="242424"/>
            </a:solidFill>
            <a:prstDash val="solid"/>
          </a:ln>
        </p:spPr>
      </p:sp>
      <p:sp>
        <p:nvSpPr>
          <p:cNvPr id="11" name="Text 9"/>
          <p:cNvSpPr/>
          <p:nvPr/>
        </p:nvSpPr>
        <p:spPr>
          <a:xfrm>
            <a:off x="576072" y="2240280"/>
            <a:ext cx="35112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Amenazas (F5)</a:t>
            </a:r>
            <a:endParaRPr lang="en-US" sz="1150" dirty="0"/>
          </a:p>
        </p:txBody>
      </p:sp>
      <p:sp>
        <p:nvSpPr>
          <p:cNvPr id="12" name="Shape 10"/>
          <p:cNvSpPr/>
          <p:nvPr/>
        </p:nvSpPr>
        <p:spPr>
          <a:xfrm>
            <a:off x="4160520" y="2240280"/>
            <a:ext cx="3764128" cy="566928"/>
          </a:xfrm>
          <a:prstGeom prst="rect">
            <a:avLst/>
          </a:prstGeom>
          <a:solidFill>
            <a:srgbClr val="151515"/>
          </a:solidFill>
          <a:ln w="12700">
            <a:solidFill>
              <a:srgbClr val="242424"/>
            </a:solidFill>
            <a:prstDash val="solid"/>
          </a:ln>
        </p:spPr>
      </p:sp>
      <p:sp>
        <p:nvSpPr>
          <p:cNvPr id="13" name="Text 11"/>
          <p:cNvSpPr/>
          <p:nvPr/>
        </p:nvSpPr>
        <p:spPr>
          <a:xfrm>
            <a:off x="4233672" y="2240280"/>
            <a:ext cx="361782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OT conectada</a:t>
            </a:r>
            <a:endParaRPr lang="en-US" sz="1100" dirty="0"/>
          </a:p>
        </p:txBody>
      </p:sp>
      <p:sp>
        <p:nvSpPr>
          <p:cNvPr id="14" name="Shape 12"/>
          <p:cNvSpPr/>
          <p:nvPr/>
        </p:nvSpPr>
        <p:spPr>
          <a:xfrm>
            <a:off x="7924648" y="2240280"/>
            <a:ext cx="3764128" cy="566928"/>
          </a:xfrm>
          <a:prstGeom prst="rect">
            <a:avLst/>
          </a:prstGeom>
          <a:solidFill>
            <a:srgbClr val="151515"/>
          </a:solidFill>
          <a:ln w="12700">
            <a:solidFill>
              <a:srgbClr val="242424"/>
            </a:solidFill>
            <a:prstDash val="solid"/>
          </a:ln>
        </p:spPr>
      </p:sp>
      <p:sp>
        <p:nvSpPr>
          <p:cNvPr id="15" name="Text 13"/>
          <p:cNvSpPr/>
          <p:nvPr/>
        </p:nvSpPr>
        <p:spPr>
          <a:xfrm>
            <a:off x="7997800" y="2240280"/>
            <a:ext cx="36178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APO13, DSS05</a:t>
            </a:r>
            <a:endParaRPr lang="en-US" sz="1100" dirty="0"/>
          </a:p>
        </p:txBody>
      </p:sp>
      <p:sp>
        <p:nvSpPr>
          <p:cNvPr id="16" name="Shape 14"/>
          <p:cNvSpPr/>
          <p:nvPr/>
        </p:nvSpPr>
        <p:spPr>
          <a:xfrm>
            <a:off x="502920" y="2807208"/>
            <a:ext cx="3657600" cy="566928"/>
          </a:xfrm>
          <a:prstGeom prst="rect">
            <a:avLst/>
          </a:prstGeom>
          <a:solidFill>
            <a:srgbClr val="0B0B0B"/>
          </a:solidFill>
          <a:ln w="12700">
            <a:solidFill>
              <a:srgbClr val="242424"/>
            </a:solidFill>
            <a:prstDash val="solid"/>
          </a:ln>
        </p:spPr>
      </p:sp>
      <p:sp>
        <p:nvSpPr>
          <p:cNvPr id="17" name="Text 15"/>
          <p:cNvSpPr/>
          <p:nvPr/>
        </p:nvSpPr>
        <p:spPr>
          <a:xfrm>
            <a:off x="576072" y="2807208"/>
            <a:ext cx="35112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Cumplimiento (F6)</a:t>
            </a:r>
            <a:endParaRPr lang="en-US" sz="1150" dirty="0"/>
          </a:p>
        </p:txBody>
      </p:sp>
      <p:sp>
        <p:nvSpPr>
          <p:cNvPr id="18" name="Shape 16"/>
          <p:cNvSpPr/>
          <p:nvPr/>
        </p:nvSpPr>
        <p:spPr>
          <a:xfrm>
            <a:off x="4160520" y="2807208"/>
            <a:ext cx="3764128" cy="566928"/>
          </a:xfrm>
          <a:prstGeom prst="rect">
            <a:avLst/>
          </a:prstGeom>
          <a:solidFill>
            <a:srgbClr val="0B0B0B"/>
          </a:solidFill>
          <a:ln w="12700">
            <a:solidFill>
              <a:srgbClr val="242424"/>
            </a:solidFill>
            <a:prstDash val="solid"/>
          </a:ln>
        </p:spPr>
      </p:sp>
      <p:sp>
        <p:nvSpPr>
          <p:cNvPr id="19" name="Text 17"/>
          <p:cNvSpPr/>
          <p:nvPr/>
        </p:nvSpPr>
        <p:spPr>
          <a:xfrm>
            <a:off x="4233672" y="2807208"/>
            <a:ext cx="361782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Regulado</a:t>
            </a:r>
            <a:endParaRPr lang="en-US" sz="1100" dirty="0"/>
          </a:p>
        </p:txBody>
      </p:sp>
      <p:sp>
        <p:nvSpPr>
          <p:cNvPr id="20" name="Shape 18"/>
          <p:cNvSpPr/>
          <p:nvPr/>
        </p:nvSpPr>
        <p:spPr>
          <a:xfrm>
            <a:off x="7924648" y="2807208"/>
            <a:ext cx="3764128" cy="566928"/>
          </a:xfrm>
          <a:prstGeom prst="rect">
            <a:avLst/>
          </a:prstGeom>
          <a:solidFill>
            <a:srgbClr val="0B0B0B"/>
          </a:solidFill>
          <a:ln w="12700">
            <a:solidFill>
              <a:srgbClr val="242424"/>
            </a:solidFill>
            <a:prstDash val="solid"/>
          </a:ln>
        </p:spPr>
      </p:sp>
      <p:sp>
        <p:nvSpPr>
          <p:cNvPr id="21" name="Text 19"/>
          <p:cNvSpPr/>
          <p:nvPr/>
        </p:nvSpPr>
        <p:spPr>
          <a:xfrm>
            <a:off x="7997800" y="2807208"/>
            <a:ext cx="36178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MEA03, APO12</a:t>
            </a:r>
            <a:endParaRPr lang="en-US" sz="1100" dirty="0"/>
          </a:p>
        </p:txBody>
      </p:sp>
      <p:sp>
        <p:nvSpPr>
          <p:cNvPr id="22" name="Shape 20"/>
          <p:cNvSpPr/>
          <p:nvPr/>
        </p:nvSpPr>
        <p:spPr>
          <a:xfrm>
            <a:off x="502920" y="3374136"/>
            <a:ext cx="3657600" cy="566928"/>
          </a:xfrm>
          <a:prstGeom prst="rect">
            <a:avLst/>
          </a:prstGeom>
          <a:solidFill>
            <a:srgbClr val="151515"/>
          </a:solidFill>
          <a:ln w="12700">
            <a:solidFill>
              <a:srgbClr val="242424"/>
            </a:solidFill>
            <a:prstDash val="solid"/>
          </a:ln>
        </p:spPr>
      </p:sp>
      <p:sp>
        <p:nvSpPr>
          <p:cNvPr id="23" name="Text 21"/>
          <p:cNvSpPr/>
          <p:nvPr/>
        </p:nvSpPr>
        <p:spPr>
          <a:xfrm>
            <a:off x="576072" y="3374136"/>
            <a:ext cx="35112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Rol de TI (F7)</a:t>
            </a:r>
            <a:endParaRPr lang="en-US" sz="1150" dirty="0"/>
          </a:p>
        </p:txBody>
      </p:sp>
      <p:sp>
        <p:nvSpPr>
          <p:cNvPr id="24" name="Shape 22"/>
          <p:cNvSpPr/>
          <p:nvPr/>
        </p:nvSpPr>
        <p:spPr>
          <a:xfrm>
            <a:off x="4160520" y="3374136"/>
            <a:ext cx="3764128" cy="566928"/>
          </a:xfrm>
          <a:prstGeom prst="rect">
            <a:avLst/>
          </a:prstGeom>
          <a:solidFill>
            <a:srgbClr val="151515"/>
          </a:solidFill>
          <a:ln w="12700">
            <a:solidFill>
              <a:srgbClr val="242424"/>
            </a:solidFill>
            <a:prstDash val="solid"/>
          </a:ln>
        </p:spPr>
      </p:sp>
      <p:sp>
        <p:nvSpPr>
          <p:cNvPr id="25" name="Text 23"/>
          <p:cNvSpPr/>
          <p:nvPr/>
        </p:nvSpPr>
        <p:spPr>
          <a:xfrm>
            <a:off x="4233672" y="3374136"/>
            <a:ext cx="361782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Fábrica/estratégico</a:t>
            </a:r>
            <a:endParaRPr lang="en-US" sz="1100" dirty="0"/>
          </a:p>
        </p:txBody>
      </p:sp>
      <p:sp>
        <p:nvSpPr>
          <p:cNvPr id="26" name="Shape 24"/>
          <p:cNvSpPr/>
          <p:nvPr/>
        </p:nvSpPr>
        <p:spPr>
          <a:xfrm>
            <a:off x="7924648" y="3374136"/>
            <a:ext cx="3764128" cy="566928"/>
          </a:xfrm>
          <a:prstGeom prst="rect">
            <a:avLst/>
          </a:prstGeom>
          <a:solidFill>
            <a:srgbClr val="151515"/>
          </a:solidFill>
          <a:ln w="12700">
            <a:solidFill>
              <a:srgbClr val="242424"/>
            </a:solidFill>
            <a:prstDash val="solid"/>
          </a:ln>
        </p:spPr>
      </p:sp>
      <p:sp>
        <p:nvSpPr>
          <p:cNvPr id="27" name="Text 25"/>
          <p:cNvSpPr/>
          <p:nvPr/>
        </p:nvSpPr>
        <p:spPr>
          <a:xfrm>
            <a:off x="7997800" y="3374136"/>
            <a:ext cx="36178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DSS04, BAI04</a:t>
            </a:r>
            <a:endParaRPr lang="en-US" sz="1100" dirty="0"/>
          </a:p>
        </p:txBody>
      </p:sp>
      <p:sp>
        <p:nvSpPr>
          <p:cNvPr id="28" name="Shape 26"/>
          <p:cNvSpPr/>
          <p:nvPr/>
        </p:nvSpPr>
        <p:spPr>
          <a:xfrm>
            <a:off x="502920" y="3941064"/>
            <a:ext cx="3657600" cy="566928"/>
          </a:xfrm>
          <a:prstGeom prst="rect">
            <a:avLst/>
          </a:prstGeom>
          <a:solidFill>
            <a:srgbClr val="0B0B0B"/>
          </a:solidFill>
          <a:ln w="12700">
            <a:solidFill>
              <a:srgbClr val="242424"/>
            </a:solidFill>
            <a:prstDash val="solid"/>
          </a:ln>
        </p:spPr>
      </p:sp>
      <p:sp>
        <p:nvSpPr>
          <p:cNvPr id="29" name="Text 27"/>
          <p:cNvSpPr/>
          <p:nvPr/>
        </p:nvSpPr>
        <p:spPr>
          <a:xfrm>
            <a:off x="576072" y="3941064"/>
            <a:ext cx="35112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Aprovision. (F8)</a:t>
            </a:r>
            <a:endParaRPr lang="en-US" sz="1150" dirty="0"/>
          </a:p>
        </p:txBody>
      </p:sp>
      <p:sp>
        <p:nvSpPr>
          <p:cNvPr id="30" name="Shape 28"/>
          <p:cNvSpPr/>
          <p:nvPr/>
        </p:nvSpPr>
        <p:spPr>
          <a:xfrm>
            <a:off x="4160520" y="3941064"/>
            <a:ext cx="3764128" cy="566928"/>
          </a:xfrm>
          <a:prstGeom prst="rect">
            <a:avLst/>
          </a:prstGeom>
          <a:solidFill>
            <a:srgbClr val="0B0B0B"/>
          </a:solidFill>
          <a:ln w="12700">
            <a:solidFill>
              <a:srgbClr val="242424"/>
            </a:solidFill>
            <a:prstDash val="solid"/>
          </a:ln>
        </p:spPr>
      </p:sp>
      <p:sp>
        <p:nvSpPr>
          <p:cNvPr id="31" name="Text 29"/>
          <p:cNvSpPr/>
          <p:nvPr/>
        </p:nvSpPr>
        <p:spPr>
          <a:xfrm>
            <a:off x="4233672" y="3941064"/>
            <a:ext cx="3617824" cy="566928"/>
          </a:xfrm>
          <a:prstGeom prst="rect">
            <a:avLst/>
          </a:prstGeom>
          <a:noFill/>
          <a:ln/>
        </p:spPr>
        <p:txBody>
          <a:bodyPr wrap="square" lIns="0" tIns="0" rIns="0" bIns="0" rtlCol="0" anchor="ctr"/>
          <a:lstStyle/>
          <a:p>
            <a:pPr algn="ctr" indent="0" marL="0">
              <a:buNone/>
            </a:pPr>
            <a:r>
              <a:rPr lang="en-US" sz="1100" dirty="0">
                <a:solidFill>
                  <a:srgbClr val="9D6BFF"/>
                </a:solidFill>
                <a:latin typeface="Courier New" pitchFamily="34" charset="0"/>
                <a:ea typeface="Courier New" pitchFamily="34" charset="-122"/>
                <a:cs typeface="Courier New" pitchFamily="34" charset="-120"/>
              </a:rPr>
              <a:t>Terceros/nube</a:t>
            </a:r>
            <a:endParaRPr lang="en-US" sz="1100" dirty="0"/>
          </a:p>
        </p:txBody>
      </p:sp>
      <p:sp>
        <p:nvSpPr>
          <p:cNvPr id="32" name="Shape 30"/>
          <p:cNvSpPr/>
          <p:nvPr/>
        </p:nvSpPr>
        <p:spPr>
          <a:xfrm>
            <a:off x="7924648" y="3941064"/>
            <a:ext cx="3764128" cy="566928"/>
          </a:xfrm>
          <a:prstGeom prst="rect">
            <a:avLst/>
          </a:prstGeom>
          <a:solidFill>
            <a:srgbClr val="0B0B0B"/>
          </a:solidFill>
          <a:ln w="12700">
            <a:solidFill>
              <a:srgbClr val="242424"/>
            </a:solidFill>
            <a:prstDash val="solid"/>
          </a:ln>
        </p:spPr>
      </p:sp>
      <p:sp>
        <p:nvSpPr>
          <p:cNvPr id="33" name="Text 31"/>
          <p:cNvSpPr/>
          <p:nvPr/>
        </p:nvSpPr>
        <p:spPr>
          <a:xfrm>
            <a:off x="7997800" y="3941064"/>
            <a:ext cx="36178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APO10, DSS05</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19 / 48</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17  FACTORES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FACTORES DECISIVOS EN LA INDUSTRIA</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AMENAZAS</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la conexión IT/OT eleva el panorama de amenazas a 'alto' casi siempre</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2900" dirty="0">
                <a:solidFill>
                  <a:srgbClr val="C6FF00"/>
                </a:solidFill>
                <a:latin typeface="Arial Black" pitchFamily="34" charset="0"/>
                <a:ea typeface="Arial Black" pitchFamily="34" charset="-122"/>
                <a:cs typeface="Arial Black" pitchFamily="34" charset="-120"/>
              </a:rPr>
              <a:t>CONTINUIDAD</a:t>
            </a:r>
            <a:endParaRPr lang="en-US" sz="29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el rol de TI como 'fábrica' hace la disponibilidad no negociable</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TERCEROS</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integradores y proveedores con acceso remoto disparan el riesgo de suministro</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En un CPPS, tres factores dominan el diseño: panorama de amenazas alto, rol de TI crítico para operar, y aprovisionamiento con terceros. Estos tres explican por qué seguridad, continuidad y gestión de proveedores encabezan el alcance.</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20 / 48</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03</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CAPACIDAD Y MADUREZ</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Cuánto gobierno es suficiente: niveles 0–5</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21 / 48</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21 / 48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18  CAPACIDAD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ES LA CAPACIDAD DE UN PROCESO</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COBIT 2019 mide cada objetivo por la capacidad de sus procesos, con enfoque CMMI.</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CAPACIDAD DE PROCESO</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Cuán bien un proceso logra su propósito. Se mide por actividades cumplidas, de nivel 0 a 5.</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ENFOQUE CMMI</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Cada nivel exige las actividades del anterior más las suyas. Progresión acumulativa.</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NIVEL OBJETIVO</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No siempre 5: el nivel que el riesgo y la estrategia justifican para ESE proceso.</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BRECHA (GAP)</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 diferencia entre el nivel actual y el objetivo define el plan de mejora.</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22 / 48</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19  CAPACIDAD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LOS SEIS NIVELES DE CAPACIDAD</a:t>
            </a:r>
            <a:endParaRPr lang="en-US" sz="3300" dirty="0"/>
          </a:p>
        </p:txBody>
      </p:sp>
      <p:sp>
        <p:nvSpPr>
          <p:cNvPr id="4" name="Shape 2"/>
          <p:cNvSpPr/>
          <p:nvPr/>
        </p:nvSpPr>
        <p:spPr>
          <a:xfrm>
            <a:off x="502920" y="1783080"/>
            <a:ext cx="3576218"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01</a:t>
            </a:r>
            <a:endParaRPr lang="en-US" sz="2200" dirty="0"/>
          </a:p>
        </p:txBody>
      </p:sp>
      <p:sp>
        <p:nvSpPr>
          <p:cNvPr id="6" name="Text 4"/>
          <p:cNvSpPr/>
          <p:nvPr/>
        </p:nvSpPr>
        <p:spPr>
          <a:xfrm>
            <a:off x="649224"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INCOMPLETO</a:t>
            </a:r>
            <a:endParaRPr lang="en-US" sz="1100" dirty="0"/>
          </a:p>
        </p:txBody>
      </p:sp>
      <p:sp>
        <p:nvSpPr>
          <p:cNvPr id="7" name="Text 5"/>
          <p:cNvSpPr/>
          <p:nvPr/>
        </p:nvSpPr>
        <p:spPr>
          <a:xfrm>
            <a:off x="649224"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No se logra el propósito.</a:t>
            </a:r>
            <a:endParaRPr lang="en-US" sz="1000" dirty="0"/>
          </a:p>
        </p:txBody>
      </p:sp>
      <p:sp>
        <p:nvSpPr>
          <p:cNvPr id="8" name="Shape 6"/>
          <p:cNvSpPr/>
          <p:nvPr/>
        </p:nvSpPr>
        <p:spPr>
          <a:xfrm>
            <a:off x="4307738" y="1783080"/>
            <a:ext cx="3576218"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4454042" y="1892808"/>
            <a:ext cx="914400" cy="502920"/>
          </a:xfrm>
          <a:prstGeom prst="rect">
            <a:avLst/>
          </a:prstGeom>
          <a:noFill/>
          <a:ln/>
        </p:spPr>
        <p:txBody>
          <a:bodyPr wrap="square" lIns="0" tIns="0" rIns="0" bIns="0" rtlCol="0" anchor="t"/>
          <a:lstStyle/>
          <a:p>
            <a:pPr indent="0" marL="0">
              <a:buNone/>
            </a:pPr>
            <a:r>
              <a:rPr lang="en-US" sz="2200" dirty="0">
                <a:solidFill>
                  <a:srgbClr val="FF6B35"/>
                </a:solidFill>
                <a:latin typeface="Arial Black" pitchFamily="34" charset="0"/>
                <a:ea typeface="Arial Black" pitchFamily="34" charset="-122"/>
                <a:cs typeface="Arial Black" pitchFamily="34" charset="-120"/>
              </a:rPr>
              <a:t>01</a:t>
            </a:r>
            <a:endParaRPr lang="en-US" sz="2200" dirty="0"/>
          </a:p>
        </p:txBody>
      </p:sp>
      <p:sp>
        <p:nvSpPr>
          <p:cNvPr id="10" name="Text 8"/>
          <p:cNvSpPr/>
          <p:nvPr/>
        </p:nvSpPr>
        <p:spPr>
          <a:xfrm>
            <a:off x="4454042"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INICIAL</a:t>
            </a:r>
            <a:endParaRPr lang="en-US" sz="1100" dirty="0"/>
          </a:p>
        </p:txBody>
      </p:sp>
      <p:sp>
        <p:nvSpPr>
          <p:cNvPr id="11" name="Text 9"/>
          <p:cNvSpPr/>
          <p:nvPr/>
        </p:nvSpPr>
        <p:spPr>
          <a:xfrm>
            <a:off x="4454042"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Se logra, pero informal.</a:t>
            </a:r>
            <a:endParaRPr lang="en-US" sz="1000" dirty="0"/>
          </a:p>
        </p:txBody>
      </p:sp>
      <p:sp>
        <p:nvSpPr>
          <p:cNvPr id="12" name="Shape 10"/>
          <p:cNvSpPr/>
          <p:nvPr/>
        </p:nvSpPr>
        <p:spPr>
          <a:xfrm>
            <a:off x="8112557" y="1783080"/>
            <a:ext cx="3576218"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8258861"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02</a:t>
            </a:r>
            <a:endParaRPr lang="en-US" sz="2200" dirty="0"/>
          </a:p>
        </p:txBody>
      </p:sp>
      <p:sp>
        <p:nvSpPr>
          <p:cNvPr id="14" name="Text 12"/>
          <p:cNvSpPr/>
          <p:nvPr/>
        </p:nvSpPr>
        <p:spPr>
          <a:xfrm>
            <a:off x="8258861"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GESTIONADO</a:t>
            </a:r>
            <a:endParaRPr lang="en-US" sz="1100" dirty="0"/>
          </a:p>
        </p:txBody>
      </p:sp>
      <p:sp>
        <p:nvSpPr>
          <p:cNvPr id="15" name="Text 13"/>
          <p:cNvSpPr/>
          <p:nvPr/>
        </p:nvSpPr>
        <p:spPr>
          <a:xfrm>
            <a:off x="8258861"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Planificado y monitoreado.</a:t>
            </a:r>
            <a:endParaRPr lang="en-US" sz="1000" dirty="0"/>
          </a:p>
        </p:txBody>
      </p:sp>
      <p:sp>
        <p:nvSpPr>
          <p:cNvPr id="16" name="Shape 14"/>
          <p:cNvSpPr/>
          <p:nvPr/>
        </p:nvSpPr>
        <p:spPr>
          <a:xfrm>
            <a:off x="502920" y="3566160"/>
            <a:ext cx="3576218"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649224" y="367588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03</a:t>
            </a:r>
            <a:endParaRPr lang="en-US" sz="2200" dirty="0"/>
          </a:p>
        </p:txBody>
      </p:sp>
      <p:sp>
        <p:nvSpPr>
          <p:cNvPr id="18" name="Text 16"/>
          <p:cNvSpPr/>
          <p:nvPr/>
        </p:nvSpPr>
        <p:spPr>
          <a:xfrm>
            <a:off x="649224"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ESTABLECIDO</a:t>
            </a:r>
            <a:endParaRPr lang="en-US" sz="1100" dirty="0"/>
          </a:p>
        </p:txBody>
      </p:sp>
      <p:sp>
        <p:nvSpPr>
          <p:cNvPr id="19" name="Text 17"/>
          <p:cNvSpPr/>
          <p:nvPr/>
        </p:nvSpPr>
        <p:spPr>
          <a:xfrm>
            <a:off x="649224"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Proceso estándar definido.</a:t>
            </a:r>
            <a:endParaRPr lang="en-US" sz="1000" dirty="0"/>
          </a:p>
        </p:txBody>
      </p:sp>
      <p:sp>
        <p:nvSpPr>
          <p:cNvPr id="20" name="Shape 18"/>
          <p:cNvSpPr/>
          <p:nvPr/>
        </p:nvSpPr>
        <p:spPr>
          <a:xfrm>
            <a:off x="4307738" y="3566160"/>
            <a:ext cx="3576218" cy="1554480"/>
          </a:xfrm>
          <a:prstGeom prst="roundRect">
            <a:avLst>
              <a:gd name="adj" fmla="val 3529"/>
            </a:avLst>
          </a:prstGeom>
          <a:solidFill>
            <a:srgbClr val="151515"/>
          </a:solidFill>
          <a:ln w="12700">
            <a:solidFill>
              <a:srgbClr val="333333"/>
            </a:solidFill>
            <a:prstDash val="solid"/>
          </a:ln>
        </p:spPr>
      </p:sp>
      <p:sp>
        <p:nvSpPr>
          <p:cNvPr id="21" name="Text 19"/>
          <p:cNvSpPr/>
          <p:nvPr/>
        </p:nvSpPr>
        <p:spPr>
          <a:xfrm>
            <a:off x="4454042" y="367588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04</a:t>
            </a:r>
            <a:endParaRPr lang="en-US" sz="2200" dirty="0"/>
          </a:p>
        </p:txBody>
      </p:sp>
      <p:sp>
        <p:nvSpPr>
          <p:cNvPr id="22" name="Text 20"/>
          <p:cNvSpPr/>
          <p:nvPr/>
        </p:nvSpPr>
        <p:spPr>
          <a:xfrm>
            <a:off x="4454042"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PREDECIBLE</a:t>
            </a:r>
            <a:endParaRPr lang="en-US" sz="1100" dirty="0"/>
          </a:p>
        </p:txBody>
      </p:sp>
      <p:sp>
        <p:nvSpPr>
          <p:cNvPr id="23" name="Text 21"/>
          <p:cNvSpPr/>
          <p:nvPr/>
        </p:nvSpPr>
        <p:spPr>
          <a:xfrm>
            <a:off x="4454042"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Medido cuantitativamente.</a:t>
            </a:r>
            <a:endParaRPr lang="en-US" sz="1000" dirty="0"/>
          </a:p>
        </p:txBody>
      </p:sp>
      <p:sp>
        <p:nvSpPr>
          <p:cNvPr id="24" name="Shape 22"/>
          <p:cNvSpPr/>
          <p:nvPr/>
        </p:nvSpPr>
        <p:spPr>
          <a:xfrm>
            <a:off x="8112557" y="3566160"/>
            <a:ext cx="3576218" cy="1554480"/>
          </a:xfrm>
          <a:prstGeom prst="roundRect">
            <a:avLst>
              <a:gd name="adj" fmla="val 3529"/>
            </a:avLst>
          </a:prstGeom>
          <a:solidFill>
            <a:srgbClr val="151515"/>
          </a:solidFill>
          <a:ln w="12700">
            <a:solidFill>
              <a:srgbClr val="333333"/>
            </a:solidFill>
            <a:prstDash val="solid"/>
          </a:ln>
        </p:spPr>
      </p:sp>
      <p:sp>
        <p:nvSpPr>
          <p:cNvPr id="25" name="Text 23"/>
          <p:cNvSpPr/>
          <p:nvPr/>
        </p:nvSpPr>
        <p:spPr>
          <a:xfrm>
            <a:off x="8258861" y="367588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05</a:t>
            </a:r>
            <a:endParaRPr lang="en-US" sz="2200" dirty="0"/>
          </a:p>
        </p:txBody>
      </p:sp>
      <p:sp>
        <p:nvSpPr>
          <p:cNvPr id="26" name="Text 24"/>
          <p:cNvSpPr/>
          <p:nvPr/>
        </p:nvSpPr>
        <p:spPr>
          <a:xfrm>
            <a:off x="8258861"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OPTIMIZADO</a:t>
            </a:r>
            <a:endParaRPr lang="en-US" sz="1100" dirty="0"/>
          </a:p>
        </p:txBody>
      </p:sp>
      <p:sp>
        <p:nvSpPr>
          <p:cNvPr id="27" name="Text 25"/>
          <p:cNvSpPr/>
          <p:nvPr/>
        </p:nvSpPr>
        <p:spPr>
          <a:xfrm>
            <a:off x="8258861"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Mejora continua.</a:t>
            </a:r>
            <a:endParaRPr lang="en-US" sz="10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23 / 48</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20  CAPACIDAD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MADUREZ POR ÁREA DE ENFOQUE</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Además de la capacidad por proceso, COBIT mide la MADUREZ de un área de enfoque completa.</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CAPACIDAD</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Se aplica a un objetivo/proceso individual (p. ej. APO12 en nivel 3).</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MADUREZ</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Se aplica a un área de enfoque completa (p. ej. 'seguridad de la información'), agregando varios objetivos.</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RELACIÓN</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Un área alcanza un nivel de madurez cuando todos sus objetivos llegan a la capacidad correspondiente.</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USO</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Madurez para comunicar a la dirección; capacidad para planificar la mejora técnica.</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24 / 48</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21  CAPACIDAD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CAPACIDAD VS MADUREZ</a:t>
            </a:r>
            <a:endParaRPr lang="en-US" sz="3300" dirty="0"/>
          </a:p>
        </p:txBody>
      </p:sp>
      <p:sp>
        <p:nvSpPr>
          <p:cNvPr id="4" name="Shape 2"/>
          <p:cNvSpPr/>
          <p:nvPr/>
        </p:nvSpPr>
        <p:spPr>
          <a:xfrm>
            <a:off x="502920" y="1783080"/>
            <a:ext cx="5364328" cy="4489704"/>
          </a:xfrm>
          <a:prstGeom prst="roundRect">
            <a:avLst>
              <a:gd name="adj" fmla="val 1018"/>
            </a:avLst>
          </a:prstGeom>
          <a:solidFill>
            <a:srgbClr val="151515"/>
          </a:solidFill>
          <a:ln w="15875">
            <a:solidFill>
              <a:srgbClr val="C6FF00"/>
            </a:solidFill>
            <a:prstDash val="solid"/>
          </a:ln>
        </p:spPr>
      </p:sp>
      <p:sp>
        <p:nvSpPr>
          <p:cNvPr id="5" name="Text 3"/>
          <p:cNvSpPr/>
          <p:nvPr/>
        </p:nvSpPr>
        <p:spPr>
          <a:xfrm>
            <a:off x="704088" y="1947672"/>
            <a:ext cx="4961992" cy="457200"/>
          </a:xfrm>
          <a:prstGeom prst="rect">
            <a:avLst/>
          </a:prstGeom>
          <a:noFill/>
          <a:ln/>
        </p:spPr>
        <p:txBody>
          <a:bodyPr wrap="square" lIns="0" tIns="0" rIns="0" bIns="0" rtlCol="0" anchor="t"/>
          <a:lstStyle/>
          <a:p>
            <a:pPr indent="0" marL="0">
              <a:buNone/>
            </a:pPr>
            <a:r>
              <a:rPr lang="en-US" sz="1500" dirty="0">
                <a:solidFill>
                  <a:srgbClr val="C6FF00"/>
                </a:solidFill>
                <a:latin typeface="Arial Black" pitchFamily="34" charset="0"/>
                <a:ea typeface="Arial Black" pitchFamily="34" charset="-122"/>
                <a:cs typeface="Arial Black" pitchFamily="34" charset="-120"/>
              </a:rPr>
              <a:t>NIVEL DE CAPACIDAD</a:t>
            </a:r>
            <a:endParaRPr lang="en-US" sz="1500" dirty="0"/>
          </a:p>
        </p:txBody>
      </p:sp>
      <p:sp>
        <p:nvSpPr>
          <p:cNvPr id="6" name="Text 4"/>
          <p:cNvSpPr/>
          <p:nvPr/>
        </p:nvSpPr>
        <p:spPr>
          <a:xfrm>
            <a:off x="704088" y="2496312"/>
            <a:ext cx="4961992" cy="362102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Unidad: proceso/objetivo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Basado en actividades cumplidas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Escala 0–5 (CMMI)</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Uso: planificar mejora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Ejemplo: APO12 = 3</a:t>
            </a:r>
            <a:endParaRPr lang="en-US" sz="1200" dirty="0"/>
          </a:p>
        </p:txBody>
      </p:sp>
      <p:sp>
        <p:nvSpPr>
          <p:cNvPr id="7" name="Shape 5"/>
          <p:cNvSpPr/>
          <p:nvPr/>
        </p:nvSpPr>
        <p:spPr>
          <a:xfrm>
            <a:off x="6324448" y="1783080"/>
            <a:ext cx="5364328" cy="4489704"/>
          </a:xfrm>
          <a:prstGeom prst="roundRect">
            <a:avLst>
              <a:gd name="adj" fmla="val 1018"/>
            </a:avLst>
          </a:prstGeom>
          <a:solidFill>
            <a:srgbClr val="151515"/>
          </a:solidFill>
          <a:ln w="15875">
            <a:solidFill>
              <a:srgbClr val="27E5E5"/>
            </a:solidFill>
            <a:prstDash val="solid"/>
          </a:ln>
        </p:spPr>
      </p:sp>
      <p:sp>
        <p:nvSpPr>
          <p:cNvPr id="8" name="Text 6"/>
          <p:cNvSpPr/>
          <p:nvPr/>
        </p:nvSpPr>
        <p:spPr>
          <a:xfrm>
            <a:off x="6525616" y="1947672"/>
            <a:ext cx="4961992" cy="457200"/>
          </a:xfrm>
          <a:prstGeom prst="rect">
            <a:avLst/>
          </a:prstGeom>
          <a:noFill/>
          <a:ln/>
        </p:spPr>
        <p:txBody>
          <a:bodyPr wrap="square" lIns="0" tIns="0" rIns="0" bIns="0" rtlCol="0" anchor="t"/>
          <a:lstStyle/>
          <a:p>
            <a:pPr indent="0" marL="0">
              <a:buNone/>
            </a:pPr>
            <a:r>
              <a:rPr lang="en-US" sz="1500" dirty="0">
                <a:solidFill>
                  <a:srgbClr val="27E5E5"/>
                </a:solidFill>
                <a:latin typeface="Arial Black" pitchFamily="34" charset="0"/>
                <a:ea typeface="Arial Black" pitchFamily="34" charset="-122"/>
                <a:cs typeface="Arial Black" pitchFamily="34" charset="-120"/>
              </a:rPr>
              <a:t>NIVEL DE MADUREZ</a:t>
            </a:r>
            <a:endParaRPr lang="en-US" sz="1500" dirty="0"/>
          </a:p>
        </p:txBody>
      </p:sp>
      <p:sp>
        <p:nvSpPr>
          <p:cNvPr id="9" name="Text 7"/>
          <p:cNvSpPr/>
          <p:nvPr/>
        </p:nvSpPr>
        <p:spPr>
          <a:xfrm>
            <a:off x="6525616" y="2496312"/>
            <a:ext cx="4961992" cy="362102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Unidad: área de enfoque</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Agrega varios objetivos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Escala 0–5</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Uso: reportar a dirección</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Ejemplo: seguridad = 2</a:t>
            </a:r>
            <a:endParaRPr lang="en-US" sz="1200" dirty="0"/>
          </a:p>
        </p:txBody>
      </p:sp>
      <p:sp>
        <p:nvSpPr>
          <p:cNvPr id="10" name="Text 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1" name="Text 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2" name="Text 1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25 / 48</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22  CAPACIDAD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EVALUACIÓN DE BRECHAS — EJEMPLO</a:t>
            </a:r>
            <a:endParaRPr lang="en-US" sz="3300" dirty="0"/>
          </a:p>
        </p:txBody>
      </p:sp>
      <p:sp>
        <p:nvSpPr>
          <p:cNvPr id="4" name="Shape 2"/>
          <p:cNvSpPr/>
          <p:nvPr/>
        </p:nvSpPr>
        <p:spPr>
          <a:xfrm>
            <a:off x="502920" y="1783080"/>
            <a:ext cx="3291840" cy="457200"/>
          </a:xfrm>
          <a:prstGeom prst="rect">
            <a:avLst/>
          </a:prstGeom>
          <a:solidFill>
            <a:srgbClr val="1E1E1E"/>
          </a:solidFill>
          <a:ln w="12700">
            <a:solidFill>
              <a:srgbClr val="333333"/>
            </a:solidFill>
            <a:prstDash val="solid"/>
          </a:ln>
        </p:spPr>
      </p:sp>
      <p:sp>
        <p:nvSpPr>
          <p:cNvPr id="5" name="Text 3"/>
          <p:cNvSpPr/>
          <p:nvPr/>
        </p:nvSpPr>
        <p:spPr>
          <a:xfrm>
            <a:off x="576072" y="1783080"/>
            <a:ext cx="314553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OBJETIVO</a:t>
            </a:r>
            <a:endParaRPr lang="en-US" sz="1050" dirty="0"/>
          </a:p>
        </p:txBody>
      </p:sp>
      <p:sp>
        <p:nvSpPr>
          <p:cNvPr id="6" name="Shape 4"/>
          <p:cNvSpPr/>
          <p:nvPr/>
        </p:nvSpPr>
        <p:spPr>
          <a:xfrm>
            <a:off x="3794760" y="1783080"/>
            <a:ext cx="2631338" cy="457200"/>
          </a:xfrm>
          <a:prstGeom prst="rect">
            <a:avLst/>
          </a:prstGeom>
          <a:solidFill>
            <a:srgbClr val="1E1E1E"/>
          </a:solidFill>
          <a:ln w="12700">
            <a:solidFill>
              <a:srgbClr val="333333"/>
            </a:solidFill>
            <a:prstDash val="solid"/>
          </a:ln>
        </p:spPr>
      </p:sp>
      <p:sp>
        <p:nvSpPr>
          <p:cNvPr id="7" name="Text 5"/>
          <p:cNvSpPr/>
          <p:nvPr/>
        </p:nvSpPr>
        <p:spPr>
          <a:xfrm>
            <a:off x="3867912" y="1783080"/>
            <a:ext cx="248503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ACTUAL</a:t>
            </a:r>
            <a:endParaRPr lang="en-US" sz="1050" dirty="0"/>
          </a:p>
        </p:txBody>
      </p:sp>
      <p:sp>
        <p:nvSpPr>
          <p:cNvPr id="8" name="Shape 6"/>
          <p:cNvSpPr/>
          <p:nvPr/>
        </p:nvSpPr>
        <p:spPr>
          <a:xfrm>
            <a:off x="6426098" y="1783080"/>
            <a:ext cx="2631338" cy="457200"/>
          </a:xfrm>
          <a:prstGeom prst="rect">
            <a:avLst/>
          </a:prstGeom>
          <a:solidFill>
            <a:srgbClr val="1E1E1E"/>
          </a:solidFill>
          <a:ln w="12700">
            <a:solidFill>
              <a:srgbClr val="333333"/>
            </a:solidFill>
            <a:prstDash val="solid"/>
          </a:ln>
        </p:spPr>
      </p:sp>
      <p:sp>
        <p:nvSpPr>
          <p:cNvPr id="9" name="Text 7"/>
          <p:cNvSpPr/>
          <p:nvPr/>
        </p:nvSpPr>
        <p:spPr>
          <a:xfrm>
            <a:off x="6499250" y="1783080"/>
            <a:ext cx="248503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OBJETIVO</a:t>
            </a:r>
            <a:endParaRPr lang="en-US" sz="1050" dirty="0"/>
          </a:p>
        </p:txBody>
      </p:sp>
      <p:sp>
        <p:nvSpPr>
          <p:cNvPr id="10" name="Shape 8"/>
          <p:cNvSpPr/>
          <p:nvPr/>
        </p:nvSpPr>
        <p:spPr>
          <a:xfrm>
            <a:off x="9057437" y="1783080"/>
            <a:ext cx="2631338" cy="457200"/>
          </a:xfrm>
          <a:prstGeom prst="rect">
            <a:avLst/>
          </a:prstGeom>
          <a:solidFill>
            <a:srgbClr val="1E1E1E"/>
          </a:solidFill>
          <a:ln w="12700">
            <a:solidFill>
              <a:srgbClr val="333333"/>
            </a:solidFill>
            <a:prstDash val="solid"/>
          </a:ln>
        </p:spPr>
      </p:sp>
      <p:sp>
        <p:nvSpPr>
          <p:cNvPr id="11" name="Text 9"/>
          <p:cNvSpPr/>
          <p:nvPr/>
        </p:nvSpPr>
        <p:spPr>
          <a:xfrm>
            <a:off x="9130589" y="1783080"/>
            <a:ext cx="248503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BRECHA</a:t>
            </a:r>
            <a:endParaRPr lang="en-US" sz="1050" dirty="0"/>
          </a:p>
        </p:txBody>
      </p:sp>
      <p:sp>
        <p:nvSpPr>
          <p:cNvPr id="12" name="Shape 10"/>
          <p:cNvSpPr/>
          <p:nvPr/>
        </p:nvSpPr>
        <p:spPr>
          <a:xfrm>
            <a:off x="502920" y="2240280"/>
            <a:ext cx="3291840" cy="566928"/>
          </a:xfrm>
          <a:prstGeom prst="rect">
            <a:avLst/>
          </a:prstGeom>
          <a:solidFill>
            <a:srgbClr val="151515"/>
          </a:solidFill>
          <a:ln w="12700">
            <a:solidFill>
              <a:srgbClr val="242424"/>
            </a:solidFill>
            <a:prstDash val="solid"/>
          </a:ln>
        </p:spPr>
      </p:sp>
      <p:sp>
        <p:nvSpPr>
          <p:cNvPr id="13" name="Text 11"/>
          <p:cNvSpPr/>
          <p:nvPr/>
        </p:nvSpPr>
        <p:spPr>
          <a:xfrm>
            <a:off x="576072" y="2240280"/>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EDM03 Riesgo</a:t>
            </a:r>
            <a:endParaRPr lang="en-US" sz="1150" dirty="0"/>
          </a:p>
        </p:txBody>
      </p:sp>
      <p:sp>
        <p:nvSpPr>
          <p:cNvPr id="14" name="Shape 12"/>
          <p:cNvSpPr/>
          <p:nvPr/>
        </p:nvSpPr>
        <p:spPr>
          <a:xfrm>
            <a:off x="3794760" y="2240280"/>
            <a:ext cx="2631338" cy="566928"/>
          </a:xfrm>
          <a:prstGeom prst="rect">
            <a:avLst/>
          </a:prstGeom>
          <a:solidFill>
            <a:srgbClr val="151515"/>
          </a:solidFill>
          <a:ln w="12700">
            <a:solidFill>
              <a:srgbClr val="242424"/>
            </a:solidFill>
            <a:prstDash val="solid"/>
          </a:ln>
        </p:spPr>
      </p:sp>
      <p:sp>
        <p:nvSpPr>
          <p:cNvPr id="15" name="Text 13"/>
          <p:cNvSpPr/>
          <p:nvPr/>
        </p:nvSpPr>
        <p:spPr>
          <a:xfrm>
            <a:off x="3867912" y="2240280"/>
            <a:ext cx="2485034" cy="566928"/>
          </a:xfrm>
          <a:prstGeom prst="rect">
            <a:avLst/>
          </a:prstGeom>
          <a:noFill/>
          <a:ln/>
        </p:spPr>
        <p:txBody>
          <a:bodyPr wrap="square" lIns="0" tIns="0" rIns="0" bIns="0" rtlCol="0" anchor="ctr"/>
          <a:lstStyle/>
          <a:p>
            <a:pPr algn="ctr" indent="0" marL="0">
              <a:buNone/>
            </a:pPr>
            <a:r>
              <a:rPr lang="en-US" sz="1100" dirty="0">
                <a:solidFill>
                  <a:srgbClr val="FF6B35"/>
                </a:solidFill>
                <a:latin typeface="Courier New" pitchFamily="34" charset="0"/>
                <a:ea typeface="Courier New" pitchFamily="34" charset="-122"/>
                <a:cs typeface="Courier New" pitchFamily="34" charset="-120"/>
              </a:rPr>
              <a:t>1</a:t>
            </a:r>
            <a:endParaRPr lang="en-US" sz="1100" dirty="0"/>
          </a:p>
        </p:txBody>
      </p:sp>
      <p:sp>
        <p:nvSpPr>
          <p:cNvPr id="16" name="Shape 14"/>
          <p:cNvSpPr/>
          <p:nvPr/>
        </p:nvSpPr>
        <p:spPr>
          <a:xfrm>
            <a:off x="6426098" y="2240280"/>
            <a:ext cx="2631338" cy="566928"/>
          </a:xfrm>
          <a:prstGeom prst="rect">
            <a:avLst/>
          </a:prstGeom>
          <a:solidFill>
            <a:srgbClr val="151515"/>
          </a:solidFill>
          <a:ln w="12700">
            <a:solidFill>
              <a:srgbClr val="242424"/>
            </a:solidFill>
            <a:prstDash val="solid"/>
          </a:ln>
        </p:spPr>
      </p:sp>
      <p:sp>
        <p:nvSpPr>
          <p:cNvPr id="17" name="Text 15"/>
          <p:cNvSpPr/>
          <p:nvPr/>
        </p:nvSpPr>
        <p:spPr>
          <a:xfrm>
            <a:off x="6499250" y="2240280"/>
            <a:ext cx="248503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3</a:t>
            </a:r>
            <a:endParaRPr lang="en-US" sz="1100" dirty="0"/>
          </a:p>
        </p:txBody>
      </p:sp>
      <p:sp>
        <p:nvSpPr>
          <p:cNvPr id="18" name="Shape 16"/>
          <p:cNvSpPr/>
          <p:nvPr/>
        </p:nvSpPr>
        <p:spPr>
          <a:xfrm>
            <a:off x="9057437" y="2240280"/>
            <a:ext cx="2631338" cy="566928"/>
          </a:xfrm>
          <a:prstGeom prst="rect">
            <a:avLst/>
          </a:prstGeom>
          <a:solidFill>
            <a:srgbClr val="151515"/>
          </a:solidFill>
          <a:ln w="12700">
            <a:solidFill>
              <a:srgbClr val="242424"/>
            </a:solidFill>
            <a:prstDash val="solid"/>
          </a:ln>
        </p:spPr>
      </p:sp>
      <p:sp>
        <p:nvSpPr>
          <p:cNvPr id="19" name="Text 17"/>
          <p:cNvSpPr/>
          <p:nvPr/>
        </p:nvSpPr>
        <p:spPr>
          <a:xfrm>
            <a:off x="9130589" y="2240280"/>
            <a:ext cx="248503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+2</a:t>
            </a:r>
            <a:endParaRPr lang="en-US" sz="1100" dirty="0"/>
          </a:p>
        </p:txBody>
      </p:sp>
      <p:sp>
        <p:nvSpPr>
          <p:cNvPr id="20" name="Shape 18"/>
          <p:cNvSpPr/>
          <p:nvPr/>
        </p:nvSpPr>
        <p:spPr>
          <a:xfrm>
            <a:off x="502920" y="2807208"/>
            <a:ext cx="3291840" cy="566928"/>
          </a:xfrm>
          <a:prstGeom prst="rect">
            <a:avLst/>
          </a:prstGeom>
          <a:solidFill>
            <a:srgbClr val="0B0B0B"/>
          </a:solidFill>
          <a:ln w="12700">
            <a:solidFill>
              <a:srgbClr val="242424"/>
            </a:solidFill>
            <a:prstDash val="solid"/>
          </a:ln>
        </p:spPr>
      </p:sp>
      <p:sp>
        <p:nvSpPr>
          <p:cNvPr id="21" name="Text 19"/>
          <p:cNvSpPr/>
          <p:nvPr/>
        </p:nvSpPr>
        <p:spPr>
          <a:xfrm>
            <a:off x="576072" y="2807208"/>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APO13 Seguridad</a:t>
            </a:r>
            <a:endParaRPr lang="en-US" sz="1150" dirty="0"/>
          </a:p>
        </p:txBody>
      </p:sp>
      <p:sp>
        <p:nvSpPr>
          <p:cNvPr id="22" name="Shape 20"/>
          <p:cNvSpPr/>
          <p:nvPr/>
        </p:nvSpPr>
        <p:spPr>
          <a:xfrm>
            <a:off x="3794760" y="2807208"/>
            <a:ext cx="2631338" cy="566928"/>
          </a:xfrm>
          <a:prstGeom prst="rect">
            <a:avLst/>
          </a:prstGeom>
          <a:solidFill>
            <a:srgbClr val="0B0B0B"/>
          </a:solidFill>
          <a:ln w="12700">
            <a:solidFill>
              <a:srgbClr val="242424"/>
            </a:solidFill>
            <a:prstDash val="solid"/>
          </a:ln>
        </p:spPr>
      </p:sp>
      <p:sp>
        <p:nvSpPr>
          <p:cNvPr id="23" name="Text 21"/>
          <p:cNvSpPr/>
          <p:nvPr/>
        </p:nvSpPr>
        <p:spPr>
          <a:xfrm>
            <a:off x="3867912" y="2807208"/>
            <a:ext cx="2485034" cy="566928"/>
          </a:xfrm>
          <a:prstGeom prst="rect">
            <a:avLst/>
          </a:prstGeom>
          <a:noFill/>
          <a:ln/>
        </p:spPr>
        <p:txBody>
          <a:bodyPr wrap="square" lIns="0" tIns="0" rIns="0" bIns="0" rtlCol="0" anchor="ctr"/>
          <a:lstStyle/>
          <a:p>
            <a:pPr algn="ctr" indent="0" marL="0">
              <a:buNone/>
            </a:pPr>
            <a:r>
              <a:rPr lang="en-US" sz="1100" dirty="0">
                <a:solidFill>
                  <a:srgbClr val="FF6B35"/>
                </a:solidFill>
                <a:latin typeface="Courier New" pitchFamily="34" charset="0"/>
                <a:ea typeface="Courier New" pitchFamily="34" charset="-122"/>
                <a:cs typeface="Courier New" pitchFamily="34" charset="-120"/>
              </a:rPr>
              <a:t>1</a:t>
            </a:r>
            <a:endParaRPr lang="en-US" sz="1100" dirty="0"/>
          </a:p>
        </p:txBody>
      </p:sp>
      <p:sp>
        <p:nvSpPr>
          <p:cNvPr id="24" name="Shape 22"/>
          <p:cNvSpPr/>
          <p:nvPr/>
        </p:nvSpPr>
        <p:spPr>
          <a:xfrm>
            <a:off x="6426098" y="2807208"/>
            <a:ext cx="2631338" cy="566928"/>
          </a:xfrm>
          <a:prstGeom prst="rect">
            <a:avLst/>
          </a:prstGeom>
          <a:solidFill>
            <a:srgbClr val="0B0B0B"/>
          </a:solidFill>
          <a:ln w="12700">
            <a:solidFill>
              <a:srgbClr val="242424"/>
            </a:solidFill>
            <a:prstDash val="solid"/>
          </a:ln>
        </p:spPr>
      </p:sp>
      <p:sp>
        <p:nvSpPr>
          <p:cNvPr id="25" name="Text 23"/>
          <p:cNvSpPr/>
          <p:nvPr/>
        </p:nvSpPr>
        <p:spPr>
          <a:xfrm>
            <a:off x="6499250" y="2807208"/>
            <a:ext cx="248503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3</a:t>
            </a:r>
            <a:endParaRPr lang="en-US" sz="1100" dirty="0"/>
          </a:p>
        </p:txBody>
      </p:sp>
      <p:sp>
        <p:nvSpPr>
          <p:cNvPr id="26" name="Shape 24"/>
          <p:cNvSpPr/>
          <p:nvPr/>
        </p:nvSpPr>
        <p:spPr>
          <a:xfrm>
            <a:off x="9057437" y="2807208"/>
            <a:ext cx="2631338" cy="566928"/>
          </a:xfrm>
          <a:prstGeom prst="rect">
            <a:avLst/>
          </a:prstGeom>
          <a:solidFill>
            <a:srgbClr val="0B0B0B"/>
          </a:solidFill>
          <a:ln w="12700">
            <a:solidFill>
              <a:srgbClr val="242424"/>
            </a:solidFill>
            <a:prstDash val="solid"/>
          </a:ln>
        </p:spPr>
      </p:sp>
      <p:sp>
        <p:nvSpPr>
          <p:cNvPr id="27" name="Text 25"/>
          <p:cNvSpPr/>
          <p:nvPr/>
        </p:nvSpPr>
        <p:spPr>
          <a:xfrm>
            <a:off x="9130589" y="2807208"/>
            <a:ext cx="248503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+2</a:t>
            </a:r>
            <a:endParaRPr lang="en-US" sz="1100" dirty="0"/>
          </a:p>
        </p:txBody>
      </p:sp>
      <p:sp>
        <p:nvSpPr>
          <p:cNvPr id="28" name="Shape 26"/>
          <p:cNvSpPr/>
          <p:nvPr/>
        </p:nvSpPr>
        <p:spPr>
          <a:xfrm>
            <a:off x="502920" y="3374136"/>
            <a:ext cx="3291840" cy="566928"/>
          </a:xfrm>
          <a:prstGeom prst="rect">
            <a:avLst/>
          </a:prstGeom>
          <a:solidFill>
            <a:srgbClr val="151515"/>
          </a:solidFill>
          <a:ln w="12700">
            <a:solidFill>
              <a:srgbClr val="242424"/>
            </a:solidFill>
            <a:prstDash val="solid"/>
          </a:ln>
        </p:spPr>
      </p:sp>
      <p:sp>
        <p:nvSpPr>
          <p:cNvPr id="29" name="Text 27"/>
          <p:cNvSpPr/>
          <p:nvPr/>
        </p:nvSpPr>
        <p:spPr>
          <a:xfrm>
            <a:off x="576072" y="3374136"/>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DSS04 Continuidad</a:t>
            </a:r>
            <a:endParaRPr lang="en-US" sz="1150" dirty="0"/>
          </a:p>
        </p:txBody>
      </p:sp>
      <p:sp>
        <p:nvSpPr>
          <p:cNvPr id="30" name="Shape 28"/>
          <p:cNvSpPr/>
          <p:nvPr/>
        </p:nvSpPr>
        <p:spPr>
          <a:xfrm>
            <a:off x="3794760" y="3374136"/>
            <a:ext cx="2631338" cy="566928"/>
          </a:xfrm>
          <a:prstGeom prst="rect">
            <a:avLst/>
          </a:prstGeom>
          <a:solidFill>
            <a:srgbClr val="151515"/>
          </a:solidFill>
          <a:ln w="12700">
            <a:solidFill>
              <a:srgbClr val="242424"/>
            </a:solidFill>
            <a:prstDash val="solid"/>
          </a:ln>
        </p:spPr>
      </p:sp>
      <p:sp>
        <p:nvSpPr>
          <p:cNvPr id="31" name="Text 29"/>
          <p:cNvSpPr/>
          <p:nvPr/>
        </p:nvSpPr>
        <p:spPr>
          <a:xfrm>
            <a:off x="3867912" y="3374136"/>
            <a:ext cx="248503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2</a:t>
            </a:r>
            <a:endParaRPr lang="en-US" sz="1100" dirty="0"/>
          </a:p>
        </p:txBody>
      </p:sp>
      <p:sp>
        <p:nvSpPr>
          <p:cNvPr id="32" name="Shape 30"/>
          <p:cNvSpPr/>
          <p:nvPr/>
        </p:nvSpPr>
        <p:spPr>
          <a:xfrm>
            <a:off x="6426098" y="3374136"/>
            <a:ext cx="2631338" cy="566928"/>
          </a:xfrm>
          <a:prstGeom prst="rect">
            <a:avLst/>
          </a:prstGeom>
          <a:solidFill>
            <a:srgbClr val="151515"/>
          </a:solidFill>
          <a:ln w="12700">
            <a:solidFill>
              <a:srgbClr val="242424"/>
            </a:solidFill>
            <a:prstDash val="solid"/>
          </a:ln>
        </p:spPr>
      </p:sp>
      <p:sp>
        <p:nvSpPr>
          <p:cNvPr id="33" name="Text 31"/>
          <p:cNvSpPr/>
          <p:nvPr/>
        </p:nvSpPr>
        <p:spPr>
          <a:xfrm>
            <a:off x="6499250" y="3374136"/>
            <a:ext cx="248503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3</a:t>
            </a:r>
            <a:endParaRPr lang="en-US" sz="1100" dirty="0"/>
          </a:p>
        </p:txBody>
      </p:sp>
      <p:sp>
        <p:nvSpPr>
          <p:cNvPr id="34" name="Shape 32"/>
          <p:cNvSpPr/>
          <p:nvPr/>
        </p:nvSpPr>
        <p:spPr>
          <a:xfrm>
            <a:off x="9057437" y="3374136"/>
            <a:ext cx="2631338" cy="566928"/>
          </a:xfrm>
          <a:prstGeom prst="rect">
            <a:avLst/>
          </a:prstGeom>
          <a:solidFill>
            <a:srgbClr val="151515"/>
          </a:solidFill>
          <a:ln w="12700">
            <a:solidFill>
              <a:srgbClr val="242424"/>
            </a:solidFill>
            <a:prstDash val="solid"/>
          </a:ln>
        </p:spPr>
      </p:sp>
      <p:sp>
        <p:nvSpPr>
          <p:cNvPr id="35" name="Text 33"/>
          <p:cNvSpPr/>
          <p:nvPr/>
        </p:nvSpPr>
        <p:spPr>
          <a:xfrm>
            <a:off x="9130589" y="3374136"/>
            <a:ext cx="248503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+1</a:t>
            </a:r>
            <a:endParaRPr lang="en-US" sz="1100" dirty="0"/>
          </a:p>
        </p:txBody>
      </p:sp>
      <p:sp>
        <p:nvSpPr>
          <p:cNvPr id="36" name="Shape 34"/>
          <p:cNvSpPr/>
          <p:nvPr/>
        </p:nvSpPr>
        <p:spPr>
          <a:xfrm>
            <a:off x="502920" y="3941064"/>
            <a:ext cx="3291840" cy="566928"/>
          </a:xfrm>
          <a:prstGeom prst="rect">
            <a:avLst/>
          </a:prstGeom>
          <a:solidFill>
            <a:srgbClr val="0B0B0B"/>
          </a:solidFill>
          <a:ln w="12700">
            <a:solidFill>
              <a:srgbClr val="242424"/>
            </a:solidFill>
            <a:prstDash val="solid"/>
          </a:ln>
        </p:spPr>
      </p:sp>
      <p:sp>
        <p:nvSpPr>
          <p:cNvPr id="37" name="Text 35"/>
          <p:cNvSpPr/>
          <p:nvPr/>
        </p:nvSpPr>
        <p:spPr>
          <a:xfrm>
            <a:off x="576072" y="3941064"/>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MEA01 Desempeño</a:t>
            </a:r>
            <a:endParaRPr lang="en-US" sz="1150" dirty="0"/>
          </a:p>
        </p:txBody>
      </p:sp>
      <p:sp>
        <p:nvSpPr>
          <p:cNvPr id="38" name="Shape 36"/>
          <p:cNvSpPr/>
          <p:nvPr/>
        </p:nvSpPr>
        <p:spPr>
          <a:xfrm>
            <a:off x="3794760" y="3941064"/>
            <a:ext cx="2631338" cy="566928"/>
          </a:xfrm>
          <a:prstGeom prst="rect">
            <a:avLst/>
          </a:prstGeom>
          <a:solidFill>
            <a:srgbClr val="0B0B0B"/>
          </a:solidFill>
          <a:ln w="12700">
            <a:solidFill>
              <a:srgbClr val="242424"/>
            </a:solidFill>
            <a:prstDash val="solid"/>
          </a:ln>
        </p:spPr>
      </p:sp>
      <p:sp>
        <p:nvSpPr>
          <p:cNvPr id="39" name="Text 37"/>
          <p:cNvSpPr/>
          <p:nvPr/>
        </p:nvSpPr>
        <p:spPr>
          <a:xfrm>
            <a:off x="3867912" y="3941064"/>
            <a:ext cx="248503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2</a:t>
            </a:r>
            <a:endParaRPr lang="en-US" sz="1100" dirty="0"/>
          </a:p>
        </p:txBody>
      </p:sp>
      <p:sp>
        <p:nvSpPr>
          <p:cNvPr id="40" name="Shape 38"/>
          <p:cNvSpPr/>
          <p:nvPr/>
        </p:nvSpPr>
        <p:spPr>
          <a:xfrm>
            <a:off x="6426098" y="3941064"/>
            <a:ext cx="2631338" cy="566928"/>
          </a:xfrm>
          <a:prstGeom prst="rect">
            <a:avLst/>
          </a:prstGeom>
          <a:solidFill>
            <a:srgbClr val="0B0B0B"/>
          </a:solidFill>
          <a:ln w="12700">
            <a:solidFill>
              <a:srgbClr val="242424"/>
            </a:solidFill>
            <a:prstDash val="solid"/>
          </a:ln>
        </p:spPr>
      </p:sp>
      <p:sp>
        <p:nvSpPr>
          <p:cNvPr id="41" name="Text 39"/>
          <p:cNvSpPr/>
          <p:nvPr/>
        </p:nvSpPr>
        <p:spPr>
          <a:xfrm>
            <a:off x="6499250" y="3941064"/>
            <a:ext cx="248503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2</a:t>
            </a:r>
            <a:endParaRPr lang="en-US" sz="1100" dirty="0"/>
          </a:p>
        </p:txBody>
      </p:sp>
      <p:sp>
        <p:nvSpPr>
          <p:cNvPr id="42" name="Shape 40"/>
          <p:cNvSpPr/>
          <p:nvPr/>
        </p:nvSpPr>
        <p:spPr>
          <a:xfrm>
            <a:off x="9057437" y="3941064"/>
            <a:ext cx="2631338" cy="566928"/>
          </a:xfrm>
          <a:prstGeom prst="rect">
            <a:avLst/>
          </a:prstGeom>
          <a:solidFill>
            <a:srgbClr val="0B0B0B"/>
          </a:solidFill>
          <a:ln w="12700">
            <a:solidFill>
              <a:srgbClr val="242424"/>
            </a:solidFill>
            <a:prstDash val="solid"/>
          </a:ln>
        </p:spPr>
      </p:sp>
      <p:sp>
        <p:nvSpPr>
          <p:cNvPr id="43" name="Text 41"/>
          <p:cNvSpPr/>
          <p:nvPr/>
        </p:nvSpPr>
        <p:spPr>
          <a:xfrm>
            <a:off x="9130589" y="3941064"/>
            <a:ext cx="248503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0</a:t>
            </a:r>
            <a:endParaRPr lang="en-US" sz="1100" dirty="0"/>
          </a:p>
        </p:txBody>
      </p:sp>
      <p:sp>
        <p:nvSpPr>
          <p:cNvPr id="44" name="Text 4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45" name="Text 4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46" name="Text 4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26 / 48</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23  CAPACIDAD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CÓMO EVALUAR EL NIVEL ACTUAL</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ASSESSMENT</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DE LA EVIDENCIA AL NIVEL</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Se evalúa cada proceso revisando si cumple las actividades de cada nivel, con evidencia (documentos, registros, entrevistas). No es una autopercepción: exige pruebas. El resultado es un nivel actual por objetivo, que comparado con el objetivo produce la brecha y el plan de mejora priorizado.</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EVIDENCIA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Documentos · registros · entrevistas · observación</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PRODUCE</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Mapa de brechas y plan de mejora</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27 / 48</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24  CAPACIDAD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CUÁNTO GOBIERNO ES SUFICIENTE</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NIVEL 3</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suele bastar para objetivos importantes: proceso establecido y estándar</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500" dirty="0">
                <a:solidFill>
                  <a:srgbClr val="FFB000"/>
                </a:solidFill>
                <a:latin typeface="Arial Black" pitchFamily="34" charset="0"/>
                <a:ea typeface="Arial Black" pitchFamily="34" charset="-122"/>
                <a:cs typeface="Arial Black" pitchFamily="34" charset="-120"/>
              </a:rPr>
              <a:t>NIVEL 4–5</a:t>
            </a:r>
            <a:endParaRPr lang="en-US" sz="35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solo donde el riesgo lo justifica: medición y optimización cuestan caro</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GAP</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cerrar de 1 a 3 es más urgente que de 3 a 5 en lo crítico</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El nivel objetivo se elige por costo-beneficio: llevar la seguridad OT de nivel 1 a 3 rinde mucho; llevar un objetivo secundario de 3 a 5 rara vez se justifica. Gobernar es también no sobre-gobernar.</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28 / 48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04</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EL FLUJO DE DISEÑO</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Los cuatro pasos del COBIT Design Guide</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29 / 48</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29 / 48</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25  FLUJO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LOS CUATRO PASOS EN DETALLE</a:t>
            </a:r>
            <a:endParaRPr lang="en-US" sz="3300" dirty="0"/>
          </a:p>
        </p:txBody>
      </p:sp>
      <p:sp>
        <p:nvSpPr>
          <p:cNvPr id="4" name="Shape 2"/>
          <p:cNvSpPr/>
          <p:nvPr/>
        </p:nvSpPr>
        <p:spPr>
          <a:xfrm>
            <a:off x="502920" y="1783080"/>
            <a:ext cx="2625014"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01</a:t>
            </a:r>
            <a:endParaRPr lang="en-US" sz="2200" dirty="0"/>
          </a:p>
        </p:txBody>
      </p:sp>
      <p:sp>
        <p:nvSpPr>
          <p:cNvPr id="6" name="Text 4"/>
          <p:cNvSpPr/>
          <p:nvPr/>
        </p:nvSpPr>
        <p:spPr>
          <a:xfrm>
            <a:off x="649224"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CONTEXTO</a:t>
            </a:r>
            <a:endParaRPr lang="en-US" sz="1100" dirty="0"/>
          </a:p>
        </p:txBody>
      </p:sp>
      <p:sp>
        <p:nvSpPr>
          <p:cNvPr id="7" name="Text 5"/>
          <p:cNvSpPr/>
          <p:nvPr/>
        </p:nvSpPr>
        <p:spPr>
          <a:xfrm>
            <a:off x="649224"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Estrategia, metas, rol de TI.</a:t>
            </a:r>
            <a:endParaRPr lang="en-US" sz="1000" dirty="0"/>
          </a:p>
        </p:txBody>
      </p:sp>
      <p:sp>
        <p:nvSpPr>
          <p:cNvPr id="8" name="Shape 6"/>
          <p:cNvSpPr/>
          <p:nvPr/>
        </p:nvSpPr>
        <p:spPr>
          <a:xfrm>
            <a:off x="3356534" y="1783080"/>
            <a:ext cx="2625014"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3502838"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02</a:t>
            </a:r>
            <a:endParaRPr lang="en-US" sz="2200" dirty="0"/>
          </a:p>
        </p:txBody>
      </p:sp>
      <p:sp>
        <p:nvSpPr>
          <p:cNvPr id="10" name="Text 8"/>
          <p:cNvSpPr/>
          <p:nvPr/>
        </p:nvSpPr>
        <p:spPr>
          <a:xfrm>
            <a:off x="3502838"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ALCANCE INICIAL</a:t>
            </a:r>
            <a:endParaRPr lang="en-US" sz="1100" dirty="0"/>
          </a:p>
        </p:txBody>
      </p:sp>
      <p:sp>
        <p:nvSpPr>
          <p:cNvPr id="11" name="Text 9"/>
          <p:cNvSpPr/>
          <p:nvPr/>
        </p:nvSpPr>
        <p:spPr>
          <a:xfrm>
            <a:off x="3502838"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Aplicar factores 1–4.</a:t>
            </a:r>
            <a:endParaRPr lang="en-US" sz="1000" dirty="0"/>
          </a:p>
        </p:txBody>
      </p:sp>
      <p:sp>
        <p:nvSpPr>
          <p:cNvPr id="12" name="Shape 10"/>
          <p:cNvSpPr/>
          <p:nvPr/>
        </p:nvSpPr>
        <p:spPr>
          <a:xfrm>
            <a:off x="6210148" y="1783080"/>
            <a:ext cx="2625014"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6356452"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03</a:t>
            </a:r>
            <a:endParaRPr lang="en-US" sz="2200" dirty="0"/>
          </a:p>
        </p:txBody>
      </p:sp>
      <p:sp>
        <p:nvSpPr>
          <p:cNvPr id="14" name="Text 12"/>
          <p:cNvSpPr/>
          <p:nvPr/>
        </p:nvSpPr>
        <p:spPr>
          <a:xfrm>
            <a:off x="6356452"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REFINAR ALCANCE</a:t>
            </a:r>
            <a:endParaRPr lang="en-US" sz="1100" dirty="0"/>
          </a:p>
        </p:txBody>
      </p:sp>
      <p:sp>
        <p:nvSpPr>
          <p:cNvPr id="15" name="Text 13"/>
          <p:cNvSpPr/>
          <p:nvPr/>
        </p:nvSpPr>
        <p:spPr>
          <a:xfrm>
            <a:off x="6356452"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Aplicar factores 5–10.</a:t>
            </a:r>
            <a:endParaRPr lang="en-US" sz="1000" dirty="0"/>
          </a:p>
        </p:txBody>
      </p:sp>
      <p:sp>
        <p:nvSpPr>
          <p:cNvPr id="16" name="Shape 14"/>
          <p:cNvSpPr/>
          <p:nvPr/>
        </p:nvSpPr>
        <p:spPr>
          <a:xfrm>
            <a:off x="9063761" y="1783080"/>
            <a:ext cx="2625014"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9210065" y="189280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04</a:t>
            </a:r>
            <a:endParaRPr lang="en-US" sz="2200" dirty="0"/>
          </a:p>
        </p:txBody>
      </p:sp>
      <p:sp>
        <p:nvSpPr>
          <p:cNvPr id="18" name="Text 16"/>
          <p:cNvSpPr/>
          <p:nvPr/>
        </p:nvSpPr>
        <p:spPr>
          <a:xfrm>
            <a:off x="9210065"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CONCLUIR</a:t>
            </a:r>
            <a:endParaRPr lang="en-US" sz="1100" dirty="0"/>
          </a:p>
        </p:txBody>
      </p:sp>
      <p:sp>
        <p:nvSpPr>
          <p:cNvPr id="19" name="Text 17"/>
          <p:cNvSpPr/>
          <p:nvPr/>
        </p:nvSpPr>
        <p:spPr>
          <a:xfrm>
            <a:off x="9210065"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Resolver conflictos y priorizar.</a:t>
            </a:r>
            <a:endParaRPr lang="en-US" sz="1000" dirty="0"/>
          </a:p>
        </p:txBody>
      </p:sp>
      <p:sp>
        <p:nvSpPr>
          <p:cNvPr id="20" name="Text 1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1" name="Text 1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22" name="Text 2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30 / 48</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26  FLUJO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PASO 1 — ENTENDER EL CONTEXTO</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PASO 1 / 4</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ANTES DE DECIDIR, COMPRENDER</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Se estudia la estrategia empresarial, las metas, el rol de la TI y el entorno. Sin este paso, los factores se llenan a ciegas. En un CPPS: entender el proceso productivo, la criticidad de la disponibilidad y la exposición OT es imprescindible.</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ENTRADAS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Estrategia · metas · rol de TI · entorno</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SALIDA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Comprensión documentada del contexto</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31 / 48</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27  FLUJO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PASO 2 — ALCANCE INICIAL</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PASO 2 / 4</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FACTORES 1 A 4</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Se aplican estrategia (F1), metas empresariales (F2), perfil de riesgo (F3) e issues de I&amp;T (F4). El toolkit sugiere un primer conjunto de objetivos con importancia relativa. Es el 'borrador' del alcance del sistema de gobierno.</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FACTORES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1 Estrategia · 2 Metas · 3 Riesgo · 4 Issues</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SALIDA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Alcance inicial con puntajes</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32 / 48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28  FLUJO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PASO 3 — REFINAR EL ALCANCE</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PASO 3 / 4</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FACTORES 5 A 10</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Se refina con panorama de amenazas (F5), cumplimiento (F6), rol de TI (F7), aprovisionamiento (F8), métodos de implementación (F9) y adopción tecnológica (F10). En un CPPS, F5 y F8 suelen reforzar seguridad y gestión de terceros.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FACTORES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5 Amenazas · 6 Cumplimiento · 7 Rol · 8 Sourcing · 9 Métodos · 10 Adopción</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SALIDA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Alcance refinado y priorizado</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33 / 48</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29  FLUJO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PASO 4 — CONCLUIR EL DISEÑO</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PASO 4 / 4</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RESOLVER Y PRIORIZAR</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Se consolidan las sugerencias, se resuelven conflictos (factores que empujan en direcciones opuestas) con juicio directivo, y se fija el alcance final con niveles de capacidad objetivo por objetivo. El resultado es el sistema de gobierno a medida, listo para implementar por fases.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DECISIONES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Priorización · niveles objetivo · fases</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SALIDA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Sistema de gobierno a medida</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34 / 48</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30  FLUJO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TOOLKIT DE DISEÑO (CANVAS)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COBIT provee una hoja de cálculo que traduce factores en sugerencias.</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ENTRADA</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Se puntúan los 11 factores según el contexto de la empresa.</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CÁLCULO</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toolkit pondera cada factor y genera un puntaje por objetivo.</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SALIDA</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Mapa de calor de objetivos priorizados y niveles sugeridos.</a:t>
            </a:r>
            <a:endParaRPr lang="en-US" sz="1100" dirty="0"/>
          </a:p>
        </p:txBody>
      </p:sp>
      <p:sp>
        <p:nvSpPr>
          <p:cNvPr id="14" name="Text 1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5" name="Text 1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6" name="Text 1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35 / 48</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31  FLUJO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RESOLVER CONFLICTOS ENTRE FACTORES</a:t>
            </a:r>
            <a:endParaRPr lang="en-US" sz="3300" dirty="0"/>
          </a:p>
        </p:txBody>
      </p:sp>
      <p:sp>
        <p:nvSpPr>
          <p:cNvPr id="4" name="Shape 2"/>
          <p:cNvSpPr/>
          <p:nvPr/>
        </p:nvSpPr>
        <p:spPr>
          <a:xfrm>
            <a:off x="502920" y="1783080"/>
            <a:ext cx="4206240" cy="457200"/>
          </a:xfrm>
          <a:prstGeom prst="rect">
            <a:avLst/>
          </a:prstGeom>
          <a:solidFill>
            <a:srgbClr val="1E1E1E"/>
          </a:solidFill>
          <a:ln w="12700">
            <a:solidFill>
              <a:srgbClr val="333333"/>
            </a:solidFill>
            <a:prstDash val="solid"/>
          </a:ln>
        </p:spPr>
      </p:sp>
      <p:sp>
        <p:nvSpPr>
          <p:cNvPr id="5" name="Text 3"/>
          <p:cNvSpPr/>
          <p:nvPr/>
        </p:nvSpPr>
        <p:spPr>
          <a:xfrm>
            <a:off x="576072" y="1783080"/>
            <a:ext cx="405993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CONFLICTO TÍPICO</a:t>
            </a:r>
            <a:endParaRPr lang="en-US" sz="1050" dirty="0"/>
          </a:p>
        </p:txBody>
      </p:sp>
      <p:sp>
        <p:nvSpPr>
          <p:cNvPr id="6" name="Shape 4"/>
          <p:cNvSpPr/>
          <p:nvPr/>
        </p:nvSpPr>
        <p:spPr>
          <a:xfrm>
            <a:off x="4709160" y="1783080"/>
            <a:ext cx="6979615" cy="457200"/>
          </a:xfrm>
          <a:prstGeom prst="rect">
            <a:avLst/>
          </a:prstGeom>
          <a:solidFill>
            <a:srgbClr val="1E1E1E"/>
          </a:solidFill>
          <a:ln w="12700">
            <a:solidFill>
              <a:srgbClr val="333333"/>
            </a:solidFill>
            <a:prstDash val="solid"/>
          </a:ln>
        </p:spPr>
      </p:sp>
      <p:sp>
        <p:nvSpPr>
          <p:cNvPr id="7" name="Text 5"/>
          <p:cNvSpPr/>
          <p:nvPr/>
        </p:nvSpPr>
        <p:spPr>
          <a:xfrm>
            <a:off x="4782312" y="1783080"/>
            <a:ext cx="6833311"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RESOLUCIÓN DE GOBIERNO</a:t>
            </a:r>
            <a:endParaRPr lang="en-US" sz="1050" dirty="0"/>
          </a:p>
        </p:txBody>
      </p:sp>
      <p:sp>
        <p:nvSpPr>
          <p:cNvPr id="8" name="Shape 6"/>
          <p:cNvSpPr/>
          <p:nvPr/>
        </p:nvSpPr>
        <p:spPr>
          <a:xfrm>
            <a:off x="502920" y="2240280"/>
            <a:ext cx="4206240" cy="566928"/>
          </a:xfrm>
          <a:prstGeom prst="rect">
            <a:avLst/>
          </a:prstGeom>
          <a:solidFill>
            <a:srgbClr val="151515"/>
          </a:solidFill>
          <a:ln w="12700">
            <a:solidFill>
              <a:srgbClr val="242424"/>
            </a:solidFill>
            <a:prstDash val="solid"/>
          </a:ln>
        </p:spPr>
      </p:sp>
      <p:sp>
        <p:nvSpPr>
          <p:cNvPr id="9" name="Text 7"/>
          <p:cNvSpPr/>
          <p:nvPr/>
        </p:nvSpPr>
        <p:spPr>
          <a:xfrm>
            <a:off x="576072" y="2240280"/>
            <a:ext cx="40599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Innovación (F1) vs riesgo alto (F3)</a:t>
            </a:r>
            <a:endParaRPr lang="en-US" sz="1150" dirty="0"/>
          </a:p>
        </p:txBody>
      </p:sp>
      <p:sp>
        <p:nvSpPr>
          <p:cNvPr id="10" name="Shape 8"/>
          <p:cNvSpPr/>
          <p:nvPr/>
        </p:nvSpPr>
        <p:spPr>
          <a:xfrm>
            <a:off x="4709160" y="2240280"/>
            <a:ext cx="6979615" cy="566928"/>
          </a:xfrm>
          <a:prstGeom prst="rect">
            <a:avLst/>
          </a:prstGeom>
          <a:solidFill>
            <a:srgbClr val="151515"/>
          </a:solidFill>
          <a:ln w="12700">
            <a:solidFill>
              <a:srgbClr val="242424"/>
            </a:solidFill>
            <a:prstDash val="solid"/>
          </a:ln>
        </p:spPr>
      </p:sp>
      <p:sp>
        <p:nvSpPr>
          <p:cNvPr id="11" name="Text 9"/>
          <p:cNvSpPr/>
          <p:nvPr/>
        </p:nvSpPr>
        <p:spPr>
          <a:xfrm>
            <a:off x="4782312" y="2240280"/>
            <a:ext cx="6833311"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Innovar en entorno acotado y seguro</a:t>
            </a:r>
            <a:endParaRPr lang="en-US" sz="1100" dirty="0"/>
          </a:p>
        </p:txBody>
      </p:sp>
      <p:sp>
        <p:nvSpPr>
          <p:cNvPr id="12" name="Shape 10"/>
          <p:cNvSpPr/>
          <p:nvPr/>
        </p:nvSpPr>
        <p:spPr>
          <a:xfrm>
            <a:off x="502920" y="2807208"/>
            <a:ext cx="4206240" cy="566928"/>
          </a:xfrm>
          <a:prstGeom prst="rect">
            <a:avLst/>
          </a:prstGeom>
          <a:solidFill>
            <a:srgbClr val="0B0B0B"/>
          </a:solidFill>
          <a:ln w="12700">
            <a:solidFill>
              <a:srgbClr val="242424"/>
            </a:solidFill>
            <a:prstDash val="solid"/>
          </a:ln>
        </p:spPr>
      </p:sp>
      <p:sp>
        <p:nvSpPr>
          <p:cNvPr id="13" name="Text 11"/>
          <p:cNvSpPr/>
          <p:nvPr/>
        </p:nvSpPr>
        <p:spPr>
          <a:xfrm>
            <a:off x="576072" y="2807208"/>
            <a:ext cx="40599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Nube (F8) vs cumplimiento (F6)</a:t>
            </a:r>
            <a:endParaRPr lang="en-US" sz="1150" dirty="0"/>
          </a:p>
        </p:txBody>
      </p:sp>
      <p:sp>
        <p:nvSpPr>
          <p:cNvPr id="14" name="Shape 12"/>
          <p:cNvSpPr/>
          <p:nvPr/>
        </p:nvSpPr>
        <p:spPr>
          <a:xfrm>
            <a:off x="4709160" y="2807208"/>
            <a:ext cx="6979615" cy="566928"/>
          </a:xfrm>
          <a:prstGeom prst="rect">
            <a:avLst/>
          </a:prstGeom>
          <a:solidFill>
            <a:srgbClr val="0B0B0B"/>
          </a:solidFill>
          <a:ln w="12700">
            <a:solidFill>
              <a:srgbClr val="242424"/>
            </a:solidFill>
            <a:prstDash val="solid"/>
          </a:ln>
        </p:spPr>
      </p:sp>
      <p:sp>
        <p:nvSpPr>
          <p:cNvPr id="15" name="Text 13"/>
          <p:cNvSpPr/>
          <p:nvPr/>
        </p:nvSpPr>
        <p:spPr>
          <a:xfrm>
            <a:off x="4782312" y="2807208"/>
            <a:ext cx="6833311"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Datos sensibles en planta; resto en nube</a:t>
            </a:r>
            <a:endParaRPr lang="en-US" sz="1100" dirty="0"/>
          </a:p>
        </p:txBody>
      </p:sp>
      <p:sp>
        <p:nvSpPr>
          <p:cNvPr id="16" name="Shape 14"/>
          <p:cNvSpPr/>
          <p:nvPr/>
        </p:nvSpPr>
        <p:spPr>
          <a:xfrm>
            <a:off x="502920" y="3374136"/>
            <a:ext cx="4206240" cy="566928"/>
          </a:xfrm>
          <a:prstGeom prst="rect">
            <a:avLst/>
          </a:prstGeom>
          <a:solidFill>
            <a:srgbClr val="151515"/>
          </a:solidFill>
          <a:ln w="12700">
            <a:solidFill>
              <a:srgbClr val="242424"/>
            </a:solidFill>
            <a:prstDash val="solid"/>
          </a:ln>
        </p:spPr>
      </p:sp>
      <p:sp>
        <p:nvSpPr>
          <p:cNvPr id="17" name="Text 15"/>
          <p:cNvSpPr/>
          <p:nvPr/>
        </p:nvSpPr>
        <p:spPr>
          <a:xfrm>
            <a:off x="576072" y="3374136"/>
            <a:ext cx="40599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Ágil (F9) vs continuidad (F7)</a:t>
            </a:r>
            <a:endParaRPr lang="en-US" sz="1150" dirty="0"/>
          </a:p>
        </p:txBody>
      </p:sp>
      <p:sp>
        <p:nvSpPr>
          <p:cNvPr id="18" name="Shape 16"/>
          <p:cNvSpPr/>
          <p:nvPr/>
        </p:nvSpPr>
        <p:spPr>
          <a:xfrm>
            <a:off x="4709160" y="3374136"/>
            <a:ext cx="6979615" cy="566928"/>
          </a:xfrm>
          <a:prstGeom prst="rect">
            <a:avLst/>
          </a:prstGeom>
          <a:solidFill>
            <a:srgbClr val="151515"/>
          </a:solidFill>
          <a:ln w="12700">
            <a:solidFill>
              <a:srgbClr val="242424"/>
            </a:solidFill>
            <a:prstDash val="solid"/>
          </a:ln>
        </p:spPr>
      </p:sp>
      <p:sp>
        <p:nvSpPr>
          <p:cNvPr id="19" name="Text 17"/>
          <p:cNvSpPr/>
          <p:nvPr/>
        </p:nvSpPr>
        <p:spPr>
          <a:xfrm>
            <a:off x="4782312" y="3374136"/>
            <a:ext cx="6833311"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Ágil en IT, controlado en OT</a:t>
            </a:r>
            <a:endParaRPr lang="en-US" sz="1100" dirty="0"/>
          </a:p>
        </p:txBody>
      </p:sp>
      <p:sp>
        <p:nvSpPr>
          <p:cNvPr id="20" name="Text 1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1" name="Text 1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22" name="Text 2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36 / 48</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05</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DISEÑO PARA UN SISTEMA CIBER-FÍSICO</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Los factores aplicados al piso de planta</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37 / 48</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37 / 48</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32  APLICACIÓN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CASO — PLANTA DE ALIMENTOS MEDIANA</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CASO COMPLETO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DE FACTORES A SISTEMA DE GOBIERNO</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Estrategia costo+calidad (F1), riesgo alto en continuidad y seguridad (F3, F5), cumplimiento de exportación (F6), rol de TI 'fábrica' (F7), aprovisionamiento híbrido con integradores (F8), pyme seguidora (F10, F11). El diseño prioriza EDM03, APO12, APO13, DSS04, DSS05, APO14, MEA03, con niveles objetivo 3 en los críticos.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ALCANCE FINAL</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7 objetivos priorizados · niveles 2–3</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IMPLEMENTACIÓN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Por fases, empezando por riesgo/seguridad</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38 / 48</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33  APLICACIÓN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PERFIL DE FACTORES DE UNA MANUFACTURA</a:t>
            </a:r>
            <a:endParaRPr lang="en-US" sz="3000" dirty="0"/>
          </a:p>
        </p:txBody>
      </p:sp>
      <p:sp>
        <p:nvSpPr>
          <p:cNvPr id="4" name="Shape 2"/>
          <p:cNvSpPr/>
          <p:nvPr/>
        </p:nvSpPr>
        <p:spPr>
          <a:xfrm>
            <a:off x="502920" y="1783080"/>
            <a:ext cx="3291840" cy="457200"/>
          </a:xfrm>
          <a:prstGeom prst="rect">
            <a:avLst/>
          </a:prstGeom>
          <a:solidFill>
            <a:srgbClr val="1E1E1E"/>
          </a:solidFill>
          <a:ln w="12700">
            <a:solidFill>
              <a:srgbClr val="333333"/>
            </a:solidFill>
            <a:prstDash val="solid"/>
          </a:ln>
        </p:spPr>
      </p:sp>
      <p:sp>
        <p:nvSpPr>
          <p:cNvPr id="5" name="Text 3"/>
          <p:cNvSpPr/>
          <p:nvPr/>
        </p:nvSpPr>
        <p:spPr>
          <a:xfrm>
            <a:off x="576072" y="1783080"/>
            <a:ext cx="314553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FACTOR</a:t>
            </a:r>
            <a:endParaRPr lang="en-US" sz="1050" dirty="0"/>
          </a:p>
        </p:txBody>
      </p:sp>
      <p:sp>
        <p:nvSpPr>
          <p:cNvPr id="6" name="Shape 4"/>
          <p:cNvSpPr/>
          <p:nvPr/>
        </p:nvSpPr>
        <p:spPr>
          <a:xfrm>
            <a:off x="3794760" y="1783080"/>
            <a:ext cx="3947008" cy="457200"/>
          </a:xfrm>
          <a:prstGeom prst="rect">
            <a:avLst/>
          </a:prstGeom>
          <a:solidFill>
            <a:srgbClr val="1E1E1E"/>
          </a:solidFill>
          <a:ln w="12700">
            <a:solidFill>
              <a:srgbClr val="333333"/>
            </a:solidFill>
            <a:prstDash val="solid"/>
          </a:ln>
        </p:spPr>
      </p:sp>
      <p:sp>
        <p:nvSpPr>
          <p:cNvPr id="7" name="Text 5"/>
          <p:cNvSpPr/>
          <p:nvPr/>
        </p:nvSpPr>
        <p:spPr>
          <a:xfrm>
            <a:off x="3867912" y="1783080"/>
            <a:ext cx="38007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VALOR TÍPICO</a:t>
            </a:r>
            <a:endParaRPr lang="en-US" sz="1050" dirty="0"/>
          </a:p>
        </p:txBody>
      </p:sp>
      <p:sp>
        <p:nvSpPr>
          <p:cNvPr id="8" name="Shape 6"/>
          <p:cNvSpPr/>
          <p:nvPr/>
        </p:nvSpPr>
        <p:spPr>
          <a:xfrm>
            <a:off x="7741768" y="1783080"/>
            <a:ext cx="3947008" cy="457200"/>
          </a:xfrm>
          <a:prstGeom prst="rect">
            <a:avLst/>
          </a:prstGeom>
          <a:solidFill>
            <a:srgbClr val="1E1E1E"/>
          </a:solidFill>
          <a:ln w="12700">
            <a:solidFill>
              <a:srgbClr val="333333"/>
            </a:solidFill>
            <a:prstDash val="solid"/>
          </a:ln>
        </p:spPr>
      </p:sp>
      <p:sp>
        <p:nvSpPr>
          <p:cNvPr id="9" name="Text 7"/>
          <p:cNvSpPr/>
          <p:nvPr/>
        </p:nvSpPr>
        <p:spPr>
          <a:xfrm>
            <a:off x="7814920" y="1783080"/>
            <a:ext cx="38007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EFECTO</a:t>
            </a:r>
            <a:endParaRPr lang="en-US" sz="1050" dirty="0"/>
          </a:p>
        </p:txBody>
      </p:sp>
      <p:sp>
        <p:nvSpPr>
          <p:cNvPr id="10" name="Shape 8"/>
          <p:cNvSpPr/>
          <p:nvPr/>
        </p:nvSpPr>
        <p:spPr>
          <a:xfrm>
            <a:off x="502920" y="2240280"/>
            <a:ext cx="3291840" cy="566928"/>
          </a:xfrm>
          <a:prstGeom prst="rect">
            <a:avLst/>
          </a:prstGeom>
          <a:solidFill>
            <a:srgbClr val="151515"/>
          </a:solidFill>
          <a:ln w="12700">
            <a:solidFill>
              <a:srgbClr val="242424"/>
            </a:solidFill>
            <a:prstDash val="solid"/>
          </a:ln>
        </p:spPr>
      </p:sp>
      <p:sp>
        <p:nvSpPr>
          <p:cNvPr id="11" name="Text 9"/>
          <p:cNvSpPr/>
          <p:nvPr/>
        </p:nvSpPr>
        <p:spPr>
          <a:xfrm>
            <a:off x="576072" y="2240280"/>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Estrategia (F1)</a:t>
            </a:r>
            <a:endParaRPr lang="en-US" sz="1150" dirty="0"/>
          </a:p>
        </p:txBody>
      </p:sp>
      <p:sp>
        <p:nvSpPr>
          <p:cNvPr id="12" name="Shape 10"/>
          <p:cNvSpPr/>
          <p:nvPr/>
        </p:nvSpPr>
        <p:spPr>
          <a:xfrm>
            <a:off x="3794760" y="2240280"/>
            <a:ext cx="3947008" cy="566928"/>
          </a:xfrm>
          <a:prstGeom prst="rect">
            <a:avLst/>
          </a:prstGeom>
          <a:solidFill>
            <a:srgbClr val="151515"/>
          </a:solidFill>
          <a:ln w="12700">
            <a:solidFill>
              <a:srgbClr val="242424"/>
            </a:solidFill>
            <a:prstDash val="solid"/>
          </a:ln>
        </p:spPr>
      </p:sp>
      <p:sp>
        <p:nvSpPr>
          <p:cNvPr id="13" name="Text 11"/>
          <p:cNvSpPr/>
          <p:nvPr/>
        </p:nvSpPr>
        <p:spPr>
          <a:xfrm>
            <a:off x="3867912" y="2240280"/>
            <a:ext cx="380070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Costo + calidad</a:t>
            </a:r>
            <a:endParaRPr lang="en-US" sz="1100" dirty="0"/>
          </a:p>
        </p:txBody>
      </p:sp>
      <p:sp>
        <p:nvSpPr>
          <p:cNvPr id="14" name="Shape 12"/>
          <p:cNvSpPr/>
          <p:nvPr/>
        </p:nvSpPr>
        <p:spPr>
          <a:xfrm>
            <a:off x="7741768" y="2240280"/>
            <a:ext cx="3947008" cy="566928"/>
          </a:xfrm>
          <a:prstGeom prst="rect">
            <a:avLst/>
          </a:prstGeom>
          <a:solidFill>
            <a:srgbClr val="151515"/>
          </a:solidFill>
          <a:ln w="12700">
            <a:solidFill>
              <a:srgbClr val="242424"/>
            </a:solidFill>
            <a:prstDash val="solid"/>
          </a:ln>
        </p:spPr>
      </p:sp>
      <p:sp>
        <p:nvSpPr>
          <p:cNvPr id="15" name="Text 13"/>
          <p:cNvSpPr/>
          <p:nvPr/>
        </p:nvSpPr>
        <p:spPr>
          <a:xfrm>
            <a:off x="7814920" y="2240280"/>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Eficiencia, continuidad</a:t>
            </a:r>
            <a:endParaRPr lang="en-US" sz="1100" dirty="0"/>
          </a:p>
        </p:txBody>
      </p:sp>
      <p:sp>
        <p:nvSpPr>
          <p:cNvPr id="16" name="Shape 14"/>
          <p:cNvSpPr/>
          <p:nvPr/>
        </p:nvSpPr>
        <p:spPr>
          <a:xfrm>
            <a:off x="502920" y="2807208"/>
            <a:ext cx="3291840" cy="566928"/>
          </a:xfrm>
          <a:prstGeom prst="rect">
            <a:avLst/>
          </a:prstGeom>
          <a:solidFill>
            <a:srgbClr val="0B0B0B"/>
          </a:solidFill>
          <a:ln w="12700">
            <a:solidFill>
              <a:srgbClr val="242424"/>
            </a:solidFill>
            <a:prstDash val="solid"/>
          </a:ln>
        </p:spPr>
      </p:sp>
      <p:sp>
        <p:nvSpPr>
          <p:cNvPr id="17" name="Text 15"/>
          <p:cNvSpPr/>
          <p:nvPr/>
        </p:nvSpPr>
        <p:spPr>
          <a:xfrm>
            <a:off x="576072" y="2807208"/>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Amenazas (F5)</a:t>
            </a:r>
            <a:endParaRPr lang="en-US" sz="1150" dirty="0"/>
          </a:p>
        </p:txBody>
      </p:sp>
      <p:sp>
        <p:nvSpPr>
          <p:cNvPr id="18" name="Shape 16"/>
          <p:cNvSpPr/>
          <p:nvPr/>
        </p:nvSpPr>
        <p:spPr>
          <a:xfrm>
            <a:off x="3794760" y="2807208"/>
            <a:ext cx="3947008" cy="566928"/>
          </a:xfrm>
          <a:prstGeom prst="rect">
            <a:avLst/>
          </a:prstGeom>
          <a:solidFill>
            <a:srgbClr val="0B0B0B"/>
          </a:solidFill>
          <a:ln w="12700">
            <a:solidFill>
              <a:srgbClr val="242424"/>
            </a:solidFill>
            <a:prstDash val="solid"/>
          </a:ln>
        </p:spPr>
      </p:sp>
      <p:sp>
        <p:nvSpPr>
          <p:cNvPr id="19" name="Text 17"/>
          <p:cNvSpPr/>
          <p:nvPr/>
        </p:nvSpPr>
        <p:spPr>
          <a:xfrm>
            <a:off x="3867912" y="2807208"/>
            <a:ext cx="380070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Alto (OT)</a:t>
            </a:r>
            <a:endParaRPr lang="en-US" sz="1100" dirty="0"/>
          </a:p>
        </p:txBody>
      </p:sp>
      <p:sp>
        <p:nvSpPr>
          <p:cNvPr id="20" name="Shape 18"/>
          <p:cNvSpPr/>
          <p:nvPr/>
        </p:nvSpPr>
        <p:spPr>
          <a:xfrm>
            <a:off x="7741768" y="2807208"/>
            <a:ext cx="3947008" cy="566928"/>
          </a:xfrm>
          <a:prstGeom prst="rect">
            <a:avLst/>
          </a:prstGeom>
          <a:solidFill>
            <a:srgbClr val="0B0B0B"/>
          </a:solidFill>
          <a:ln w="12700">
            <a:solidFill>
              <a:srgbClr val="242424"/>
            </a:solidFill>
            <a:prstDash val="solid"/>
          </a:ln>
        </p:spPr>
      </p:sp>
      <p:sp>
        <p:nvSpPr>
          <p:cNvPr id="21" name="Text 19"/>
          <p:cNvSpPr/>
          <p:nvPr/>
        </p:nvSpPr>
        <p:spPr>
          <a:xfrm>
            <a:off x="7814920" y="2807208"/>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Seguridad arriba</a:t>
            </a:r>
            <a:endParaRPr lang="en-US" sz="1100" dirty="0"/>
          </a:p>
        </p:txBody>
      </p:sp>
      <p:sp>
        <p:nvSpPr>
          <p:cNvPr id="22" name="Shape 20"/>
          <p:cNvSpPr/>
          <p:nvPr/>
        </p:nvSpPr>
        <p:spPr>
          <a:xfrm>
            <a:off x="502920" y="3374136"/>
            <a:ext cx="3291840" cy="566928"/>
          </a:xfrm>
          <a:prstGeom prst="rect">
            <a:avLst/>
          </a:prstGeom>
          <a:solidFill>
            <a:srgbClr val="151515"/>
          </a:solidFill>
          <a:ln w="12700">
            <a:solidFill>
              <a:srgbClr val="242424"/>
            </a:solidFill>
            <a:prstDash val="solid"/>
          </a:ln>
        </p:spPr>
      </p:sp>
      <p:sp>
        <p:nvSpPr>
          <p:cNvPr id="23" name="Text 21"/>
          <p:cNvSpPr/>
          <p:nvPr/>
        </p:nvSpPr>
        <p:spPr>
          <a:xfrm>
            <a:off x="576072" y="3374136"/>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Rol TI (F7)</a:t>
            </a:r>
            <a:endParaRPr lang="en-US" sz="1150" dirty="0"/>
          </a:p>
        </p:txBody>
      </p:sp>
      <p:sp>
        <p:nvSpPr>
          <p:cNvPr id="24" name="Shape 22"/>
          <p:cNvSpPr/>
          <p:nvPr/>
        </p:nvSpPr>
        <p:spPr>
          <a:xfrm>
            <a:off x="3794760" y="3374136"/>
            <a:ext cx="3947008" cy="566928"/>
          </a:xfrm>
          <a:prstGeom prst="rect">
            <a:avLst/>
          </a:prstGeom>
          <a:solidFill>
            <a:srgbClr val="151515"/>
          </a:solidFill>
          <a:ln w="12700">
            <a:solidFill>
              <a:srgbClr val="242424"/>
            </a:solidFill>
            <a:prstDash val="solid"/>
          </a:ln>
        </p:spPr>
      </p:sp>
      <p:sp>
        <p:nvSpPr>
          <p:cNvPr id="25" name="Text 23"/>
          <p:cNvSpPr/>
          <p:nvPr/>
        </p:nvSpPr>
        <p:spPr>
          <a:xfrm>
            <a:off x="3867912" y="3374136"/>
            <a:ext cx="380070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Fábrica</a:t>
            </a:r>
            <a:endParaRPr lang="en-US" sz="1100" dirty="0"/>
          </a:p>
        </p:txBody>
      </p:sp>
      <p:sp>
        <p:nvSpPr>
          <p:cNvPr id="26" name="Shape 24"/>
          <p:cNvSpPr/>
          <p:nvPr/>
        </p:nvSpPr>
        <p:spPr>
          <a:xfrm>
            <a:off x="7741768" y="3374136"/>
            <a:ext cx="3947008" cy="566928"/>
          </a:xfrm>
          <a:prstGeom prst="rect">
            <a:avLst/>
          </a:prstGeom>
          <a:solidFill>
            <a:srgbClr val="151515"/>
          </a:solidFill>
          <a:ln w="12700">
            <a:solidFill>
              <a:srgbClr val="242424"/>
            </a:solidFill>
            <a:prstDash val="solid"/>
          </a:ln>
        </p:spPr>
      </p:sp>
      <p:sp>
        <p:nvSpPr>
          <p:cNvPr id="27" name="Text 25"/>
          <p:cNvSpPr/>
          <p:nvPr/>
        </p:nvSpPr>
        <p:spPr>
          <a:xfrm>
            <a:off x="7814920" y="3374136"/>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Disponibilidad crítica</a:t>
            </a:r>
            <a:endParaRPr lang="en-US" sz="1100" dirty="0"/>
          </a:p>
        </p:txBody>
      </p:sp>
      <p:sp>
        <p:nvSpPr>
          <p:cNvPr id="28" name="Shape 26"/>
          <p:cNvSpPr/>
          <p:nvPr/>
        </p:nvSpPr>
        <p:spPr>
          <a:xfrm>
            <a:off x="502920" y="3941064"/>
            <a:ext cx="3291840" cy="566928"/>
          </a:xfrm>
          <a:prstGeom prst="rect">
            <a:avLst/>
          </a:prstGeom>
          <a:solidFill>
            <a:srgbClr val="0B0B0B"/>
          </a:solidFill>
          <a:ln w="12700">
            <a:solidFill>
              <a:srgbClr val="242424"/>
            </a:solidFill>
            <a:prstDash val="solid"/>
          </a:ln>
        </p:spPr>
      </p:sp>
      <p:sp>
        <p:nvSpPr>
          <p:cNvPr id="29" name="Text 27"/>
          <p:cNvSpPr/>
          <p:nvPr/>
        </p:nvSpPr>
        <p:spPr>
          <a:xfrm>
            <a:off x="576072" y="3941064"/>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Tamaño (F11)</a:t>
            </a:r>
            <a:endParaRPr lang="en-US" sz="1150" dirty="0"/>
          </a:p>
        </p:txBody>
      </p:sp>
      <p:sp>
        <p:nvSpPr>
          <p:cNvPr id="30" name="Shape 28"/>
          <p:cNvSpPr/>
          <p:nvPr/>
        </p:nvSpPr>
        <p:spPr>
          <a:xfrm>
            <a:off x="3794760" y="3941064"/>
            <a:ext cx="3947008" cy="566928"/>
          </a:xfrm>
          <a:prstGeom prst="rect">
            <a:avLst/>
          </a:prstGeom>
          <a:solidFill>
            <a:srgbClr val="0B0B0B"/>
          </a:solidFill>
          <a:ln w="12700">
            <a:solidFill>
              <a:srgbClr val="242424"/>
            </a:solidFill>
            <a:prstDash val="solid"/>
          </a:ln>
        </p:spPr>
      </p:sp>
      <p:sp>
        <p:nvSpPr>
          <p:cNvPr id="31" name="Text 29"/>
          <p:cNvSpPr/>
          <p:nvPr/>
        </p:nvSpPr>
        <p:spPr>
          <a:xfrm>
            <a:off x="3867912" y="3941064"/>
            <a:ext cx="380070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Pyme</a:t>
            </a:r>
            <a:endParaRPr lang="en-US" sz="1100" dirty="0"/>
          </a:p>
        </p:txBody>
      </p:sp>
      <p:sp>
        <p:nvSpPr>
          <p:cNvPr id="32" name="Shape 30"/>
          <p:cNvSpPr/>
          <p:nvPr/>
        </p:nvSpPr>
        <p:spPr>
          <a:xfrm>
            <a:off x="7741768" y="3941064"/>
            <a:ext cx="3947008" cy="566928"/>
          </a:xfrm>
          <a:prstGeom prst="rect">
            <a:avLst/>
          </a:prstGeom>
          <a:solidFill>
            <a:srgbClr val="0B0B0B"/>
          </a:solidFill>
          <a:ln w="12700">
            <a:solidFill>
              <a:srgbClr val="242424"/>
            </a:solidFill>
            <a:prstDash val="solid"/>
          </a:ln>
        </p:spPr>
      </p:sp>
      <p:sp>
        <p:nvSpPr>
          <p:cNvPr id="33" name="Text 31"/>
          <p:cNvSpPr/>
          <p:nvPr/>
        </p:nvSpPr>
        <p:spPr>
          <a:xfrm>
            <a:off x="7814920" y="3941064"/>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Gobierno ligero</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39 / 48</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34  APLICACIÓN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POR QUÉ OT ELEVA EL DISEÑO</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La convergencia ciber-física mueve varios factores hacia el extremo crítico.</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AMENAZAS ALTAS</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OT conectada = superficie de ataque física. F5 casi siempre 'alto'.</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CONTINUIDAD CRÍTICA</a:t>
            </a:r>
            <a:endParaRPr lang="en-US" sz="13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rol de TI es 'fábrica': su caída detiene la producción. F7 al máximo.</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TERCEROS EN PLANTA</a:t>
            </a:r>
            <a:endParaRPr lang="en-US" sz="13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Integradores y fabricantes con acceso remoto. F8 híbrido, riesgo alto.</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CUMPLIMIENTO FÍSICO</a:t>
            </a:r>
            <a:endParaRPr lang="en-US" sz="13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Seguridad industrial y ambiental además de datos. F6 amplio.</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40 / 48</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35  APLICACIÓN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TALLER DE LA SESIÓN</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SEGUIMIENTO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DISEÑAR EL GOBIERNO DEL PROYECTO</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Para la empresa del proyecto: 1) puntúa cualitativamente los 11 factores de diseño. 2) A partir de la cascada de S03, selecciona el alcance final (6–10 objetivos). 3) Fija un nivel de capacidad objetivo por objetivo. 4) Estima el nivel actual y calcula la brecha. Entregable: mapa de calor de objetivos + tabla de brechas.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FORMATO</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Mapa de calor + tabla actual/objetivo/brecha</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COMPLETA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Entregable 1 (semana 5)</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41 / 48</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36  APLICACIÓN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ERRORES FRECUENTES DE DISEÑO</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NIVEL 5</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fijar todos los objetivos al máximo: costoso e injustificado</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200" dirty="0">
                <a:solidFill>
                  <a:srgbClr val="FFB000"/>
                </a:solidFill>
                <a:latin typeface="Arial Black" pitchFamily="34" charset="0"/>
                <a:ea typeface="Arial Black" pitchFamily="34" charset="-122"/>
                <a:cs typeface="Arial Black" pitchFamily="34" charset="-120"/>
              </a:rPr>
              <a:t>IGNORAR OT</a:t>
            </a:r>
            <a:endParaRPr lang="en-US" sz="32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diseñar solo para IT y dejar la planta sin objetivos de seguridad</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ESTÁTICO</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diseñar una vez y no revisar cuando cambia una amenaza o regulación</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El diseño a medida es dinámico y económico: niveles justificados, cobertura IT+OT y revisión periódica. Estos tres errores vacían de valor el esfuerzo de diseño.</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42 / 48</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06</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CIERRE</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Síntesis, glosario y referencias</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43 / 48</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43 / 48</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37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PUNTOS CLAVE PARA RECORDAR</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A MEDIDA</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El gobierno se diseña para la empresa; no se copia.</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11 FACTORES</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Contexto que moldea qué objetivos y a qué nivel.</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CAPACIDAD 0–5</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Por proceso (CMMI); el objetivo no siempre es 5.</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MADUREZ</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Por área de enfoque; agrega varios objetivos.</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4 PASOS</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Contexto, alcance inicial, refinar, concluir.</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44 / 48</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38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GLOSARIO ESENCIAL</a:t>
            </a:r>
            <a:endParaRPr lang="en-US" sz="3300" dirty="0"/>
          </a:p>
        </p:txBody>
      </p:sp>
      <p:sp>
        <p:nvSpPr>
          <p:cNvPr id="4" name="Shape 2"/>
          <p:cNvSpPr/>
          <p:nvPr/>
        </p:nvSpPr>
        <p:spPr>
          <a:xfrm>
            <a:off x="502920" y="1783080"/>
            <a:ext cx="5364328" cy="786384"/>
          </a:xfrm>
          <a:prstGeom prst="roundRect">
            <a:avLst>
              <a:gd name="adj" fmla="val 4651"/>
            </a:avLst>
          </a:prstGeom>
          <a:solidFill>
            <a:srgbClr val="151515"/>
          </a:solidFill>
          <a:ln w="12700">
            <a:solidFill>
              <a:srgbClr val="242424"/>
            </a:solidFill>
            <a:prstDash val="solid"/>
          </a:ln>
        </p:spPr>
      </p:sp>
      <p:sp>
        <p:nvSpPr>
          <p:cNvPr id="5" name="Text 3"/>
          <p:cNvSpPr/>
          <p:nvPr/>
        </p:nvSpPr>
        <p:spPr>
          <a:xfrm>
            <a:off x="667512" y="18562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Factor de diseño</a:t>
            </a:r>
            <a:endParaRPr lang="en-US" sz="1200" dirty="0"/>
          </a:p>
        </p:txBody>
      </p:sp>
      <p:sp>
        <p:nvSpPr>
          <p:cNvPr id="6" name="Text 4"/>
          <p:cNvSpPr/>
          <p:nvPr/>
        </p:nvSpPr>
        <p:spPr>
          <a:xfrm>
            <a:off x="667512" y="21671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Variable de contexto que moldea el sistema de gobierno.</a:t>
            </a:r>
            <a:endParaRPr lang="en-US" sz="1050" dirty="0"/>
          </a:p>
        </p:txBody>
      </p:sp>
      <p:sp>
        <p:nvSpPr>
          <p:cNvPr id="7" name="Shape 5"/>
          <p:cNvSpPr/>
          <p:nvPr/>
        </p:nvSpPr>
        <p:spPr>
          <a:xfrm>
            <a:off x="6324448" y="1783080"/>
            <a:ext cx="5364328" cy="786384"/>
          </a:xfrm>
          <a:prstGeom prst="roundRect">
            <a:avLst>
              <a:gd name="adj" fmla="val 4651"/>
            </a:avLst>
          </a:prstGeom>
          <a:solidFill>
            <a:srgbClr val="151515"/>
          </a:solidFill>
          <a:ln w="12700">
            <a:solidFill>
              <a:srgbClr val="242424"/>
            </a:solidFill>
            <a:prstDash val="solid"/>
          </a:ln>
        </p:spPr>
      </p:sp>
      <p:sp>
        <p:nvSpPr>
          <p:cNvPr id="8" name="Text 6"/>
          <p:cNvSpPr/>
          <p:nvPr/>
        </p:nvSpPr>
        <p:spPr>
          <a:xfrm>
            <a:off x="6489040" y="18562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Diseño a medida</a:t>
            </a:r>
            <a:endParaRPr lang="en-US" sz="1200" dirty="0"/>
          </a:p>
        </p:txBody>
      </p:sp>
      <p:sp>
        <p:nvSpPr>
          <p:cNvPr id="9" name="Text 7"/>
          <p:cNvSpPr/>
          <p:nvPr/>
        </p:nvSpPr>
        <p:spPr>
          <a:xfrm>
            <a:off x="6489040" y="21671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Selección y priorización de objetivos según el contexto.</a:t>
            </a:r>
            <a:endParaRPr lang="en-US" sz="1050" dirty="0"/>
          </a:p>
        </p:txBody>
      </p:sp>
      <p:sp>
        <p:nvSpPr>
          <p:cNvPr id="10" name="Shape 8"/>
          <p:cNvSpPr/>
          <p:nvPr/>
        </p:nvSpPr>
        <p:spPr>
          <a:xfrm>
            <a:off x="502920" y="2697480"/>
            <a:ext cx="5364328" cy="786384"/>
          </a:xfrm>
          <a:prstGeom prst="roundRect">
            <a:avLst>
              <a:gd name="adj" fmla="val 4651"/>
            </a:avLst>
          </a:prstGeom>
          <a:solidFill>
            <a:srgbClr val="151515"/>
          </a:solidFill>
          <a:ln w="12700">
            <a:solidFill>
              <a:srgbClr val="242424"/>
            </a:solidFill>
            <a:prstDash val="solid"/>
          </a:ln>
        </p:spPr>
      </p:sp>
      <p:sp>
        <p:nvSpPr>
          <p:cNvPr id="11" name="Text 9"/>
          <p:cNvSpPr/>
          <p:nvPr/>
        </p:nvSpPr>
        <p:spPr>
          <a:xfrm>
            <a:off x="667512" y="27706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Capacidad</a:t>
            </a:r>
            <a:endParaRPr lang="en-US" sz="1200" dirty="0"/>
          </a:p>
        </p:txBody>
      </p:sp>
      <p:sp>
        <p:nvSpPr>
          <p:cNvPr id="12" name="Text 10"/>
          <p:cNvSpPr/>
          <p:nvPr/>
        </p:nvSpPr>
        <p:spPr>
          <a:xfrm>
            <a:off x="667512" y="30815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Cuán bien un proceso logra su propósito (0–5).</a:t>
            </a:r>
            <a:endParaRPr lang="en-US" sz="1050" dirty="0"/>
          </a:p>
        </p:txBody>
      </p:sp>
      <p:sp>
        <p:nvSpPr>
          <p:cNvPr id="13" name="Shape 11"/>
          <p:cNvSpPr/>
          <p:nvPr/>
        </p:nvSpPr>
        <p:spPr>
          <a:xfrm>
            <a:off x="6324448" y="2697480"/>
            <a:ext cx="5364328" cy="786384"/>
          </a:xfrm>
          <a:prstGeom prst="roundRect">
            <a:avLst>
              <a:gd name="adj" fmla="val 4651"/>
            </a:avLst>
          </a:prstGeom>
          <a:solidFill>
            <a:srgbClr val="151515"/>
          </a:solidFill>
          <a:ln w="12700">
            <a:solidFill>
              <a:srgbClr val="242424"/>
            </a:solidFill>
            <a:prstDash val="solid"/>
          </a:ln>
        </p:spPr>
      </p:sp>
      <p:sp>
        <p:nvSpPr>
          <p:cNvPr id="14" name="Text 12"/>
          <p:cNvSpPr/>
          <p:nvPr/>
        </p:nvSpPr>
        <p:spPr>
          <a:xfrm>
            <a:off x="6489040" y="27706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Madurez</a:t>
            </a:r>
            <a:endParaRPr lang="en-US" sz="1200" dirty="0"/>
          </a:p>
        </p:txBody>
      </p:sp>
      <p:sp>
        <p:nvSpPr>
          <p:cNvPr id="15" name="Text 13"/>
          <p:cNvSpPr/>
          <p:nvPr/>
        </p:nvSpPr>
        <p:spPr>
          <a:xfrm>
            <a:off x="6489040" y="30815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Nivel agregado de un área de enfoque (0–5).</a:t>
            </a:r>
            <a:endParaRPr lang="en-US" sz="1050" dirty="0"/>
          </a:p>
        </p:txBody>
      </p:sp>
      <p:sp>
        <p:nvSpPr>
          <p:cNvPr id="16" name="Shape 14"/>
          <p:cNvSpPr/>
          <p:nvPr/>
        </p:nvSpPr>
        <p:spPr>
          <a:xfrm>
            <a:off x="502920" y="3611880"/>
            <a:ext cx="5364328" cy="786384"/>
          </a:xfrm>
          <a:prstGeom prst="roundRect">
            <a:avLst>
              <a:gd name="adj" fmla="val 4651"/>
            </a:avLst>
          </a:prstGeom>
          <a:solidFill>
            <a:srgbClr val="151515"/>
          </a:solidFill>
          <a:ln w="12700">
            <a:solidFill>
              <a:srgbClr val="242424"/>
            </a:solidFill>
            <a:prstDash val="solid"/>
          </a:ln>
        </p:spPr>
      </p:sp>
      <p:sp>
        <p:nvSpPr>
          <p:cNvPr id="17" name="Text 15"/>
          <p:cNvSpPr/>
          <p:nvPr/>
        </p:nvSpPr>
        <p:spPr>
          <a:xfrm>
            <a:off x="667512" y="36850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CMMI</a:t>
            </a:r>
            <a:endParaRPr lang="en-US" sz="1200" dirty="0"/>
          </a:p>
        </p:txBody>
      </p:sp>
      <p:sp>
        <p:nvSpPr>
          <p:cNvPr id="18" name="Text 16"/>
          <p:cNvSpPr/>
          <p:nvPr/>
        </p:nvSpPr>
        <p:spPr>
          <a:xfrm>
            <a:off x="667512" y="39959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Modelo base de los niveles de capacidad.</a:t>
            </a:r>
            <a:endParaRPr lang="en-US" sz="1050" dirty="0"/>
          </a:p>
        </p:txBody>
      </p:sp>
      <p:sp>
        <p:nvSpPr>
          <p:cNvPr id="19" name="Shape 17"/>
          <p:cNvSpPr/>
          <p:nvPr/>
        </p:nvSpPr>
        <p:spPr>
          <a:xfrm>
            <a:off x="6324448" y="3611880"/>
            <a:ext cx="5364328" cy="786384"/>
          </a:xfrm>
          <a:prstGeom prst="roundRect">
            <a:avLst>
              <a:gd name="adj" fmla="val 4651"/>
            </a:avLst>
          </a:prstGeom>
          <a:solidFill>
            <a:srgbClr val="151515"/>
          </a:solidFill>
          <a:ln w="12700">
            <a:solidFill>
              <a:srgbClr val="242424"/>
            </a:solidFill>
            <a:prstDash val="solid"/>
          </a:ln>
        </p:spPr>
      </p:sp>
      <p:sp>
        <p:nvSpPr>
          <p:cNvPr id="20" name="Text 18"/>
          <p:cNvSpPr/>
          <p:nvPr/>
        </p:nvSpPr>
        <p:spPr>
          <a:xfrm>
            <a:off x="6489040" y="36850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Brecha (gap)</a:t>
            </a:r>
            <a:endParaRPr lang="en-US" sz="1200" dirty="0"/>
          </a:p>
        </p:txBody>
      </p:sp>
      <p:sp>
        <p:nvSpPr>
          <p:cNvPr id="21" name="Text 19"/>
          <p:cNvSpPr/>
          <p:nvPr/>
        </p:nvSpPr>
        <p:spPr>
          <a:xfrm>
            <a:off x="6489040" y="39959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Diferencia entre nivel actual y objetivo.</a:t>
            </a:r>
            <a:endParaRPr lang="en-US" sz="1050" dirty="0"/>
          </a:p>
        </p:txBody>
      </p:sp>
      <p:sp>
        <p:nvSpPr>
          <p:cNvPr id="22" name="Shape 20"/>
          <p:cNvSpPr/>
          <p:nvPr/>
        </p:nvSpPr>
        <p:spPr>
          <a:xfrm>
            <a:off x="502920" y="4526280"/>
            <a:ext cx="5364328" cy="786384"/>
          </a:xfrm>
          <a:prstGeom prst="roundRect">
            <a:avLst>
              <a:gd name="adj" fmla="val 4651"/>
            </a:avLst>
          </a:prstGeom>
          <a:solidFill>
            <a:srgbClr val="151515"/>
          </a:solidFill>
          <a:ln w="12700">
            <a:solidFill>
              <a:srgbClr val="242424"/>
            </a:solidFill>
            <a:prstDash val="solid"/>
          </a:ln>
        </p:spPr>
      </p:sp>
      <p:sp>
        <p:nvSpPr>
          <p:cNvPr id="23" name="Text 21"/>
          <p:cNvSpPr/>
          <p:nvPr/>
        </p:nvSpPr>
        <p:spPr>
          <a:xfrm>
            <a:off x="667512" y="45994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Design Guide</a:t>
            </a:r>
            <a:endParaRPr lang="en-US" sz="1200" dirty="0"/>
          </a:p>
        </p:txBody>
      </p:sp>
      <p:sp>
        <p:nvSpPr>
          <p:cNvPr id="24" name="Text 22"/>
          <p:cNvSpPr/>
          <p:nvPr/>
        </p:nvSpPr>
        <p:spPr>
          <a:xfrm>
            <a:off x="667512" y="49103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Documento COBIT con el flujo y el toolkit de diseño.</a:t>
            </a:r>
            <a:endParaRPr lang="en-US" sz="1050" dirty="0"/>
          </a:p>
        </p:txBody>
      </p:sp>
      <p:sp>
        <p:nvSpPr>
          <p:cNvPr id="25" name="Shape 23"/>
          <p:cNvSpPr/>
          <p:nvPr/>
        </p:nvSpPr>
        <p:spPr>
          <a:xfrm>
            <a:off x="6324448" y="4526280"/>
            <a:ext cx="5364328" cy="786384"/>
          </a:xfrm>
          <a:prstGeom prst="roundRect">
            <a:avLst>
              <a:gd name="adj" fmla="val 4651"/>
            </a:avLst>
          </a:prstGeom>
          <a:solidFill>
            <a:srgbClr val="151515"/>
          </a:solidFill>
          <a:ln w="12700">
            <a:solidFill>
              <a:srgbClr val="242424"/>
            </a:solidFill>
            <a:prstDash val="solid"/>
          </a:ln>
        </p:spPr>
      </p:sp>
      <p:sp>
        <p:nvSpPr>
          <p:cNvPr id="26" name="Text 24"/>
          <p:cNvSpPr/>
          <p:nvPr/>
        </p:nvSpPr>
        <p:spPr>
          <a:xfrm>
            <a:off x="6489040" y="45994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Panorama de amenazas</a:t>
            </a:r>
            <a:endParaRPr lang="en-US" sz="1200" dirty="0"/>
          </a:p>
        </p:txBody>
      </p:sp>
      <p:sp>
        <p:nvSpPr>
          <p:cNvPr id="27" name="Text 25"/>
          <p:cNvSpPr/>
          <p:nvPr/>
        </p:nvSpPr>
        <p:spPr>
          <a:xfrm>
            <a:off x="6489040" y="49103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Factor 5: entorno de amenazas (normal/alto).</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45 / 48</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39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DÓNDE VAMOS — CIERRE DE LA UNIDAD 1</a:t>
            </a:r>
            <a:endParaRPr lang="en-US" sz="3000" dirty="0"/>
          </a:p>
        </p:txBody>
      </p:sp>
      <p:sp>
        <p:nvSpPr>
          <p:cNvPr id="4" name="Shape 2"/>
          <p:cNvSpPr/>
          <p:nvPr/>
        </p:nvSpPr>
        <p:spPr>
          <a:xfrm>
            <a:off x="502920" y="1783080"/>
            <a:ext cx="3576218"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S01</a:t>
            </a:r>
            <a:endParaRPr lang="en-US" sz="2200" dirty="0"/>
          </a:p>
        </p:txBody>
      </p:sp>
      <p:sp>
        <p:nvSpPr>
          <p:cNvPr id="6" name="Text 4"/>
          <p:cNvSpPr/>
          <p:nvPr/>
        </p:nvSpPr>
        <p:spPr>
          <a:xfrm>
            <a:off x="649224"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FUNDAMENTOS</a:t>
            </a:r>
            <a:endParaRPr lang="en-US" sz="1100" dirty="0"/>
          </a:p>
        </p:txBody>
      </p:sp>
      <p:sp>
        <p:nvSpPr>
          <p:cNvPr id="7" name="Text 5"/>
          <p:cNvSpPr/>
          <p:nvPr/>
        </p:nvSpPr>
        <p:spPr>
          <a:xfrm>
            <a:off x="649224"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Gobierno, IT/OT, CPPS.</a:t>
            </a:r>
            <a:endParaRPr lang="en-US" sz="1000" dirty="0"/>
          </a:p>
        </p:txBody>
      </p:sp>
      <p:sp>
        <p:nvSpPr>
          <p:cNvPr id="8" name="Shape 6"/>
          <p:cNvSpPr/>
          <p:nvPr/>
        </p:nvSpPr>
        <p:spPr>
          <a:xfrm>
            <a:off x="4307738" y="1783080"/>
            <a:ext cx="3576218"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4454042" y="18928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S02</a:t>
            </a:r>
            <a:endParaRPr lang="en-US" sz="2200" dirty="0"/>
          </a:p>
        </p:txBody>
      </p:sp>
      <p:sp>
        <p:nvSpPr>
          <p:cNvPr id="10" name="Text 8"/>
          <p:cNvSpPr/>
          <p:nvPr/>
        </p:nvSpPr>
        <p:spPr>
          <a:xfrm>
            <a:off x="4454042"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ISO 38500</a:t>
            </a:r>
            <a:endParaRPr lang="en-US" sz="1100" dirty="0"/>
          </a:p>
        </p:txBody>
      </p:sp>
      <p:sp>
        <p:nvSpPr>
          <p:cNvPr id="11" name="Text 9"/>
          <p:cNvSpPr/>
          <p:nvPr/>
        </p:nvSpPr>
        <p:spPr>
          <a:xfrm>
            <a:off x="4454042"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Principios.</a:t>
            </a:r>
            <a:endParaRPr lang="en-US" sz="1000" dirty="0"/>
          </a:p>
        </p:txBody>
      </p:sp>
      <p:sp>
        <p:nvSpPr>
          <p:cNvPr id="12" name="Shape 10"/>
          <p:cNvSpPr/>
          <p:nvPr/>
        </p:nvSpPr>
        <p:spPr>
          <a:xfrm>
            <a:off x="8112557" y="1783080"/>
            <a:ext cx="3576218"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8258861" y="18928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S03</a:t>
            </a:r>
            <a:endParaRPr lang="en-US" sz="2200" dirty="0"/>
          </a:p>
        </p:txBody>
      </p:sp>
      <p:sp>
        <p:nvSpPr>
          <p:cNvPr id="14" name="Text 12"/>
          <p:cNvSpPr/>
          <p:nvPr/>
        </p:nvSpPr>
        <p:spPr>
          <a:xfrm>
            <a:off x="8258861"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COBIT I</a:t>
            </a:r>
            <a:endParaRPr lang="en-US" sz="1100" dirty="0"/>
          </a:p>
        </p:txBody>
      </p:sp>
      <p:sp>
        <p:nvSpPr>
          <p:cNvPr id="15" name="Text 13"/>
          <p:cNvSpPr/>
          <p:nvPr/>
        </p:nvSpPr>
        <p:spPr>
          <a:xfrm>
            <a:off x="8258861"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Sistema y cascada.</a:t>
            </a:r>
            <a:endParaRPr lang="en-US" sz="1000" dirty="0"/>
          </a:p>
        </p:txBody>
      </p:sp>
      <p:sp>
        <p:nvSpPr>
          <p:cNvPr id="16" name="Shape 14"/>
          <p:cNvSpPr/>
          <p:nvPr/>
        </p:nvSpPr>
        <p:spPr>
          <a:xfrm>
            <a:off x="502920" y="3566160"/>
            <a:ext cx="3576218"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649224" y="367588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S04</a:t>
            </a:r>
            <a:endParaRPr lang="en-US" sz="2200" dirty="0"/>
          </a:p>
        </p:txBody>
      </p:sp>
      <p:sp>
        <p:nvSpPr>
          <p:cNvPr id="18" name="Text 16"/>
          <p:cNvSpPr/>
          <p:nvPr/>
        </p:nvSpPr>
        <p:spPr>
          <a:xfrm>
            <a:off x="649224"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COBIT II</a:t>
            </a:r>
            <a:endParaRPr lang="en-US" sz="1100" dirty="0"/>
          </a:p>
        </p:txBody>
      </p:sp>
      <p:sp>
        <p:nvSpPr>
          <p:cNvPr id="19" name="Text 17"/>
          <p:cNvSpPr/>
          <p:nvPr/>
        </p:nvSpPr>
        <p:spPr>
          <a:xfrm>
            <a:off x="649224"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Diseño a medida · hoy.</a:t>
            </a:r>
            <a:endParaRPr lang="en-US" sz="1000" dirty="0"/>
          </a:p>
        </p:txBody>
      </p:sp>
      <p:sp>
        <p:nvSpPr>
          <p:cNvPr id="20" name="Shape 18"/>
          <p:cNvSpPr/>
          <p:nvPr/>
        </p:nvSpPr>
        <p:spPr>
          <a:xfrm>
            <a:off x="4307738" y="3566160"/>
            <a:ext cx="3576218" cy="1554480"/>
          </a:xfrm>
          <a:prstGeom prst="roundRect">
            <a:avLst>
              <a:gd name="adj" fmla="val 3529"/>
            </a:avLst>
          </a:prstGeom>
          <a:solidFill>
            <a:srgbClr val="151515"/>
          </a:solidFill>
          <a:ln w="12700">
            <a:solidFill>
              <a:srgbClr val="333333"/>
            </a:solidFill>
            <a:prstDash val="solid"/>
          </a:ln>
        </p:spPr>
      </p:sp>
      <p:sp>
        <p:nvSpPr>
          <p:cNvPr id="21" name="Text 19"/>
          <p:cNvSpPr/>
          <p:nvPr/>
        </p:nvSpPr>
        <p:spPr>
          <a:xfrm>
            <a:off x="4454042" y="367588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S05</a:t>
            </a:r>
            <a:endParaRPr lang="en-US" sz="2200" dirty="0"/>
          </a:p>
        </p:txBody>
      </p:sp>
      <p:sp>
        <p:nvSpPr>
          <p:cNvPr id="22" name="Text 20"/>
          <p:cNvSpPr/>
          <p:nvPr/>
        </p:nvSpPr>
        <p:spPr>
          <a:xfrm>
            <a:off x="4454042"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VALOR · ITIL 4</a:t>
            </a:r>
            <a:endParaRPr lang="en-US" sz="1100" dirty="0"/>
          </a:p>
        </p:txBody>
      </p:sp>
      <p:sp>
        <p:nvSpPr>
          <p:cNvPr id="23" name="Text 21"/>
          <p:cNvSpPr/>
          <p:nvPr/>
        </p:nvSpPr>
        <p:spPr>
          <a:xfrm>
            <a:off x="4454042"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Cierre U1 · Entregable 1.</a:t>
            </a:r>
            <a:endParaRPr lang="en-US" sz="1000" dirty="0"/>
          </a:p>
        </p:txBody>
      </p:sp>
      <p:sp>
        <p:nvSpPr>
          <p:cNvPr id="24" name="Shape 22"/>
          <p:cNvSpPr/>
          <p:nvPr/>
        </p:nvSpPr>
        <p:spPr>
          <a:xfrm>
            <a:off x="8112557" y="3566160"/>
            <a:ext cx="3576218" cy="1554480"/>
          </a:xfrm>
          <a:prstGeom prst="roundRect">
            <a:avLst>
              <a:gd name="adj" fmla="val 3529"/>
            </a:avLst>
          </a:prstGeom>
          <a:solidFill>
            <a:srgbClr val="151515"/>
          </a:solidFill>
          <a:ln w="12700">
            <a:solidFill>
              <a:srgbClr val="333333"/>
            </a:solidFill>
            <a:prstDash val="solid"/>
          </a:ln>
        </p:spPr>
      </p:sp>
      <p:sp>
        <p:nvSpPr>
          <p:cNvPr id="25" name="Text 23"/>
          <p:cNvSpPr/>
          <p:nvPr/>
        </p:nvSpPr>
        <p:spPr>
          <a:xfrm>
            <a:off x="8258861" y="3675888"/>
            <a:ext cx="914400" cy="502920"/>
          </a:xfrm>
          <a:prstGeom prst="rect">
            <a:avLst/>
          </a:prstGeom>
          <a:noFill/>
          <a:ln/>
        </p:spPr>
        <p:txBody>
          <a:bodyPr wrap="square" lIns="0" tIns="0" rIns="0" bIns="0" rtlCol="0" anchor="t"/>
          <a:lstStyle/>
          <a:p>
            <a:pPr indent="0" marL="0">
              <a:buNone/>
            </a:pPr>
            <a:r>
              <a:rPr lang="en-US" sz="2200" dirty="0">
                <a:solidFill>
                  <a:srgbClr val="9D6BFF"/>
                </a:solidFill>
                <a:latin typeface="Arial Black" pitchFamily="34" charset="0"/>
                <a:ea typeface="Arial Black" pitchFamily="34" charset="-122"/>
                <a:cs typeface="Arial Black" pitchFamily="34" charset="-120"/>
              </a:rPr>
              <a:t>0→</a:t>
            </a:r>
            <a:endParaRPr lang="en-US" sz="2200" dirty="0"/>
          </a:p>
        </p:txBody>
      </p:sp>
      <p:sp>
        <p:nvSpPr>
          <p:cNvPr id="26" name="Text 24"/>
          <p:cNvSpPr/>
          <p:nvPr/>
        </p:nvSpPr>
        <p:spPr>
          <a:xfrm>
            <a:off x="8258861"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UNIDAD 2</a:t>
            </a:r>
            <a:endParaRPr lang="en-US" sz="1100" dirty="0"/>
          </a:p>
        </p:txBody>
      </p:sp>
      <p:sp>
        <p:nvSpPr>
          <p:cNvPr id="27" name="Text 25"/>
          <p:cNvSpPr/>
          <p:nvPr/>
        </p:nvSpPr>
        <p:spPr>
          <a:xfrm>
            <a:off x="8258861"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Sistemas ciber-físicos.</a:t>
            </a:r>
            <a:endParaRPr lang="en-US" sz="10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46 / 48</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40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REFERENCIAS Y RECURSOS</a:t>
            </a:r>
            <a:endParaRPr lang="en-US" sz="3300" dirty="0"/>
          </a:p>
        </p:txBody>
      </p:sp>
      <p:sp>
        <p:nvSpPr>
          <p:cNvPr id="4" name="Text 2"/>
          <p:cNvSpPr/>
          <p:nvPr/>
        </p:nvSpPr>
        <p:spPr>
          <a:xfrm>
            <a:off x="502920" y="1517904"/>
            <a:ext cx="11185855" cy="457200"/>
          </a:xfrm>
          <a:prstGeom prst="rect">
            <a:avLst/>
          </a:prstGeom>
          <a:noFill/>
          <a:ln/>
        </p:spPr>
        <p:txBody>
          <a:bodyPr wrap="square" lIns="0" tIns="0" rIns="0" bIns="0" rtlCol="0" anchor="t"/>
          <a:lstStyle/>
          <a:p>
            <a:pPr algn="l" indent="0" marL="0">
              <a:buNone/>
            </a:pPr>
            <a:r>
              <a:rPr lang="en-US" sz="1350" dirty="0">
                <a:solidFill>
                  <a:srgbClr val="8C8C8C"/>
                </a:solidFill>
                <a:latin typeface="Arial" pitchFamily="34" charset="0"/>
                <a:ea typeface="Arial" pitchFamily="34" charset="-122"/>
                <a:cs typeface="Arial" pitchFamily="34" charset="-120"/>
              </a:rPr>
              <a:t>Toca el enlace para abrir la fuente · libre = acceso gratuito · de pago = compra o biblioteca</a:t>
            </a:r>
            <a:endParaRPr lang="en-US" sz="1350" dirty="0"/>
          </a:p>
        </p:txBody>
      </p:sp>
      <p:sp>
        <p:nvSpPr>
          <p:cNvPr id="5" name="Shape 3"/>
          <p:cNvSpPr/>
          <p:nvPr/>
        </p:nvSpPr>
        <p:spPr>
          <a:xfrm>
            <a:off x="502920" y="1783080"/>
            <a:ext cx="11185855" cy="4489704"/>
          </a:xfrm>
          <a:prstGeom prst="roundRect">
            <a:avLst>
              <a:gd name="adj" fmla="val 101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822960" y="1984248"/>
            <a:ext cx="10545775" cy="4123944"/>
          </a:xfrm>
          <a:prstGeom prst="rect">
            <a:avLst/>
          </a:prstGeom>
          <a:noFill/>
          <a:ln/>
        </p:spPr>
        <p:txBody>
          <a:bodyPr wrap="square" lIns="0" tIns="0" rIns="0" bIns="0" rtlCol="0" anchor="t"/>
          <a:lstStyle/>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ISACA — Portal COBIT (overview y Design Toolkit; base gratis con cuenta)</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https://www.isaca.org/resources/cobit</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ISACA — COBIT 2019 Design Guide (diseño a medida)</a:t>
            </a:r>
            <a:pPr indent="0" marL="0">
              <a:lnSpc>
                <a:spcPct val="102000"/>
              </a:lnSpc>
              <a:spcAft>
                <a:spcPts val="100"/>
              </a:spcAft>
              <a:buNone/>
            </a:pPr>
            <a:r>
              <a:rPr lang="en-US" sz="850" b="1" dirty="0">
                <a:solidFill>
                  <a:srgbClr val="FFB000"/>
                </a:solidFill>
                <a:latin typeface="Courier New" pitchFamily="34" charset="0"/>
                <a:ea typeface="Courier New" pitchFamily="34" charset="-122"/>
                <a:cs typeface="Courier New" pitchFamily="34" charset="-120"/>
              </a:rPr>
              <a:t>   · de pago</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https://www.isaca.org/resources/cobit</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ISACA — COBIT 2019 Implementation Guide</a:t>
            </a:r>
            <a:pPr indent="0" marL="0">
              <a:lnSpc>
                <a:spcPct val="102000"/>
              </a:lnSpc>
              <a:spcAft>
                <a:spcPts val="100"/>
              </a:spcAft>
              <a:buNone/>
            </a:pPr>
            <a:r>
              <a:rPr lang="en-US" sz="850" b="1" dirty="0">
                <a:solidFill>
                  <a:srgbClr val="FFB000"/>
                </a:solidFill>
                <a:latin typeface="Courier New" pitchFamily="34" charset="0"/>
                <a:ea typeface="Courier New" pitchFamily="34" charset="-122"/>
                <a:cs typeface="Courier New" pitchFamily="34" charset="-120"/>
              </a:rPr>
              <a:t>   · de pago</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https://www.isaca.org/resources/cobit</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CMMI Institute — modelo CMMI (base de la capacidad)</a:t>
            </a:r>
            <a:pPr indent="0" marL="0">
              <a:lnSpc>
                <a:spcPct val="102000"/>
              </a:lnSpc>
              <a:spcAft>
                <a:spcPts val="100"/>
              </a:spcAft>
              <a:buNone/>
            </a:pPr>
            <a:r>
              <a:rPr lang="en-US" sz="850" b="1" dirty="0">
                <a:solidFill>
                  <a:srgbClr val="FFB000"/>
                </a:solidFill>
                <a:latin typeface="Courier New" pitchFamily="34" charset="0"/>
                <a:ea typeface="Courier New" pitchFamily="34" charset="-122"/>
                <a:cs typeface="Courier New" pitchFamily="34" charset="-120"/>
              </a:rPr>
              <a:t>   · de pago</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https://cmmiinstitute.com/</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De Haes &amp; Van Grembergen (2020) — Enterprise Governance of IT</a:t>
            </a:r>
            <a:pPr indent="0" marL="0">
              <a:lnSpc>
                <a:spcPct val="102000"/>
              </a:lnSpc>
              <a:spcAft>
                <a:spcPts val="100"/>
              </a:spcAft>
              <a:buNone/>
            </a:pPr>
            <a:r>
              <a:rPr lang="en-US" sz="850" b="1" dirty="0">
                <a:solidFill>
                  <a:srgbClr val="FFB000"/>
                </a:solidFill>
                <a:latin typeface="Courier New" pitchFamily="34" charset="0"/>
                <a:ea typeface="Courier New" pitchFamily="34" charset="-122"/>
                <a:cs typeface="Courier New" pitchFamily="34" charset="-120"/>
              </a:rPr>
              <a:t>   · de pago</a:t>
            </a:r>
            <a:endParaRPr lang="en-US" sz="1150" dirty="0"/>
          </a:p>
          <a:p>
            <a:pPr indent="0" marL="0">
              <a:lnSpc>
                <a:spcPct val="102000"/>
              </a:lnSpc>
              <a:buNone/>
            </a:pPr>
            <a:r>
              <a:rPr lang="en-US" sz="850" u="sng" dirty="0">
                <a:solidFill>
                  <a:srgbClr val="27E5E5"/>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https://link.springer.com/book/10.1007/978-3-030-25918-1</a:t>
            </a:r>
            <a:endParaRPr lang="en-US" sz="115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47 / 48</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1188720"/>
            <a:ext cx="11185855" cy="548640"/>
          </a:xfrm>
          <a:prstGeom prst="rect">
            <a:avLst/>
          </a:prstGeom>
          <a:noFill/>
          <a:ln/>
        </p:spPr>
        <p:txBody>
          <a:bodyPr wrap="square" lIns="0" tIns="0" rIns="0" bIns="0" rtlCol="0" anchor="ctr"/>
          <a:lstStyle/>
          <a:p>
            <a:pPr indent="0" marL="0">
              <a:buNone/>
            </a:pPr>
            <a:r>
              <a:rPr lang="en-US" sz="1500" spc="200" kern="0" dirty="0">
                <a:solidFill>
                  <a:srgbClr val="8C8C8C"/>
                </a:solidFill>
                <a:latin typeface="Courier New" pitchFamily="34" charset="0"/>
                <a:ea typeface="Courier New" pitchFamily="34" charset="-122"/>
                <a:cs typeface="Courier New" pitchFamily="34" charset="-120"/>
              </a:rPr>
              <a:t>FIN SESIÓN 04</a:t>
            </a:r>
            <a:endParaRPr lang="en-US" sz="1500" dirty="0"/>
          </a:p>
        </p:txBody>
      </p:sp>
      <p:sp>
        <p:nvSpPr>
          <p:cNvPr id="3" name="Text 1"/>
          <p:cNvSpPr/>
          <p:nvPr/>
        </p:nvSpPr>
        <p:spPr>
          <a:xfrm>
            <a:off x="502920" y="2011680"/>
            <a:ext cx="11185855" cy="457200"/>
          </a:xfrm>
          <a:prstGeom prst="rect">
            <a:avLst/>
          </a:prstGeom>
          <a:noFill/>
          <a:ln/>
        </p:spPr>
        <p:txBody>
          <a:bodyPr wrap="square" lIns="0" tIns="0" rIns="0" bIns="0" rtlCol="0" anchor="ctr"/>
          <a:lstStyle/>
          <a:p>
            <a:pPr indent="0" marL="0">
              <a:buNone/>
            </a:pPr>
            <a:r>
              <a:rPr lang="en-US" sz="1300" b="1" spc="200" kern="0" dirty="0">
                <a:solidFill>
                  <a:srgbClr val="C6FF00"/>
                </a:solidFill>
                <a:latin typeface="Courier New" pitchFamily="34" charset="0"/>
                <a:ea typeface="Courier New" pitchFamily="34" charset="-122"/>
                <a:cs typeface="Courier New" pitchFamily="34" charset="-120"/>
              </a:rPr>
              <a:t>PRÓXIMA</a:t>
            </a:r>
            <a:endParaRPr lang="en-US" sz="1300" dirty="0"/>
          </a:p>
        </p:txBody>
      </p:sp>
      <p:sp>
        <p:nvSpPr>
          <p:cNvPr id="4" name="Text 2"/>
          <p:cNvSpPr/>
          <p:nvPr/>
        </p:nvSpPr>
        <p:spPr>
          <a:xfrm>
            <a:off x="502920" y="2377440"/>
            <a:ext cx="11185855" cy="1188720"/>
          </a:xfrm>
          <a:prstGeom prst="rect">
            <a:avLst/>
          </a:prstGeom>
          <a:noFill/>
          <a:ln/>
        </p:spPr>
        <p:txBody>
          <a:bodyPr wrap="square" lIns="0" tIns="0" rIns="0" bIns="0" rtlCol="0" anchor="t"/>
          <a:lstStyle/>
          <a:p>
            <a:pPr indent="0" marL="0">
              <a:buNone/>
            </a:pPr>
            <a:r>
              <a:rPr lang="en-US" sz="4600" dirty="0">
                <a:solidFill>
                  <a:srgbClr val="F4F4F4"/>
                </a:solidFill>
                <a:latin typeface="Arial Black" pitchFamily="34" charset="0"/>
                <a:ea typeface="Arial Black" pitchFamily="34" charset="-122"/>
                <a:cs typeface="Arial Black" pitchFamily="34" charset="-120"/>
              </a:rPr>
              <a:t>SESIÓN 05</a:t>
            </a:r>
            <a:endParaRPr lang="en-US" sz="4600" dirty="0"/>
          </a:p>
        </p:txBody>
      </p:sp>
      <p:sp>
        <p:nvSpPr>
          <p:cNvPr id="5" name="Text 3"/>
          <p:cNvSpPr/>
          <p:nvPr/>
        </p:nvSpPr>
        <p:spPr>
          <a:xfrm>
            <a:off x="502920" y="3657600"/>
            <a:ext cx="11185855" cy="548640"/>
          </a:xfrm>
          <a:prstGeom prst="rect">
            <a:avLst/>
          </a:prstGeom>
          <a:noFill/>
          <a:ln/>
        </p:spPr>
        <p:txBody>
          <a:bodyPr wrap="square" lIns="0" tIns="0" rIns="0" bIns="0" rtlCol="0" anchor="t"/>
          <a:lstStyle/>
          <a:p>
            <a:pPr indent="0" marL="0">
              <a:buNone/>
            </a:pPr>
            <a:r>
              <a:rPr lang="en-US" sz="1500" b="1" dirty="0">
                <a:solidFill>
                  <a:srgbClr val="C6FF00"/>
                </a:solidFill>
                <a:latin typeface="Courier New" pitchFamily="34" charset="0"/>
                <a:ea typeface="Courier New" pitchFamily="34" charset="-122"/>
                <a:cs typeface="Courier New" pitchFamily="34" charset="-120"/>
              </a:rPr>
              <a:t>&gt; </a:t>
            </a:r>
            <a:pPr indent="0" marL="0">
              <a:buNone/>
            </a:pPr>
            <a:r>
              <a:rPr lang="en-US" sz="1500" dirty="0">
                <a:solidFill>
                  <a:srgbClr val="F4F4F4"/>
                </a:solidFill>
                <a:latin typeface="Courier New" pitchFamily="34" charset="0"/>
                <a:ea typeface="Courier New" pitchFamily="34" charset="-122"/>
                <a:cs typeface="Courier New" pitchFamily="34" charset="-120"/>
              </a:rPr>
              <a:t>VALOR, RIESGO Y RECURSOS — ITIL 4</a:t>
            </a:r>
            <a:endParaRPr lang="en-US" sz="1500" dirty="0"/>
          </a:p>
        </p:txBody>
      </p:sp>
      <p:sp>
        <p:nvSpPr>
          <p:cNvPr id="6" name="Text 4"/>
          <p:cNvSpPr/>
          <p:nvPr/>
        </p:nvSpPr>
        <p:spPr>
          <a:xfrm>
            <a:off x="502920" y="4160520"/>
            <a:ext cx="11185855" cy="822960"/>
          </a:xfrm>
          <a:prstGeom prst="rect">
            <a:avLst/>
          </a:prstGeom>
          <a:noFill/>
          <a:ln/>
        </p:spPr>
        <p:txBody>
          <a:bodyPr wrap="square" lIns="0" tIns="0" rIns="0" bIns="0" rtlCol="0" anchor="t"/>
          <a:lstStyle/>
          <a:p>
            <a:pPr indent="0" marL="0">
              <a:lnSpc>
                <a:spcPct val="110000"/>
              </a:lnSpc>
              <a:buNone/>
            </a:pPr>
            <a:r>
              <a:rPr lang="en-US" sz="1300" dirty="0">
                <a:solidFill>
                  <a:srgbClr val="8C8C8C"/>
                </a:solidFill>
                <a:latin typeface="Arial" pitchFamily="34" charset="0"/>
                <a:ea typeface="Arial" pitchFamily="34" charset="-122"/>
                <a:cs typeface="Arial" pitchFamily="34" charset="-120"/>
              </a:rPr>
              <a:t>Sistema de valor del servicio, gestión del portafolio de inversión, KPI/KRI y cierre de la Unidad 1.</a:t>
            </a:r>
            <a:endParaRPr lang="en-US" sz="1300" dirty="0"/>
          </a:p>
        </p:txBody>
      </p:sp>
      <p:sp>
        <p:nvSpPr>
          <p:cNvPr id="7" name="Text 5"/>
          <p:cNvSpPr/>
          <p:nvPr/>
        </p:nvSpPr>
        <p:spPr>
          <a:xfrm>
            <a:off x="502920" y="5303520"/>
            <a:ext cx="11185855" cy="457200"/>
          </a:xfrm>
          <a:prstGeom prst="rect">
            <a:avLst/>
          </a:prstGeom>
          <a:noFill/>
          <a:ln/>
        </p:spPr>
        <p:txBody>
          <a:bodyPr wrap="square" lIns="0" tIns="0" rIns="0" bIns="0" rtlCol="0" anchor="ctr"/>
          <a:lstStyle/>
          <a:p>
            <a:pPr indent="0" marL="0">
              <a:buNone/>
            </a:pPr>
            <a:r>
              <a:rPr lang="en-US" sz="1400" dirty="0">
                <a:solidFill>
                  <a:srgbClr val="C6FF00"/>
                </a:solidFill>
                <a:latin typeface="Courier New" pitchFamily="34" charset="0"/>
                <a:ea typeface="Courier New" pitchFamily="34" charset="-122"/>
                <a:cs typeface="Courier New" pitchFamily="34" charset="-120"/>
              </a:rPr>
              <a:t>root@planta:~# next --session 05 _</a:t>
            </a:r>
            <a:endParaRPr lang="en-US" sz="1400" dirty="0"/>
          </a:p>
        </p:txBody>
      </p:sp>
      <p:sp>
        <p:nvSpPr>
          <p:cNvPr id="8" name="Text 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9" name="Text 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S04 · COBIT II</a:t>
            </a:r>
            <a:endParaRPr lang="en-US" sz="800" dirty="0"/>
          </a:p>
        </p:txBody>
      </p:sp>
      <p:sp>
        <p:nvSpPr>
          <p:cNvPr id="10" name="Text 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48 / 48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Universidad de San Buenaventura — Medellín (Bello)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GOBIERNO DE TI Y SISTEMAS CIBER-FÍSICOS DE PRODUCCIÓN · 2026-2</dc:title>
  <dc:subject>PptxGenJS Presentation</dc:subject>
  <dc:creator>Jorge Andrés Dapena — MSc.</dc:creator>
  <cp:lastModifiedBy>Jorge Andrés Dapena — MSc.</cp:lastModifiedBy>
  <cp:revision>1</cp:revision>
  <dcterms:created xsi:type="dcterms:W3CDTF">2026-09-18T01:20:52Z</dcterms:created>
  <dcterms:modified xsi:type="dcterms:W3CDTF">2026-09-18T01:20:52Z</dcterms:modified>
</cp:coreProperties>
</file>