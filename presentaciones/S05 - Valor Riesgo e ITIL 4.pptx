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Quinta sesión, cierre de la Unidad 1. Recoge el Entregable 1. Integra valor, riesgo, recursos e ITIL 4 como capa operativa.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triángulo del gobierno: valor, riesgo y recursos, más ITIL 4 como capa de servicio.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Valor, riesgo y recursos son los tres objetos que el gobierno equilibra (principio 1 de COBIT).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integrador de la Unidad 1: los objetos del gobierno y su medición.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común: medir 'implementamos el sistema' en vez de 'realizamos el beneficio'. El valor está en el resultado, no en el entregable.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portafolio es un ciclo de gobierno (APO05). En un CPPS compite mantenimiento vs digitalización vs seguridad.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business case es el instrumento de la adquisición (principio 3 de 38500). Se profundiza en S16 (caso de negocio).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métricas se calculan en el caso de negocio del proyecto (S16). Aquí se introducen conceptualmente.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EDM02 combate el 'piloto zombi': proyectos que nunca escalan ni entregan valor. Se gobierna cosechando beneficios.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 S16. El gobierno del valor evita el desperdicio de la digitalización industrial.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Apetito lo fija la junta; tolerancia es el margen operativo. Sin apetito definido, el riesgo se gestiona a ciegas.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Misma ecuación que en ciberseguridad (S14). El gobierno decide dónde invertir para bajar cada factor.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registro de riesgos es el corazón de APO12. El proyecto construirá el suyo en el Entregable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Aceptar es una decisión legítima si el riesgo está bajo el apetito. Lo grave es aceptar sin saberlo.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EDM03 fija el 'cuánto'; APO12 hace el 'cómo'. El proyecto usará ambos en el Entregable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 la Unidad 4. El riesgo OT no se gestiona como el 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EDM04 equilibra los tres recursos. En Colombia, el cuello de botella es el talento en ciberseguridad OT y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objetivo del curso es formar el 'perfil puente'. La escasez de talento es un riesgo de gobierno de recursos.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sourcing conecta recursos (EDM04) con riesgo de terceros (APO10). En OT, el acceso remoto de integradores es crítico.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Adelanta S13. 'Garbage in, garbage out': la analítica industrial vale lo que valen sus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Optimizar recursos (EDM04) es equilibrar, no recortar. Un recorte que deja sin talento de seguridad es mal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infraestructura OT plantea retos únicos: legado longevo y soberanía del dato. El gobierno decide qué modernizar y cuándo.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recurso se gobierna en todo su ciclo, no solo al comprarlo. El retiro seguro de activos OT es un punto ciego frecuente.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giro de ITIL 4: valor co-creado, no entregado. En planta, el servicio de TI y la operación crean valor juntos.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SVS integra gobernanza (COBIT/38500) con operación (cadena de valor y prácticas). Aquí se enlazan gobierno y gestión de servicios.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7 principios guía son de sentido común pero potentes. 'Empezar donde estás' es clave: la planta ya tiene sistemas OT que no se botan.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ITIL 4 aterriza en OT vía incidentes, cambios y niveles de servicio. Gestión de cambios (habilitación del cambio) es la más crítica en planta.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compiten. COBIT gobierna la continuidad (DSS04); ITIL la operacionaliza con gestión de incidentes y cambios.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actividades de la cadena de valor de ITIL 4. No es secuencial: se combinan según el flujo de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ITIL 4 aporta disciplina de servicio a OT, tradicionalmente gestionado de forma reactiva.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común: medir solo desempeño (KPI) y no riesgo (KRI). El KRI es el 'sensor de humo' del gobierno.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tablero cierra el ciclo EDM: sin medición no hay monitoreo. El proyecto propondrá un tablero como 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Combinar KPI (resultado) y KRI (riesgo) da a la dirección una visión completa: cómo vamos y qué se avecina.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Entregable 1 consolida toda la Unidad 1. Revisar rúbrica con los estudiantes.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conceptual de la Unidad 1. La Unidad 2 pasa a lo ciber-físico: qué gobernamos técnicamente.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Transición a la Unidad 2. Pasamos de gobernar a entender la técnica del CPPS.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Repaso final de la Unidad 1. Verificar el triángulo valor-riesgo-recursos.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la Unidad 1. La Unidad 2 abre el mundo técnico del sistema ciber-físico.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Vocabulario de valor, riesgo, recursos y servicios.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de valor, riesgo, recursos e ITIL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Recordar entregar el Entregable 1. La Unidad 2 abre el mundo técnico del CPPS.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tlassian.com/itsm/itil" TargetMode="External"/><Relationship Id="rId2" Type="http://schemas.openxmlformats.org/officeDocument/2006/relationships/hyperlink" Target="https://www.axelos.com/" TargetMode="External"/><Relationship Id="rId3" Type="http://schemas.openxmlformats.org/officeDocument/2006/relationships/hyperlink" Target="https://www.isaca.org/resources/cobit" TargetMode="External"/><Relationship Id="rId4" Type="http://schemas.openxmlformats.org/officeDocument/2006/relationships/hyperlink" Target="https://balancedscorecard.org/bsc-basics-overview/" TargetMode="External"/><Relationship Id="rId5" Type="http://schemas.openxmlformats.org/officeDocument/2006/relationships/hyperlink" Target="https://www.iso.org/iso-31000-risk-management.html" TargetMode="External"/><Relationship Id="rId6" Type="http://schemas.openxmlformats.org/officeDocument/2006/relationships/hyperlink" Target="https://www.iso.org/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01000111 01001111 01000010 01001001 01000101 01010010 01001110 01001111  01000100 01000101  01010100 01001001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50155-3M · PREGRADO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16775" y="1051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1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SESIÓN 05 / 16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1118585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VALOR, RIESGO</a:t>
            </a:r>
            <a:endParaRPr lang="en-US" sz="52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52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ITIL 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397764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Gestionar el valor, el riesgo y los recursos de la tecnología en producción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5074920"/>
            <a:ext cx="11185855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2578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DOCENTE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468880" y="5257800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Jorge Andrés Dapena — MSc.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641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UNIDAD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5641848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U1 · Gobierno de TI    ·    SEMANA 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602589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INSTITUCIÓN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6025896"/>
            <a:ext cx="92198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Universidad de San Buenaventura — Medellín (Bello)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Y SISTEMAS CIBER-FÍSICOS DE PRODUCCIÓN · 2026-2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 INICIO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de la TI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Realización de beneficios y portafolio de inversión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24448" y="182880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9040" y="19933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238848" y="202996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tecnológico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38848" y="248716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Apetito, tolerancia y registro de riesgos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417320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Personas, datos e infraestructura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338328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8904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38848" y="358444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ITIL 4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38848" y="404164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valor del servicio y principios guía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417320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y KRI; tablero de gobierno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24448" y="4937760"/>
            <a:ext cx="5364328" cy="1298448"/>
          </a:xfrm>
          <a:prstGeom prst="roundRect">
            <a:avLst>
              <a:gd name="adj" fmla="val 422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9040" y="510235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38848" y="5138928"/>
            <a:ext cx="4267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 la Unidad 1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238848" y="5596128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1 y síntesis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47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 U1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VALOR, RIESGO Y RECURSOS EN CIFRAS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OBJETOS DE GOBIERNO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7964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7964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67964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PRINCIPIOS ITIL 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33008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3008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33008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PRÁCTICAS ITIL 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98051" y="1783080"/>
            <a:ext cx="2590724" cy="1371600"/>
          </a:xfrm>
          <a:prstGeom prst="roundRect">
            <a:avLst>
              <a:gd name="adj" fmla="val 4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051" y="187452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KPI+KRI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051" y="2679192"/>
            <a:ext cx="25907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MEDICIÓN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91840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EDM02 · realización de beneficios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8" y="33832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13368" y="3383280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EDM03 · APO12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91840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EDM04 · optimización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4448" y="4096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ITIL 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13368" y="4096512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AXELOS (2019) — SVS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91840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recibe esta semana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8" y="480974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113368" y="4809744"/>
            <a:ext cx="2575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Unidad 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47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 U1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DE LA SESIÓN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gobierna el valor de la TI (realización de beneficios).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713939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13939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691640" y="2713939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registro de riesgos con apetito y tolerancia.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64479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64479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364479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Describir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optimización de recursos (personas, datos, infraestructura).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575658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575658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4575658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Sistema de Valor del Servicio y los principios guía de ITIL 4.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506517"/>
            <a:ext cx="11185855" cy="766267"/>
          </a:xfrm>
          <a:prstGeom prst="roundRect">
            <a:avLst>
              <a:gd name="adj" fmla="val 5967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506517"/>
            <a:ext cx="914400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691640" y="5506517"/>
            <a:ext cx="9722815" cy="76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 </a:t>
            </a:r>
            <a:pPr indent="0" marL="0">
              <a:buNone/>
            </a:pPr>
            <a:r>
              <a:rPr lang="en-US" sz="13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 KRI y diseñar un tablero de gobierno.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47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VALOR DE LA TECNOLOGÍA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Realización de beneficios y portafolio de inversión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47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 VALOR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QUÉ SIGNIFICA VALOR EN TI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resultado positivo esperado: menos paradas, más calidad, nuevo mercado.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OEE +5 puntos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inversión y el gasto total de propiedad (TCO): licencias, hardware, personas, operación.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CAPEX + OPEX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incertidumbre sobre lograr el beneficio al costo previsto.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Piloto que no escala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= beneficios realizados, en relación con el costo y el riesgo asumidos. COBIT EDM02 gobierna la realización de beneficios; no basta invertir, hay que cosechar.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47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 VALOR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DEL PORTAFOLIO DE INVERSIÓN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portafolio prioriza en qué invertir la capacidad limitada de la empresa.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IDENTIFICAR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Reunir todas las iniciativas candidatas (digitalización, mantenimiento, seguridad).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Beneficio esperado, costo total, riesgo y alineación estratégica.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PRIORIZAR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y seleccionar; no todo cabe en el presupuesto.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AUTORIZAR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Aprobar con business case; asignar recursos y dueño.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MONITOREAR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 el avance y la realización de beneficios.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AJUSTAR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Reasignar o cancelar iniciativas que no rinden.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47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 VALOR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BUSINESS CASE DE UNA INICIATIVA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inversión tecnológica se justifica con un caso de negocio.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BENEFICIOS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Tangibles (ahorro, más producción) e intangibles (calidad, marca, seguridad).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COSTOS (TCO)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Adquisición, implementación, operación, mantenimiento y retiro.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Técnicos, de adopción, de proveedor y de continuidad.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SUPUESTOS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Condiciones que deben cumplirse para que el caso sea válido.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47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 VALOR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MÉTRICAS FINANCIERAS DE LA INVERSIÓN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9260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29000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02152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MIDE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558888" y="1783080"/>
            <a:ext cx="41298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2040" y="1783080"/>
            <a:ext cx="398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29000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total de propiedad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58888" y="2240280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2040" y="2240280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Comparar opciones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Retorno sobre inversión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58888" y="2807208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2040" y="2807208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Justificar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29260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29000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2152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presente neto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58888" y="3374136"/>
            <a:ext cx="41298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2040" y="3374136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Decidir a largo plazo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29260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2779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429000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02152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Periodo de recuperación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8888" y="3941064"/>
            <a:ext cx="41298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2040" y="3941064"/>
            <a:ext cx="3983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de liquidez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47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 VALOR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EDM02 — OPTIMIZACIÓN DE BENEFICIOS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DE GOBIERNO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GOBERNAR EL VALOR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junta debe asegurar que las inversiones en I&amp;T entreguen valor óptimo a un costo aceptable. Evalúa la cartera, dirige la realización de beneficios y monitorea el retorno real frente al prometido. En un CPPS: ¿el piloto de mantenimiento predictivo realmente redujo las paradas?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CLAVE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¿Se cosechó el beneficio prometido?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SI FALLA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Inversión sin retorno, pilotos zombis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47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 VALOR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QUÉ MUEREN LOS PROYECTOS DE DIGITALIZACIÓN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queda en prueba de concepto y nunca escala a producción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DUEÑO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responde por realizar el beneficio, solo por implementar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MÉTRICA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mide el resultado, así que no se sabe si valió la pena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'valle de la muerte' del piloto es un problema de gobierno, no técnico. Se resuelve con dueño del beneficio, business case con métricas y monitoreo de la realización. El tema se retoma a fondo en S16.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47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 TECNOLÓGICO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Apetito, tolerancia y registro de riesgos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47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LENGUAJE DEL RIESGO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Efecto de la incertidumbre sobre los objetivos; combinación de probabilidad e impacto.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× Impacto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APETITO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 de riesgo que la empresa está dispuesta a aceptar para lograr sus objetivos.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de la junta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TOLERANCIA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Desviación aceptable respecto del apetito antes de actuar.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Umbral de alerta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apetito de riesgo es una decisión de gobierno (EDM03): fija cuánto riesgo tecnológico acepta la empresa. En un CPPS, el apetito de riesgo de continuidad y seguridad física suele ser muy bajo.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47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ECUACIÓN DEL RIESGO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se reduce actuando sobre sus factores.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AMENAZA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 o evento que puede causar daño. Externo, difícil de controlar.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VULNERABILIDAD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Debilidad que la amenaza aprovecha. Interna: aquí actúa el gobierno.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Consecuencia si el riesgo se materializa. Se reduce con controles y continuidad.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47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12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REGISTRO DE RIESGOS — EJEMPLO CPPS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10896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1880" y="1783080"/>
            <a:ext cx="269229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85032" y="1783080"/>
            <a:ext cx="254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304178" y="1783080"/>
            <a:ext cx="269229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7330" y="1783080"/>
            <a:ext cx="254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96477" y="1783080"/>
            <a:ext cx="269229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69629" y="1783080"/>
            <a:ext cx="25459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RESPUESTA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4028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Ransomware en IT tumba OT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11880" y="2240280"/>
            <a:ext cx="269229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240280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4178" y="2240280"/>
            <a:ext cx="269229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7330" y="2240280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6477" y="2240280"/>
            <a:ext cx="269229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9629" y="2240280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Mitigar: segmentar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807208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2807208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Falla de sensor crítico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11880" y="2807208"/>
            <a:ext cx="269229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2807208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4178" y="2807208"/>
            <a:ext cx="269229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7330" y="2807208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96477" y="2807208"/>
            <a:ext cx="269229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69629" y="2807208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Mitigar: redundancia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310896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37413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Fuga de datos de proceso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11880" y="3374136"/>
            <a:ext cx="269229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3374136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Baja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4178" y="3374136"/>
            <a:ext cx="269229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7330" y="3374136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96477" y="3374136"/>
            <a:ext cx="269229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69629" y="3374136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Mitigar: cifrado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41064"/>
            <a:ext cx="310896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" y="3941064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Lock-in de proveedor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11880" y="3941064"/>
            <a:ext cx="269229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85032" y="3941064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4178" y="3941064"/>
            <a:ext cx="269229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7330" y="3941064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96477" y="3941064"/>
            <a:ext cx="269229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69629" y="3941064"/>
            <a:ext cx="25459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Aceptar/vigilar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47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13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 CUATRO RESPUESTAS AL RIESGO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 cada riesgo, el gobierno elige una respuesta.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MITIGAR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Reducir probabilidad o impacto con controles. La respuesta más común.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TRANSFERIR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Trasladar el riesgo (seguro cibernético, contrato con proveedor).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EVITAR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realizar la actividad que genera el riesgo.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ACEPTAR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Asumir el riesgo conscientemente si está dentro del apetito.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47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14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EDM03 Y APO12 — GOBERNAR Y GESTIONAR EL RIESGO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+ GESTIÓN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DOS NIVELES DEL RIESGO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EDM03 (gobierno): la junta fija el apetito de riesgo y asegura que se gestione. APO12 (gestión): identifica, analiza, responde y monitorea los riesgos concretos. En un CPPS, el riesgo abarca IT y OT: un mismo evento (ransomware) puede cruzar del correo corporativo a la línea de producción.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/ GESTIÓN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EDM03 apetito · APO12 registro y tratamiento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PROFUNDIZA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IT/OT (S14–15)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47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15  RIESGO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RIESGO CIBER-FÍSICO ES DISTINTO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FÍSICO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impacto no es solo de datos: daño a equipos y a personas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DISPONIBILIDAD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prioridad es que la línea no pare, no la confidencialidad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LEGADO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activos de 20 años imposibles de parchear en caliente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riesgo en un CPPS invierte la lógica de IT: el impacto puede ser físico, la disponibilidad manda y los activos no se pueden actualizar como un servidor. Por eso su gobierno exige un tratamiento propio, no copiar el de IT.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47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OPTIMIZACIÓN DE RECURSOS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Personas, datos e infraestructura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47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16  RECURSOS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RECURSOS QUE SE GOBIERNAN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Competencias y talento IT/OT: la brecha más crítica en la industria.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Ingeniero IT/OT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activo que crece; requiere gobierno propio (calidad, propiedad, acceso).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Señales, OEE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INFRAESTRUCTURA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Servicios, plataformas y aplicaciones (nube, historiador, SCADA).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Plataforma IIoT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EDM04 gobierna la optimización de recursos: asegurar que las capacidades adecuadas estén disponibles al costo óptimo. En un CPPS, el recurso escaso suele ser el talento, no el hardware.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47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17  RECURSOS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BRECHA DE COMPETENCIAS IT/OT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perfil que integra gobierno, TI y OT es escaso y muy demandado.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 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de redes, nube, datos y ciberseguridad, pero no de proceso físico.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 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de PLC, SCADA y proceso, pero no de ciberseguridad ni datos.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PERFIL PUENTE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ingeniero de gobierno ciber-físico: entiende ambos mundos. Escaso.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ESTRATEGIA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Formar, retener y combinar perfiles; alianzas con academia (este curso).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47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18  RECURSOS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SOURCING — CÓMO OBTENER LOS RECURSOS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de aprovisionamiento es un factor de diseño (F8).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INTERNO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Capacidades propias. Control alto, costo fijo, difícil de escalar.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OUTSOURCING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Terceros e integradores. Flexible, pero riesgo de dependencia y acceso.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NUBE / SERVICIOS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Plataformas como servicio. Rápido de escalar; soberanía del dato en juego.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47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19  RECURSOS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DATOS COMO RECURSO ESTRATÉGICO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APO14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ACTIVO QUE CRECE SOLO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un CPPS, cada sensor genera datos que pueden crear valor (predicción, optimización) o convertirse en pasivo (almacenamiento, riesgo, ruido). APO14 (gestión de datos, nuevo en COBIT 2019) gobierna su calidad, propiedad, ciclo de vida y acceso. Sin gobierno de datos, la analítica se construye sobre arena.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DEL DATO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Calidad · propiedad · linaje · acceso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PROFUNDIZA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y OEE (S13)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47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20  RECURSOS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OPTIMIZAR NO ES MINIMIZAR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SUFICIENCIA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recurso adecuado disponible cuando se necesita, no el mínimo.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 ÓPTIMO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Equilibrio entre capacidad y gasto, no recorte ciego.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TALENTO PRIMERO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CPPS, las personas son el recurso más escaso.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DATO GOBERNADO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calidad valen; datos sin gobierno son pasivo.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SOURCING CONSCIENTE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 el modelo por riesgo y estrategia, no por moda.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/ 47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21  RECURSOS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GOBIERNO DE LA INFRAESTRUCTURA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infraestructura tecnológica se gobierna por su criticidad para la operación.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CAPACIDAD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la infraestructura soporte la demanda actual y futura (BAI04).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23864" y="19202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6744" y="20665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DISPONIBILIDAD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6744" y="25237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Redundancia y resiliencia proporcionales a la criticidad (DSS04).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OBSOLESCENCIA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Gestionar el legado OT: activos de 15–20 años que no se pueden botar.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3864" y="3749040"/>
            <a:ext cx="5464912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6744" y="3895344"/>
            <a:ext cx="509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SOBERANÍA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6744" y="4352544"/>
            <a:ext cx="5099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viven los datos y modelos: planta, nube local o extranjera.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47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22  RECURSOS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CICLO DE VIDA DE UN RECURSO TECNOLÓGICO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Estimar necesidad de capacidad.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ADQUIRIR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Comprar/contratar con business case.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 y mantener el recurso.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capacidad y costo.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de baja de forma segura.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GOBERNAR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EDM04 supervisa todo el ciclo.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 / 47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ITIL 4 — GESTIÓN DE SERVICIOS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sistema de valor del servicio en la operación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/ 47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23  ITIL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SERVICIO, VALOR Y CO-CREACIÓN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SERVICIO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para habilitar la co-creación de valor facilitando resultados que el cliente quiere, sin que asuma ciertos costos y riesgos.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 SCADA gestionado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co-crea entre proveedor y cliente; no lo entrega uno solo.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 + planta juntos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UTILIDAD + GARANTÍA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Utilidad (apto para el propósito) más garantía (apto para el uso: disponible, seguro).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Funciona y está disponible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ITIL 4 (AXELOS) ve la TI como servicios que co-crean valor. Complementa a COBIT: COBIT gobierna, ITIL opera el servicio.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/ 47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24  ITIL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SISTEMA DE VALOR DEL SERVICIO (SVS)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SVS describe cómo los componentes de una organización trabajan juntos para crear valor.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PRINCIPIOS GUÍA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recomendaciones que orientan toda decisión.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GOBERNANZA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Dirección y control (aquí conecta con COBIT/38500).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CADENA DE VALOR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actividades para crear y entregar servicios.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PRÁCTICAS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prácticas (incidentes, cambios, problemas…).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MEJORA CONTINUA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Transversal: mejorar siempre, en todo.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ENTRADA/SALIDA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demanda y oportunidad al valor entregado.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/ 47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25  ITIL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SIETE PRINCIPIOS GUÍA DE ITIL 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 universales que guían cualquier iniciativa.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ENFOCARSE EN EL VALOR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debe aportar valor a algún interesado.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3392" y="19202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6272" y="20665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EMPEZAR DONDE ESTÁS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46272" y="25237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reinventar; aprovechar lo existente.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23864" y="19202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6744" y="20665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PROGRESAR ITERANDO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6744" y="25237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Avanzar por pasos con retroalimentación.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084335" y="19202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67215" y="20665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COLABORAR Y VISIBILIZAR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7215" y="25237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conjunto y transparente.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7490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8953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PENSAR HOLÍSTICO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43525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el sistema completo, no las partes.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3392" y="37490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46272" y="38953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SIMPLICIDAD Y PRÁCTICO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46272" y="43525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Mantenerlo simple y práctico.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23864" y="37490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6744" y="38953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OPTIMIZAR Y AUTOMATIZAR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6744" y="43525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Optimizar antes de automatizar.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084335" y="3749040"/>
            <a:ext cx="260444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267215" y="3895344"/>
            <a:ext cx="223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CPPS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67215" y="4352544"/>
            <a:ext cx="2238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'Empezar donde estás' respeta el legado OT existente.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/ 47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26  ITIL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PRÁCTICAS DE ITIL 4 ÚTILES EN PLANTA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34 prácticas, varias son directamente aplicables a 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INCIDENTES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Restaurar el servicio rápido: un HMI caído, un historiador sin datos.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CAMBIOS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Autorizar y controlar cambios en OT sin tumbar la línea (liga a BAI06).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PROBLEMAS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Hallar la causa raíz de fallos recurrentes de proceso.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NIVEL DE SERVICIO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de disponibilidad y latencia del control.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GESTIÓN DE ACTIVOS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activos OT (base para seguridad y continuidad).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MEJORA CONTINUA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Ciclos de mejora del OEE y de la postura de seguridad.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/ 47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27  ITIL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Y ITIL 4 — CÓMO SE COMBINAN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C6F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COBIT 2019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y gestión de I&amp;T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objetivos priorizar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de capacidad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Perspectiva de dirección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+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 'paraguas'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3986784"/>
          </a:xfrm>
          <a:prstGeom prst="roundRect">
            <a:avLst>
              <a:gd name="adj" fmla="val 1147"/>
            </a:avLst>
          </a:prstGeom>
          <a:solidFill>
            <a:srgbClr val="151515"/>
          </a:solidFill>
          <a:ln w="15875">
            <a:solidFill>
              <a:srgbClr val="27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25616" y="1947672"/>
            <a:ext cx="496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ITIL 4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25616" y="2496312"/>
            <a:ext cx="4961992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servicios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operar y mejorar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Prácticas concretas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Perspectiva de servicio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−"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operativo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5861304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COBIT dice QUÉ gobernar; ITIL 4 dice CÓMO operar los servicios. Se usan juntos.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/ 47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28  ITIL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CADENA DE VALOR DEL SERVICIO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PLANEAR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y dirección compartidas.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07738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404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54042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MEJORAR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54042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Mejora continua transversal.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2557" y="178308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8861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58861" y="238658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INVOLUCRAR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58861" y="275234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Relación con interesados.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DISEÑAR/TRANSICIONAR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y desplegar servicios.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07738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54042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54042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OBTENER/CONSTRUIR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54042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Adquirir y desarrollar componentes.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2557" y="3566160"/>
            <a:ext cx="3576218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58861" y="36758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258861" y="4169664"/>
            <a:ext cx="3283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ENTREGAR/SOPORTAR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58861" y="4535424"/>
            <a:ext cx="32836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Operar y dar soporte.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/ 47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29  ITIL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ITIL 4 EN EL PISO DE PLANTA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SERVICIO, NO SISTEMA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SCADA es un servicio con SLA, no solo un software.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 CO-CREADO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y producción crean valor juntas; ninguna sola.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EMPEZAR DONDE ESTÁS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Respetar el legado OT en vez de reemplazarlo de golpe.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CAMBIO GOBERNADO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Habilitación del cambio evita que un ajuste tumbe la línea.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MEJORA CONTINUA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OEE y la seguridad mejoran por ciclos, no de un salto.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/ 47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INDICADORES Y CIERRE DE LA UNIDAD 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KPI, KRI y el tablero de gobierno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/ 47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30  MEDICIÓN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FRENTE A KRI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Indicator: mide el desempeño hacia un objetivo. Mira resultados.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85800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OEE = 78 %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22978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5858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KRI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05858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 Indicator: alerta temprana de que un riesgo aumenta. Mira amenazas.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05858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Parches OT pendientes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43037" y="1783080"/>
            <a:ext cx="3545738" cy="2286000"/>
          </a:xfrm>
          <a:prstGeom prst="roundRect">
            <a:avLst>
              <a:gd name="adj" fmla="val 24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5917" y="19659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25917" y="2496312"/>
            <a:ext cx="31799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valor objetivo del indicador, ligado al apetito y a la estrategia.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325917" y="3566160"/>
            <a:ext cx="31799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OEE meta = 85 %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297680"/>
            <a:ext cx="11185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mide si vamos bien; KRI avisa si algo va a salir mal. Un buen tablero de gobierno combina ambos, no solo KPI.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/ 47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31  MEDICIÓN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 TABLERO DE GOBIERNO PARA LA PLANTA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36192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debería ver la dirección de un vistazo.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OEE, ROI de iniciativas, beneficios realizados vs prometidos.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16882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9762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3B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RIESGO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99762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Incidentes OT, vulnerabilidades abiertas, parches pendientes.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0845" y="19202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13725" y="20665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RECURSOS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13725" y="25237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competencias, uso de capacidad, dependencia de proveedores.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SERVICIO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Disponibilidad, cumplimiento de SLA, incidentes resueltos.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16882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99762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CUMPLIMIENTO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9762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auditorías, hallazgos abiertos, conformidad legal.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0845" y="3749040"/>
            <a:ext cx="3557930" cy="1572768"/>
          </a:xfrm>
          <a:prstGeom prst="roundRect">
            <a:avLst>
              <a:gd name="adj" fmla="val 348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13725" y="3895344"/>
            <a:ext cx="31921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D6B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PROYECTOS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13725" y="4352544"/>
            <a:ext cx="319217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del portafolio, sobrecostos, entregas a tiempo.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/ 47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32  MEDICIÓN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EJEMPLOS DE KPI Y KRI EN UN CPPS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840480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783080"/>
            <a:ext cx="3694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INDICADOR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43400" y="1783080"/>
            <a:ext cx="36726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1783080"/>
            <a:ext cx="352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016088" y="1783080"/>
            <a:ext cx="3672688" cy="457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89240" y="1783080"/>
            <a:ext cx="352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ALERTA SI…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40280"/>
            <a:ext cx="38404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240280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OEE de la línea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2240280"/>
            <a:ext cx="36726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240280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16088" y="2240280"/>
            <a:ext cx="36726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89240" y="2240280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cae bajo la meta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807208"/>
            <a:ext cx="38404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2807208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Parches OT pendientes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43400" y="2807208"/>
            <a:ext cx="36726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2807208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16088" y="2807208"/>
            <a:ext cx="36726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9240" y="2807208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crece el backlog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74136"/>
            <a:ext cx="3840480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374136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SLA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374136"/>
            <a:ext cx="36726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16552" y="3374136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16088" y="3374136"/>
            <a:ext cx="3672688" cy="566928"/>
          </a:xfrm>
          <a:prstGeom prst="rect">
            <a:avLst/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89240" y="3374136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baja del 99 %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941064"/>
            <a:ext cx="3840480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" y="3941064"/>
            <a:ext cx="3694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Accesos remotos activos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43400" y="3941064"/>
            <a:ext cx="36726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6552" y="3941064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3B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016088" y="3941064"/>
            <a:ext cx="3672688" cy="566928"/>
          </a:xfrm>
          <a:prstGeom prst="rect">
            <a:avLst/>
          </a:prstGeom>
          <a:solidFill>
            <a:srgbClr val="0B0B0B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89240" y="3941064"/>
            <a:ext cx="352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hay no autorizados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/ 47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33  U1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ENTREGABLE 1 — CIERRE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1280160"/>
          </a:xfrm>
          <a:prstGeom prst="roundRect">
            <a:avLst>
              <a:gd name="adj" fmla="val 4286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EVALUACIÓN · 15 %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GOBIERNO DE TI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32918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QUÉ SE HACE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111858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recibe esta semana. Integra: caracterización de la empresa, cascada de objetivos (S03), diseño a medida con factores y niveles (S04), matriz de principios (S02), matriz de derechos de decisión (S01) y un tablero de indicadores propuesto. Extensión 12–18 páginas.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Cascada · diseño a medida · matrices · tablero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24448" y="5358384"/>
            <a:ext cx="5364328" cy="914400"/>
          </a:xfrm>
          <a:prstGeom prst="roundRect">
            <a:avLst>
              <a:gd name="adj" fmla="val 5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5486400"/>
            <a:ext cx="499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INTEGRA EN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507328" y="5779008"/>
            <a:ext cx="499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 final del proyecto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/ 47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34  U1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SÍNTESIS DE LA UNIDAD 1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GOBERNAR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EDM: evaluar, dirigir, monitorear (S01).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PRINCIPIOS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38500: seis principios (S02).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SISTEMA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COBIT: cascada, 40 objetivos, 7 componentes (S03).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MEDIDA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diseño, capacidad y madurez (S04).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VALOR/RIESGO/RECURSOS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triángulo del gobierno e ITIL 4 (hoy).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/ 47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35  U1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PUENTE A LA UNIDAD 2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6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YA SABEMOS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gobernar la tecnología: quién decide, qué priorizar, cómo medir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0138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AHORA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05858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exactamente lo que gobernamos: el sistema ciber-físico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43037" y="1783080"/>
            <a:ext cx="3545738" cy="1828800"/>
          </a:xfrm>
          <a:prstGeom prst="roundRect">
            <a:avLst>
              <a:gd name="adj" fmla="val 3000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0197" y="1965960"/>
            <a:ext cx="32714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B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U2 →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325917" y="2834640"/>
            <a:ext cx="31799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 4.0, ISA-95, RAMI 4.0 e IIoT: la arquitectura del CPPS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8862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LECTURA CLAVE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270248"/>
            <a:ext cx="111858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Unidad 1 tenemos el marco de gobierno. La Unidad 2 abre la 'caja negra' del sistema ciber-físico: su arquitectura, sus niveles y sus tecnologías. Gobernar bien exige entender qué se gobierna.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/ 47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848295" y="1097280"/>
            <a:ext cx="38404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515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0" dirty="0"/>
          </a:p>
        </p:txBody>
      </p:sp>
      <p:sp>
        <p:nvSpPr>
          <p:cNvPr id="4" name="Text 2"/>
          <p:cNvSpPr/>
          <p:nvPr/>
        </p:nvSpPr>
        <p:spPr>
          <a:xfrm>
            <a:off x="502920" y="2423160"/>
            <a:ext cx="102714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CIERRE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43434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3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Síntesis, glosario y referencias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/ 47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36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PUNTOS CLAVE PARA RECORDAR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51960" y="1783080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basta invertir: hay que realizar el beneficio (EDM02).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710282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10282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2710282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Apetito, registro y respuesta; el riesgo OT es físico.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637483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637483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3637483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(escasas), datos y infraestructura (EDM04).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564685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64685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ITIL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4564685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TI como servicios que co-crean valor.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491886"/>
            <a:ext cx="11185855" cy="780898"/>
          </a:xfrm>
          <a:prstGeom prst="roundRect">
            <a:avLst>
              <a:gd name="adj" fmla="val 5855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491886"/>
            <a:ext cx="3474720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5491886"/>
            <a:ext cx="7208215" cy="7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+ KRI en un tablero cierran el ciclo EDM.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/ 47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37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MAPA DEL CURSO — CERRAMOS LA UNIDAD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E0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U1 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9224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9224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S01–05 · completada.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6534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838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7E5E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2838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02838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S06–09 · siguiente.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0148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6452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6452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INTEGRACIÓN IT/OT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6452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S10–13.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63761" y="1783080"/>
            <a:ext cx="2625014" cy="1554480"/>
          </a:xfrm>
          <a:prstGeom prst="roundRect">
            <a:avLst>
              <a:gd name="adj" fmla="val 3529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10065" y="1892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8C8C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210065" y="2386584"/>
            <a:ext cx="23324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 CIBER-FÍSICO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10065" y="2752344"/>
            <a:ext cx="23324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S14–16.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 / 47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38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GLOSARIO ESENCIAL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Realización de beneficios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7512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Cosechar el valor prometido de una inversión (EDM02).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24448" y="17830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89040" y="18562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Apetito de riesgo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89040" y="21671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 que la empresa acepta asumir (EDM03).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Registro de riesgos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7512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de riesgos con probabilidad, impacto y respuesta.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4448" y="26974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9040" y="27706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EDM04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89040" y="30815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Optimización de recursos: personas, datos, infraestructura.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ITIL 4 / SVS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7512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Gestión de servicios; sistema de valor del servicio.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24448" y="36118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9040" y="36850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Utilidad / garantía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9040" y="39959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Apto para el propósito / apto para el uso.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 / KRI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 de desempeño / de riesgo.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4448" y="4526280"/>
            <a:ext cx="5364328" cy="786384"/>
          </a:xfrm>
          <a:prstGeom prst="roundRect">
            <a:avLst>
              <a:gd name="adj" fmla="val 4651"/>
            </a:avLst>
          </a:prstGeom>
          <a:solidFill>
            <a:srgbClr val="151515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9040" y="4599432"/>
            <a:ext cx="503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TCO / ROI / VPN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89040" y="4910328"/>
            <a:ext cx="503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Métricas económicas de la inversión.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/ 47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39  CIERRE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76656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REFERENCIAS Y RECURSOS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517904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Toca el enlace para abrir la fuente · libre = acceso gratuito · de pago = compra o biblioteca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5855" cy="4489704"/>
          </a:xfrm>
          <a:prstGeom prst="roundRect">
            <a:avLst>
              <a:gd name="adj" fmla="val 1018"/>
            </a:avLst>
          </a:prstGeom>
          <a:solidFill>
            <a:srgbClr val="151515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84248"/>
            <a:ext cx="10545775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ITIL 4: resumen del Service Value System (guía abierta)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https://www.atlassian.com/itsm/itil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AXELOS — ITIL 4 Foundation (texto oficial)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https://www.axelos.com/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ISACA — COBIT 2019 (EDM02/03/04, APO05/12/14)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https://www.isaca.org/resources/cobit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Scorecard — conceptos básicos (recursos abiertos)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22E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libre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https://balancedscorecard.org/bsc-basics-overview/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31000 — gestión del riesgo (norma)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spcAft>
                <a:spcPts val="700"/>
              </a:spcAft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https://www.iso.org/iso-31000-risk-management.html</a:t>
            </a:r>
            <a:endParaRPr lang="en-US" sz="1150" dirty="0"/>
          </a:p>
          <a:p>
            <a:pPr marL="342900" indent="-342900">
              <a:lnSpc>
                <a:spcPct val="102000"/>
              </a:lnSpc>
              <a:spcAft>
                <a:spcPts val="100"/>
              </a:spcAft>
              <a:buSzPct val="100000"/>
              <a:buChar char="–"/>
            </a:pPr>
            <a:r>
              <a:rPr lang="en-US" sz="1150" dirty="0">
                <a:solidFill>
                  <a:srgbClr val="F4F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ISO/IEC 20000 — gestión de servicios de TI (norma)</a:t>
            </a:r>
            <a:pPr indent="0" marL="0">
              <a:lnSpc>
                <a:spcPct val="102000"/>
              </a:lnSpc>
              <a:spcAft>
                <a:spcPts val="100"/>
              </a:spcAft>
              <a:buNone/>
            </a:pPr>
            <a:r>
              <a:rPr lang="en-US" sz="8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de pago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850" u="sng" dirty="0">
                <a:solidFill>
                  <a:srgbClr val="27E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/ 47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8872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 SESIÓN 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PRÓXIMA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237744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F4F4F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SESIÓN 06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365760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buNone/>
            </a:pPr>
            <a:r>
              <a:rPr lang="en-US" sz="1500" dirty="0">
                <a:solidFill>
                  <a:srgbClr val="F4F4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INDUSTRIA 4.0 Y SISTEMAS CIBER-FÍSICOS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 la Unidad 2: las cuatro revoluciones, definición de CPPS y la arquitectura 5C.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53035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root@planta:~# next --unit 2 --session 06 _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3825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A5A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GOBIERNO DE TI · CPPS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2648" y="63825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S05 · VALOR · ITIL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945575" y="6382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47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Universidad de San Buenaventura — Medellín (Bello)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GOBIERNO DE TI Y SISTEMAS CIBER-FÍSICOS DE PRODUCCIÓN · 2026-2</dc:title>
  <dc:subject>PptxGenJS Presentation</dc:subject>
  <dc:creator>Jorge Andrés Dapena — MSc.</dc:creator>
  <cp:lastModifiedBy>Jorge Andrés Dapena — MSc.</cp:lastModifiedBy>
  <cp:revision>1</cp:revision>
  <dcterms:created xsi:type="dcterms:W3CDTF">2026-09-18T01:20:52Z</dcterms:created>
  <dcterms:modified xsi:type="dcterms:W3CDTF">2026-09-18T01:20:52Z</dcterms:modified>
</cp:coreProperties>
</file>