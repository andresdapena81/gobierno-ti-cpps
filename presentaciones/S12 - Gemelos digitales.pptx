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gemelo digital es el nivel Cyber/Cognition de la 5C. Con los datos fluyendo (S10-11), aquí se construye el modelo que piensa.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la definición precisa (modelo/sombra/gemelo) al gobierno de la fidelidad y la responsabilidad.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distinción clave: modelo (manual), sombra (un sentido), gemelo (bidireccional). Muchos llaman 'gemelo' a lo que es solo una sombra.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central: no solo qué es un gemelo, sino cómo se gobierna (fidelidad, validación, quién responde).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distinción de Kritzinger es clave para el análisis de casos y para no dejarse engañar por el marketing. Bidireccional = gemelo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componentes del gemelo. La conexión de vuelta es la que lo distingue de una sombra.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gemelo aterriza la 5C de S06. Es el componente que hace 'ciber' al CPPS. Depende de la capa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 la distinción de S08. AAS (datos/identidad) + gemelo de simulación (comportamiento) = gemelo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distinción protege la inversión (principio de adquisición). Especificar bien evita pagar 'gemelo' por una sombra.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de Kritzinger. El gemelo es el único con flujo bidireccional que actúa sobre el físico. Distinción clave para el análisis de casos.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alcance define el esfuerzo. La mayoría de proyectos exitosos empiezan por un activo crítico y escalan.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enfoques de modelado. El híbrido crece porque combina interpretabilidad (física) y precisión (datos).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fidelidad es una decisión económica de gobierno. Se dimensiona por el caso de uso, no por 'hacerlo lo más realista posible'.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fidelidad y la frecuencia de sincronización se dimensionan por el propósito. Control en lazo exige lo máximo; mantenimiento, poco.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gemelo hereda la calidad de sus datos. Enlaza con S13 (gobierno de datos). GIGO.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Estrategia anti-fracaso: pequeño, medible, escalar. Evita el piloto zombi de S05.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gemelo sigue el ciclo de vida del eje 2 de RAMI (S08): del tipo (diseño) a la instancia (operación) y al retiro.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propósito manda. La instrumentación y conexión de datos suele ser el 80% del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drift es el gran riesgo operativo del gemelo. Exige recalibración y validación continuas. Es un costo recurrente.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gemelo materializa el hilo digital de S08. Conecta las fases del ciclo de vida del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TCO del gemelo incluye operación y mantenimiento, no solo construcción. Debe entrar en el business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gemelo integra simulación, IA, datos en vivo y visualización. No es una sola tecnología: es una arquitectura.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caso de uso tiene un retorno concreto. El proyecto debe elegir el caso con mayor retorno y menor riesgo para su gemelo.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casos de uso con retorno medible. La puesta en marcha virtual y la validación de cambios evitan costos y paradas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realista del sector cemento antioqueño. Muestra el valor concreto: optimizar sin arriesgar el proceso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autonomía es un continuo. Cuánta se concede es decisión de gobierno (liga a la sección 5 y a S01).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Advertencia sobre el exceso de confianza. El gemelo tiene límites de validez. La responsabilidad es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preguntas de gobierno del gemelo. Son la base del taller y del Entregable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V&amp;V es lo que convierte un modelo bonito en una herramienta confiable. Documentar límites es tan importante como validar.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riesgos del gemelo son de gobierno de riesgo (APO12). Un gemelo comprometido es un vector de ataque OT (S14).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Lab 7 produce la especificación del gemelo para el Entregable 2. Enfatiza la parte de gobierno, no solo la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Orientaciones que integran técnica y gobierno del gemelo para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Verificar la distinción modelo/sombra/gemelo y las preguntas de gobierno.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S13 cierra la Unidad 3 con el gobierno de datos y los indicadores que sostienen al gemelo y la analítica.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 23247 es el estándar de referencia. Ayuda a especificar el gemelo del proyecto de forma neutral y gobernable.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Vocabulario de gemelos digitales.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fundacionales y estándares de gemelos digitales.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S13 cierra la Unidad 3 con el gobierno del dato que sostiene todo lo visto: gemelos, analítica e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ifacol.2018.08.474" TargetMode="External"/><Relationship Id="rId2" Type="http://schemas.openxmlformats.org/officeDocument/2006/relationships/hyperlink" Target="https://doi.org/10.1109/ACCESS.2020.2970143" TargetMode="External"/><Relationship Id="rId3" Type="http://schemas.openxmlformats.org/officeDocument/2006/relationships/hyperlink" Target="https://www.digitaltwinconsortium.org/" TargetMode="External"/><Relationship Id="rId4" Type="http://schemas.openxmlformats.org/officeDocument/2006/relationships/hyperlink" Target="https://industrialdigitaltwin.org/" TargetMode="External"/><Relationship Id="rId5" Type="http://schemas.openxmlformats.org/officeDocument/2006/relationships/hyperlink" Target="https://doi.org/10.1109/TII.2018.2873186" TargetMode="External"/><Relationship Id="rId6" Type="http://schemas.openxmlformats.org/officeDocument/2006/relationships/hyperlink" Target="https://www.iso.org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01000111 01001111 01000010 01001001 01000101 01010010 01001110 01001111  01000100 01000101  01010100 01001001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50155-3M · PREGRADO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6775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12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GEMELOS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réplica virtual que da al sistema ciber-físico su lado 'ciber'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5074920"/>
            <a:ext cx="11185855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257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5257800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Andrés Dapena — MSc.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641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5641848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U3 · Convergencia IT/OT    ·    SEMANA 12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025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6025896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San Buenaventura — Medellín (Bello)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Y SISTEMAS CIBER-FÍSICOS DE PRODUCCIÓN · 2026-2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 INICIO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gemelo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17320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Modelo, sombra y gemelo digital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4448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904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38848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y fidelidad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38848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componente a proceso; cuánta fidelidad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Diseño, operación y retiro del gemelo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24448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904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38848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38848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Validación, optimización, predicción, formación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del gemelo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Propiedad, validación y responsabilidad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24448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9040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38848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38848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Lab, síntesis y referencias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44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 GEMELO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GEMELO DIGITAL EN CIFRAS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NIVELES DE INTEGRACIÓN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67964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7964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5C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67964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 CYBER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3008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↔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33008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SINCRONÍA BIDIRECCIONAL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98051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051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98051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CONCEPTO (GRIEVES)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 Grieves (2002), NASA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448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13368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model: sin conexión automática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SOMBRA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shadow: físico → virtual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4448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GEMELO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13368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twin: físico ↔ virtual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(S10-11) + modelo + simulación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4448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13368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Fidelidad, validación, responsabilidad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44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 GEMELO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modelo, sombra y gemelo digital según su nivel de integración.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13939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13939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2713939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gemelos por alcance (componente, activo, sistema, proceso).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64479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4479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364479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de vida de un gemelo digital.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57565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7565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457565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 de gemelos en manufactura.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506517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506517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91640" y="5506517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gobierno del gemelo: fidelidad, validación y responsabilidad.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44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MODELO, SOMBRA Y GEMELO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Tres cosas distintas que se confunden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 DEFINICIÓN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NIVEL DE INTEGRACIÓN LO CAMBIA TODO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DIGITAL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Representación virtual sin intercambio automático de datos con lo físico. Se actualiza a mano.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CAD, una simulación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SOMBRA DIGITAL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automático físico → virtual: el virtual refleja al físico, pero no lo controla.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tablero en vivo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GEMELO DIGITAL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bidireccional físico ↔ virtual: el virtual refleja Y actúa sobre el físico.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Optimización en lazo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Kritzinger (2018): la diferencia no es la tecnología, es el flujo de datos. Sin flujo automático es modelo; en un sentido es sombra; en ambos es gemelo. La mayoría de 'gemelos' del mercado son en realidad sombras.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44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 DEFINICIÓN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COMPONE UN GEMELO DIGITAL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gemelo es más que un modelo 3D.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representación (física, de datos o híbrida) del activo o proceso.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en tiempo real desde el físico (S10-11) que lo mantiene sincronizado.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SIMULACIÓN / 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capacidad de predecir, comparar y optimizar sobre el modelo.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CONEXIÓN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lazo que devuelve decisiones al físico (lo que lo hace 'gemelo').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44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 DEFINICIÓN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GEMELO Y LA ARQUITECTURA 5C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CONEXIÓN CON S06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NIVEL CYBER HECHO REALIDAD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5C, el gemelo digital ES el nivel 3 (Cyber): la memoria y el modelo donde la máquina se compara consigo misma y con su flota. La cognición (nivel 4) razona sobre el gemelo; la configuración (nivel 5) actúa. El gemelo es, literalmente, el 'lado ciber' del sistema ciber-físico.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LA 5C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(modelo) → Cognition → Configuration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REQUIERE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en vivo (S10-11)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44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 DEFINICIÓN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GEMELO DIGITAL VS AAS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conceptos relacionados de S08 y de hoy.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AAS (S08)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Gemelo administrativo: identidad, datos y capacidades estandarizados del activo.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GEMELO DE SIMULACIÓN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 del comportamiento físico: predice y optimiza.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COMPLEMENTARIOS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AAS es la 'ficha' estándar; el gemelo de simulación, el 'modelo que corre'.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JUNTOS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CPPS maduro usa el AAS para interoperar y el gemelo para simular.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44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 DEFINICIÓN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IMPORTA LA DISTINCIÓN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todo se vende como 'gemelo digital', la mayoría son sombras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EXPECTATIVA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 por un gemelo y recibir un tablero es un fracaso de gobierno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VALOR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valor real (optimización, autonomía) requiere el lazo bidireccional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 modelo, sombra y gemelo no es pedantería: es proteger la inversión. Un gemelo real (bidireccional) cuesta y aporta más que una sombra. El gobierno debe especificar qué se compra y qué valor entrega, no dejarse llevar por la etiqueta.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44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 DEFINICIÓN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MODELO, SOMBRA Y GEMELO — COMPARACIÓN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9260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29000" y="1783080"/>
            <a:ext cx="275325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2152" y="1783080"/>
            <a:ext cx="2606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82258" y="1783080"/>
            <a:ext cx="275325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55410" y="1783080"/>
            <a:ext cx="2606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SOMBRA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935517" y="1783080"/>
            <a:ext cx="275325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8669" y="1783080"/>
            <a:ext cx="2606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GEMELO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40280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24028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físico→virtual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29000" y="2240280"/>
            <a:ext cx="275325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02152" y="2240280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2258" y="2240280"/>
            <a:ext cx="275325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5410" y="2240280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35517" y="2240280"/>
            <a:ext cx="275325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8669" y="2240280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807208"/>
            <a:ext cx="29260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80720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virtual→físico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29000" y="2807208"/>
            <a:ext cx="275325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2807208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2258" y="2807208"/>
            <a:ext cx="275325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5410" y="2807208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35517" y="2807208"/>
            <a:ext cx="275325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8669" y="2807208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374136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374136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Actúa sobre el físico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29000" y="3374136"/>
            <a:ext cx="275325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02152" y="3374136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82258" y="3374136"/>
            <a:ext cx="275325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5410" y="3374136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35517" y="3374136"/>
            <a:ext cx="275325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8669" y="3374136"/>
            <a:ext cx="2606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44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TIPOS Y FIDELIDAD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un tornillo a una fábrica entera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44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44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 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GEMELOS POR ALCANCE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gemelo puede modelar desde un componente hasta un sistema de sistemas.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elemento individual: un rodamiento, una válvula.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máquina completa: una prensa, una llenadora.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línea o celda: varias máquinas interactuando.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PROCESO / PLANTA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proceso productivo completo o la fábrica entera.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44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 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TIPOS DE MODELO SUBYACENTE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FÍSICO (WHITE-BOX)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Basado en ecuaciones físicas del proceso. Preciso, exige conocimiento experto.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CFD, mecánica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 (BLACK-BOX)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Basado en ML sobre datos históricos. Rápido de crear, opaco.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neuronal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HÍBRIDO (GREY-BOX)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 física y datos: lo mejor de ambos. Tendencia dominante.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Physics-informed ML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puede ser físico (ecuaciones), de datos (ML) o híbrido. El híbrido (physics-informed) es la tendencia: física para la estructura, datos para la precisión.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44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 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FIDELIDAD — CUÁNTA ES NECESARIA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DECISIÓN CLAVE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 DE MÁS NI DE MENOS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fidelidad es cuán fielmente el gemelo representa al físico. Más fidelidad da más precisión pero cuesta más (datos, cómputo, desarrollo). La fidelidad adecuada depende del propósito: un gemelo para agendar mantenimiento necesita menos fidelidad que uno para control en lazo cerrado. Sobre-modelar es tan malo como sub-modelar.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fidelidad la fija el propósito, no la ambición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Gemelo caro que nadie usa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44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  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FIDELIDAD SEGÚN EL PROPÓSITO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47472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PROPÓSITO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977640" y="1783080"/>
            <a:ext cx="385556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50792" y="1783080"/>
            <a:ext cx="370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FIDELIDAD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833208" y="1783080"/>
            <a:ext cx="385556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6360" y="1783080"/>
            <a:ext cx="370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FRECUENCIA SINC.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347472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Agendar mantenimiento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77640" y="2240280"/>
            <a:ext cx="385556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50792" y="2240280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Baja-media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33208" y="2240280"/>
            <a:ext cx="385556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6360" y="2240280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Horas/días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347472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anomalías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977640" y="2807208"/>
            <a:ext cx="385556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0792" y="2807208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33208" y="2807208"/>
            <a:ext cx="385556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6360" y="2807208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347472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 parámetros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977640" y="3374136"/>
            <a:ext cx="385556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0792" y="3374136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Media-alta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33208" y="3374136"/>
            <a:ext cx="385556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6360" y="3374136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347472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en lazo cerrado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977640" y="3941064"/>
            <a:ext cx="385556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50792" y="3941064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33208" y="3941064"/>
            <a:ext cx="385556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06360" y="3941064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Segundos/ms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44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  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REQUISITOS DE DATOS DEL GEMELO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gemelo vale lo que valen sus datos.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COBERTURA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señales necesarias deben existir e instrumentarse.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CALIDAD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exactos, completos y a tiempo (garbage in, garbage out).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FRECUENCIA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tasa de muestreo debe soportar la fidelidad requerida.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Semántica (S10) para que el modelo sepa qué es cada señal.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44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  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EMPEZAR PEQUEÑO, PROBAR VALOR, ESCALAR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ACTIVO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empezar por un activo crítico con datos disponibles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CASO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caso de uso claro con valor medible (p. ej. menos paradas)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ESCALAR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replicar a otros activos solo tras probar el retorno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típico es querer el gemelo de toda la planta de entrada. Lo prudente: un activo crítico, un caso de uso con valor medible, y escalar tras demostrar retorno. Así el gemelo no se vuelve un 'piloto zombi' más (S05).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44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CICLO DE VIDA DEL GEMELO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gemelo también nace, vive y muere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44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44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16  CICLO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CUATRO FASES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DISEÑO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del tipo (RAMI: tipo).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6534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838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838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838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Instanciar y conectar datos.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45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6452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6452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Sincronizar, simular, decidir.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63761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0065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10065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RETIRO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10065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Archivar o dar de baja.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44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17  CICLO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DISEÑO Y CREACIÓN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que el gemelo 'corra'.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DEFINIR PROPÓSITO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qué? El propósito fija fidelidad, datos y alcance.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CONSTRUIR EL MODELO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Físico, de datos o híbrido, según el propósito.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INSTRUMENTAR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Asegurar las señales necesarias (sensores, OPC UA).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CONECTAR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Enlazar el flujo de datos en vivo (UNS) al modelo.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44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18  CICLO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OPERACIÓN Y MANTENIMIENTO DEL GEMELO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gemelo vivo requiere cuidado continuo.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SINCRONIZACIÓN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el gemelo alineado con el físico en la frecuencia requerida.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DERIVA (DRIFT)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físico cambia (desgaste, mantenimiento); el modelo debe recalibrarse.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VALIDACIÓN CONTINUA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que las predicciones siguen siendo correctas.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VERSIONADO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Controlar versiones del modelo como se controla el software.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44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19  CICLO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GEMELO A LO LARGO DEL CICLO DEL PRODUCTO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HILO DIGITAL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 DISEÑO AL SERVICIO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gemelo conecta el diseño (¿cómo debería comportarse?), la producción (¿cómo se fabricó esta instancia?) y la operación (¿cómo se comporta hoy?). Ese hilo digital (S08) permite, por ejemplo, que un dato de diseño ayude a diagnosticar una falla en planta años después. El gemelo es el portador del hilo digital.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CONECTA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→ producción → operación → servicio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HABILITA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y mejora de extremo a extremo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44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  CICLO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COSTO TOTAL DE UN GEMELO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CONSTRUIR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modelo, instrumentación y conexión de datos (una vez)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OPERAR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sincronización, cómputo y almacenamiento (recurrente)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MANTENER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recalibración, validación y versionado (recurrente)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gemelo tiene un TCO: no solo cuesta construirlo, sino operarlo y mantenerlo alineado con un físico que cambia. Ignorar el costo recurrente lleva a gemelos abandonados que se desvían y pierden confiabilidad. El business case (S05, S16) debe incluirlo.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44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21  CICLO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TECNOLOGÍAS PARA CONSTRUIR UN GEMELO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ecosistema técnico detrás de un gemelo.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CFD, elementos finitos, simulación de procesos.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 / ML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datos para lo difícil de modelar físicamente.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PLATAFORMAS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gemelos (Azure Digital Twins, etc.).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 EN VIVO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 UA / MQTT / UNS (S10-11) para sincronizar.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VISUALIZACIÓN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3D, realidad aumentada para inspección.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ESTÁNDARES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23247, AAS (S08) para interoperar.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44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CASOS DE USO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qué sirve realmente un gemelo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44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44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22  CASOS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CASOS DE USO Y SU RETORNO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65760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DE USO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60520" y="1783080"/>
            <a:ext cx="7528255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33672" y="1783080"/>
            <a:ext cx="73819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BENEFICIO PRINCIPAL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36576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2240280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predictivo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60520" y="2240280"/>
            <a:ext cx="7528255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3672" y="2240280"/>
            <a:ext cx="73819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Menos paradas no planificadas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07208"/>
            <a:ext cx="365760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807208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 proceso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60520" y="2807208"/>
            <a:ext cx="7528255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33672" y="2807208"/>
            <a:ext cx="73819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Ahorro de energía/material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374136"/>
            <a:ext cx="36576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374136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Puesta en marcha virtual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60520" y="3374136"/>
            <a:ext cx="7528255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33672" y="3374136"/>
            <a:ext cx="73819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Menos tiempo y riesgo al arrancar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941064"/>
            <a:ext cx="365760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941064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Formación de operarios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60520" y="3941064"/>
            <a:ext cx="7528255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33672" y="3941064"/>
            <a:ext cx="73819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Entrenar sin parar la línea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44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23  CASOS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CASOS DE USO EN MANUFACTURA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el gemelo aporta valor medible.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VALIDACIÓN VIRTUAL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un cambio de proceso en el gemelo antes de tocar el físico.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OPTIMIZACIÓN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los mejores parámetros de operación en el modelo.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MANTENIMIENTO PREDICTIVO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Predecir fallos comparando el estado real con el esperado.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Entrenar operarios en el gemelo sin riesgo ni parar la línea.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WHAT-IF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Simular escenarios (más demanda, una falla) para decidir.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PUESTA EN MARCHA VIRTUAL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una línea nueva en virtual antes de construirla.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44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24  CASOS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 — OPTIMIZACIÓN DE UN HORNO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MENOS ENERGÍA, MISMA CALIDAD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gemelo híbrido de un horno de cemento combina física térmica y datos de operación. Simula distintas curvas de temperatura y aire para encontrar la que minimiza el consumo de energía manteniendo la calidad del clínker. La recomendación se valida y se aplica. Resultado: ahorro energético medible sin arriesgar la producción.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Gemelo híbrido · optimización · what-if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energético con calidad estable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44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  CASOS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 GEMELO A LA DECISIÓN AUTÓNOMA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gemelo habilita distintos grados de autonomía.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INFORMAR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gemelo muestra y predice; el humano decide. Nivel de entrada.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RECOMENDAR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gemelo sugiere una acción; el humano aprueba.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ACTUAR CON SUPERVISIÓN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gemelo ajusta parámetros dentro de límites; el humano supervisa.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AUTÓNOMO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gemelo cierra el lazo solo (nivel 5 de la 5C). Máximo cuidado.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44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26  CASOS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GEMELO NO REEMPLAZA EL JUICIO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HERRAMIENTA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gemelo informa y predice; no elimina la responsabilidad humana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LÍMITES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 bien solo dentro del rango con que fue validado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RESPONSABILIDAD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gemelo se equivoca, ¿quién responde? es decisión de gobierno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gemelo es un asesor muy capaz dentro de sus límites de validez, no un oráculo infalible. Fuera de su rango de validación, puede errar con total confianza. Definir sus límites y quién responde por sus decisiones es gobierno, no técnica.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44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 DEL GEMELO DIGITAL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Fidelidad, validación, propiedad y responsabilidad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44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44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27  GOBIERNO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PREGUNTAS DE GOBIERNO DEL GEMELO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hay que decidir antes de confiar en un gemelo.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PROPIEDAD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es dueño del gemelo y responde por él? (¿ingeniería, TI, proveedor?)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FIDELIDAD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fidelidad se exige y cómo se verifica?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VALIDACIÓN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prueba que el gemelo es correcto y sigue siéndolo?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RESPONSABILIDAD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responde si una decisión basada en el gemelo causa daño?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44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28  GOBIERNO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VALIDACIÓN Y VERIFICACIÓN (V&amp;V)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CONFIANZA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¿PODEMOS CONFIAR EN ÉL?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usar un gemelo para decidir, hay que validarlo: comparar sus predicciones con la realidad en un rango de condiciones y documentar su exactitud y sus límites. La validación se repite en operación (drift). Un gemelo sin V&amp;V documentada no debería soportar decisiones críticas: sería decidir sobre fe.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predicción vs realidad · documentar límites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SI FALTA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sobre un modelo no validado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44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29  GOBIERNO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RIESGOS ESPECÍFICOS DEL GEMELO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puede salir mal con un gemelo.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DRIFT NO DETECTADO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se desvía y nadie lo nota: decisiones cada vez peores.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USO FUERA DE RANGO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Confiar en el gemelo en condiciones para las que no fue validado.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CIBERSEGURIDAD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gemelo comprometido puede inducir decisiones dañinas (S14).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DEPENDENCIA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Perder la capacidad humana de operar sin el gemelo.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44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  GOBIERNO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7 — ESPECIFICAR UN GEMELO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SEGUIMIENTO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GEMELO DEL PROYECTO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un activo o proceso del proyecto: 1) define el propósito y el nivel (modelo/sombra/gemelo). 2) Especifica variables, tipo de modelo y fidelidad requerida. 3) Lista los datos y su frecuencia (conexión con S10-11). 4) Define su gobierno: propiedad, criterios de validación y responsabilidad. Entregable: especificación funcional del gemelo.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Especificación funcional del gemelo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ALIMENTA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 2 (semana 13)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44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31  GOBIERNO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IDEAS PARA EL PROYECTO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SÉ HONESTO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 un gemelo, una sombra o un modelo? No infles la etiqueta.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DIMENSIONA LA FIDELIDAD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el propósito, no por la ambición.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PRESUPUESTA EL DRIFT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recalibración y validación en el TCO.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RESPONSABILIDAD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responde por las decisiones del gemelo.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ASEGÚRALO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gemelo comprometido induce decisiones dañinas.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44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CIERRE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Síntesis, glosario y referencias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44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44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32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PUNTOS CLAVE PARA RECORDAR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MODELO/SOMBRA/GEMELO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de datos define cuál es; bidireccional = gemelo.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ALCANCE Y FIDELIDAD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dimensionan por el propósito, no por la ambición.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CICLO DE VIDA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gemelo se mantiene: el drift lo desvía.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CASOS DE USO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Validación, optimización, predicción, formación.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Propiedad, validación y responsabilidad del gemelo.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44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33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DÓNDE VAMOS — UNIDAD 3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OPC UA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6534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838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838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 / UNS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838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en tiempo real.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45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6452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GEMELOS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6452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que piensa · hoy.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63761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0065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10065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 / OEE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10065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de datos · cierra U3.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/ 44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34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ESTÁNDAR ISO 23247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de referencia para gemelos en manufactura.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 gemelo digital para manufactura (ISO 23247).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ENTIDAD OBSERVABLE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activo/proceso físico que el gemelo representa.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ELEMENTOS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Recolección de datos, gestión, modelado y aplicaciones.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Estandarizar facilita interoperar y gobernar el gemelo.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/ 44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35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GLOSARIO ESENCIAL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Gemelo digital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 virtual con flujo bidireccional con el físico.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9040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Sombra digital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89040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 con flujo solo físico → virtual.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digital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 sin flujo automático de datos.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4448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9040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Fidelidad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89040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Grado de fidelidad del modelo al físico.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Desviación del modelo respecto del físico con el tiempo.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4448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9040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V&amp;V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89040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y verificación del gemelo.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Físico/datos/híbrido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modelo (white/black/grey-box).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4448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9040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Hilo digital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89040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Continuidad de datos en el ciclo de vida (S08).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44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36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REFERENCIAS Y RECURSOS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Toca el enlace para abrir la fuente · libre = acceso gratuito · de pago = compra o biblioteca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84248"/>
            <a:ext cx="10545775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Kritzinger et al. (2018) — Digital Twin en manufactura (IFAC, abierto)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https://doi.org/10.1016/j.ifacol.2018.08.474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Rasheed, San &amp; Kvamsdal (2020) — Digital Twin (IEEE Access, abierto)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https://doi.org/10.1109/ACCESS.2020.2970143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Consortium — recursos abiertos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https://www.digitaltwinconsortium.org/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IDTA — Asset Administration Shell (gemelo administrativo)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https://industrialdigitaltwin.org/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Tao et al. (2019) — Digital Twin in Industry (IEEE T-II)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https://doi.org/10.1109/TII.2018.2873186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23247 — marco de gemelo digital para manufactura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https://www.iso.org/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44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SESIÓN 12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20116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37744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SESIÓN 13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6576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DATOS Y ANALÍTICA (OEE)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y propiedad del dato, roles de gobierno de datos, OEE y mantenimiento predictivo; cierre de la Unidad 3.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53035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root@planta:~# next --session 13 _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 · GEMELO DIGITAL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/ 44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Universidad de San Buenaventura — Medellín (Bello)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GOBIERNO DE TI Y SISTEMAS CIBER-FÍSICOS DE PRODUCCIÓN · 2026-2</dc:title>
  <dc:subject>PptxGenJS Presentation</dc:subject>
  <dc:creator>Jorge Andrés Dapena — MSc.</dc:creator>
  <cp:lastModifiedBy>Jorge Andrés Dapena — MSc.</cp:lastModifiedBy>
  <cp:revision>1</cp:revision>
  <dcterms:created xsi:type="dcterms:W3CDTF">2026-09-18T01:20:52Z</dcterms:created>
  <dcterms:modified xsi:type="dcterms:W3CDTF">2026-09-18T01:20:52Z</dcterms:modified>
</cp:coreProperties>
</file>