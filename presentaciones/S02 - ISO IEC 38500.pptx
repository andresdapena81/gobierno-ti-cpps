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sesión. La norma que da el lenguaje de gobierno a la dirección. Base sobre la que COBIT construye. Revisar el taller de S01 al inicio.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lo normativo (qué exige la norma) a lo práctico (cómo se aplica a una planta).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38500 no dice CÓMO hacer las cosas (eso es COBIT/ITIL); da PRINCIPIOS para que la dirección gobierne bien la 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tangible: la matriz de principios que se entrega como taller y alimenta el Entregable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verbos resumen el espíritu: gobernar el uso, asegurar los tres criterios (eficaz/eficiente/aceptable), y generar confianza.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Precisión terminológica: se gobierna el USO de la TI, y el gobierno DIRIGE a la gestión, no la reemplaza.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38500 es la 'cabeza' de una familia (385xx). Precisión: 38501 es una especificación técnica (TS) y 38502 un informe técnico (TR); solo 38500 es norma plena. Ninguna es certificable.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Aceptable es el criterio más olvidado: incluye ética, ambiente y percepción social — clave en automatización que afecta empleo.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el alcance: 38500 gobierna el USO de la TI, no la administra. La operación es gestión.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Frecuente confusión: no es certificable ni prescriptiva. Es la 'constitución' del gobierno de TI; COBIT es la 'ley'.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 la audiencia de la norma: el board, no el área de TI. La TI es materia de gobierno corporativo.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hacia la sección del modelo EDM. La norma pone la responsabilidad en el board, no en el área de 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ciclo se alimenta de las propuestas (planes de negocio) y produce presión hacia la gestión (planes y políticas).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es un lazo cerrado: gobierno dirige, gestión ejecuta, el desempeño realimenta. Idéntico en espíritu a COBIT.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38502 detalla esta separación. El error frecuente es que la dirección se meta en la gestión o delegue el gobierno en 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concreto de EDM sobre una decisión ciber-física. El proyecto aplicará este razonamiento.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exigencias distinguen gobierno real de gobierno decorativo (comités que no miden ni deciden).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 del 70 %: BCG, 'Flipping the Odds of Digital Transformation Success' (2020); McKinsey reporta cifras similares. Advertir que es una estimación de consultoría sobre muestras propias, no un dato censal — usarla como orden de magnitud, no como constante.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Enlaza monitoreo con métricas. El tablero directivo es el mecanismo relacional que cierra el ciclo EDM.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Visualizar el lazo: gobierno ↔ gestión. La realimentación por desempeño es lo que lo hace 'vivo'.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Panorama de los seis. Cada uno se examina con EDM. Los tres primeros se ven ahora.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Responsabilidad = accountability + authority. En planta, el vacío típico es la ciberseguridad OT: 'ni IT ni producción'.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con S01: la matriz de Weill &amp; Ross dice QUIÉN decide cada dominio; 38500 dice CON QUÉ CRITERIO debe decidirlo. Señalar que Conformidad no aparece en la tabla porque es transversal: rige los cinco dominios. Pedir que revisen la matriz que entregaron en el taller S01 y le añadan esta columna.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'compramos IA porque el vecino la tiene'. La estrategia manda; la tecnología habilita.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OT las decisiones de compra tienen ciclos larguísimos; el lock-in es un riesgo de gobierno mayor.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principio se traduce en una pregunta y una evidencia. Esto estructura 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Muchos vacíos de responsabilidad están en el lado demanda: el negocio pide pero no se apropia del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Desempeño en OT no es 'uptime del servidor': es disponibilidad de la producción y latencia del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Conformidad abarca lo legal Y las políticas internas. En Colombia, ligar a Ley 1581 y CONPES 3995 (se ve en S15).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Principio más 'blando' y más olvidado. En manufactura, ignorar al operario hace fracasar la digitalización.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plantilla del taller: seis preguntas para la empresa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Contraste que los estudiantes usarán para diagnosticar la empresa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Completa la plantilla de evidencia de los seis principios para el taller y el Entregable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38500 pone al board como responsable; los demás roles operacionalizan las tres tareas.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Ruta pragmática: 38500 da el marco, pero implantarlo requiere estructuras, políticas y medición (mecanismos de gobierno).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realista: el acceso remoto de proveedores es una de las mayores brechas OT. Muestra los seis principios en 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deliberadamente fallido: da el patrón completo (uno que cumple, uno que no). Ejercicio de 5 min en aula: marcar los seis como 'no cumple' y proponer la acción correctora con responsable — es exactamente lo que pide 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38500 y COBIT no compiten: 38500 da los principios, COBIT los implementa. Se enlaza con S03.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taller es un insumo directo del Entregable 1. Guía detallada en el PDF de ejercicios.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que el diagnóstico del proyecto usará para ubicar a la empresa. Alimenta el Entregable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Advertir estos errores antes del taller para que no los repitan en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 de la sesión. Sella la idea de que el board es el dueño del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rápido. Verificar que distinguen principios de tareas EDM.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gobierno normativo.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Ubicar la sesión en la Unidad 1. COBIT (S03-04) implementará los principios vistos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normativa de la sesión más el contexto colombiano de conformidad.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entregar la matriz de principios. Enlazar: COBIT implementará estos principios.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so.org/standard/62816.html" TargetMode="External"/><Relationship Id="rId2" Type="http://schemas.openxmlformats.org/officeDocument/2006/relationships/hyperlink" Target="https://www.isaca.org/resources/cobit" TargetMode="External"/><Relationship Id="rId3" Type="http://schemas.openxmlformats.org/officeDocument/2006/relationships/hyperlink" Target="http://www.secretariasenado.gov.co/senado/basedoc/ley_1581_2012.html" TargetMode="External"/><Relationship Id="rId4" Type="http://schemas.openxmlformats.org/officeDocument/2006/relationships/hyperlink" Target="https://www.sic.gov.co/tema/proteccion-de-datos-personales" TargetMode="External"/><Relationship Id="rId5" Type="http://schemas.openxmlformats.org/officeDocument/2006/relationships/hyperlink" Target="https://www.dnp.gov.co/" TargetMode="External"/><Relationship Id="rId6" Type="http://schemas.openxmlformats.org/officeDocument/2006/relationships/hyperlink" Target="https://link.springer.com/book/10.1007/978-3-030-25918-1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02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ISO/IEC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38500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seis principios del gobierno corporativo de la tecnología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 · Gobierno de TI    ·    SEMANA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la norma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Origen, propósito, estructura y alcance de ISO/IEC 38500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gobierno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 aplicado y el marco de la norma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1–3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Responsabilidad, estrategia, adquisición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4–6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Desempeño, conformidad, comportamiento humano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38500 en la planta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a un CPPS y roles de dirección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taller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principios, síntesis y referencias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53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NORMA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TAREAS EDM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VIGENTE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385xx (gobierno de TI)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8015 (Australia, 2005)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PRIMERA ISO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38500:2008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ALCANCE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organización, cualquier tamaño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CARÁCTER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Principios, no prescriptiva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Órganos de dirección (board)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53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propósito, alcance y estructura de ISO/IEC 38500.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gobierno y las tareas Evaluar–Dirigir–Monitorear.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Enunciar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seis principios y su significado.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principio a decisiones de un sistema ciber-físico.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matriz de principios × decisiones para el proyecto.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53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ISO/IEC 38500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Propósito, historia, estructura y alcance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53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53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PROPÓSITO DE LA NORMA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Guiar a los que dirigen (junta, dueños, socios) para gobernar el uso de la TI.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Audiencia: el board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ASEGURAR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eficaz, eficiente y aceptable de la tecnología en toda la organización.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criterios de uso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confianza a las partes interesadas de que la TI se usa con responsabilidad.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Rendición de cuentas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38500 provee principios para el gobierno EFICAZ de la TI, ayudando a la dirección a equilibrar riesgo y oportunidad.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53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DEFINICIONES CLAVE DE LA NORMA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38500 fija un vocabulario preciso que conviene no confundir.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CORPORATIVO DE TI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por el cual se dirige y controla el uso presente y futuro de la TI en la organización.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controles y procesos para lograr los objetivos fijados por la dirección; opera bajo el gobierno.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USO DE LA TI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objeto del gobierno: no la tecnología en sí, sino cómo la organización la usa para crear valor.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PARTE INTERESADA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Cualquiera cuyos intereses se ven afectados por el uso de la TI: dueños, clientes, empleados, sociedad.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53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EVOLUCIÓN DE LA NORMA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8015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australiano, origen.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ISO/IEC 38500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versión internacional.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38500:2015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vigente; refina el modelo.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38501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38501: guía para implantar el gobierno.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38502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MARCO Y MODELO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38502: relación gobierno–gestión.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38504+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de normas de gobierno de TI.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53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TRES CRITERIOS DEL BUEN USO DE 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norma juzga el uso de la tecnología por tres criterios.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EFICAZ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 cumple su propósito y entrega los resultados esperados por el negocio.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EFICIENTE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recursos (dinero, personas, activos) se usan óptimamente para lograrlo.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ACEPTABLE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uso respeta lo legal, ético, ambiental y las expectativas de los interesados.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53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DE UNA DECISIÓN DE GOBIERNO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norma organiza el gobierno en tres elementos que interactúan.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EDM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Evaluar–Dirigir–Monitorear que la dirección aplica sobre el uso de la TI.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enunciados que guían el juicio de la dirección en cada tarea EDM.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COMPORTAMIENTOS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comportamientos deseables que el gobierno busca inducir en la organización.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ALCANCE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Cubre las decisiones actuales y futuras sobre el uso de la tecnología, no su operación diaria.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53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Y QUÉ NO ES LA NORMA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 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2441448"/>
            <a:ext cx="496199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marco de principios para la dirección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Aplicable a cualquier organización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lenguaje común de gobierno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conceptual de COBIT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para rendir cuentas sobre la TI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25616" y="2441448"/>
            <a:ext cx="496199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manual de procesos (eso es COBIT/ITIL)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norma certificable como 27001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guía técnica de implementación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checklist de auditoría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sustituto de la gestión de 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53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A LA DIRECCIÓN LE IMPORTA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 dejó de ser soporte: es un activo estratégico que crea o destruye valor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incidente tecnológico puede ser existencial para el negocio industrial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CUENTAS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reguladores e interesados exigen rendición de cuentas sobre el uso de la TI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38500 nació porque la TI se volvió demasiado importante para dejarla solo en manos técnicas. La dirección debe gobernarla como gobierna las finanzas o la seguridad: con responsabilidad, evidencia y rendición de cuentas.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53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NORMA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" y="1920240"/>
            <a:ext cx="10180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directores deberían gobernar la TI mediante tres tareas: evaluar, dirigir y monitorear.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48463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ISO/IEC 38500 (paráfrasis)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53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MODELO DE GOBIERNO — EDM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Evaluar, Dirigir y Monitorear el uso de la tecnología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53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53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TRES TAREAS DEL DIRECTOR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la norma: la dirección aplica un ciclo continuo sobre el uso de la TI.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Examinar y juzgar el uso presente y futuro de la TI: presiones del negocio, necesidades, opciones y propuestas.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DIRIGIR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responsabilidad y dirigir la preparación e implementación de planes y políticas hacia los objetivos.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MONITOREAR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Vigilar, con sistemas de medición, el desempeño de la TI y su conformidad con políticas y obligaciones.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53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FLUJO DEL GOBIERNO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DE LA NORMA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PROPUESTA AL DESEMPEÑO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propuestas de negocio entran al ciclo; la dirección EVALÚA opciones, DIRIGE mediante planes y políticas, y MONITOREA el desempeño y la conformidad. La gestión ejecuta (procesos de negocio y proyectos de TI) y devuelve información de desempeño que realimenta la evaluación.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Presiones del negocio · propuestas · necesidades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· políticas · dirección a la gestión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53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FRENTE A GESTIÓN EN 38500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(DIRECCIÓN)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2441448"/>
            <a:ext cx="496199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el uso de la TI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 mediante políticas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 desempeño y conformidad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ante los interesados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estratégico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(OPERACIÓN)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25616" y="2441448"/>
            <a:ext cx="496199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 y ejecuta los sistemas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y opera los servicios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 desempeño al gobierno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ante la dirección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operativo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53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EDM APLICADO A UNA INVERSIÓN EN IIOT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DE DIRECCIÓN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58888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2040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 EN PLANTA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¿Aporta valor y qué riesgo trae?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58888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2040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Sensórica predictiva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Dirigir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¿Aprobamos y con qué política?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8888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2040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Aprobar piloto acotado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¿Cumple lo esperado?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8888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2040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Revisar OEE y ROI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53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EXIGE EL MODELO A LA DIRECCIÓN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RESPONSABILIZARSE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de la TI es indelegable: la dirección responde.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ANTICIPAR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no solo el uso actual, sino el futuro de la tecnología.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DIRIGIR CON POLÍTICA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reglas claras, no decisiones caso a caso.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sistemas de medición no hay monitoreo real.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REALIMENTAR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desempeño observado debe volver a la evaluación.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53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COSTO DE NO GOBERNAR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70 %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transformaciones digitales no alcanza sus objetivos (BCG, 2020)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CAUSA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dirección, prioridades difusas y riesgo no gestionado, no fallas técnicas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EDM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ciclo de gobierno explícito reduce el fracaso al forzar evaluación y medición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los fracasos de digitalización industrial no son técnicos: son de gobierno. Sin EDM, se invierte sin evaluar, se ejecuta sin dirección y se opera sin medir. El modelo de 38500 ataca esa raíz.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53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SISTEMAS DE MEDICIÓN DEL GOBIERNO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MEDICIÓN NO HAY GOBIERNO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Monitorear exige sistemas de medición que den a la dirección evidencia del desempeño y la conformidad de la TI. En un CPPS: cuadros de mando con OEE, disponibilidad, incidentes de ciberseguridad OT, cumplimiento de SLA y avance del portafolio de digitalización, reportados a la junta con periodicidad definida.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directivo · KPI/KRI · informes de auditoría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PROFUNDIZA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OEE (S13)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53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MODELO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LAZO DE GOBIERNO REALIMENTADO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38500 es un ciclo cerrado entre dirección y gestión.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PROPUESTAS 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planes de negocio y las necesidades entran al ciclo para ser evaluados.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DIRECCIÓN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evaluación produce planes y políticas que dirigen a la gestión.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EJECUCIÓN 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gestión ejecuta procesos de negocio y proyectos de TI.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DESEMPEÑO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resultados se miden y realimentan la evaluación. El ciclo se repite.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53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SEIS PRINCIPIOS · 1–3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Responsabilidad · Estrategia · Adquisición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53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53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 DE LOS SEIS PRINCIPIOS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enunciados que guían el juicio de la dirección en cada tarea EDM.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RESPONSABILIDAD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responsabilidades claros sobre la TI.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ESTRATEGIA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estrategia de negocio considera la capacidad de TI.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ADQUISICIÓN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adquisiciones de TI se hacen por razones válidas y analizadas.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DESEMPEÑO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 da soporte a la organización con el nivel de servicio requerido.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CONFORMIDAD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 cumple leyes, reglamentos y políticas.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· COMPORTAMIENTO HUMANO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políticas respetan a las personas y sus necesidades.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53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1 — RESPONSABILIDAD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 1 /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ROLES Y RESPONSABILIDADES CLAROS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Individuos y grupos comprenden y aceptan sus responsabilidades respecto de la oferta y la demanda de TI. Quien es responsable de una acción tiene la autoridad para realizarla. En un CPPS: ¿quién responde por la seguridad OT, por el gemelo, por el dato?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 / DIRIGIR / MONITOREAR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dueños; RACI; delegación con autoridad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responde por el incidente 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53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DERECHOS DE DECISIÓN Y LOS PRINCIPIOS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DOMINIO DE DECISIÓN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ARQUETIPO (S01)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58888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2040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 38500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TI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Duopolio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58888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2040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Estrategia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TI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Monarquía TI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8888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2040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Adquisición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Monarquía TI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8888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2040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Desempeño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Necesidades de apps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29000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Federal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8888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2040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Comportamiento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507992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4507992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y prioridad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29000" y="4507992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02152" y="4507992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Monarquía negocio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58888" y="4507992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2040" y="4507992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Responsabilidad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53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2 — ESTRATEGIA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 2 /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 Y ESTRATEGIA DE NEGOCIO ALINEADAS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planificación estratégica del negocio considera las capacidades actuales y futuras de la TI; los planes de TI satisfacen las necesidades presentes y futuras de la estrategia. En un CPPS: la digitalización de la planta debe responder a la estrategia (costo, calidad, tiempo), no a la moda tecnológica.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 / DIRIGIR / MONITOREAR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 roadmap de I4.0 con objetivos de negocio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sin retorno estratégico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53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3 — ADQUISICIÓN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 3 /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ADQUISICIONES VÁLIDAS Y ANALIZADAS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adquisiciones de TI se hacen por razones válidas, con análisis apropiado y decisión clara y transparente. Hay equilibrio entre beneficios, oportunidades, costos y riesgos, a corto y largo plazo. En un CPPS: elegir un proveedor de SCADA o plataforma IIoT compromete 15–20 años.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 / DIRIGIR / MONITOREAR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case; TCO; análisis de dependencia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Cautividad de proveedor (lock-in)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53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PRINCIPIOS 1–3 EN UNA DECISIÓN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CLAVE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67448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0600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 ESPERADA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¿Quién decide y responde?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67448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0600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RACI del proyecto 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¿Alinea con el negocio?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7448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0600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Vínculo con objetivos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¿Costo/beneficio/riesgo?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67448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0600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case y TCO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53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RESPONSABILIDAD — OFERTA Y DEMANDA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LADO DEMANDA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y la planta definen qué necesitan de la TI y responden por su buen uso.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Dueño de proceso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LADO OFERTA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TI/OT provee y opera las capacidades tecnológicas con la calidad acordada.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CIO · integrador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PUENTE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hace explícito quién responde en cada lado y con qué autoridad.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Comité IT/OT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principio de responsabilidad cubre ambos lados: quien demanda TI también responde por usarla bien, no solo quien la ofrece.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53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SEIS PRINCIPIOS · 4–6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Desempeño · Conformidad · Comportamiento humano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53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53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4 — DESEMPEÑO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 4 /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 ADECUADA AL PROPÓSITO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 da soporte a la organización, proveyendo servicios con la calidad, el nivel de servicio y la capacidad necesarios para cumplir los requisitos presentes y futuros. En un CPPS: el sistema debe sostener la disponibilidad de la línea (OEE), la latencia del control y la calidad del dato.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 / DIRIGIR / MONITOREAR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SLA; KPI de OEE, disponibilidad, latencia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que frena la producción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53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5 — CONFORMIDAD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 5 /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CUMPLIR LEYES Y POLÍTICAS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 cumple con toda la legislación y regulación obligatoria; las políticas internas se definen, implementan y hacen cumplir. En un CPPS: protección de datos (Ley 1581), seguridad digital (CONPES 3995), normas sectoriales, seguridad industrial y ambiental.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 / DIRIGIR / MONITOREAR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legal; auditoría; políticas 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Sanción regulatoria y reputacional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53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 6 — COMPORTAMIENTO HUMANO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 6 /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RESPETAR A LAS PERSONAS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políticas, prácticas y decisiones de TI respetan el comportamiento humano, incluyendo las necesidades actuales y futuras de todas las personas en el proceso. En un CPPS: la automatización afecta a operarios; su formación, ergonomía y confianza son parte del gobierno.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 / DIRIGIR / MONITOREAR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cambio; formación; ergonomía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Rechazo, errores y accidentes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53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SEIS PRINCIPIOS FRENTE A UN CPPS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principio se traduce en una pregunta concreta de planta.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RESPONSABILIDAD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responde por la ciberseguridad OT y por el gemelo digital?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ESTRATEGIA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digitalización responde a costo, calidad y tiempo del negocio?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ADQUISICIÓN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SCADA/IIoT elegido evita el lock-in a 20 años?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DESEMPEÑO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sistema sostiene OEE, latencia y calidad del dato?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CONFORMIDAD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¿Cumple protección de datos y normas de seguridad industrial?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COMPORTAMIENTO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forma y respeta al operario ante la automatización?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53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APLICACIÓN FUERTE VS DÉBIL DE LOS PRINCIPIOS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5875">
            <a:solidFill>
              <a:srgbClr val="C6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ROBUSTO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Dueños y RACI explícitos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ligado a la estrategia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y TCO por compra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 desempeño monitoreados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auditado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del cambio con las personas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5875">
            <a:solidFill>
              <a:srgbClr val="FF3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DÉBIL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'Todos y nadie' responsables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 por moda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sin análisis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métricas ni SLA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reactivo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Automatizar sin formar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53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PRINCIPIOS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PRINCIPIOS 4–6 — EVIDENCIA ESPERADA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CLAVE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67448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0600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EVIDENCIA ESPERADA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Desempeño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¿Sostiene el nivel de servicio?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67448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0600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 y KPI de OEE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¿Cumple ley y política?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7448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0600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legal auditado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¿Respeta a las personas?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67448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0600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de gestión del cambio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53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ISO/IEC 38500 EN LA PLANTA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 los principios a un sistema ciber-físico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53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53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ROLES DE GOBIERNO EN LA INDUSTRIA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ejerce cada tarea EDM en una organización manufacturera.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JUNTA DIRECTIVA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último del gobierno de la TI; aprueba estrategia y apetito de riesgo.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COMITÉ DE TI/OT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y prioriza inversiones; realimenta a la junta.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CIO / CTO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Traduce dirección en estrategia tecnológica y arquitectura.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GERENTE DE PLANTA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Aporta necesidades de producción y monitorea desempeño en piso.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Gobierna el riesgo cibernético IT/OT y la conformidad.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AUDITORÍA / RIESGO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conformidad y da aseguramiento independiente.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53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RUTA PARA IMPLANTAR 38500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MANDATO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junta asume el gobierno de la TI.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responsabilidades y comités.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POLÍTICAS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políticas por principio.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Instrumentar tableros y KPI/KRI.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desempeño y conformidad.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con COBIT y auditoría.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53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— DECISIÓN DE ACCESO REMOTO DE PROVEEDOR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GOBIERNO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SEIS PRINCIPIOS EN UNA SOLA DECISIÓN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fabricante de maquinaria pide acceso remoto permanente para mantenimiento predictivo. Evaluar (¿beneficio vs riesgo OT?), Dirigir (política de acceso, VPN, ventanas), Monitorear (registro y revisión). Se cruzan responsabilidad (¿quién autoriza?), adquisición (contrato), conformidad (datos) y desempeño (disponibilidad).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remoto OT gobernado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CONECTA CON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 OT (S14–15)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53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CONTRACASO — EL MES QUE NADIE GOBERNÓ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SEIS, FALLANDO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MISMA DECISIÓN, SIN GOBIERNO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planta compra un MES por recomendación del integrador. Responsabilidad: nadie firma como dueño. Estrategia: no se liga a ningún objetivo de negocio. Adquisición: sin business case ni TCO. Desempeño: sin SLA, la línea se detiene en cada actualización. Conformidad: la trazabilidad del dato nunca se revisa. Comportamiento: los operarios, sin formación, siguen registrando en papel en paralelo.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hundida · doble digitación · rechazo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CONTRASTE CON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acceso remoto gobernado (slide anterior)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53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38500 Y COBIT — CÓMO SE RELACIONAN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ISO/IEC 38500 APORTA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2441448"/>
            <a:ext cx="496199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 alto nivel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EDM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del board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de gobierno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'por qué' y el 'qué'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2019 APORTA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25616" y="2441448"/>
            <a:ext cx="4961992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objetivos concretos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y factores de diseño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 capacidad/madurez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y prácticas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'cómo' detallado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53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TALLER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SEGUIMIENTO · 5 %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MATRIZ DE PRINCIPIOS × DECISIONES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empresa del proyecto: 1) identifica 5 decisiones tecnológicas reales. 2) Evalúa cada una frente a los 6 principios (¿cumple/parcial/no?). 3) Señala los dos principios más débiles y propone una acción. Entregable: matriz de 6×5 con justificación (2 páginas).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6 principios × 5 decisiones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ALIMENTA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1 (semana 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53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39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MADUREZ DE GOBIERNO — ALTA VS BAJA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5875">
            <a:solidFill>
              <a:srgbClr val="C6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MADURO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activa en TI/OT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por principio, vigentes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 directivo con KPI/KRI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IT/OT con dueño claro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independiente periódica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trazables y documentadas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5875">
            <a:solidFill>
              <a:srgbClr val="FF3B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INMADURO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ausente, 'eso es de sistemas'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políticas o desactualizadas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métricas de gobierno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huérfano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aseguramiento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informales e irrastreables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53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ERRORES FRECUENTES AL APLICAR 38500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DELEGAR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dirección delega el gobierno en TI: viola el principio de responsabilidad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CHECKLIST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la norma como lista de verificación en vez de guía de juicio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OLVIDAR OT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los principios solo a IT y dejar la planta sin gobierno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38500 exige juicio directivo, no cumplimiento mecánico. Los tres errores anteriores vacían la norma de sentido. En un CPPS, el peor es dejar OT fuera del alcance del gobierno.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53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53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53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41  CIERRE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1185855" cy="4206240"/>
          </a:xfrm>
          <a:prstGeom prst="roundRect">
            <a:avLst>
              <a:gd name="adj" fmla="val 1304"/>
            </a:avLst>
          </a:prstGeom>
          <a:solidFill>
            <a:srgbClr val="160B0B"/>
          </a:solidFill>
          <a:ln w="19050">
            <a:solidFill>
              <a:srgbClr val="FF3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7452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</a:t>
            </a:r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GOBIERNO NO SE DELEGA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principio de responsabilidad es tajante: la dirección puede delegar la GESTIÓN de la TI, pero nunca su GOBIERNO. La rendición de cuentas se queda arriba.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CPPS, esto significa que la junta responde por que la digitalización de la planta sea eficaz, eficiente y aceptable — incluida su seguridad y su impacto en las personas.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02920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i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delega la ejecución; jamás la responsabilidad de gobernar.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/ 53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42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38500 gobierna a la dirección; el gobierno de TI es indelegable.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 EDM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Evaluar, Dirigir, Monitorear el uso de la tecnología.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SEIS PRINCIPIOS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Responsabilidad, estrategia, adquisición, desempeño, conformidad, comportamiento.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TRES CRITERIOS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eficaz, eficiente y aceptable.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38500 → COBIT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norma da principios; COBIT los implementa.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/ 53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43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ISO/IEC 38500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 de gobierno corporativo de la TI.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Evaluar, Dirigir, Monitorear.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Enunciado que guía el juicio de la dirección.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/ junta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Órgano de dirección responsable del gobierno.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Conformidad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leyes, regulación y políticas.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Aceptable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ético, legal y socialmente admisible de la TI.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Lock-in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cautiva de un proveedor.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Responsable, Aprobador, Consultado, Informado.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/ 53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44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UNIDAD 1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≠ gestión, IT/OT, CPPS.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38500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· hoy.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gobierno y cascada.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II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diseño y madurez.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· ITIL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Unidad 1.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ciber-físicos.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/ 53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45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38500:2015 — gobierno corporativo de TI (norma)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https://www.iso.org/standard/62816.html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— COBIT 2019 (Introduction &amp; Methodology gratis con cuenta)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https://www.isaca.org/resources/cobit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1581 de 2012 — protección de datos (Colombia)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http://www.secretariasenado.gov.co/senado/basedoc/ley_1581_2012.html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 — Protección de datos personales (guías)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https://www.sic.gov.co/tema/proteccion-de-datos-personales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CONPES 3995 de 2020 — confianza y seguridad digital (DNP)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https://www.dnp.gov.co/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Haes &amp; Van Grembergen (2020) — Enterprise Governance of IT (Springer)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https://link.springer.com/book/10.1007/978-3-030-25918-1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/ 53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03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2019 I — SISTEMA DE GOBIERNO Y CASCADA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del sistema de gobierno, los 40 objetivos y la cascada de objetivos.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03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S02 · ISO 38500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/ 53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