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Tercera sesión. COBIT es el marco central del curso para diseñar el gobierno del proyecto. Hoy: el sistema de gobierno y la cascada. Revisar la matriz de principios de S02.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lo estructural (qué es COBIT) a lo aplicado (cascada para la planta).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COBIT es un marco amplio: 40 objetivos son el 'catálogo'; casi nunca se implementan todos. Los factores de diseño (S04) seleccionan cuáles.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de la sesión es una cascada completa, insumo directo del Entregable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Clave: I&amp;T es de toda la empresa. COBIT explícitamente separa gobierno de gestión, alineado con 38500.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seis principios son el ADN de COBIT 2019. El 3 y el 5 (dinámico y a medida) son la gran novedad frente a COBIT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Distinguir: 6 principios del SISTEMA (de la empresa) vs 3 principios del MARCO (de COBIT como producto). Distinción clave para el análisis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COBIT 2019 no reemplaza a 5: lo evoluciona hacia el diseño a medida. Los factores de diseño (S04) son la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Falta el séptimo (Servicios/infraestructura/apps), que se ve en la sección de componentes. Enfoque holístico: los 7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la pregunta frecuente '¿38500 o COBIT?'. Respuesta: los dos, en capas.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la cascada. COBIT ayuda a decidir QUÉ gobernar; la cascada es la herramienta para priorizar.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cascada traduce necesidades del negocio en objetivos tecnológicos priorizados. Es la herramienta más usada de COBIT.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cascada da un primer conjunto de objetivos; los factores de diseño lo ajustan. Aclarar la relación primaria/secundaria.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por el interesado evita el error de 'tecnología por tecnología'. Las necesidades bajan por la cascada.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metas empresariales agrupadas en las 4 dimensiones BSC. No hay que memorizarlas todas; sí entender el mapeo.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metas de alineamiento son el 'traductor' entre negocio y tecnología. 13 en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completo de cascada de arriba a abajo. El proyecto construirá una cascada así para su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Advertir contra el uso mecánico. La cascada estructura el juicio; no lo sustituye.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mnemotécnica: EDM gobierna; APO planea; BAI construye; DSS opera; MEA vigila. 5+14+11+6+4 =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Saber leer una ficha de objetivo es clave para el proyecto: de ahí salen los procesos, RACI y métricas concretas.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5 EDM son la implementación directa de las tareas de 38500. EDM03 (riesgo) es crítico en entornos ciber-físicos.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 concentra los objetivos más estratégicos. APO14 (gestión de datos) es nuevo en COBIT 2019 y clave para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DSS04 (continuidad) y DSS05 (seguridad) son vitales para OT. BAI06 (gestión de cambios) evita que un cambio tumbe la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objetivos son los que el proyecto priorizará. La selección final depende de los factores de diseño (S04).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EDM03/APO12 aclara la diferencia gobierno/gestión aplicada al mismo dominio (riesgo).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Procesos y estructuras son los componentes más 'visibles'. Los procesos se miden con niveles de capacidad.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cultura es el componente más difícil de cambiar y el que más hunde iniciativas de digitalización.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componente 7 es la infraestructura tecnológica. La brecha de competencias (comp. 6) es la barrera #1 en Colombia.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áreas de enfoque son la forma en que COBIT 2019 entrega contenido a medida. No hay un 'COBIT para OT' oficial, pero la lógica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información es a la vez componente y salida del gobierno. Sin estos artefactos, el gobierno no es auditable.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principio holístico (principio 2) en acción. El error clásico: invertir solo en tecnología (comp. 7) y descuidar el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Herramienta de diagnóstico para el Entregable 1: revisar los 7 componentes, no solo los procesos.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realista del sector alimentos antioqueño. Muestra la cascada completa terminando en objetivos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objetivo se aterriza en un proceso y en componentes de apoyo. Así se pasa de la teoría al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Traduce la teoría de COBIT a las cuatro prioridades ineludibles de un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Priorizar es decir 'no' a la mayoría. Este mapa (alta/media/baja) precede al análisis de factores de diseño de S04.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taller es el corazón del Entregable 1. La selección de objetivos se refinará con factores de diseño en S04.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Enlaza con S04: el diseño a medida es la respuesta a 'no puedo hacer los 40'.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central. Anticipa S04: el diseño a medida es la respuesta a la sobrecarga.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Repaso. Verificar que distinguen cascada (priorizar) de componentes (construir).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COBIT nivel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S04 refina la selección de objetivos con los 11 factores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volúmenes base de COBIT 2019 más recursos de ISACA.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Traer la cascada del taller. S04 la refinará con factores de diseño para seleccionar los objetivos definitivos.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aca.org/resources/cobit" TargetMode="External"/><Relationship Id="rId2" Type="http://schemas.openxmlformats.org/officeDocument/2006/relationships/hyperlink" Target="https://www.isaca.org/resources/cobit" TargetMode="External"/><Relationship Id="rId3" Type="http://schemas.openxmlformats.org/officeDocument/2006/relationships/hyperlink" Target="https://www.isaca.org/resources/cobit" TargetMode="External"/><Relationship Id="rId4" Type="http://schemas.openxmlformats.org/officeDocument/2006/relationships/hyperlink" Target="https://link.springer.com/book/10.1007/978-3-030-25918-1" TargetMode="External"/><Relationship Id="rId5" Type="http://schemas.openxmlformats.org/officeDocument/2006/relationships/hyperlink" Target="https://www.iso.org/standard/62816.html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03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2019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GOBIERNO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Componentes, los 40 objetivos y la cascada de objetivos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· Gobierno de TI    ·    SEMANA 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COBIT 2019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Marco, principios y componentes del sistema de gobierno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cascada de objetivos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necesidades de los interesados a los objetivos de TI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40 objetivos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EDM, APO, BAI, DSS, MEA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7 componentes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Procesos, estructuras, información, cultura, personas…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en un CPPS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Cascada aplicada a un objetivo de planta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taller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la cascada del proyecto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50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2019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DOMINIOS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FACTORES DISEÑO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(2018–2019)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PROPÓSITO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y gestión de I&amp;T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 GOBIERNO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(dominio EDM)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OBJ. GESTIÓN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(APO, BAI, DSS, MEA)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 EMPRESA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(en 4 dimensiones BSC)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 ALINEAM.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(antes 'IT-related goals')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50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seis principios de un sistema de gobierno COBIT 2019.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cascada de objetivos de los interesados a los objetivos de TI.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40 objetivos en sus cinco dominios.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siete componentes de un sistema de gobierno.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cascada de objetivos para un objetivo de planta.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50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ES COBIT 2019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Marco de gobierno y gestión de la información y la tecnología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50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Y GESTIÓN DE I&amp;T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I&amp;T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&amp; Technology: toda la información que la empresa genera y usa, y la tecnología que la soporta.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solo el 'departamento de TI'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Asegura valor a los interesados; equilibra beneficio, riesgo y recursos; dominio EDM.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Responsabilidad: junta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Planifica, construye, ejecuta y monitorea alineada al gobierno; dominios APO/BAI/DSS/MEA.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Responsabilidad: dirección ejecutiva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gobierna y gestiona la I&amp;T de toda la empresa (enterprise-wide), no solo la función de TI. En un CPPS, incluye la información y tecnología del piso de planta.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50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6 PRINCIPIOS DE UN SISTEMA DE GOBIERNO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2019 define seis principios para el sistema de gobierno de una empresa.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VALOR A INTERESADOS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existe para crear valor equilibrando beneficio, riesgo y recursos.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ENFOQUE HOLÍSTICO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construye con varios componentes que actúan juntos, no aislados.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SISTEMA DINÁMICO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cuando cambia algún factor de diseño; no es estático.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DISTINTO DE GESTIÓN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y gestión son actividades diferenciadas.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A MEDIDA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adapta a las necesidades de la empresa mediante factores de diseño.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· DE PUNTA A PUNTA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Cubre toda la empresa, no solo la función de TI.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50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3 PRINCIPIOS DEL MARCO DE GOBIERNO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Además, un buen MARCO de gobierno (como COBIT) debe cumplir tres principios.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CONCEPTUAL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Basarse en un modelo conceptual claro, consistente y no redundante.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ABIERTO Y FLEXIBLE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Permitir añadir contenido y adaptarse a nuevas necesidades.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ALINEADO A ESTÁNDARES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Alinearse con los principales estándares y marcos (ISO, ITIL, NIST).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50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5 → COBIT 2019: QUÉ CAMBIÓ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ENABLERS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Habilitadores (2012).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COMPONENTES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Renombrados y ampliados.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FACTORES DISEÑO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factores para el diseño a medida.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ÁREAS DE ENFOQUE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temáticas (seguridad, DevOps…).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CAPACIDAD CMMI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capacidad basados en CMMI.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0=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DISEÑO A MEDIDA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'talla única' a sistema adaptado.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50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DE LOS 7 COMPONENTES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gobierno se construye con siete tipos de componente que trabajan juntos.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y actividades para lograr objetivos.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que toman decisiones (comités, roles).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POLÍTICAS Y MARCOS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traducida en orientación práctica.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el gobierno produce y consume.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CULTURA Y CONDUCTA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Comportamientos, ética y cultura.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 Y COMPETENCIAS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Habilidades para decidir y actuar.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50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Y 38500 — POR QUÉ AMBOS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38500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los principios y la responsabilidad de la dirección (el porqué)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aporta objetivos, componentes y madurez para implementarlos (el cómo)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JUNTOS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38500 gobierna a la junta; COBIT operacionaliza ese gobierno en la empresa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elige entre 38500 y COBIT: se usan juntos. La norma fija los principios que la junta debe honrar; COBIT los convierte en un sistema de gobierno concreto, medible y a medida. El curso los encadena: S02 dio principios, S03–04 los implementan.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50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MARCO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5840" y="1920240"/>
            <a:ext cx="101800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no es una metodología de implementación: es un marco para diseñar el sistema de gobierno que cada empresa necesita.</a:t>
            </a:r>
            <a:pPr algn="l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4846320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ISACA — COBIT 2019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50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CASCADA DE OBJETIVOS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las necesidades de los interesados a los objetivos de gobierno y gestión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50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CUATRO NIVELES DE LA CASCADA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NECESIDADES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 y necesidades de los interesados.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 EMPRESA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metas empresariales (BSC).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METAS ALINEAM.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metas de alineamiento (I&amp;T).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gobierno y gestión.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50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4 — OBJETIVOS DE GOBIERNO Y GESTIÓN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CASCADA 4 /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DESTINO DE LA CASCADA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metas de alineamiento se mapean a un subconjunto de los 40 objetivos de gobierno y gestión, con una relación 'primaria' o 'secundaria'. El resultado no son los 40: son los pocos objetivos que de verdad soportan las necesidades priorizadas. Ese subconjunto es el punto de partida del diseño (S04).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SALIDA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priorizada de objetivos (P/S)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REFINA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diseño (S04)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50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1 — NECESIDADES DE LOS INTERESADOS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CASCADA 1 /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PUNTO DE PARTIDA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empieza con lo que los interesados necesitan: crecer, cumplir, reducir costos, innovar, gestionar riesgo. Los motores (drivers) —cambios de estrategia, tecnología, regulación— generan estas necesidades. En un CPPS: 'reducir paradas no programadas', 'trazabilidad para exportar', 'ciberseguridad OT'.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EJEMPLOS EN PLANTA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paradas · calidad · cumplimiento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TRADUCE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empresariales (nivel 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50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2 — LAS 13 METAS EMPRESARIALES (BSC)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necesidades se mapean a 13 metas empresariales en cuatro dimensiones del Balanced Scorecard.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de productos, riesgo gestionado, cumplimiento, transparencia financiera.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3392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6272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46272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 de servicio, continuidad y disponibilidad, decisiones ágiles basadas en datos.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6744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6744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procesos, costos, productividad del personal, cumplimiento interno.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84335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7215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CRECIMIENTO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67215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Innovación de productos, competencias del personal, cultura de innovación.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50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3 — LAS 13 METAS DE ALINEAMIENTO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metas empresariales se traducen en 13 metas de alineamiento (antes 'IT-related goals').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TI–negocio; realización de beneficios del portafolio; riesgo de I&amp;T gestionado; seguridad de la información y sistemas.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MÁS EJEMPLOS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Agilidad para responder al negocio; entrega de programas a tiempo y presupuesto; competencias de I&amp;T; cumplimiento de políticas.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APORTAN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Conectan el mundo del negocio (metas empresa) con el mundo tecnológico (objetivos de gobierno/gestión).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UN CPPS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'Riesgo de I&amp;T gestionado' y 'seguridad de sistemas' son críticas por la convergencia IT/OT.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50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 — CASCADA PARA REDUCIR PARADAS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CONCRECIÓN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Necesidad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Reducir paradas no programadas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Meta empresa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Optimizar procesos de negocio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Meta alineam.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I&amp;T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de I&amp;T gestionado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Objetivo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APO12 Gestionar el riesgo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50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CASCADA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USAR LA CASCADA SIN ABUSAR DE ELLA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GUÍA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cascada orienta la priorización, no es una fórmula mecánica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JUICIO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criterio: no todas las metas mapeadas son igual de relevantes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FOCO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un conjunto MANEJABLE de objetivos, no los 40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advierte: la cascada es una guía, no un algoritmo. Su valor es forzar la conversación de negocio antes de hablar de tecnología, y reducir 40 objetivos a los pocos que de verdad importan.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50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40 OBJETIVOS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Cinco dominios: EDM, APO, BAI, DSS y MEA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50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CINCO DOMINIOS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40 objetivos se agrupan en un dominio de gobierno y cuatro de gestión.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EDM · 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Evaluate, Direct, Monitor. GOBIERNO — responsabilidad de la junta.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APO · 14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Align, Plan, Organize. Gestión: estrategia, arquitectura, riesgo, proveedores.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BAI · 11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Acquire, Implement. Gestión: proyectos, requisitos, cambios.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DSS · 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Deliver, Service, Support. Gestión: operación, incidentes, continuidad.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 · 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Monitor, Evaluate, Assess. Gestión: desempeño, control interno, cumplimiento.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· 40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de gobierno + 35 de gestión. Casi nunca se implementan todos.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50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ANATOMÍA DE UN OBJETIVO COBIT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de los 40 objetivos trae una ficha estandarizada de componentes.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PROPÓSITO Y DESCRIPCIÓN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persigue el objetivo y por qué importa para el negocio.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PRÁCTICAS Y ACTIVIDADES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de gobierno/gestión con sus actividades y niveles de capacidad.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y métricas para el objetivo y para cada meta de alineamiento relacionada.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 RELACIONADOS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Estructuras (con RACI), flujos de información, políticas, cultura y habilidades.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50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DOMINIO EDM — GOBIERNO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OBJETIVOS · JUNTA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EVALUATE, DIRECT, MONITOR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EDM01 Marco de gobierno · EDM02 Entrega de beneficios · EDM03 Optimización del riesgo · EDM04 Optimización de recursos · EDM05 Compromiso con los interesados. Son responsabilidad del órgano de dirección: fijan valor, riesgo y recursos.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RESPONSABLE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directiva / órgano de gobierno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CPPS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EDM03: riesgo IT/OT de la planta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50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DOMINIO APO — ALINEAR, PLANEAR, ORGANIZAR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OBJETIVOS · GESTIÓN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DOMINIO MÁS GRANDE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 APO01 (marco de gestión), APO02 (estrategia), APO03 (arquitectura empresarial), APO04 (innovación), APO05 (portafolio), APO08 (relaciones), APO12 (riesgo), APO13 (seguridad), APO14 (datos). Es donde se planifica y organiza la I&amp;T.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CLAVES EN CPPS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APO03 arquitectura · APO12 riesgo · APO13 seguridad · APO14 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VE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(S07-08), datos (S13)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50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DOMINIOS BAI, DSS Y MEA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OBJETIVOS · GESTIÓN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CONSTRUIR, OPERAR Y VIGILAR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 (11): gestión de programas, requisitos, disponibilidad/capacidad, cambios (BAI06), configuración (BAI10). DSS (6): operaciones (DSS01), incidentes (DSS02), continuidad (DSS04), seguridad (DSS05). MEA (4): desempeño (MEA01), control interno (MEA02), cumplimiento externo (MEA03).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CLAVES EN CPPS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BAI06 cambios · DSS04 continuidad · DSS05 seguridad · MEA03 cumplimiento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VE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y continuidad (S14-15)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50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CRÍTICOS PARA UN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EN CPPS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Optimizar riesgo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IT/OT con dueño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Gestionar riesgo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de riesgos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Gestionar seguridad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de la info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DSS04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Continuidad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67448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0600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Producción no para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50799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DSS05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46120" y="4507992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4507992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Seguridad servicios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67448" y="4507992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0600" y="4507992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Defensa OT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50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OBJETIVOS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DE GOBIERNO VS DE GESTIÓN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(EDM)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ejerce la junta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 valor, riesgo, recursos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Evalúa, dirige, monitorea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EDM03 optimizar riesgo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estratégico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(APO/BAI/DSS/MEA)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ejerce la dirección ejecutiva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Planea, construye, opera, vigila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 la dirección del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APO12 gestionar riesgo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operativo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EDM03 y APO12 son el mismo tema (riesgo) en dos niveles: gobernar el riesgo vs gestionarlo.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50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7 COMPONENTES DEL SISTEMA DE GOBIERNO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qué se construye realmente el gobierno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50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PROCESOS Y ESTRUCTURAS ORGANIZATIVAS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 1–2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ESQUELETO OPERATIVO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PROCESOS: conjunto de prácticas y actividades para lograr objetivos y producir salidas que soporten metas. ESTRUCTURAS ORGANIZATIVAS: las entidades que toman decisiones (comité de dirección, comité de arquitectura, oficina de proyectos). Definen quién decide y cómo se ejecuta.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CPPS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 de gestión de cambios OT · comité IT/OT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MIDEN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capacidad (S04)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50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POLÍTICAS, INFORMACIÓN Y CULTURA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 3–5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SISTEMA NERVIOSO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PRINCIPIOS, POLÍTICAS Y MARCOS: traducen el comportamiento deseado en guía práctica. INFORMACIÓN: todo lo que el gobierno produce y consume (p. ej. una política de seguridad OT es a la vez política e información). CULTURA, ÉTICA Y CONDUCTA: los comportamientos, a menudo subestimados y decisivos.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CPPS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acceso remoto · cultura de seguridad en planta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Políticas 'de papel' que nadie sigue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50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 Y SERVICIOS/INFRAESTRUCTURA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 6–7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CAPACIDADES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HABILIDADES Y COMPETENCIAS: necesarias para tomar buenas decisiones, ejecutar acciones correctivas y completar actividades. SERVICIOS, INFRAESTRUCTURA Y APLICACIONES: la tecnología y las herramientas que proveen el procesamiento de la I&amp;T (nube, plataformas, historiadores, SCADA).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CPPS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IT/OT · plataforma IIoT · historiador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 TÍPICA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talento en ciberseguridad OT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50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 GENÉRICOS VS A MEDIDA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componente tiene una variante genérica y variantes específicas por contexto.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GENÉRICO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componente base que aplica a cualquier empresa (p. ej. el proceso APO12 estándar).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componente adaptado a un contexto (p. ej. gestión de riesgo para OT).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ÁREAS DE ENFOQUE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Guías temáticas que agrupan componentes a medida: seguridad, riesgo, DevOps, pymes.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UN CPPS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área de enfoque 'Seguridad de la información' y la lógica OT guían la variante industrial.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50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FLUJOS DE INFORMACIÓN DEL GOBIERNO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componente 'información' incluye los artefactos que hacen visible el gobierno.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POLÍTICAS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que fijan las reglas: acceso remoto OT, uso de datos, cambios.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riesgos, de cambios, de incidentes, de activos OT.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Cuadros de mando con KPI/KRI que realimentan la evaluación.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ISA-95/RAMI que documentan el sistema ciber-físico.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auditoría, cumplimiento y desempeño a la junta.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Actas y aprobaciones que dejan trazabilidad de quién decidió qué.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50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ENFOQUE HOLÍSTICO EN LA PRÁCTICA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BASTA EL PROCESO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buen proceso sin estructura que decida ni cultura que lo viva, falla.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BASTA EL COMITÉ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estructura sin proceso ni información se vuelve decorativa.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BASTA LA HERRAMIENTA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mejor plataforma sin competencias ni políticas no gobierna nada.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 7 JUNTOS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emerge de la interacción de los siete componentes.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COHERENCIA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deben apuntar a los mismos objetivos priorizados.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50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DIAGNÓSTICO RÁPIDO DE COMPONENTES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¿PROCESOS?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¿existen y se siguen procesos de riesgo, cambios y seguridad OT?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¿ESTRUCTURA?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¿hay un comité que decida sobre TI/OT y rinda cuentas?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¿CULTURA?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seguridad y el dato son valorados en el piso de planta?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preguntas para diagnosticar la madurez de los componentes en la empresa del proyecto. Un 'no' repetido señala dónde está el mayor riesgo de gobierno.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50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EN UN SISTEMA CIBER-FÍSICO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Cascada y objetivos aplicados al piso de planta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50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CASO — TRAZABILIDAD PARA EXPORTACIÓN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COMPLETO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NECESIDAD AL OBJETIVO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empresa de alimentos necesita trazabilidad de lote para exportar. Cascada: necesidad (cumplir requisito de exportación) → meta empresa (cumplimiento con leyes externas) → meta alineamiento (I&amp;T conforme y con datos confiables) → objetivos APO14 (gestión de datos), BAI10 (configuración), MEA03 (cumplimiento externo).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 SELECCIONADOS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· BAI10 · MEA03 · DSS06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 CLAVE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+ información + sistemas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50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OBJETIVO A COMPONENTES CONCRETOS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1089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50328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3480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 DE APOYO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Datos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datos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0328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3480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steward · políticas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DSS05 Seguridad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Servicios seguros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0328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3480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Segmentación · IAM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BAI06 Cambios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1880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cambios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50328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3480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Comité de cambios 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MEA01 Desempeño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0328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3480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Tablero OEE/KPI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50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4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GOBIERNO FRENTE A RIESGOS CIBER-FÍSICOS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convergencia IT/OT hace que ciertos objetivos sean no negociables.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DSS04 (continuidad) y BAI04 (disponibilidad/capacidad): la línea no puede parar.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APO13 y DSS05: proteger el proceso físico de ciberataques.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INTEGRIDAD DEL DATO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y DSS06: señales confiables para decisiones y trazabilidad.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CAMBIO CONTROLADO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BAI06 y BAI10: ningún cambio no gobernado toca la producción.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50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PRIORIZACIÓN DE OBJETIVOS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1089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PRIORIDAD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650328" y="1783080"/>
            <a:ext cx="403844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3480" y="1783080"/>
            <a:ext cx="389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JUSTIFICACIÓN EN PLANTA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DSS04 Continuidad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50328" y="2240280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3480" y="2240280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Parada = pérdida directa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APO13 Seguridad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5032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50328" y="2807208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3480" y="2807208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OT creciente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APO14 Datos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11880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50328" y="3374136"/>
            <a:ext cx="403844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3480" y="3374136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Trazabilidad y OEE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APO04 Innovación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BAJA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50328" y="3941064"/>
            <a:ext cx="403844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3480" y="3941064"/>
            <a:ext cx="3892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crítico aún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50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TALLER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CONSTRUIR LA CASCADA DEL PROYECTO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empresa del proyecto: 1) enuncia una necesidad real del negocio. 2) Mapea a una meta empresarial y una de alineamiento. 3) Selecciona 4–6 objetivos de gobierno/gestión priorizados. 4) Para cada objetivo, nombra el proceso y dos componentes de apoyo. Entregable: cascada + tabla objetivo→componente.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cascada + tabla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1 (semana 5) — núcleo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50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APLICACIÓN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AL APLICAR COBIT EN PLANTA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intentar implementar los 40 objetivos: parálisis y desgaste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IT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gobernar la oficina y dejar el piso de planta (OT) sin cobertura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COPIAR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tomar la cascada de otra empresa en vez de construir la propia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bien usado prioriza pocos objetivos que importan, cubre IT y OT, y se construye a la medida de la empresa. Los factores de diseño (S04) son la herramienta para lograrlo sin caer en estos errores.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50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50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50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02920" y="1554480"/>
            <a:ext cx="11185855" cy="4206240"/>
          </a:xfrm>
          <a:prstGeom prst="roundRect">
            <a:avLst>
              <a:gd name="adj" fmla="val 1304"/>
            </a:avLst>
          </a:prstGeom>
          <a:solidFill>
            <a:srgbClr val="160B0B"/>
          </a:solidFill>
          <a:ln w="19050">
            <a:solidFill>
              <a:srgbClr val="FF3B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7452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 </a:t>
            </a:r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IMPLEMENTES LOS 40 OBJETIVOS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2697480"/>
            <a:ext cx="1045433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error más caro con COBIT es tratarlo como un checklist de 40 objetivos a cumplir todos. Eso agota recursos, genera burocracia y no crea valor.</a:t>
            </a:r>
            <a:endParaRPr lang="en-US" sz="14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bien usado prioriza: la cascada y los factores de diseño seleccionan los pocos objetivos que soportan las necesidades reales de la empresa. Menos, pero bien gobernado.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454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i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 es priorizar; priorizar es decir 'no' a casi todo.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50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PRINCIPIOS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Valor, holístico, dinámico, distinto de gestión, a medida, de punta a punta.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Interesados → metas empresa → metas alineamiento → objetivos.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OBJETIVOS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EDM(5)+APO(14)+BAI(11)+DSS(6)+MEA(4).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COMPONENTES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Procesos, estructuras, políticas, información, cultura, personas, servicios.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HOLÍSTICO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emerge de los siete componentes juntos.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50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40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2019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gobierno y gestión de I&amp;T (ISACA).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I&amp;T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Información y tecnología de toda la empresa.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Cascada de objetivos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 de priorización de interesados a objetivos.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de gobierno: Evaluate, Direct, Monitor.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APO/BAI/DSS/MEA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Dominios de gestión de COBIT.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de los 7 elementos que forman el gobierno.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de alineamiento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Traductor entre metas de negocio y objetivos de I&amp;T.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de enfoque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temática con componentes a medida.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50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41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UNIDAD 1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Gobierno, IT/OT, CPPS.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38500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y cascada · hoy.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II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diseño y madurez.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· ITIL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ciber-físicos.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48 / 50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42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Portal COBIT 2019 (overview libre; Intro &amp; Methodology gratis con cuenta)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2019: Governance &amp; Management Objectives (tomo)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2019: Design Guide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Haes, Van Grembergen et al. (2020) — Enterprise Governance of IT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https://link.springer.com/book/10.1007/978-3-030-25918-1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38500 — principios de gobierno (relación con COBIT)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https://www.iso.org/standard/62816.html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/ 50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04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2019 II — FACTORES DE DISEÑO Y MADUREZ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11 factores de diseño, niveles de capacidad y diseño del sistema de gobierno a medida.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04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S03 · COBIT 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/ 50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