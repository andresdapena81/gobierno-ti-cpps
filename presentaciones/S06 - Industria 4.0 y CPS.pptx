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Unidad 2. Abrimos la 'caja negra' del CPPS: qué es técnicamente el sistema que aprendimos a gobernar.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historia a la técnica y al contexto regional. Sesión conceptual-técnica.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'Industrie 4.0' nació como iniciativa estratégica alemana. Su núcleo tecnológico son los CPS.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que combinan lo conceptual (definir CPPS) con lo diagnóstico (madurez).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revolución multiplicó la productividad. La 4ª no añade una máquina: informatiza y conecta lo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salto 3.0→4.0: de automatización aislada a sistemas conectados que se auto-ajustan. La clave es datos + conectividad + autonomía.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Industria 4.0 se define por integración (H/V/ciclo), tiempo real, descentralización y nuevos modelos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tipos de integración anticipan ISA-95 (vertical) y RAMI 4.0 (los tres ejes). Puente a las próximas sesiones.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la Unidad 2 con la Unidad 1: la técnica sin gobierno es riesgo; con gobierno, es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beneficios justifican el business case (S05, S16). Cada uno se debe medir para probar el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que reorienta del 'más robots' al 'mejores decisiones'. Puente hacia el CPS.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CPS es el concepto general; CPPS su especialización a manufactura. El gemelo digital es el componente que lo hace 'ciber'.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Distinción clave. La automatización clásica ejecuta; el CPPS razona sobre su proceso mediante un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Otra confusión frecuente. El CPS cierra el lazo con actuadores; el IoT de consumo suele solo sensar.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5C es la 'escalera' del CPPS. La mayoría de plantas colombianas están en niveles 1–2 (conectar y convertir).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concreto de los 5 niveles. La pregunta de gobierno: ¿hasta dónde decide la máquina sola?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rasgos que definen un CPPS. Cada uno plantea decisiones de gobierno (autonomía, seguridad, datos).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 S12. El gemelo es lo que hace 'ciber' al ciber-físico. Marcar bien esta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9 pilares (BCG, 2015). Cada uno es una decisión de inversión y de riesgo. La ciberseguridad es transversal.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 S09. La arquitectura borde-nube es una de las decisiones de gobierno más importantes en un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 S12 y S13. La analítica y el gemelo son donde el CPPS 'piensa'.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pilares tocan directamente al operario. Su adopción exige gestión del cambio y seguridad (principio 6 de 38500).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Actualización 2024-2026. La IA generativa y la IA en el borde son las tendencias más disruptivas para la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Reconecta con el gobierno: los pilares se priorizan con la cascada y los factores de diseño de COBIT.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pilares transversales. La ciberseguridad no es un pilar más: condiciona a todos los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Acatech (Industrie 4.0 Maturity Index) va de informatizar a adaptarse. La mayoría de plantas están en 2-3.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modelos de madurez son la herramienta del diagnóstico del proyecto. SIRI es el más completo; IMPULS, el más apto para pymes.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expectativas: el objetivo realista es avanzar por etapas, no copiar una fábrica faro alemana.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de madurez es un insumo del proyecto. Debe basarse en evidencia, no en autopercepción optimista.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típico de una pyme industrial colombiana: conectividad y seguridad como prioridades. El proyecto hará el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sección uniendo lo técnico (madurez digital) con lo de gobierno (Unidad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buen diagnóstico cubre tecnología, procesos, datos, personas, estrategia y gobierno, no solo máquinas.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regional. El valor del curso es formar talento que gobierne la digitalización del tejido industrial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barreras principales son financieras y de talento, no de tecnología de punta. El gobierno las aborda.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explícitamente Unidad 1 y 2: el gobierno guía la adopción técnica. Anticipa la hoja de ruta de S16.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pragmática. La seguridad (escalón 3) no es opcional: se construye desde el primer día de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concretos por sector regional. Ayuda al estudiante a imaginar el caso de uso de su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Motivación para el estudiante: el mercado demanda exactamente el perfil que el curso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concretas para que el proyecto conecte técnica (U2) con gobierno (U1).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sesión. Verificar la distinción CPPS vs automatización/IoT.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que amarra U1 y U2. Evita que los estudiantes se deslumbren con la tecnología olvidando el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Unidad 2 pasa de la visión (hoy) a las arquitecturas de referencia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Industria 4.0 y CPS.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fundacionales de Industria 4.0 y CPPS más el contexto colombiano.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S07 aterriza la integración vertical con ISA-95, el primer estándar de arquitectura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catech.de/" TargetMode="External"/><Relationship Id="rId2" Type="http://schemas.openxmlformats.org/officeDocument/2006/relationships/hyperlink" Target="https://doi.org/10.1016/j.procir.2014.03.115" TargetMode="External"/><Relationship Id="rId3" Type="http://schemas.openxmlformats.org/officeDocument/2006/relationships/hyperlink" Target="https://doi.org/10.1016/j.mfglet.2014.12.001" TargetMode="External"/><Relationship Id="rId4" Type="http://schemas.openxmlformats.org/officeDocument/2006/relationships/hyperlink" Target="https://www.bcg.com/capabilities/manufacturing/industry-4.0" TargetMode="External"/><Relationship Id="rId5" Type="http://schemas.openxmlformats.org/officeDocument/2006/relationships/hyperlink" Target="https://www.acatech.de/" TargetMode="External"/><Relationship Id="rId6" Type="http://schemas.openxmlformats.org/officeDocument/2006/relationships/hyperlink" Target="https://www.weforum.org/projects/global-lighthouse-network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06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 4.0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CPS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cuarta revolución industrial y los sistemas ciber-físicos de producción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· Sistemas ciber-físicos    ·    SEMANA 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revoluciones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máquina de vapor a la fábrica ciber-física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CPS/CPPS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y la arquitectura 5C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habilitadoras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nueve pilares de Industria 4.0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digital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madurez y fábrica inteligente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I4.0 en Colombia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Adopción, barreras y el ángulo de gobierno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Síntesis, glosario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51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U2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CUARTA REVOLUCIÓN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REVOLUCIÓN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 TECNOLÓGICOS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5C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TÉRMINO 'I4.0'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Alemania, feria de Hannover 2011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Kagermann, Wahlster, Helbig (2013)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NÚCLEO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ciber-físicos (CPS)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 Gill, NSF (~2006)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Monostori (2014)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inteligente y conectada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51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U2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cuarta revolución en la historia industrial.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 y CPPS y distinguirlos de la automatización clásica y el IoT.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5C y los nueve pilares tecnológicos.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madurez digital de una planta con un modelo de referencia.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adopción y las barreras de Industria 4.0 en Colombia.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51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REVOLUCIONES INDUSTRIALES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mecanización a la producción ciber-física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REVOLUCIONES, UN PATRÓN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MECANIZACIÓN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Vapor, agua. ~1784. Telar mecánico.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 MASA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Electricidad, línea. ~1870. Ford.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Electrónica, PLC, TI. ~1969.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CIBER-FÍSICA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IoT, datos, IA, gemelos. Hoy.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51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CAMBIA EN LA 4ª REVOLUCIÓN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CONECTIVIDAD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conecta: máquinas, productos, sistemas y personas en red.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producción genera y consume datos masivos en tiempo real.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data industrial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AUTONOMÍA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deciden y se ajustan con IA y modelos, no solo con reglas fijas.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Auto-optimización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3.0 automatizó tareas; la 4.0 conecta e informatiza el sistema completo para que se adapte. Es una diferencia de grado que se vuelve de tipo.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51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DEFINICIÓN DE INDUSTRIA 4.0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única definición; sí un consenso de rasgos.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(cadena de valor), vertical (niveles de la empresa) y de ciclo de vida (ingeniería).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recolectar y analizar datos al instante para decidir.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DESCENTRALIZACIÓN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tomadas lo más cerca posible del proceso (borde).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SERVITIZACIÓN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producto al servicio: valor por resultado, no solo por venta.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51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TIPOS DE INTEGRACIÓN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es el corazón de Industria 4.0.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los niveles de la empresa: sensor → PLC → SCADA → MES → ERP.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HORIZONTAL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la cadena de valor: proveedores, planta, clientes, logística.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VIDA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ingeniería, producción y servicio a lo largo de la vida del producto.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51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IMPORTA GOBERNAR LA 4ª REVOLUCIÓN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OPORTUNIDAD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eficiencia, calidad, personalización y nuevos modelos de negocio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complejidad, ciberamenazas y dependencia tecnológica crecientes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qué adoptar, en qué orden y con qué controles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4.0 no es inevitable ni uniforme: cada empresa decide cuánto y cómo adoptarla. Sin gobierno (Unidad 1), la digitalización se vuelve gasto sin retorno o riesgo sin control. Con gobierno, se vuelve ventaja.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51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 DE NEGOCIO DE INDUSTRIA 4.0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las empresas invierten en la transformación.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PRODUCTIVIDAD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paradas, mejor OEE, procesos optimizados.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defectos, control en línea, trazabilidad total.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 pequeños y personalización sin perder eficiencia.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TIEMPO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más cortos de diseño a mercado.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predictivo y eficiencia energética.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NUEVOS MODELOS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Servitización: vender resultado, no solo producto.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51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fábrica del futuro no es la más automatizada, sino la que mejor convierte datos en decisiones.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Síntesis de Industria 4.0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51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SISTEMAS CIBER-FÍSICOS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núcleo tecnológico de Industria 4.0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51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 Y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System: integración de cómputo, redes y procesos físicos en lazo cerrado.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Gill/NSF ~2006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CPPS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Production System: CPS aplicados a producción, autónomos y cooperativos.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Monostori 2014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DIGITAL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réplica virtual sincronizada que da al CPS su 'lado ciber'.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ve en S12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CPPS consta de subsistemas autónomos y cooperativos, conectados en todos los niveles de producción, de los procesos a las redes logísticas (Monostori).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51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CPPS FRENTE A AUTOMATIZACIÓN CLÁSICA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Lazo cerrado cómputo–físico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(gemelo) del proceso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Consciente del contexto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reconfigura y aprende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 en red y con humanos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AUTOMATIZACIÓN CLÁSICA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fijo y aislado (PLC)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modelo del proceso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rígidas preprogramadas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adapta solo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Islas sin colaboración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CPPS no es 'un PLC con internet': tiene un modelo de su propio proceso y actúa sobre él.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51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 FRENTE A IOT DE CONSUMO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 INDUSTRIAL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Lazo de control con lo físico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y determinismo críticos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disponibilidad primero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15–20 años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 físicas del fallo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 DE CONSUMO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y conveniencia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tolerante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 primero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2–3 años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CPS actúa sobre el mundo físico; el IoT de consumo, en general, solo informa.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51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ARQUITECTURA 5C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Bagheri &amp; Kao (2015): cinco niveles para construir un CPPS.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CONNECTION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inteligente: datos fiables de máquinas y sensores.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CONVERSION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 a información: características e indicadores de salud.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CYBER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digital, memoria y comparación de flota.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Diagnóstico, priorización y soporte a la decisión.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CONFIGURATION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Reconfiguración y resiliencia: el sistema se auto-ajusta.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LECTURA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nivel se construye sobre el anterior; sin datos fiables no hay cognición.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51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5C APLICADA — UNA FRESADORA INTELIGENTE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VIBRACIÓN A LA DECISIÓN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Connection: sensores de vibración y corriente. 2 Conversion: se calcula el desgaste de la herramienta. 3 Cyber: se compara con el gemelo y con otras máquinas de la flota. 4 Cognition: se prioriza el aviso y se sugiere cambiar la herramienta. 5 Configuration: se ajusta el avance o se agenda mantenimiento.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TECNOLOGÍAS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Sensórica · OPC UA · gemelo · 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autoriza el auto-ajuste?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51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CARACTERÍSTICAS DE UN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INTERCONECTADO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Máquinas, productos y sistemas se comunican.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CONSCIENTE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Percibe su estado y su contexto mediante sensores.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INTELIGENTE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con modelos y datos, no solo reglas fijas.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AUTÓNOMO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reconfigura y responde a cambios por sí mismo.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RESILIENTE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 fallos y se recupera; degrada con gracia.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51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CPS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DIGITAL — EL 'LADO CIBER'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CLAVE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MODELO QUE PIENSA POR EL SISTEMA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distingue a un CPS de la automatización es su gemelo digital: una réplica virtual sincronizada del activo o proceso. En él, el sistema simula, compara y decide antes de actuar sobre lo físico. Sin gemelo hay control; con gemelo hay cognición. Es el nivel 3 (Cyber) de la 5C.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· comparar · predecir · optimizar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Gemelos digitales (S12)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51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TECNOLOGÍAS HABILITADORAS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nueve pilares de Industria 4.0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NUEVE PILARES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clásico (BCG) de las tecnologías que habilitan Industria 4.0.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Industrial de las Cosas: sensórica y conectividad.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NUBE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y almacenamiento elástico; plataformas industriales.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DATA / ANALÍTICA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y analizar grandes volúmenes de datos de proceso.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602736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059936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Gemelos digitales y simulación de procesos.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456432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602736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REALIDAD AUMENTADA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059936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visual para mantenimiento, montaje y formación.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456432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602736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FABRICACIÓN ADITIVA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059936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3D: prototipado y repuestos bajo demanda.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992624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5138928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ROBOTS AUTÓNOMOS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596128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colaborativos (cobots) y AGV/AMR.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6882" y="4992624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99762" y="5138928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9762" y="5596128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horizontal y vertical de sistemas.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0845" y="4992624"/>
            <a:ext cx="3557930" cy="1280160"/>
          </a:xfrm>
          <a:prstGeom prst="roundRect">
            <a:avLst>
              <a:gd name="adj" fmla="val 4286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13725" y="5138928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CIBERSEGURIDAD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13725" y="5596128"/>
            <a:ext cx="3192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el sistema ciber-físico (IEC 62443).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51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IIOT, NUBE Y BORDE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 1–3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COLUMNA VERTEBRAL DE DATOS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IIoT instrumenta la planta con sensores; la nube provee cómputo y plataformas elásticas; el borde (edge) procesa cerca del proceso para baja latencia. Juntos forman el flujo de datos del CPPS. La decisión de gobierno: qué se procesa en el borde y qué en la nube (soberanía, latencia, costo).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CLAVE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 vs nube · soberanía del dato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IIoT/Edge/Nube (S09)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51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ANALÍTICA, SIMULACIÓN Y GEMELOS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 4–5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DATOS A INTELIGENCIA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analítica (incluida IA) convierte datos en predicciones: mantenimiento predictivo, control de calidad, optimización. La simulación y los gemelos digitales permiten probar y optimizar en virtual antes de tocar lo físico. Son el 'nivel Cyber y Cognition' de la 5C.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APLICACIONES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Predictivo · optimización · gemelo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Gemelos (S12), datos (S13)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51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ROBÓTICA, ADITIVA Y REALIDAD AUMENTADA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 6–8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INTERFAZ FÍSICO-DIGITAL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cobots y AMR flexibilizan la producción; la fabricación aditiva permite repuestos y personalización bajo demanda; la realidad aumentada asiste al operario en mantenimiento y montaje. Amplían la colaboración humano-máquina, un punto sensible del principio de comportamiento humano (38500).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 HUMANO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Cobots · AMR · AR · impresión 3D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competencias del operario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51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EMERGENTES RECIENTES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de nueve pilares se amplía con tendencias 2024–2026.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Copilotos para ingeniería, documentación y diagnóstico.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5G / TSN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deterministas e inalámbricas para control en tiempo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GEMELOS DE PLANTA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Gemelos a escala de fábrica, no solo de máquina.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EN EL BORDE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de modelos directamente en dispositivos de planta.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SOSTENIBILIDAD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Gemelos y datos para eficiencia energética y huella de carbono.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 ZERO TRUST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confianza cero adaptada a entornos OT.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51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 ADOPTAR TODO, ES ADOPTAR CON CRITERIO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tecnologías: ninguna empresa las adopta todas a la vez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PRIORIZAR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por la que resuelve el mayor dolor con menor riesgo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pilar es una decisión de inversión, riesgo y competencias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nueve pilares son un menú, no una lista de tareas. El gobierno (Unidad 1) decide cuáles adoptar, en qué orden y con qué controles. Adoptar tecnología sin priorizar es la receta del fracaso digital.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51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PILARES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 Y CIBERSEGURIDAD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PILARES 8–9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CONECTA Y LO QUE PROTEGE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(pilar 8) une los sistemas vertical y horizontalmente: sin ella, los demás pilares son islas (ISA-95 y RAMI 4.0, S07–08). La CIBERSEGURIDAD (pilar 9) es transversal: cada nueva conexión amplía la superficie de ataque del proceso físico (IEC 62443, S14–15). Integrar sin asegurar es abrir la planta al riesgo.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ISA-95, RAMI (S07-08) · IEC 62443 (S14-15)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y asegurar van juntos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51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MADUREZ DIGITAL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tan 4.0 es realmente una planta?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51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DE MADUREZ (MODELO ACATECH)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INFORMATIZACIÓN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aislada, sin conexión.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CONECTIVIDAD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conectados.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'Ver' lo que pasa en tiempo real.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por qué pasa.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Anticipar lo que pasará.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ADAPTABILIDAD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 y auto-ajustarse.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51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MODELOS DE MADUREZ DIGITAL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marcos evalúan qué tan 4.0 es una organización.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ACATECH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Index: 6 etapas (informatizar → adaptar) en 4 áreas.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IMPULS (VDMA)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para pymes: 6 dimensiones y 5 niveles.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SIRI (SINGAPUR)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Industry Readiness Index: 16 dimensiones.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el punto de partida y priorizar la ruta de mejora.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Suelen cubrir tecnología, organización, personas y estrategia.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madurez digital complementa la madurez de gobierno (COBIT).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51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FÁBRICA INTELIGENTE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FACTORY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donde los CPPS, personas y sistemas colaboran para producir de forma flexible y optimizada.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de la I4.0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LIGHTHOUSE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Fábricas 'faro' (WEF/McKinsey): referentes globales de adopción avanzada.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REALIDAD PYME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no es un lighthouse: avanza por pasos priorizados y realistas.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Colombia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'fábrica inteligente' es un norte, no un requisito de entrada. Para una pyme, el valor está en subir uno o dos escalones de madurez, no en saltar al lighthouse.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51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DE MADUREZ — CÓMO SE HACE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PERCEPCIÓN A LA EVIDENCIA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evalúa cada dimensión (tecnología, datos, procesos, personas, estrategia) con evidencia y entrevistas, asignando un nivel. El resultado es un perfil de madurez que revela brechas y prioridades. Se combina con el diagnóstico de gobierno (COBIT) para una ruta integral.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madurez por dimensión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USA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proyecto (E1/E2)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51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DE MADUREZ — EJEMPLO PYME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29184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41768" y="1783080"/>
            <a:ext cx="394700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4920" y="1783080"/>
            <a:ext cx="380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de máquinas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41768" y="2240280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4920" y="2240280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analítica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41768" y="2807208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4920" y="2807208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29184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41768" y="3374136"/>
            <a:ext cx="394700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4920" y="3374136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Crítica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29184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digitales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41768" y="3941064"/>
            <a:ext cx="394700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4920" y="3941064"/>
            <a:ext cx="380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51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MADUREZ DIGITAL Y MADUREZ DE GOBIERNO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digital: qué tecnología y capacidad tiene la planta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de gobierno (COBIT): qué tan bien decide sobre esa tecnología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AMBAS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planta muy digital sin gobierno acumula riesgo; con gobierno, valor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madureces son complementarias. Digitalizar sin gobernar crea sistemas complejos y riesgosos; gobernar sin digitalizar deja valor sobre la mesa. El proyecto evalúa ambas.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51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MADUREZ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EVALÚA UN MODELO DE MADUREZ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dimensiones típicas de un diagnóstico digital.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Conectividad, sistemas, datos e infraestructura de la planta.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Digitalización y automatización de los procesos productivos.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calidad, integración y uso de los datos.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digitales y cultura de mejora.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Existencia de una hoja de ruta y liderazgo digital.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y decisiones sobre la tecnología (COBIT).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51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 4.0 EN COLOMBIA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Adopción, barreras y el papel del gobierno de 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51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TEJIDO INDUSTRIAL COLOMBIANO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contexto que condiciona la adopción de Industria 4.0.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las empresas: recursos y talento limitados.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SECTORES FUERTES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Alimentos, textil-confección, cemento, energía, química.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ANTIOQUIA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Clúster manufacturero relevante; ecosistema de innovación.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CONPES y programas de transformación digital y productividad.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 y centros que forman talento (este curso).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BRECHA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Conectividad, talento y ciberseguridad OT como cuellos de botella.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51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BARRERAS DE ADOPCIÓN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adopción es más lenta de lo esperado.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FINANCIERAS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alta y retorno incierto para una pyme.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Escasez de perfiles que integren TI, OT y datos.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cambio y desconfianza en la automatización.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OT, conectividad limitada e integración compleja.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51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ROL DEL GOBIERNO DE TI EN LA ADOPCIÓN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PUENTE U1↔U2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 LA DIGITALIZACIÓN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(Unidad 1) decide qué pilares adoptar, en qué orden y con qué controles, alineando la inversión con la estrategia (costo, calidad, exportación). Prioriza con la cascada y los factores de diseño, gestiona el riesgo IT/OT y asegura las competencias. Convierte la adopción de un gasto en una ventaja.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Cascada · factores de diseño · registro de riesgos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adopción priorizada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51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RUTA REALISTA DE ADOPCIÓN PARA UNA PYME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orden sensato de escalones, no un salto al lighthouse.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CONECTAR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Instrumentar máquinas críticas y conectar datos básicos.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VER (OEE)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Tableros de OEE y visibilidad del proceso en tiempo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ASEGURAR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y ciberseguridad OT desde el inicio.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PREDECIR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predictivo en los activos que más paran.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OPTIMIZAR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gemelos donde el retorno lo justifique.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· GOBERNAR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escalón bajo el marco de gobierno de la Unidad 1.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51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 POR SECTOR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USO 4.0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 de lote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 artificial calidad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defectos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Optimización de horno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Ahorro energético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Mantenimiento predictivo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paradas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51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TALENTO COMO FACTOR DECISIVO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BRECHA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faltan perfiles que integren TI, OT, datos y ciberseguridad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academia y la empresa deben cerrar la brecha juntas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TÚ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curso forma el 'perfil puente' que la industria necesita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barrera número uno de la adopción no es el dinero ni la tecnología: es el talento. El profesional que entiende gobierno, TI y OT a la vez es escaso y decisivo. Ese es el perfil que este curso construye.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51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la madurez digital de tu empresa con un modelo (IMPULS/SIRI).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PRIORIZA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1–2 pilares con mayor dolor y menor riesgo.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ciberseguridad OT desde el primer escalón.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ALINEA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cada iniciativa a la estrategia (costo, calidad, exportación).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la cascada y los factores de diseño de la Unidad 1.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51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51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51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4ª REVOLUCIÓN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e informatiza; no solo automatiza.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+ físico en lazo cerrado, con modelo del proceso.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Connection, Conversion, Cyber, Cognition, Configuration.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PILARES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de tecnologías; se adoptan con criterio.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MADUREZ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antes de digitalizar; avanzar por etapas.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51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  CIERRE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185855" cy="4206240"/>
          </a:xfrm>
          <a:prstGeom prst="roundRect">
            <a:avLst>
              <a:gd name="adj" fmla="val 1304"/>
            </a:avLst>
          </a:prstGeom>
          <a:solidFill>
            <a:srgbClr val="160B0B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</a:t>
            </a:r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DIGITALIZAR SIN GOBERNAR ES ACUMULAR RIESGO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máquinas y datos sin un marco de gobierno multiplica la superficie de ataque, la complejidad y la dependencia — sin garantizar retorno.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Unidad 2 abre la técnica del CPPS, pero la brújula sigue siendo la Unidad 1: qué adoptar, en qué orden, con qué controles y quién responde.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i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Primero decidir bien; después conectar. La técnica sin gobierno es deuda.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51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41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2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I4.0 Y CPS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Pirámide e integración vertical.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RAMI 4.0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referencia y AAS.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IIOT/EDGE/NUBE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2.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51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 4.0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Cuarta revolución industrial; integración ciber-física.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CPS / CPPS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ciber-físico / de producción.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5C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Connection, Conversion, Cyber, Cognition, Configuration.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Industrial de las Cosas.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factory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inteligente, flexible y conectada.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 digital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virtual sincronizada de un activo o proceso.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Madurez digital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de adopción de capacidades 4.0.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Lighthouse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faro: referente global de adopción.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/ 51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Acatech (2013) — Recomendaciones Industrie 4.0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https://www.acatech.de/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Monostori (2014) — CPPS (Procedia CIRP)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https://doi.org/10.1016/j.procir.2014.03.115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Bagheri &amp; Kao (2015) — 5C (Manufacturing Letters)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https://doi.org/10.1016/j.mfglet.2014.12.001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Rüßmann et al. (2015) — Industry 4.0: The Nine Pillars (BCG)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https://www.bcg.com/capabilities/manufacturing/industry-4.0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Acatech — Industrie 4.0 Maturity Index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https://www.acatech.de/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/ McKinsey — Global Lighthouse Network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https://www.weforum.org/projects/global-lighthouse-network/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51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07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ISA-95 Y LA PIRÁMIDE DE AUTOMATIZACIÓN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niveles 0–4, el estándar ISA-95/IEC 62264 y la integración vertical empresa-control.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07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S06 · INDUSTRIA 4.0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/ 51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