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Octava sesión. RAMI 4.0 añade a la jerarquía de ISA-95 dos ejes: capas y ciclo de vida. El AAS es el 'pasaporte digital' del 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un modelo abstracto (el cubo) a algo tangible (el AAS) y su uso en gobierno.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RAMI 4.0 integra tres normas en un cubo: arquitectura (capas), ciclo de vida (62890) y jerarquía (62264 extendida).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práctico: usar RAMI como mapa para ubicar dónde ocurre cada decisión ciber-física.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RAMI es un marco de orientación, no un producto. Su valor es dar coordenadas comunes a un sistema complejo.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cubo es la imagen icónica de RAMI. Cada punto = una capa, una fase del ciclo de vida y un nivel jerárquico.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RAMI complementa a ISA-95, no lo sustituye. Es un mapa conceptual, no un plano de construcción.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RAMI como herramienta de gobierno: ubicar la decisión en el cubo revela alcance y stakeholders.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RAMI extiende ISA-95 con dos ejes nuevos. Es la referencia europea; IIRA la estadounidense (se compara en sección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a los tres ejes. RAMI es orientación, no prescripción.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RAMI surge de la iniciativa Industrie 4.0 alemana. El AAS es su desarrollo práctico más reciente.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analogía con OSI (redes) hace intuitivas las seis capas. Cada una se estandariza y evoluciona por separado.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seis capas van del activo físico al negocio. Recuerdan a un modelo de red (OSI) pero para la fábrica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 de ciclo de vida (IEC 62890) es lo que ISA-95 no tiene. Distinguir 'tipo' (el plano) de 'instancia' (la máquina real) es clave para el gemelo y la trazabilidad.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RAMI extiende ISA-95: añade 'product' abajo y 'connected world' arriba. Reconoce que el producto y la red interempresa importan.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mental: ubicar elementos en el cubo. Refuerza la lógica tridimensional.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Ubicar decisiones en el cubo aclara quién debe participar y qué estándares aplican. Base del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 de ciclo de vida es la clave de RAMI y del gemelo digital (S12). Sin él, no hay 'tipo vs instancia'.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AAS es el habilitador práctico de la interoperabilidad de RAMI. Es un gemelo 'administrativo' (datos/identidad), complementario al gemelo de simulación (S12).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submodelos son extensibles y estandarizables por dominio. Permiten que máquinas de distintos fabricantes 'se entiendan'.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progresión pasivo→reactivo→proactivo es la visión de la 'fábrica que se auto-organiza'. Hoy dominan tipos 1-2.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AAS ataca el lock-in de integración. El gobierno puede exigirlo en las especificaciones de compra (principio 3 de 38500).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Actualizar expectativas: el AAS aún madura. Para el estudiante, lo relevante es conocerlo y anticiparlo en decisiones de compra.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AAS (datos/identidad estandarizados) del gemelo de simulación (comportamiento). Anticipa S12.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Aterriza el AAS con herramientas reales. Útil para quien quiera experimentar más allá de la teoría.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RAMI (manufactura, producto) e IIRA (sistemas industriales, IoT) son complementarios. Existe un mapeo oficial entre ambos.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clave: RAMI ⊃ ISA-95. La jerarquía de ISA-95 vive dentro de RAMI como uno de sus tres ejes.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un único marco: se combinan según el propósito. El gobierno decide cuáles adopta como referencia (APO03).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hilo digital es la promesa de continuidad de datos que RAMI hace posible. Conecta ingeniería, producción y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el debate improductivo. Los marcos se combinan; el gobierno decide el conjunto de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que muestra RAMI como herramienta de scoping. Mapear el proyecto en el cubo aclara quién y qué participa.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RAMI operacionaliza el gobierno de arquitectura: ubicar en el cubo aclara alcance, responsables, estándares y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capas de RAMI mapean directamente a las sesiones del curso. RAMI es el 'índice' de la Unidad 2-3.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lab (junto con S07) produce la arquitectura del Entregable 2. Herramientas: draw.io/Archi.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Síntesis operativa de RAMI en tres preguntas. Es la forma de usar el modelo sin perderse en la teoría.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Orientaciones para aplicar RAMI en el proyecto. Conecta técnica (U2) con gobierno (U1).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Verificar los tres ejes y el papel del AAS.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S09 cierra la Unidad 2 con las arquitecturas IIoT, edge y nube que dan sustrato a RAMI.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arquitectura de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RAMI 4.0 y del Asset Administration 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S09 cierra la Unidad 2 con el sustrato de cómputo y conectividad del CPPS.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lattform-i40.de/" TargetMode="External"/><Relationship Id="rId2" Type="http://schemas.openxmlformats.org/officeDocument/2006/relationships/hyperlink" Target="https://industrialdigitaltwin.org/" TargetMode="External"/><Relationship Id="rId3" Type="http://schemas.openxmlformats.org/officeDocument/2006/relationships/hyperlink" Target="https://www.iiconsortium.org/iira/" TargetMode="External"/><Relationship Id="rId4" Type="http://schemas.openxmlformats.org/officeDocument/2006/relationships/hyperlink" Target="https://www.dinmedia.de/en/technical-rule/din-spec-91345/250940128" TargetMode="External"/><Relationship Id="rId5" Type="http://schemas.openxmlformats.org/officeDocument/2006/relationships/hyperlink" Target="https://webstore.iec.ch/" TargetMode="External"/><Relationship Id="rId6" Type="http://schemas.openxmlformats.org/officeDocument/2006/relationships/hyperlink" Target="https://www.isa.org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PREGRADO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08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RAMI 4.0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EL AAS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modelo de arquitectura de referencia de Industria 4.0 y el gemelo administrativo del activo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 · Sistemas ciber-físicos    ·    SEMANA 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RAMI 4.0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cubo de arquitectura de referencia (DIN SPEC 91345)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ejes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Capas, ciclo de vida y jerarquía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AAS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Administration Shell y sus submodelos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 frente a otros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IIRA e ISA-95: cómo se relacionan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 en la práctica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decisiones y el hilo digital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Síntesis, glosario y referencias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47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RAMI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RAMI 4.0 EN CIFRAS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7964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7964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91345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3008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DIN SPEC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051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051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051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 I4.0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 Industrie 4.0 (Alemania)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3368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 SPEC 91345 (2016)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 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(arquitectura) — 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 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13368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y flujo de valor (IEC 62890)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 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(ISA-95 + IEC 62264) — extendida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8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NÚCLEO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13368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Administration Shell (AAS)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47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RAMI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propósito y la estructura del cubo RAMI 4.0.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ejes: capas, ciclo de vida y jerarquía.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Asset Administration Shell y sus submodelos.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 4.0 con IIRA y con ISA-95.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decisión de gobierno sobre el cubo RAMI 4.0.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47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ES RAMI 4.0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mapa tridimensional de la fábrica digital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RAMI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QUE RESUELVE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COMPLEJIDAD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 4.0 mezcla TI, OT, ciclo de vida y muchos niveles. Nadie ve el todo.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Caos de siglas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MAPA COMÚN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 4.0 da un marco tridimensional para ubicar cualquier elemento o decisión.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'cubo'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LENGUAJE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que ingenieros, TI y negocio hablen del mismo punto del sistema.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Coordenadas comunes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 4.0 (Reference Architectural Model Industrie 4.0) es un mapa: no dice qué comprar, sino dónde está cada cosa y decisión en el sistema ciber-físico.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47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RAMI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CUBO DE TRES DIMENSIONES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 4.0 se representa como un cubo con tres ejes ortogonales.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 VERTICAL · CAPAS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capas de la arquitectura: de lo físico (activo) a lo funcional y de negocio.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 IZQUIERDO · CICLO DE VIDA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y flujo de valor: de tipo a instancia, del diseño al servicio.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 DERECHO · JERARQUÍA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jerárquicos: de producto a mundo conectado (ISA-95 extendido).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PUNTO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elemento se ubica por sus tres coordenadas: capa × fase × nivel.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PROPÓSITO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Estructurar, comunicar y estandarizar Industria 4.0.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ORIGEN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 Industrie 4.0; DIN SPEC 91345 (2016).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47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RAMI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NO ES RAMI 4.0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Aclarar el alcance evita malentendidos.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ES ARQUITECTURA CONCRETA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diseño listo para implementar; es un marco de referencia.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ES UN PRODUCTO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fabricante 'vende RAMI'; es un modelo abierto y neutral.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REEMPLAZA ISA-95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extiende: la jerarquía de RAMI incluye y amplía la de ISA-95.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 ES UN MAPA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de coordenadas para ubicar y comunicar elementos y decisiones.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47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RAMI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A UN INGENIERO DE GOBIERNO LE SIRVE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UTILIDAD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UBICAR LA DECISIÓN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 una iniciativa (p. ej. un gemelo digital de una línea), RAMI permite preguntar: ¿en qué capa actúa (información, funcional)? ¿en qué fase del ciclo de vida (desarrollo, operación)? ¿en qué nivel jerárquico (estación, planta)? Eso clarifica el alcance, los responsables y los riesgos de la decisión.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capa? ¿Qué fase? ¿Qué nivel?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y responsables claros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47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RAMI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RAMI EN EL ECOSISTEMA DE ESTÁNDARES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normas: capas (arquitectura), ciclo de vida (62890), jerarquía (62264)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ABIERTO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respecto de fabricantes; base de interoperabilidad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EUROPEO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dominante en Europa; IIRA lo es en EE. UU.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 4.0 no compite con ISA-95: lo envuelve. Toma la jerarquía de ISA-95, le añade el eje de capas (arquitectura) y el de ciclo de vida, y así cubre toda la vida del activo, no solo la operación.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RAMI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5840" y="1920240"/>
            <a:ext cx="101800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RAMI 4.0 no te dice qué construir; te dice dónde estás parado en la fábrica digital.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48463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Síntesis del modelo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RAMI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ORIGEN DE RAMI 4.0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INDUSTRIE 4.0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 alemana (Hannover).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RECOMENDACIONES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Acatech.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RAMI PROPUESTO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 Industrie 4.0.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DIN SPEC 91345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Estandarización de RAMI.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AAS / IDTA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Estandarización del AAS.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2557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58861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ADOPCIÓN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58861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 plug-and-produce.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TRES EJES DEL CUBO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Capas, ciclo de vida y jerarquía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EJES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CAPAS COMO UN 'OSI INDUSTRIAL'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ABSTRACCIÓN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el modelo OSI de redes, RAMI apila capas de lo físico a lo abstracto.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 → Business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SEPARACIÓN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tiene una responsabilidad clara; un cambio en una no rompe las otras.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Modularidad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INTEROPERABILIDAD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Estandarizar por capa permite que sistemas distintos se integren.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 UA en Communication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Pensar las capas de RAMI como un 'OSI de la fábrica' ayuda: cada capa aísla una preocupación y se estandariza por separado.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EJES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 1 — LAS SEIS CAPAS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abajo (lo físico) hacia arriba (el negocio).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ASSET (ACTIVO)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objeto físico real: máquina, sensor, producto, persona.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transición de lo físico a lo digital: sensores, HMI, RFID.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y redes que transportan los datos (OPC UA).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y su modelo semántico: qué significan.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funciones y servicios que operan sobre la información.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procesos de negocio, reglas y modelos comerciales.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EJES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 2 — CICLO DE VIDA Y FLUJO DE VALOR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IEC 62890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 FRENTE A INSTANCIA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 el TIPO (el diseño, la definición del producto o de la máquina) de la INSTANCIA (cada unidad real fabricada y en operación). Cubre desde el desarrollo hasta el mantenimiento y el retiro. Permite gobernar el activo a lo largo de toda su vida, no solo cuando produce.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Diseño, desarrollo, prototipo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Producción, uso, mantenimiento, retiro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EJES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 3 — NIVELES JERÁRQUICOS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jerarquía de ISA-95, extendida hacia arriba y hacia abajo.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producto mismo como parte del sistema (nuevo respecto de ISA-95).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DEVICE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 de campo: sensor, actuador inteligente.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DEVICE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Controlador: PLC, DCS.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STATION / WORK CENTER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Estación o centro de trabajo.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UNIT / ENTERPRISE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 y empresa (como en ISA-95).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CONNECTED WORLD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Mundo conectado: cadenas de valor entre empresas (nuevo).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EJES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SE LEE UN PUNTO DEL CUBO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TRES COORDENADAS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elemento se ubica por (capa, fase del ciclo de vida, nivel jerárquico). Ejemplo: el modelo de datos de un sensor de vibración durante la operación de una máquina = (Information, Instancia-Uso, Field Device). Esa terna define qué es, en qué momento de su vida y en qué nivel actúa.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(Information, Uso, Field Device)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Clarificar alcance y responsables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EJES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UBICANDO DECISIONES EN EL CUBO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8404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43400" y="1783080"/>
            <a:ext cx="36726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6552" y="1783080"/>
            <a:ext cx="352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16088" y="1783080"/>
            <a:ext cx="36726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89240" y="1783080"/>
            <a:ext cx="352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8404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protocolo OPC UA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2240280"/>
            <a:ext cx="36726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240280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16088" y="2240280"/>
            <a:ext cx="36726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89240" y="2240280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Field/Control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8404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 del lote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2807208"/>
            <a:ext cx="36726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2807208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16088" y="2807208"/>
            <a:ext cx="36726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89240" y="2807208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Station/Work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8404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negocio de calidad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374136"/>
            <a:ext cx="36726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6552" y="3374136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16088" y="3374136"/>
            <a:ext cx="36726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89240" y="3374136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38404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de temperatura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43400" y="3941064"/>
            <a:ext cx="36726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16552" y="3941064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Asset/Integration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16088" y="3941064"/>
            <a:ext cx="36726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89240" y="3941064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Device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47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EJES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TRES EJES Y NO UNO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ISA-95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eje (jerarquía): dónde ocurre, pero no en qué momento ni capa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RAMI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ejes: dónde, cuándo (ciclo de vida) y en qué capa de abstracción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GEMELO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eje de ciclo de vida es lo que hace posible el gemelo digital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gran aportación de RAMI sobre ISA-95 es el eje de ciclo de vida: permite gobernar el activo desde su diseño hasta su retiro, y sincronizar el gemelo digital con su instancia física a lo largo del tiempo.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ASSET ADMINISTRATION SHELL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gemelo administrativo del activo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47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AAS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ES EL AAS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Administration Shell: la representación digital estandarizada de un activo, su interfaz con el mundo I4.0.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Pasaporte digital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COMPONENTE I4.0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 + AAS = 'componente Industrie 4.0', la unidad básica interoperable.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 + su cáscara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GEMELO ADMINISTRATIVO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AAS es un tipo de gemelo digital centrado en datos, capacidades e identidad, no en la simulación física.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liga a S12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AAS es la 'cáscara' digital que envuelve un activo y expone, de forma estándar, su identidad, sus datos y sus capacidades a otros sistemas.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47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AAS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ANATOMÍA DEL AAS — SUBMODELOS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AAS organiza la información del activo en submodelos estandarizados.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IDENTIFICACIÓN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única del activo (fabricante, serie, tipo).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DOCUMENTACIÓN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Manuales, planos, certificados del activo.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CAPACIDADES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puede hacer el activo (skills, funciones).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ESTADO / DATOS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operativas y de condición en tiempo real.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MANTENIMIENTO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y plan de mantenimiento.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 y propiedades de seguridad del activo.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47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AAS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TIPOS DE AAS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AAS existe en distintas formas según su interacción.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 1 · PASIVO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intercambiable (p. ej. un paquete AASX) que documenta el activo.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 2 · REACTIVO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con API que responde consultas sobre el activo en tiempo real.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 3 · PROACTIVO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que negocia e interactúa autónomamente con otros AAS.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47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  AAS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AAS Y LA INTEROPERABILIDAD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IMPORTA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LAS MÁQUINAS SE ENTIENDAN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AAS, integrar una máquina nueva exige programar su interfaz a medida. Con AAS, la máquina 'se presenta' con un formato estándar: identidad, capacidades y datos. Esto reduce el costo de integración, el lock-in y el tiempo de puesta en marcha. Es interoperabilidad plug-and-produce.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BENEFICIO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integración a medida · menos lock-in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Exigir AAS en las compras (adquisición)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47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22  AAS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ESTADO DE ADOPCIÓN DEL AAS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está la tecnología en 2024–2026.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MADURANDO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Especificaciones IDTA en evolución; herramientas y ejemplos crecientes.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ADOPCIÓN TEMPRANA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Fabricantes de maquinaria empiezan a entregar AAS con sus equipos.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SUBMODELOS ESTÁNDAR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estandarizan submodelos por dominio (placa de características, huella de carbono).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REALIDAD PYME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Aún incipiente en la pyme; conviene conocerlo y exigirlo a futuro.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47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23  AAS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AAS Y GEMELO DIGITAL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gemelo administrativo: identidad, datos, capacidades, documentación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GEMELO SIM.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gemelo de simulación: réplica del comportamiento físico (S12)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JUNTOS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AAS es la 'ficha'; el gemelo de simulación, el 'modelo que corre'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AAS y gemelo digital de simulación son complementarios: el AAS estandariza la identidad y los datos del activo; el gemelo de simulación (S12) modela su comportamiento. Un CPPS maduro usa ambos.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  AAS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FORMATOS Y HERRAMIENTAS DEL AAS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PRÁCTICA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AASX Y ECOSISTEMA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AAS se materializa en el formato de paquete AASX (un archivo intercambiable) y se manipula con herramientas como el AASX Package Explorer y servidores AAS de referencia. Existen SDK para leer/escribir submodelos. El estudiante debe saber que hay un tooling concreto detrás del concepto.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AASX · AASX Package Explorer · servidores AAS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ESTÁNDARES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Especificaciones IDTA (Part 1–5)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47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RAMI 4.0 FRENTE A OTROS MODELOS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IIRA e ISA-95: cómo encajan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47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 COMPARA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RAMI 4.0 VS IIRA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C6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RAMI 4.0 (EUROPA)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Origen: Plattform Industrie 4.0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Enfoque: manufactura y producto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Tridimensional (cubo)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Fuerte en ciclo de vida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Núcleo: AAS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27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IIRA (EE. UU.)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25616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Origen: Industrial Internet Consortium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Enfoque: sistemas industriales amplios (IoT)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 en viewpoints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Fuerte en interoperabilidad de sistemas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Núcleo: patrones de conectividad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8613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compiten: RAMI y IIRA se han alineado (mapeo conjunto). Distintos énfasis, objetivos compatibles.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47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26  COMPARA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RAMI Y ISA-95 — LA RELACIÓN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 no reemplaza a ISA-95; lo integra y lo amplía.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ISA-95 EN RAMI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jerarquía de ISA-95 es el eje 3 de RAMI, extendido con 'product' y 'connected world'.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AÑADE RAMI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eje de capas (arquitectura) y el de ciclo de vida, ausentes en ISA-95.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COMPLEMENTO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ISA-95 detalla la integración vertical; RAMI da el marco tridimensional completo.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LA PRÁCTICA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usan juntos: ISA-95 para integrar ERP-MES, RAMI para ubicar y comunicar.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47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27  COMPARA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MODELOS DE REFERENCIA — PANORAMA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ecosistema de marcos de arquitectura industrial.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RAMI 4.0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tridimensional europeo; núcleo AAS.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internet industrial (EE. UU.).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ISA-95 / 62264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empresa-control (vertical).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ISA-88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por lotes (batch).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NIST SM SYSTEMS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de sistemas de manufactura inteligente.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TOGAF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empresarial general (negocio-TI).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47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28  COMPARA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HILO DIGITAL (DIGITAL THREAD)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CONCEPTO CLAVE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CONTINUIDAD DEL DATO EN EL CICLO DE VIDA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hilo digital es el flujo de datos que conecta todas las fases del ciclo de vida de un producto o activo: diseño, producción, operación, servicio. RAMI (con su eje de ciclo de vida) y el AAS son sus habilitadores. Permite, por ejemplo, que un dato de diseño llegue hasta el mantenimiento de la máquina en planta.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HABILITADORES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de ciclo de vida · AAS · gemelo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y mejora de extremo a extremo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47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  COMPARA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CAER EN LA 'GUERRA DE MARCOS'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COMPLEMENTAN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RAMI, IIRA, ISA-95 resuelven aspectos distintos y compatibles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MAPEAN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 mapeos oficiales entre ellos; no hay que elegir uno solo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decisión es qué referencias adoptar, no cuál es 'la mejor'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Discutir cuál marco es 'superior' es estéril: se diseñaron para propósitos distintos y se han alineado. El gobierno de arquitectura (APO03) selecciona un conjunto coherente de referencias, no un único ganador.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47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RAMI 4.0 EN LA PRÁCTICA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modelo abstracto a herramienta de gobierno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47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 — GEMELO DE UNA LÍNEA DE EMPAQUE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UBICAR EL PROYECTO EN RAMI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proyecto de gemelo digital de una línea de empaque se mapea en RAMI: capas Information y Functional; fase Instancia-Uso del ciclo de vida; niveles Station y Work Unit. Ese mapeo revela que participan TI (información), ingeniería (funcional) y planta (operación), y que se apoya en el AAS de las máquinas.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COORDENADAS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(Information/Functional, Uso, Station/Work)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Stakeholders, estándares y riesgos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47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31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USA RAMI EL GOBIERNO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 aporta a varias tareas de gobierno de la tecnología.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ALCANCE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una iniciativa en el cubo delimita qué cubre y qué no.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RESPONSABLES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capa/nivel sugiere qué áreas y roles deben participar.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ESTÁNDARES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coordenada apunta a los estándares aplicables (OPC UA, ISA-95).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de comunicación y el nivel de campo concentran el riesgo OT.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32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CAPA RAMI A ESTÁNDAR DEL CURSO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29184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 RAMI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794760" y="1783080"/>
            <a:ext cx="394700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67912" y="1783080"/>
            <a:ext cx="380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CONTIENE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41768" y="1783080"/>
            <a:ext cx="394700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4920" y="1783080"/>
            <a:ext cx="380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ESTÁNDAR (SESIÓN)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29184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94760" y="2240280"/>
            <a:ext cx="394700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2240280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41768" y="2240280"/>
            <a:ext cx="394700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4920" y="2240280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 UA / MQTT (S10-11)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29184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94760" y="2807208"/>
            <a:ext cx="394700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2807208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de datos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41768" y="2807208"/>
            <a:ext cx="394700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4920" y="2807208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ISA-95 (S07)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29184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94760" y="3374136"/>
            <a:ext cx="394700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7912" y="3374136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41768" y="3374136"/>
            <a:ext cx="394700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4920" y="3374136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Gemelo / analítica (S12-13)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329184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94760" y="3941064"/>
            <a:ext cx="394700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67912" y="3941064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Reglas de negocio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41768" y="3941064"/>
            <a:ext cx="394700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4920" y="3941064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(U1)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47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33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DE LA UNIDAD 2 — MODELAR LA ARQUITECTURA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ISA-95 + RAMI DEL PROYECTO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el proceso del proyecto: 1) modela sus niveles ISA-95 (0–4) y los flujos de información. 2) Ubica sus elementos clave en el cubo RAMI (capa × ciclo de vida × nivel). 3) Identifica qué activos deberían tener AAS. Entregable: diagramas de arquitectura que alimentan el Entregable 2.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ISA-95 + mapeo RAMI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ALIMENTA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2 (semana 13)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47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34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RAMI, EN UNA FRASE POR EJE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nivel de abstracción actúa? de lo físico al negocio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CICLO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momento de la vida del activo? tipo o instancia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JERARQUÍA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nivel de la fábrica? de producto a mundo conectado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preguntas resumen RAMI. Aplicarlas a cualquier iniciativa ciber-física la ubica en el cubo y revela su alcance, sus responsables y sus estándares. Esa es la utilidad práctica del modelo para el gobierno.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47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35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IDEAS PARA EL PROYECTO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 tu proyecto en las tres dimensiones de RAMI.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EXTIENDE ISA-95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la jerarquía de S07 como el eje 3 de RAMI.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PIENSA EL CICLO DE VIDA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solo la operación: diseño, servicio y retiro.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EXIGE AAS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 pedir AAS en compras de maquinaria nueva.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CONECTA CON GOBIERNO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es una decisión APO03.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47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Síntesis, glosario y referencias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47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36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PUNTOS CLAVE PARA RECORDAR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RAMI 4.0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de tres ejes: capas, ciclo de vida, jerarquía.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CAPAS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Asset, Integration, Communication, Information, Functional, Business.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CICLO DE VIDA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vs instancia; lo que ISA-95 no tiene.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gemelo administrativo estandarizado del activo.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EXTIENDE ISA-95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 envuelve la jerarquía de ISA-95.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47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37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VAMOS — UNIDAD 2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I4.0 Y CPS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ISA-95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vertical.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RAMI 4.0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AAS · hoy.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IIOT/EDGE/NUBE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la Unidad 2.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47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38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ESENCIAL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RAMI 4.0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Architectural Model Industrie 4.0.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040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DIN SPEC 91345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9040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 que define RAMI 4.0.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Administration Shell: gemelo administrativo del activo.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040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 I4.0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9040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 más su AAS.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Capas RAMI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Asset, Integration, Communication, Information, Functional, Business.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040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/ instancia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diseño vs la unidad real (ciclo de vida).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Hilo digital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 de datos en todo el ciclo de vida.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4448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IIRA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9040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Internet Reference Architecture (EE. UU.).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47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39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Y RECURSOS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enlace para abrir la fuente · libre = acceso gratuito · de pago = compra o biblioteca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84248"/>
            <a:ext cx="1054577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 Industrie 4.0 — RAMI 4.0 y AAS (documentos)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https://www.plattform-i40.de/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IDTA — Asset Administration Shell (especificaciones)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https://industrialdigitaltwin.org/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Internet Consortium — IIRA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https://www.iiconsortium.org/iira/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 SPEC 91345 (2016) — RAMI 4.0 (texto normativo)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https://www.dinmedia.de/en/technical-rule/din-spec-91345/250940128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62890 — gestión del ciclo de vida (norma)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https://webstore.iec.ch/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62264 / ISA-95 — jerarquía base (eje 3)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https://www.isa.org/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/ 47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08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SESIÓN 09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IIoT, COMPUTACIÓN EN EL BORDE Y NUBE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IIoT de referencia, criterios edge/fog/cloud y gobierno de la arquitectura nube-planta.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next --session 09 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S08 · RAMI 4.0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/ 47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2026-09-18T01:20:52Z</dcterms:created>
  <dcterms:modified xsi:type="dcterms:W3CDTF">2026-09-18T01:20:52Z</dcterms:modified>
</cp:coreProperties>
</file>