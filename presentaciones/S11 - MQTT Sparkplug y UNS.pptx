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Complemento de OPC UA. MQTT y el UNS son la arquitectura de datos moderna del CPPS. Laboratorio de cadena de datos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MQTT (transporte) a Sparkplug (estructura) y al UNS (arquitectura). Sesión técnica con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MQTT es el transporte ligero; Sparkplug le da estructura; el UNS es la arquitectura. Los tres van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práctico: montar un flujo de datos y entender el UNS como arquitectura de gobierno del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desacople es la clave de MQTT: se añaden productores y consumidores sin modificar a los demás. Base del 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jerarquía de tópicos es semántica. Un buen diseño (ISA-95 como guía) es el corazón del 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QoS, retain y last will dan robustez. Sparkplug (sección 2) usa last will para detectar dispositivos caídos.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MQTT domina la telemetría IIoT por ligero y desacoplado. Complementa a OPC UA (semántica/máquina).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MQTT crudo carece de tipo, estado y orden. Sparkplug B (sección 2) añade esa 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broker del UNS es infraestructura crítica: alta disponibilidad y seguridad. Su caída ciega a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Sparkplug B = MQTT + estructura + estado + tipos. Usa el 'last will' de MQTT para el mensaje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BIRTH declara todo; DATA reporta cambios; DEATH avisa la caída. Report-by-exception ahorra ancho de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Report-by-exception + BIRTH retenido = eficiencia y estado completo. Ventaja clave sobre el sondeo tradicional.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Sparkplug acerca MQTT a la interoperabilidad de OPC UA. Ambos buscan dato descubrible con significado.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prototipo con MQTT crudo, producción con Sparkplug B. La estructura es lo que hace el dato gobernable.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tipos de mensaje Sparkplug. BIRTH declara, DATA reporta cambios, DEATH avisa caídas. Estado siempre conocido.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UNS (estado actual, tiempo real) de data lake (histórico, analítica batch). El UNS alimenta al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UNS es una filosofía de arquitectura: fuente única de verdad, event-driven, con semántica ISA-95. Se implementa con MQTT/Sparkplug.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UNS mata la 'maraña de espagueti' de integraciones punto a punto. Es el aplanamiento arquitectónico de S07.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jerarquía del UNS ES la jerarquía de ISA-95. Diseñarla bien (semántica consistente) es la decisión de gobierno de datos más importante del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UNS exige gobierno de datos (S13): estructura, nomenclatura, propiedad y acceso. Sin gobierno, se desordena.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UNS es estrategia de datos y anti-lock-in. Decisión de gobierno (APO03), no solo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nomenclatura es gobierno de datos. Definirla antes de publicar evita el desorden. Enlaza con 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práctica: OPC UA cerca de la máquina; MQTT hacia arriba. Muchas arquitecturas usan ambos en secuencia.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concreto de convivencia OPC UA + MQTT + UNS. Un dato, muchos consumidores, cero integraciones punto a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patrón OPC UA→borde→MQTT→UNS→apps es la arquitectura de datos de referencia del CPPS moderno.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decisiones de arquitectura de datos son gobierno. El proyecto las documentará en el Entregable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sección: la arquitectura de datos es el cimiento del valor futuro. Conecta con S12-S13.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comando muestra el pub/sub básico. El lab completo encadena simulador→MQTT→Node-RED→InfluxDB→Grafana.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parámetros se configuran en el Lab 6. Observar retain y last will ayuda a entender cómo el UNS mantiene el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cadena completa del Lab 6. Cada eslabón es una herramienta abierta. Replica una plataforma IIoT sin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Pila 100% abierta. Permite montar un UNS de práctica y una cadena de datos completa sin licencias.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 6 produce evidencia funcional para el Entregable 2. Guía detallada en el PDF de ejercicios.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Verificar el rol de cada capa: transporte (MQTT), estructura (Sparkplug), arquitectura (UNS).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 clave: el UNS exige gobierno de datos desde el diseño. Anticipa 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capa de datos lista (S10-11), S12 y S13 construyen inteligencia encima: gemelos y analítica.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Vocabulario de MQTT, Sparkplug y 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de MQTT, Sparkplug B y arquitectura 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los datos fluyendo (S10-11), S12 construye el gemelo digital: el 'lado ciber' del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docs.oasis-open.org/mqtt/mqtt/v5.0/mqtt-v5.0.html" TargetMode="External"/><Relationship Id="rId2" Type="http://schemas.openxmlformats.org/officeDocument/2006/relationships/hyperlink" Target="https://sparkplug.eclipse.org/" TargetMode="External"/><Relationship Id="rId3" Type="http://schemas.openxmlformats.org/officeDocument/2006/relationships/hyperlink" Target="https://learn.umh.app/lesson/chapter-2-the-rise-of-the-unified-namespace/" TargetMode="External"/><Relationship Id="rId4" Type="http://schemas.openxmlformats.org/officeDocument/2006/relationships/hyperlink" Target="https://mosquitto.org/" TargetMode="External"/><Relationship Id="rId5" Type="http://schemas.openxmlformats.org/officeDocument/2006/relationships/hyperlink" Target="https://nodered.org/docs/" TargetMode="External"/><Relationship Id="rId6" Type="http://schemas.openxmlformats.org/officeDocument/2006/relationships/hyperlink" Target="https://www.hivemq.com/mqtt/" TargetMode="External"/><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lIns="0" tIns="0" rIns="0" bIns="0" rtlCol="0" anchor="ctr"/>
          <a:lstStyle/>
          <a:p>
            <a:pPr algn="l" indent="0" marL="0">
              <a:buNone/>
            </a:pPr>
            <a:r>
              <a:rPr lang="en-US" sz="950" dirty="0">
                <a:solidFill>
                  <a:srgbClr val="333333"/>
                </a:solidFill>
                <a:latin typeface="Courier New" pitchFamily="34" charset="0"/>
                <a:ea typeface="Courier New" pitchFamily="34" charset="-122"/>
                <a:cs typeface="Courier New" pitchFamily="34" charset="-120"/>
              </a:rPr>
              <a:t>01000111 01001111 01000010 01001001 01000101 01010010 01001110 01001111  01000100 01000101  01010100 01001001</a:t>
            </a:r>
            <a:endParaRPr lang="en-US" sz="950" dirty="0"/>
          </a:p>
        </p:txBody>
      </p:sp>
      <p:sp>
        <p:nvSpPr>
          <p:cNvPr id="3" name="Text 1"/>
          <p:cNvSpPr/>
          <p:nvPr/>
        </p:nvSpPr>
        <p:spPr>
          <a:xfrm>
            <a:off x="502920" y="1051560"/>
            <a:ext cx="7315200" cy="320040"/>
          </a:xfrm>
          <a:prstGeom prst="rect">
            <a:avLst/>
          </a:prstGeom>
          <a:noFill/>
          <a:ln/>
        </p:spPr>
        <p:txBody>
          <a:bodyPr wrap="square" lIns="0" tIns="0" rIns="0" bIns="0" rtlCol="0" anchor="ctr"/>
          <a:lstStyle/>
          <a:p>
            <a:pPr indent="0" marL="0">
              <a:buNone/>
            </a:pPr>
            <a:r>
              <a:rPr lang="en-US" sz="1200" b="1" spc="200" kern="0" dirty="0">
                <a:solidFill>
                  <a:srgbClr val="C6FF00"/>
                </a:solidFill>
                <a:latin typeface="Courier New" pitchFamily="34" charset="0"/>
                <a:ea typeface="Courier New" pitchFamily="34" charset="-122"/>
                <a:cs typeface="Courier New" pitchFamily="34" charset="-120"/>
              </a:rPr>
              <a:t>8 50155-3M · PREGRADO</a:t>
            </a:r>
            <a:endParaRPr lang="en-US" sz="1200" dirty="0"/>
          </a:p>
        </p:txBody>
      </p:sp>
      <p:sp>
        <p:nvSpPr>
          <p:cNvPr id="4" name="Text 2"/>
          <p:cNvSpPr/>
          <p:nvPr/>
        </p:nvSpPr>
        <p:spPr>
          <a:xfrm>
            <a:off x="7116775" y="1051560"/>
            <a:ext cx="4572000" cy="320040"/>
          </a:xfrm>
          <a:prstGeom prst="rect">
            <a:avLst/>
          </a:prstGeom>
          <a:noFill/>
          <a:ln/>
        </p:spPr>
        <p:txBody>
          <a:bodyPr wrap="square" lIns="0" tIns="0" rIns="0" bIns="0" rtlCol="0" anchor="ctr"/>
          <a:lstStyle/>
          <a:p>
            <a:pPr algn="r" indent="0" marL="0">
              <a:buNone/>
            </a:pPr>
            <a:r>
              <a:rPr lang="en-US" sz="1200" spc="100" kern="0" dirty="0">
                <a:solidFill>
                  <a:srgbClr val="8C8C8C"/>
                </a:solidFill>
                <a:latin typeface="Courier New" pitchFamily="34" charset="0"/>
                <a:ea typeface="Courier New" pitchFamily="34" charset="-122"/>
                <a:cs typeface="Courier New" pitchFamily="34" charset="-120"/>
              </a:rPr>
              <a:t>SESIÓN 11 / 16</a:t>
            </a:r>
            <a:endParaRPr lang="en-US" sz="1200" dirty="0"/>
          </a:p>
        </p:txBody>
      </p:sp>
      <p:sp>
        <p:nvSpPr>
          <p:cNvPr id="5" name="Text 3"/>
          <p:cNvSpPr/>
          <p:nvPr/>
        </p:nvSpPr>
        <p:spPr>
          <a:xfrm>
            <a:off x="502920" y="1783080"/>
            <a:ext cx="11185855" cy="2011680"/>
          </a:xfrm>
          <a:prstGeom prst="rect">
            <a:avLst/>
          </a:prstGeom>
          <a:noFill/>
          <a:ln/>
        </p:spPr>
        <p:txBody>
          <a:bodyPr wrap="square" lIns="0" tIns="0" rIns="0" bIns="0" rtlCol="0" anchor="t"/>
          <a:lstStyle/>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MQTT &amp; EL</a:t>
            </a:r>
            <a:endParaRPr lang="en-US" sz="5200" dirty="0"/>
          </a:p>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UNIFIED NAMESPACE</a:t>
            </a:r>
            <a:endParaRPr lang="en-US" sz="5200" dirty="0"/>
          </a:p>
        </p:txBody>
      </p:sp>
      <p:sp>
        <p:nvSpPr>
          <p:cNvPr id="6" name="Text 4"/>
          <p:cNvSpPr/>
          <p:nvPr/>
        </p:nvSpPr>
        <p:spPr>
          <a:xfrm>
            <a:off x="502920" y="3977640"/>
            <a:ext cx="11185855" cy="731520"/>
          </a:xfrm>
          <a:prstGeom prst="rect">
            <a:avLst/>
          </a:prstGeom>
          <a:noFill/>
          <a:ln/>
        </p:spPr>
        <p:txBody>
          <a:bodyPr wrap="square" lIns="0" tIns="0" rIns="0" bIns="0" rtlCol="0" anchor="t"/>
          <a:lstStyle/>
          <a:p>
            <a:pPr indent="0" marL="0">
              <a:lnSpc>
                <a:spcPct val="105000"/>
              </a:lnSpc>
              <a:buNone/>
            </a:pPr>
            <a:r>
              <a:rPr lang="en-US" sz="1500" b="1" dirty="0">
                <a:solidFill>
                  <a:srgbClr val="C6FF00"/>
                </a:solidFill>
                <a:latin typeface="Courier New" pitchFamily="34" charset="0"/>
                <a:ea typeface="Courier New" pitchFamily="34" charset="-122"/>
                <a:cs typeface="Courier New" pitchFamily="34" charset="-120"/>
              </a:rPr>
              <a:t>&gt; </a:t>
            </a:r>
            <a:pPr indent="0" marL="0">
              <a:lnSpc>
                <a:spcPct val="105000"/>
              </a:lnSpc>
              <a:buNone/>
            </a:pPr>
            <a:r>
              <a:rPr lang="en-US" sz="1500" dirty="0">
                <a:solidFill>
                  <a:srgbClr val="F4F4F4"/>
                </a:solidFill>
                <a:latin typeface="Courier New" pitchFamily="34" charset="0"/>
                <a:ea typeface="Courier New" pitchFamily="34" charset="-122"/>
                <a:cs typeface="Courier New" pitchFamily="34" charset="-120"/>
              </a:rPr>
              <a:t>Publicación/suscripción ligera y una única fuente de verdad para la planta</a:t>
            </a:r>
            <a:endParaRPr lang="en-US" sz="1500" dirty="0"/>
          </a:p>
        </p:txBody>
      </p:sp>
      <p:sp>
        <p:nvSpPr>
          <p:cNvPr id="7" name="Shape 5"/>
          <p:cNvSpPr/>
          <p:nvPr/>
        </p:nvSpPr>
        <p:spPr>
          <a:xfrm>
            <a:off x="502920" y="5074920"/>
            <a:ext cx="11185855" cy="0"/>
          </a:xfrm>
          <a:prstGeom prst="line">
            <a:avLst/>
          </a:prstGeom>
          <a:noFill/>
          <a:ln w="12700">
            <a:solidFill>
              <a:srgbClr val="333333"/>
            </a:solidFill>
            <a:prstDash val="solid"/>
          </a:ln>
        </p:spPr>
      </p:sp>
      <p:sp>
        <p:nvSpPr>
          <p:cNvPr id="8" name="Text 6"/>
          <p:cNvSpPr/>
          <p:nvPr/>
        </p:nvSpPr>
        <p:spPr>
          <a:xfrm>
            <a:off x="502920" y="5257800"/>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DOCENTE</a:t>
            </a:r>
            <a:endParaRPr lang="en-US" sz="1000" dirty="0"/>
          </a:p>
        </p:txBody>
      </p:sp>
      <p:sp>
        <p:nvSpPr>
          <p:cNvPr id="9" name="Text 7"/>
          <p:cNvSpPr/>
          <p:nvPr/>
        </p:nvSpPr>
        <p:spPr>
          <a:xfrm>
            <a:off x="2468880" y="5257800"/>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Jorge Andrés Dapena — MSc.</a:t>
            </a:r>
            <a:endParaRPr lang="en-US" sz="1200" dirty="0"/>
          </a:p>
        </p:txBody>
      </p:sp>
      <p:sp>
        <p:nvSpPr>
          <p:cNvPr id="10" name="Text 8"/>
          <p:cNvSpPr/>
          <p:nvPr/>
        </p:nvSpPr>
        <p:spPr>
          <a:xfrm>
            <a:off x="502920" y="5641848"/>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UNIDAD</a:t>
            </a:r>
            <a:endParaRPr lang="en-US" sz="1000" dirty="0"/>
          </a:p>
        </p:txBody>
      </p:sp>
      <p:sp>
        <p:nvSpPr>
          <p:cNvPr id="11" name="Text 9"/>
          <p:cNvSpPr/>
          <p:nvPr/>
        </p:nvSpPr>
        <p:spPr>
          <a:xfrm>
            <a:off x="2468880" y="5641848"/>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U3 · Convergencia IT/OT    ·    SEMANA 11</a:t>
            </a:r>
            <a:endParaRPr lang="en-US" sz="1200" dirty="0"/>
          </a:p>
        </p:txBody>
      </p:sp>
      <p:sp>
        <p:nvSpPr>
          <p:cNvPr id="12" name="Text 10"/>
          <p:cNvSpPr/>
          <p:nvPr/>
        </p:nvSpPr>
        <p:spPr>
          <a:xfrm>
            <a:off x="502920" y="6025896"/>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INSTITUCIÓN</a:t>
            </a:r>
            <a:endParaRPr lang="en-US" sz="1000" dirty="0"/>
          </a:p>
        </p:txBody>
      </p:sp>
      <p:sp>
        <p:nvSpPr>
          <p:cNvPr id="13" name="Text 11"/>
          <p:cNvSpPr/>
          <p:nvPr/>
        </p:nvSpPr>
        <p:spPr>
          <a:xfrm>
            <a:off x="2468880" y="6025896"/>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Universidad de San Buenaventura — Medellín (Bello)</a:t>
            </a:r>
            <a:endParaRPr lang="en-US" sz="1200" dirty="0"/>
          </a:p>
        </p:txBody>
      </p:sp>
      <p:sp>
        <p:nvSpPr>
          <p:cNvPr id="14" name="Text 12"/>
          <p:cNvSpPr/>
          <p:nvPr/>
        </p:nvSpPr>
        <p:spPr>
          <a:xfrm>
            <a:off x="502920" y="6382512"/>
            <a:ext cx="11185855"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Y SISTEMAS CIBER-FÍSICOS DE PRODUCCIÓN · 2026-2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01  INICIO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AGENDA DE LA SESIÓN</a:t>
            </a:r>
            <a:endParaRPr lang="en-US" sz="3300" dirty="0"/>
          </a:p>
        </p:txBody>
      </p:sp>
      <p:sp>
        <p:nvSpPr>
          <p:cNvPr id="4" name="Shape 2"/>
          <p:cNvSpPr/>
          <p:nvPr/>
        </p:nvSpPr>
        <p:spPr>
          <a:xfrm>
            <a:off x="502920" y="1828800"/>
            <a:ext cx="5364328" cy="1298448"/>
          </a:xfrm>
          <a:prstGeom prst="roundRect">
            <a:avLst>
              <a:gd name="adj" fmla="val 4225"/>
            </a:avLst>
          </a:prstGeom>
          <a:solidFill>
            <a:srgbClr val="151515"/>
          </a:solidFill>
          <a:ln w="12700">
            <a:solidFill>
              <a:srgbClr val="333333"/>
            </a:solidFill>
            <a:prstDash val="solid"/>
          </a:ln>
        </p:spPr>
      </p:sp>
      <p:sp>
        <p:nvSpPr>
          <p:cNvPr id="5" name="Text 3"/>
          <p:cNvSpPr/>
          <p:nvPr/>
        </p:nvSpPr>
        <p:spPr>
          <a:xfrm>
            <a:off x="667512"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A</a:t>
            </a:r>
            <a:endParaRPr lang="en-US" sz="2600" dirty="0"/>
          </a:p>
        </p:txBody>
      </p:sp>
      <p:sp>
        <p:nvSpPr>
          <p:cNvPr id="6" name="Text 4"/>
          <p:cNvSpPr/>
          <p:nvPr/>
        </p:nvSpPr>
        <p:spPr>
          <a:xfrm>
            <a:off x="1417320"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MQTT</a:t>
            </a:r>
            <a:endParaRPr lang="en-US" sz="1450" dirty="0"/>
          </a:p>
        </p:txBody>
      </p:sp>
      <p:sp>
        <p:nvSpPr>
          <p:cNvPr id="7" name="Text 5"/>
          <p:cNvSpPr/>
          <p:nvPr/>
        </p:nvSpPr>
        <p:spPr>
          <a:xfrm>
            <a:off x="1417320"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Publicación/suscripción: tópicos, QoS, retención</a:t>
            </a:r>
            <a:endParaRPr lang="en-US" sz="1050" dirty="0"/>
          </a:p>
        </p:txBody>
      </p:sp>
      <p:sp>
        <p:nvSpPr>
          <p:cNvPr id="8" name="Shape 6"/>
          <p:cNvSpPr/>
          <p:nvPr/>
        </p:nvSpPr>
        <p:spPr>
          <a:xfrm>
            <a:off x="6324448" y="1828800"/>
            <a:ext cx="5364328" cy="1298448"/>
          </a:xfrm>
          <a:prstGeom prst="roundRect">
            <a:avLst>
              <a:gd name="adj" fmla="val 4225"/>
            </a:avLst>
          </a:prstGeom>
          <a:solidFill>
            <a:srgbClr val="151515"/>
          </a:solidFill>
          <a:ln w="12700">
            <a:solidFill>
              <a:srgbClr val="333333"/>
            </a:solidFill>
            <a:prstDash val="solid"/>
          </a:ln>
        </p:spPr>
      </p:sp>
      <p:sp>
        <p:nvSpPr>
          <p:cNvPr id="9" name="Text 7"/>
          <p:cNvSpPr/>
          <p:nvPr/>
        </p:nvSpPr>
        <p:spPr>
          <a:xfrm>
            <a:off x="6489040"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B</a:t>
            </a:r>
            <a:endParaRPr lang="en-US" sz="2600" dirty="0"/>
          </a:p>
        </p:txBody>
      </p:sp>
      <p:sp>
        <p:nvSpPr>
          <p:cNvPr id="10" name="Text 8"/>
          <p:cNvSpPr/>
          <p:nvPr/>
        </p:nvSpPr>
        <p:spPr>
          <a:xfrm>
            <a:off x="7238848"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Sparkplug B</a:t>
            </a:r>
            <a:endParaRPr lang="en-US" sz="1450" dirty="0"/>
          </a:p>
        </p:txBody>
      </p:sp>
      <p:sp>
        <p:nvSpPr>
          <p:cNvPr id="11" name="Text 9"/>
          <p:cNvSpPr/>
          <p:nvPr/>
        </p:nvSpPr>
        <p:spPr>
          <a:xfrm>
            <a:off x="7238848"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Por qué MQTT crudo no basta en industria</a:t>
            </a:r>
            <a:endParaRPr lang="en-US" sz="1050" dirty="0"/>
          </a:p>
        </p:txBody>
      </p:sp>
      <p:sp>
        <p:nvSpPr>
          <p:cNvPr id="12" name="Shape 10"/>
          <p:cNvSpPr/>
          <p:nvPr/>
        </p:nvSpPr>
        <p:spPr>
          <a:xfrm>
            <a:off x="502920" y="3383280"/>
            <a:ext cx="5364328" cy="1298448"/>
          </a:xfrm>
          <a:prstGeom prst="roundRect">
            <a:avLst>
              <a:gd name="adj" fmla="val 4225"/>
            </a:avLst>
          </a:prstGeom>
          <a:solidFill>
            <a:srgbClr val="151515"/>
          </a:solidFill>
          <a:ln w="12700">
            <a:solidFill>
              <a:srgbClr val="333333"/>
            </a:solidFill>
            <a:prstDash val="solid"/>
          </a:ln>
        </p:spPr>
      </p:sp>
      <p:sp>
        <p:nvSpPr>
          <p:cNvPr id="13" name="Text 11"/>
          <p:cNvSpPr/>
          <p:nvPr/>
        </p:nvSpPr>
        <p:spPr>
          <a:xfrm>
            <a:off x="667512"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C</a:t>
            </a:r>
            <a:endParaRPr lang="en-US" sz="2600" dirty="0"/>
          </a:p>
        </p:txBody>
      </p:sp>
      <p:sp>
        <p:nvSpPr>
          <p:cNvPr id="14" name="Text 12"/>
          <p:cNvSpPr/>
          <p:nvPr/>
        </p:nvSpPr>
        <p:spPr>
          <a:xfrm>
            <a:off x="1417320"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Unified Namespace</a:t>
            </a:r>
            <a:endParaRPr lang="en-US" sz="1450" dirty="0"/>
          </a:p>
        </p:txBody>
      </p:sp>
      <p:sp>
        <p:nvSpPr>
          <p:cNvPr id="15" name="Text 13"/>
          <p:cNvSpPr/>
          <p:nvPr/>
        </p:nvSpPr>
        <p:spPr>
          <a:xfrm>
            <a:off x="1417320"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Una única fuente de verdad en tiempo real</a:t>
            </a:r>
            <a:endParaRPr lang="en-US" sz="1050" dirty="0"/>
          </a:p>
        </p:txBody>
      </p:sp>
      <p:sp>
        <p:nvSpPr>
          <p:cNvPr id="16" name="Shape 14"/>
          <p:cNvSpPr/>
          <p:nvPr/>
        </p:nvSpPr>
        <p:spPr>
          <a:xfrm>
            <a:off x="6324448" y="3383280"/>
            <a:ext cx="5364328" cy="1298448"/>
          </a:xfrm>
          <a:prstGeom prst="roundRect">
            <a:avLst>
              <a:gd name="adj" fmla="val 4225"/>
            </a:avLst>
          </a:prstGeom>
          <a:solidFill>
            <a:srgbClr val="151515"/>
          </a:solidFill>
          <a:ln w="12700">
            <a:solidFill>
              <a:srgbClr val="333333"/>
            </a:solidFill>
            <a:prstDash val="solid"/>
          </a:ln>
        </p:spPr>
      </p:sp>
      <p:sp>
        <p:nvSpPr>
          <p:cNvPr id="17" name="Text 15"/>
          <p:cNvSpPr/>
          <p:nvPr/>
        </p:nvSpPr>
        <p:spPr>
          <a:xfrm>
            <a:off x="6489040"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D</a:t>
            </a:r>
            <a:endParaRPr lang="en-US" sz="2600" dirty="0"/>
          </a:p>
        </p:txBody>
      </p:sp>
      <p:sp>
        <p:nvSpPr>
          <p:cNvPr id="18" name="Text 16"/>
          <p:cNvSpPr/>
          <p:nvPr/>
        </p:nvSpPr>
        <p:spPr>
          <a:xfrm>
            <a:off x="7238848"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OPC UA vs MQTT</a:t>
            </a:r>
            <a:endParaRPr lang="en-US" sz="1450" dirty="0"/>
          </a:p>
        </p:txBody>
      </p:sp>
      <p:sp>
        <p:nvSpPr>
          <p:cNvPr id="19" name="Text 17"/>
          <p:cNvSpPr/>
          <p:nvPr/>
        </p:nvSpPr>
        <p:spPr>
          <a:xfrm>
            <a:off x="7238848"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Cuándo cada uno, cuándo ambos</a:t>
            </a:r>
            <a:endParaRPr lang="en-US" sz="1050" dirty="0"/>
          </a:p>
        </p:txBody>
      </p:sp>
      <p:sp>
        <p:nvSpPr>
          <p:cNvPr id="20" name="Shape 18"/>
          <p:cNvSpPr/>
          <p:nvPr/>
        </p:nvSpPr>
        <p:spPr>
          <a:xfrm>
            <a:off x="502920" y="4937760"/>
            <a:ext cx="5364328" cy="1298448"/>
          </a:xfrm>
          <a:prstGeom prst="roundRect">
            <a:avLst>
              <a:gd name="adj" fmla="val 4225"/>
            </a:avLst>
          </a:prstGeom>
          <a:solidFill>
            <a:srgbClr val="151515"/>
          </a:solidFill>
          <a:ln w="12700">
            <a:solidFill>
              <a:srgbClr val="333333"/>
            </a:solidFill>
            <a:prstDash val="solid"/>
          </a:ln>
        </p:spPr>
      </p:sp>
      <p:sp>
        <p:nvSpPr>
          <p:cNvPr id="21" name="Text 19"/>
          <p:cNvSpPr/>
          <p:nvPr/>
        </p:nvSpPr>
        <p:spPr>
          <a:xfrm>
            <a:off x="667512"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E</a:t>
            </a:r>
            <a:endParaRPr lang="en-US" sz="2600" dirty="0"/>
          </a:p>
        </p:txBody>
      </p:sp>
      <p:sp>
        <p:nvSpPr>
          <p:cNvPr id="22" name="Text 20"/>
          <p:cNvSpPr/>
          <p:nvPr/>
        </p:nvSpPr>
        <p:spPr>
          <a:xfrm>
            <a:off x="1417320"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Laboratorio</a:t>
            </a:r>
            <a:endParaRPr lang="en-US" sz="1450" dirty="0"/>
          </a:p>
        </p:txBody>
      </p:sp>
      <p:sp>
        <p:nvSpPr>
          <p:cNvPr id="23" name="Text 21"/>
          <p:cNvSpPr/>
          <p:nvPr/>
        </p:nvSpPr>
        <p:spPr>
          <a:xfrm>
            <a:off x="1417320"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Cadena de datos: sensor → tablero</a:t>
            </a:r>
            <a:endParaRPr lang="en-US" sz="1050" dirty="0"/>
          </a:p>
        </p:txBody>
      </p:sp>
      <p:sp>
        <p:nvSpPr>
          <p:cNvPr id="24" name="Shape 22"/>
          <p:cNvSpPr/>
          <p:nvPr/>
        </p:nvSpPr>
        <p:spPr>
          <a:xfrm>
            <a:off x="6324448" y="4937760"/>
            <a:ext cx="5364328" cy="1298448"/>
          </a:xfrm>
          <a:prstGeom prst="roundRect">
            <a:avLst>
              <a:gd name="adj" fmla="val 4225"/>
            </a:avLst>
          </a:prstGeom>
          <a:solidFill>
            <a:srgbClr val="151515"/>
          </a:solidFill>
          <a:ln w="12700">
            <a:solidFill>
              <a:srgbClr val="333333"/>
            </a:solidFill>
            <a:prstDash val="solid"/>
          </a:ln>
        </p:spPr>
      </p:sp>
      <p:sp>
        <p:nvSpPr>
          <p:cNvPr id="25" name="Text 23"/>
          <p:cNvSpPr/>
          <p:nvPr/>
        </p:nvSpPr>
        <p:spPr>
          <a:xfrm>
            <a:off x="6489040"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F</a:t>
            </a:r>
            <a:endParaRPr lang="en-US" sz="2600" dirty="0"/>
          </a:p>
        </p:txBody>
      </p:sp>
      <p:sp>
        <p:nvSpPr>
          <p:cNvPr id="26" name="Text 24"/>
          <p:cNvSpPr/>
          <p:nvPr/>
        </p:nvSpPr>
        <p:spPr>
          <a:xfrm>
            <a:off x="7238848"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Cierre</a:t>
            </a:r>
            <a:endParaRPr lang="en-US" sz="1450" dirty="0"/>
          </a:p>
        </p:txBody>
      </p:sp>
      <p:sp>
        <p:nvSpPr>
          <p:cNvPr id="27" name="Text 25"/>
          <p:cNvSpPr/>
          <p:nvPr/>
        </p:nvSpPr>
        <p:spPr>
          <a:xfrm>
            <a:off x="7238848"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Gobierno del namespace y referencias</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02 / 45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02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MQTT Y EL UNS EN CIFRAS</a:t>
            </a:r>
            <a:endParaRPr lang="en-US" sz="3300" dirty="0"/>
          </a:p>
        </p:txBody>
      </p:sp>
      <p:sp>
        <p:nvSpPr>
          <p:cNvPr id="4" name="Shape 2"/>
          <p:cNvSpPr/>
          <p:nvPr/>
        </p:nvSpPr>
        <p:spPr>
          <a:xfrm>
            <a:off x="502920" y="1783080"/>
            <a:ext cx="2590724" cy="1371600"/>
          </a:xfrm>
          <a:prstGeom prst="roundRect">
            <a:avLst>
              <a:gd name="adj" fmla="val 4000"/>
            </a:avLst>
          </a:prstGeom>
          <a:solidFill>
            <a:srgbClr val="151515"/>
          </a:solidFill>
          <a:ln w="12700">
            <a:solidFill>
              <a:srgbClr val="333333"/>
            </a:solidFill>
            <a:prstDash val="solid"/>
          </a:ln>
        </p:spPr>
      </p:sp>
      <p:sp>
        <p:nvSpPr>
          <p:cNvPr id="5" name="Text 3"/>
          <p:cNvSpPr/>
          <p:nvPr/>
        </p:nvSpPr>
        <p:spPr>
          <a:xfrm>
            <a:off x="502920"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pub/sub</a:t>
            </a:r>
            <a:endParaRPr lang="en-US" sz="4000" dirty="0"/>
          </a:p>
        </p:txBody>
      </p:sp>
      <p:sp>
        <p:nvSpPr>
          <p:cNvPr id="6" name="Text 4"/>
          <p:cNvSpPr/>
          <p:nvPr/>
        </p:nvSpPr>
        <p:spPr>
          <a:xfrm>
            <a:off x="502920"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PATRÓN</a:t>
            </a:r>
            <a:endParaRPr lang="en-US" sz="950" dirty="0"/>
          </a:p>
        </p:txBody>
      </p:sp>
      <p:sp>
        <p:nvSpPr>
          <p:cNvPr id="7" name="Shape 5"/>
          <p:cNvSpPr/>
          <p:nvPr/>
        </p:nvSpPr>
        <p:spPr>
          <a:xfrm>
            <a:off x="3367964" y="1783080"/>
            <a:ext cx="2590724" cy="1371600"/>
          </a:xfrm>
          <a:prstGeom prst="roundRect">
            <a:avLst>
              <a:gd name="adj" fmla="val 4000"/>
            </a:avLst>
          </a:prstGeom>
          <a:solidFill>
            <a:srgbClr val="151515"/>
          </a:solidFill>
          <a:ln w="12700">
            <a:solidFill>
              <a:srgbClr val="333333"/>
            </a:solidFill>
            <a:prstDash val="solid"/>
          </a:ln>
        </p:spPr>
      </p:sp>
      <p:sp>
        <p:nvSpPr>
          <p:cNvPr id="8" name="Text 6"/>
          <p:cNvSpPr/>
          <p:nvPr/>
        </p:nvSpPr>
        <p:spPr>
          <a:xfrm>
            <a:off x="3367964"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3</a:t>
            </a:r>
            <a:endParaRPr lang="en-US" sz="4000" dirty="0"/>
          </a:p>
        </p:txBody>
      </p:sp>
      <p:sp>
        <p:nvSpPr>
          <p:cNvPr id="9" name="Text 7"/>
          <p:cNvSpPr/>
          <p:nvPr/>
        </p:nvSpPr>
        <p:spPr>
          <a:xfrm>
            <a:off x="3367964"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NIVELES QoS</a:t>
            </a:r>
            <a:endParaRPr lang="en-US" sz="950" dirty="0"/>
          </a:p>
        </p:txBody>
      </p:sp>
      <p:sp>
        <p:nvSpPr>
          <p:cNvPr id="10" name="Shape 8"/>
          <p:cNvSpPr/>
          <p:nvPr/>
        </p:nvSpPr>
        <p:spPr>
          <a:xfrm>
            <a:off x="6233008" y="1783080"/>
            <a:ext cx="2590724" cy="1371600"/>
          </a:xfrm>
          <a:prstGeom prst="roundRect">
            <a:avLst>
              <a:gd name="adj" fmla="val 4000"/>
            </a:avLst>
          </a:prstGeom>
          <a:solidFill>
            <a:srgbClr val="151515"/>
          </a:solidFill>
          <a:ln w="12700">
            <a:solidFill>
              <a:srgbClr val="333333"/>
            </a:solidFill>
            <a:prstDash val="solid"/>
          </a:ln>
        </p:spPr>
      </p:sp>
      <p:sp>
        <p:nvSpPr>
          <p:cNvPr id="11" name="Text 9"/>
          <p:cNvSpPr/>
          <p:nvPr/>
        </p:nvSpPr>
        <p:spPr>
          <a:xfrm>
            <a:off x="6233008"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B</a:t>
            </a:r>
            <a:endParaRPr lang="en-US" sz="4000" dirty="0"/>
          </a:p>
        </p:txBody>
      </p:sp>
      <p:sp>
        <p:nvSpPr>
          <p:cNvPr id="12" name="Text 10"/>
          <p:cNvSpPr/>
          <p:nvPr/>
        </p:nvSpPr>
        <p:spPr>
          <a:xfrm>
            <a:off x="6233008"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SPARKPLUG</a:t>
            </a:r>
            <a:endParaRPr lang="en-US" sz="950" dirty="0"/>
          </a:p>
        </p:txBody>
      </p:sp>
      <p:sp>
        <p:nvSpPr>
          <p:cNvPr id="13" name="Shape 11"/>
          <p:cNvSpPr/>
          <p:nvPr/>
        </p:nvSpPr>
        <p:spPr>
          <a:xfrm>
            <a:off x="9098051" y="1783080"/>
            <a:ext cx="2590724" cy="1371600"/>
          </a:xfrm>
          <a:prstGeom prst="roundRect">
            <a:avLst>
              <a:gd name="adj" fmla="val 4000"/>
            </a:avLst>
          </a:prstGeom>
          <a:solidFill>
            <a:srgbClr val="151515"/>
          </a:solidFill>
          <a:ln w="12700">
            <a:solidFill>
              <a:srgbClr val="333333"/>
            </a:solidFill>
            <a:prstDash val="solid"/>
          </a:ln>
        </p:spPr>
      </p:sp>
      <p:sp>
        <p:nvSpPr>
          <p:cNvPr id="14" name="Text 12"/>
          <p:cNvSpPr/>
          <p:nvPr/>
        </p:nvSpPr>
        <p:spPr>
          <a:xfrm>
            <a:off x="9098051"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UNS</a:t>
            </a:r>
            <a:endParaRPr lang="en-US" sz="4000" dirty="0"/>
          </a:p>
        </p:txBody>
      </p:sp>
      <p:sp>
        <p:nvSpPr>
          <p:cNvPr id="15" name="Text 13"/>
          <p:cNvSpPr/>
          <p:nvPr/>
        </p:nvSpPr>
        <p:spPr>
          <a:xfrm>
            <a:off x="9098051"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FUENTE DE VERDAD</a:t>
            </a:r>
            <a:endParaRPr lang="en-US" sz="950" dirty="0"/>
          </a:p>
        </p:txBody>
      </p:sp>
      <p:sp>
        <p:nvSpPr>
          <p:cNvPr id="16" name="Text 14"/>
          <p:cNvSpPr/>
          <p:nvPr/>
        </p:nvSpPr>
        <p:spPr>
          <a:xfrm>
            <a:off x="502920"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MQTT</a:t>
            </a:r>
            <a:endParaRPr lang="en-US" sz="1050" dirty="0"/>
          </a:p>
        </p:txBody>
      </p:sp>
      <p:sp>
        <p:nvSpPr>
          <p:cNvPr id="17" name="Text 15"/>
          <p:cNvSpPr/>
          <p:nvPr/>
        </p:nvSpPr>
        <p:spPr>
          <a:xfrm>
            <a:off x="3291840"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Message Queuing Telemetry Transport</a:t>
            </a:r>
            <a:endParaRPr lang="en-US" sz="1200" dirty="0"/>
          </a:p>
        </p:txBody>
      </p:sp>
      <p:sp>
        <p:nvSpPr>
          <p:cNvPr id="18" name="Text 16"/>
          <p:cNvSpPr/>
          <p:nvPr/>
        </p:nvSpPr>
        <p:spPr>
          <a:xfrm>
            <a:off x="6324448"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NORMA</a:t>
            </a:r>
            <a:endParaRPr lang="en-US" sz="1050" dirty="0"/>
          </a:p>
        </p:txBody>
      </p:sp>
      <p:sp>
        <p:nvSpPr>
          <p:cNvPr id="19" name="Text 17"/>
          <p:cNvSpPr/>
          <p:nvPr/>
        </p:nvSpPr>
        <p:spPr>
          <a:xfrm>
            <a:off x="9113368"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OASIS / ISO 20922</a:t>
            </a:r>
            <a:endParaRPr lang="en-US" sz="1200" dirty="0"/>
          </a:p>
        </p:txBody>
      </p:sp>
      <p:sp>
        <p:nvSpPr>
          <p:cNvPr id="20" name="Text 18"/>
          <p:cNvSpPr/>
          <p:nvPr/>
        </p:nvSpPr>
        <p:spPr>
          <a:xfrm>
            <a:off x="502920"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BROKER</a:t>
            </a:r>
            <a:endParaRPr lang="en-US" sz="1050" dirty="0"/>
          </a:p>
        </p:txBody>
      </p:sp>
      <p:sp>
        <p:nvSpPr>
          <p:cNvPr id="21" name="Text 19"/>
          <p:cNvSpPr/>
          <p:nvPr/>
        </p:nvSpPr>
        <p:spPr>
          <a:xfrm>
            <a:off x="3291840"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Intermediario pub/sub (Mosquitto, EMQX)</a:t>
            </a:r>
            <a:endParaRPr lang="en-US" sz="1200" dirty="0"/>
          </a:p>
        </p:txBody>
      </p:sp>
      <p:sp>
        <p:nvSpPr>
          <p:cNvPr id="22" name="Text 20"/>
          <p:cNvSpPr/>
          <p:nvPr/>
        </p:nvSpPr>
        <p:spPr>
          <a:xfrm>
            <a:off x="6324448"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SPARKPLUG</a:t>
            </a:r>
            <a:endParaRPr lang="en-US" sz="1050" dirty="0"/>
          </a:p>
        </p:txBody>
      </p:sp>
      <p:sp>
        <p:nvSpPr>
          <p:cNvPr id="23" name="Text 21"/>
          <p:cNvSpPr/>
          <p:nvPr/>
        </p:nvSpPr>
        <p:spPr>
          <a:xfrm>
            <a:off x="9113368"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Especificación de Eclipse/Cirrus Link</a:t>
            </a:r>
            <a:endParaRPr lang="en-US" sz="1200" dirty="0"/>
          </a:p>
        </p:txBody>
      </p:sp>
      <p:sp>
        <p:nvSpPr>
          <p:cNvPr id="24" name="Text 22"/>
          <p:cNvSpPr/>
          <p:nvPr/>
        </p:nvSpPr>
        <p:spPr>
          <a:xfrm>
            <a:off x="502920"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UNS</a:t>
            </a:r>
            <a:endParaRPr lang="en-US" sz="1050" dirty="0"/>
          </a:p>
        </p:txBody>
      </p:sp>
      <p:sp>
        <p:nvSpPr>
          <p:cNvPr id="25" name="Text 23"/>
          <p:cNvSpPr/>
          <p:nvPr/>
        </p:nvSpPr>
        <p:spPr>
          <a:xfrm>
            <a:off x="3291840"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Unified Namespace (Walker, 2020)</a:t>
            </a:r>
            <a:endParaRPr lang="en-US" sz="1200" dirty="0"/>
          </a:p>
        </p:txBody>
      </p:sp>
      <p:sp>
        <p:nvSpPr>
          <p:cNvPr id="26" name="Text 24"/>
          <p:cNvSpPr/>
          <p:nvPr/>
        </p:nvSpPr>
        <p:spPr>
          <a:xfrm>
            <a:off x="6324448"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SEMÁNTICA</a:t>
            </a:r>
            <a:endParaRPr lang="en-US" sz="1050" dirty="0"/>
          </a:p>
        </p:txBody>
      </p:sp>
      <p:sp>
        <p:nvSpPr>
          <p:cNvPr id="27" name="Text 25"/>
          <p:cNvSpPr/>
          <p:nvPr/>
        </p:nvSpPr>
        <p:spPr>
          <a:xfrm>
            <a:off x="9113368"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Jerarquía ISA-95 como estructura</a:t>
            </a:r>
            <a:endParaRPr lang="en-US" sz="12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03 / 45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03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OBJETIVOS DE LA SESIÓN</a:t>
            </a:r>
            <a:endParaRPr lang="en-US" sz="3300" dirty="0"/>
          </a:p>
        </p:txBody>
      </p:sp>
      <p:sp>
        <p:nvSpPr>
          <p:cNvPr id="4" name="Shape 2"/>
          <p:cNvSpPr/>
          <p:nvPr/>
        </p:nvSpPr>
        <p:spPr>
          <a:xfrm>
            <a:off x="502920" y="1783080"/>
            <a:ext cx="11185855" cy="766267"/>
          </a:xfrm>
          <a:prstGeom prst="roundRect">
            <a:avLst>
              <a:gd name="adj" fmla="val 5967"/>
            </a:avLst>
          </a:prstGeom>
          <a:solidFill>
            <a:srgbClr val="151515"/>
          </a:solidFill>
          <a:ln w="12700">
            <a:solidFill>
              <a:srgbClr val="333333"/>
            </a:solidFill>
            <a:prstDash val="solid"/>
          </a:ln>
        </p:spPr>
      </p:sp>
      <p:sp>
        <p:nvSpPr>
          <p:cNvPr id="5" name="Text 3"/>
          <p:cNvSpPr/>
          <p:nvPr/>
        </p:nvSpPr>
        <p:spPr>
          <a:xfrm>
            <a:off x="685800" y="1783080"/>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01</a:t>
            </a:r>
            <a:endParaRPr lang="en-US" sz="2600" dirty="0"/>
          </a:p>
        </p:txBody>
      </p:sp>
      <p:sp>
        <p:nvSpPr>
          <p:cNvPr id="6" name="Text 4"/>
          <p:cNvSpPr/>
          <p:nvPr/>
        </p:nvSpPr>
        <p:spPr>
          <a:xfrm>
            <a:off x="1691640" y="1783080"/>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Explicar  </a:t>
            </a:r>
            <a:pPr indent="0" marL="0">
              <a:buNone/>
            </a:pPr>
            <a:r>
              <a:rPr lang="en-US" sz="1350" dirty="0">
                <a:solidFill>
                  <a:srgbClr val="F4F4F4"/>
                </a:solidFill>
                <a:latin typeface="Arial" pitchFamily="34" charset="0"/>
                <a:ea typeface="Arial" pitchFamily="34" charset="-122"/>
                <a:cs typeface="Arial" pitchFamily="34" charset="-120"/>
              </a:rPr>
              <a:t>el patrón publicación/suscripción de MQTT y sus parámetros.</a:t>
            </a:r>
            <a:endParaRPr lang="en-US" sz="1350" dirty="0"/>
          </a:p>
        </p:txBody>
      </p:sp>
      <p:sp>
        <p:nvSpPr>
          <p:cNvPr id="7" name="Shape 5"/>
          <p:cNvSpPr/>
          <p:nvPr/>
        </p:nvSpPr>
        <p:spPr>
          <a:xfrm>
            <a:off x="502920" y="2713939"/>
            <a:ext cx="11185855" cy="766267"/>
          </a:xfrm>
          <a:prstGeom prst="roundRect">
            <a:avLst>
              <a:gd name="adj" fmla="val 5967"/>
            </a:avLst>
          </a:prstGeom>
          <a:solidFill>
            <a:srgbClr val="151515"/>
          </a:solidFill>
          <a:ln w="12700">
            <a:solidFill>
              <a:srgbClr val="333333"/>
            </a:solidFill>
            <a:prstDash val="solid"/>
          </a:ln>
        </p:spPr>
      </p:sp>
      <p:sp>
        <p:nvSpPr>
          <p:cNvPr id="8" name="Text 6"/>
          <p:cNvSpPr/>
          <p:nvPr/>
        </p:nvSpPr>
        <p:spPr>
          <a:xfrm>
            <a:off x="685800" y="2713939"/>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02</a:t>
            </a:r>
            <a:endParaRPr lang="en-US" sz="2600" dirty="0"/>
          </a:p>
        </p:txBody>
      </p:sp>
      <p:sp>
        <p:nvSpPr>
          <p:cNvPr id="9" name="Text 7"/>
          <p:cNvSpPr/>
          <p:nvPr/>
        </p:nvSpPr>
        <p:spPr>
          <a:xfrm>
            <a:off x="1691640" y="2713939"/>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Justificar  </a:t>
            </a:r>
            <a:pPr indent="0" marL="0">
              <a:buNone/>
            </a:pPr>
            <a:r>
              <a:rPr lang="en-US" sz="1350" dirty="0">
                <a:solidFill>
                  <a:srgbClr val="F4F4F4"/>
                </a:solidFill>
                <a:latin typeface="Arial" pitchFamily="34" charset="0"/>
                <a:ea typeface="Arial" pitchFamily="34" charset="-122"/>
                <a:cs typeface="Arial" pitchFamily="34" charset="-120"/>
              </a:rPr>
              <a:t>por qué se necesita Sparkplug B sobre MQTT crudo.</a:t>
            </a:r>
            <a:endParaRPr lang="en-US" sz="1350" dirty="0"/>
          </a:p>
        </p:txBody>
      </p:sp>
      <p:sp>
        <p:nvSpPr>
          <p:cNvPr id="10" name="Shape 8"/>
          <p:cNvSpPr/>
          <p:nvPr/>
        </p:nvSpPr>
        <p:spPr>
          <a:xfrm>
            <a:off x="502920" y="3644798"/>
            <a:ext cx="11185855" cy="766267"/>
          </a:xfrm>
          <a:prstGeom prst="roundRect">
            <a:avLst>
              <a:gd name="adj" fmla="val 5967"/>
            </a:avLst>
          </a:prstGeom>
          <a:solidFill>
            <a:srgbClr val="151515"/>
          </a:solidFill>
          <a:ln w="12700">
            <a:solidFill>
              <a:srgbClr val="333333"/>
            </a:solidFill>
            <a:prstDash val="solid"/>
          </a:ln>
        </p:spPr>
      </p:sp>
      <p:sp>
        <p:nvSpPr>
          <p:cNvPr id="11" name="Text 9"/>
          <p:cNvSpPr/>
          <p:nvPr/>
        </p:nvSpPr>
        <p:spPr>
          <a:xfrm>
            <a:off x="685800" y="364479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03</a:t>
            </a:r>
            <a:endParaRPr lang="en-US" sz="2600" dirty="0"/>
          </a:p>
        </p:txBody>
      </p:sp>
      <p:sp>
        <p:nvSpPr>
          <p:cNvPr id="12" name="Text 10"/>
          <p:cNvSpPr/>
          <p:nvPr/>
        </p:nvSpPr>
        <p:spPr>
          <a:xfrm>
            <a:off x="1691640" y="364479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Diseñar  </a:t>
            </a:r>
            <a:pPr indent="0" marL="0">
              <a:buNone/>
            </a:pPr>
            <a:r>
              <a:rPr lang="en-US" sz="1350" dirty="0">
                <a:solidFill>
                  <a:srgbClr val="F4F4F4"/>
                </a:solidFill>
                <a:latin typeface="Arial" pitchFamily="34" charset="0"/>
                <a:ea typeface="Arial" pitchFamily="34" charset="-122"/>
                <a:cs typeface="Arial" pitchFamily="34" charset="-120"/>
              </a:rPr>
              <a:t>la jerarquía semántica de un Unified Namespace.</a:t>
            </a:r>
            <a:endParaRPr lang="en-US" sz="1350" dirty="0"/>
          </a:p>
        </p:txBody>
      </p:sp>
      <p:sp>
        <p:nvSpPr>
          <p:cNvPr id="13" name="Shape 11"/>
          <p:cNvSpPr/>
          <p:nvPr/>
        </p:nvSpPr>
        <p:spPr>
          <a:xfrm>
            <a:off x="502920" y="4575658"/>
            <a:ext cx="11185855" cy="766267"/>
          </a:xfrm>
          <a:prstGeom prst="roundRect">
            <a:avLst>
              <a:gd name="adj" fmla="val 5967"/>
            </a:avLst>
          </a:prstGeom>
          <a:solidFill>
            <a:srgbClr val="151515"/>
          </a:solidFill>
          <a:ln w="12700">
            <a:solidFill>
              <a:srgbClr val="333333"/>
            </a:solidFill>
            <a:prstDash val="solid"/>
          </a:ln>
        </p:spPr>
      </p:sp>
      <p:sp>
        <p:nvSpPr>
          <p:cNvPr id="14" name="Text 12"/>
          <p:cNvSpPr/>
          <p:nvPr/>
        </p:nvSpPr>
        <p:spPr>
          <a:xfrm>
            <a:off x="685800" y="457565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04</a:t>
            </a:r>
            <a:endParaRPr lang="en-US" sz="2600" dirty="0"/>
          </a:p>
        </p:txBody>
      </p:sp>
      <p:sp>
        <p:nvSpPr>
          <p:cNvPr id="15" name="Text 13"/>
          <p:cNvSpPr/>
          <p:nvPr/>
        </p:nvSpPr>
        <p:spPr>
          <a:xfrm>
            <a:off x="1691640" y="457565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Comparar  </a:t>
            </a:r>
            <a:pPr indent="0" marL="0">
              <a:buNone/>
            </a:pPr>
            <a:r>
              <a:rPr lang="en-US" sz="1350" dirty="0">
                <a:solidFill>
                  <a:srgbClr val="F4F4F4"/>
                </a:solidFill>
                <a:latin typeface="Arial" pitchFamily="34" charset="0"/>
                <a:ea typeface="Arial" pitchFamily="34" charset="-122"/>
                <a:cs typeface="Arial" pitchFamily="34" charset="-120"/>
              </a:rPr>
              <a:t>OPC UA y MQTT y decidir cuándo usar cada uno.</a:t>
            </a:r>
            <a:endParaRPr lang="en-US" sz="1350" dirty="0"/>
          </a:p>
        </p:txBody>
      </p:sp>
      <p:sp>
        <p:nvSpPr>
          <p:cNvPr id="16" name="Shape 14"/>
          <p:cNvSpPr/>
          <p:nvPr/>
        </p:nvSpPr>
        <p:spPr>
          <a:xfrm>
            <a:off x="502920" y="5506517"/>
            <a:ext cx="11185855" cy="766267"/>
          </a:xfrm>
          <a:prstGeom prst="roundRect">
            <a:avLst>
              <a:gd name="adj" fmla="val 5967"/>
            </a:avLst>
          </a:prstGeom>
          <a:solidFill>
            <a:srgbClr val="151515"/>
          </a:solidFill>
          <a:ln w="12700">
            <a:solidFill>
              <a:srgbClr val="333333"/>
            </a:solidFill>
            <a:prstDash val="solid"/>
          </a:ln>
        </p:spPr>
      </p:sp>
      <p:sp>
        <p:nvSpPr>
          <p:cNvPr id="17" name="Text 15"/>
          <p:cNvSpPr/>
          <p:nvPr/>
        </p:nvSpPr>
        <p:spPr>
          <a:xfrm>
            <a:off x="685800" y="5506517"/>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05</a:t>
            </a:r>
            <a:endParaRPr lang="en-US" sz="2600" dirty="0"/>
          </a:p>
        </p:txBody>
      </p:sp>
      <p:sp>
        <p:nvSpPr>
          <p:cNvPr id="18" name="Text 16"/>
          <p:cNvSpPr/>
          <p:nvPr/>
        </p:nvSpPr>
        <p:spPr>
          <a:xfrm>
            <a:off x="1691640" y="5506517"/>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Construir  </a:t>
            </a:r>
            <a:pPr indent="0" marL="0">
              <a:buNone/>
            </a:pPr>
            <a:r>
              <a:rPr lang="en-US" sz="1350" dirty="0">
                <a:solidFill>
                  <a:srgbClr val="F4F4F4"/>
                </a:solidFill>
                <a:latin typeface="Arial" pitchFamily="34" charset="0"/>
                <a:ea typeface="Arial" pitchFamily="34" charset="-122"/>
                <a:cs typeface="Arial" pitchFamily="34" charset="-120"/>
              </a:rPr>
              <a:t>una cadena de datos completa en el laboratorio.</a:t>
            </a:r>
            <a:endParaRPr lang="en-US" sz="13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45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MQTT — PUBLICACIÓN Y SUSCRIPCIÓN</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El protocolo ligero de telemetría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45</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04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PATRÓN PUB/SUB</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PUBLICADOR</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Envía mensajes a un tópico. No sabe quién los recibe.</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Un sensor de temperatura</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BROKER</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Intermediario que recibe publicaciones y las reparte a los suscriptores.</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Mosquitto, EMQX</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SUSCRIPTOR</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Se suscribe a tópicos y recibe los mensajes. No sabe quién publica.</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Un tablero, una IA</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El pub/sub DESACOPLA: publicadores y suscriptores no se conocen; solo comparten el broker y los tópicos. Añadir un consumidor nuevo no toca a los productores.</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06 / 45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05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JERARQUÍA DE TÓPICOS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Los mensajes se organizan en tópicos jerárquicos.</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ESTRUCTURA</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Niveles separados por '/': planta1/linea3/llenadora/temperatura.</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COMODINES</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 un nivel, '#' varios: planta1/linea3/# recibe todo de esa línea.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SEMÁNTICA</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Una buena jerarquía de tópicos ES un modelo del proceso.</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GOBIERNO</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Definir la jerarquía es una decisión de arquitectura (base del UNS).</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07 / 45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06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PARÁMETROS CLAVE DE MQTT</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Los mecanismos que dan robustez al protocolo.</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QOS 0</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 lo sumo una vez': sin garantía. Ligero.</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QOS 1</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'Al menos una vez': puede duplicar. Confiable.</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QOS 2</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'Exactamente una vez': sin duplicados. Más costoso.</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RETAIN</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broker guarda el último mensaje de un tópico para nuevos suscriptores.</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LAST WILL</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Mensaje que el broker publica si un cliente se desconecta abruptamente.</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KEEP ALIVE</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Latido para detectar clientes caídos.</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08 / 45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07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POR QUÉ MQTT EN LA PLANTA</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Ventajas que lo hicieron el estándar de telemetría IIoT.</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LIGERO</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Mínima sobrecarga: apto para dispositivos con pocos recursos y redes pobres.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ESCALABLE</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 broker maneja miles de dispositivos publicando en paralelo.</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DESACOPLADO</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Añadir consumidores (IA, tableros, ERP) sin tocar los productores.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SEGURO</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TLS para cifrado y autenticación por cliente.</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09 / 45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08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LÍMITE DE MQTT CRUDO</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SIN TIPO</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MQTT transporta bytes: no dice si '72' es °C o PSI</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200" dirty="0">
                <a:solidFill>
                  <a:srgbClr val="FFB000"/>
                </a:solidFill>
                <a:latin typeface="Arial Black" pitchFamily="34" charset="0"/>
                <a:ea typeface="Arial Black" pitchFamily="34" charset="-122"/>
                <a:cs typeface="Arial Black" pitchFamily="34" charset="-120"/>
              </a:rPr>
              <a:t>SIN ESTADO</a:t>
            </a:r>
            <a:endParaRPr lang="en-US" sz="32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un suscriptor nuevo no sabe qué dispositivos existen ni su estado</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500" dirty="0">
                <a:solidFill>
                  <a:srgbClr val="27E5E5"/>
                </a:solidFill>
                <a:latin typeface="Arial Black" pitchFamily="34" charset="0"/>
                <a:ea typeface="Arial Black" pitchFamily="34" charset="-122"/>
                <a:cs typeface="Arial Black" pitchFamily="34" charset="-120"/>
              </a:rPr>
              <a:t>SIN ORDEN</a:t>
            </a:r>
            <a:endParaRPr lang="en-US" sz="35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cada quien inventa su formato de payload: caos semántico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MQTT resuelve el transporte, pero no la semántica ni la gestión de estado. Sin una capa encima, cada integración inventa su formato y su jerarquía: se recrea el caos que OPC UA vino a resolver. Ahí entra Sparkplug B.</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45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09  MQTT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ROBUSTEZ DEL BROKER EN PRODUCCIÓN</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broker es el corazón; debe ser confiable.</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ALTA DISPONIBILIDAD</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Clúster de brokers: si uno cae, otro sigue. El UNS no puede detenerse.</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PERSISTENCIA</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Mensajes retenidos y sesiones persistentes sobreviven reinicios.</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AUTENTICACIÓN</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TLS mutuo y credenciales por cliente; nada anónimo en producción.</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ESCALA</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Brokers industriales (EMQX, HiveMQ) manejan millones de conexiones.</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11 / 45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02</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SPARKPLUG B</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MQTT con estructura, estado y tipado industrial</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45</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10  SPARKPLUG</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AÑADE SPARKPLUG B</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ESTRUCTURA</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Define una jerarquía de tópicos estándar (grupo/nodo/dispositivo) y tipos de mensaje.</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Namespace estándar</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ESTADO</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Mensajes de nacimiento (BIRTH) y muerte (DEATH): se sabe qué está vivo.</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BIRTH/DEATH</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TIPADO</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Payload con tipos de dato y metadatos: '72' es un Float en °C.</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Payload tipado</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Sparkplug B es una especificación sobre MQTT que le da lo que le falta a la industria: estructura, gestión de estado (BIRTH/DEATH) y payload tipado. Convierte MQTT en apto para OT.</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11  SPARKPLUG</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CICLO BIRTH / DEATH</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Cómo Sparkplug sabe qué dispositivos están vivos.</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NBIRTH / DBIRTH</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Al conectarse, el nodo/dispositivo publica su nacimiento con todas sus métricas y tipos.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NDATA / DDATA</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En operación, publica solo los cambios (report by exception): eficiente.</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NDEATH / DDEATH</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Si se desconecta, el broker publica su muerte (vía last will).</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STATE</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estado de la infraestructura (primary host) también se rastrea.</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14 / 45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12  SPARKPLUG</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REPORT BY EXCEPTION</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EFICIENCIA</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PUBLICAR SOLO LO QUE CAMBIA</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Tras el BIRTH (que declara todas las métricas), el dispositivo solo publica cuando un valor cambia (DATA). Esto reduce drásticamente el tráfico frente a sondear todo constantemente. Un consumidor nuevo obtiene el estado completo del último BIRTH retenido, sin necesidad de preguntar a cada dispositivo.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BENEFICIO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Menos tráfico · estado siempre disponible</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CONTRASTE</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Polling: preguntar todo, siempre</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15 / 45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13  SPARKPLUG</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SPARKPLUG B Y LA INTEROPERABILIDAD</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Estandarizar el 'cómo' habilita el plug-and-play.</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FORMATO COMÚN</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Todos los dispositivos hablan igual: mismo namespace, mismo payload.</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AUTO-DESCUBRIMIENTO</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BIRTH declara las métricas: los consumidores las descubren solos.</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MENOS INTEGRACIÓN</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Conectar un dispositivo nuevo no exige programar su formato a medida.</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ECOSISTEMA</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Soportado por brokers, historiadores y plataformas del mercado.</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16 / 45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14  SPARKPLUG</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MQTT CRUDO VS SPARKPLUG B</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CRUDO</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flexible pero cada integración inventa su formato y jerarquía</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500" dirty="0">
                <a:solidFill>
                  <a:srgbClr val="C6FF00"/>
                </a:solidFill>
                <a:latin typeface="Arial Black" pitchFamily="34" charset="0"/>
                <a:ea typeface="Arial Black" pitchFamily="34" charset="-122"/>
                <a:cs typeface="Arial Black" pitchFamily="34" charset="-120"/>
              </a:rPr>
              <a:t>SPARKPLUG</a:t>
            </a:r>
            <a:endParaRPr lang="en-US" sz="35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estructura, estado y tipos estándar: interoperable y gobernable</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DECISIÓN</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para telemetría OT seria, Sparkplug evita el caos semántico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MQTT crudo sirve para prototipos; Sparkplug B para producción industrial seria. La estructura estándar convierte un flujo de bytes en información gobernable. Adoptarlo es una decisión de arquitectura de datos.</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17 / 45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15  SPARKPLUG</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TIPOS DE MENSAJE SPARKPLUG B</a:t>
            </a:r>
            <a:endParaRPr lang="en-US" sz="3300" dirty="0"/>
          </a:p>
        </p:txBody>
      </p:sp>
      <p:sp>
        <p:nvSpPr>
          <p:cNvPr id="4" name="Shape 2"/>
          <p:cNvSpPr/>
          <p:nvPr/>
        </p:nvSpPr>
        <p:spPr>
          <a:xfrm>
            <a:off x="502920" y="1783080"/>
            <a:ext cx="2743200" cy="457200"/>
          </a:xfrm>
          <a:prstGeom prst="rect">
            <a:avLst/>
          </a:prstGeom>
          <a:solidFill>
            <a:srgbClr val="1E1E1E"/>
          </a:solidFill>
          <a:ln w="12700">
            <a:solidFill>
              <a:srgbClr val="333333"/>
            </a:solidFill>
            <a:prstDash val="solid"/>
          </a:ln>
        </p:spPr>
      </p:sp>
      <p:sp>
        <p:nvSpPr>
          <p:cNvPr id="5" name="Text 3"/>
          <p:cNvSpPr/>
          <p:nvPr/>
        </p:nvSpPr>
        <p:spPr>
          <a:xfrm>
            <a:off x="576072" y="1783080"/>
            <a:ext cx="25968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MENSAJE</a:t>
            </a:r>
            <a:endParaRPr lang="en-US" sz="1050" dirty="0"/>
          </a:p>
        </p:txBody>
      </p:sp>
      <p:sp>
        <p:nvSpPr>
          <p:cNvPr id="6" name="Shape 4"/>
          <p:cNvSpPr/>
          <p:nvPr/>
        </p:nvSpPr>
        <p:spPr>
          <a:xfrm>
            <a:off x="3246120" y="1783080"/>
            <a:ext cx="4221328" cy="457200"/>
          </a:xfrm>
          <a:prstGeom prst="rect">
            <a:avLst/>
          </a:prstGeom>
          <a:solidFill>
            <a:srgbClr val="1E1E1E"/>
          </a:solidFill>
          <a:ln w="12700">
            <a:solidFill>
              <a:srgbClr val="333333"/>
            </a:solidFill>
            <a:prstDash val="solid"/>
          </a:ln>
        </p:spPr>
      </p:sp>
      <p:sp>
        <p:nvSpPr>
          <p:cNvPr id="7" name="Text 5"/>
          <p:cNvSpPr/>
          <p:nvPr/>
        </p:nvSpPr>
        <p:spPr>
          <a:xfrm>
            <a:off x="3319272" y="1783080"/>
            <a:ext cx="40750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EMISOR</a:t>
            </a:r>
            <a:endParaRPr lang="en-US" sz="1050" dirty="0"/>
          </a:p>
        </p:txBody>
      </p:sp>
      <p:sp>
        <p:nvSpPr>
          <p:cNvPr id="8" name="Shape 6"/>
          <p:cNvSpPr/>
          <p:nvPr/>
        </p:nvSpPr>
        <p:spPr>
          <a:xfrm>
            <a:off x="7467448" y="1783080"/>
            <a:ext cx="4221328" cy="457200"/>
          </a:xfrm>
          <a:prstGeom prst="rect">
            <a:avLst/>
          </a:prstGeom>
          <a:solidFill>
            <a:srgbClr val="1E1E1E"/>
          </a:solidFill>
          <a:ln w="12700">
            <a:solidFill>
              <a:srgbClr val="333333"/>
            </a:solidFill>
            <a:prstDash val="solid"/>
          </a:ln>
        </p:spPr>
      </p:sp>
      <p:sp>
        <p:nvSpPr>
          <p:cNvPr id="9" name="Text 7"/>
          <p:cNvSpPr/>
          <p:nvPr/>
        </p:nvSpPr>
        <p:spPr>
          <a:xfrm>
            <a:off x="7540600" y="1783080"/>
            <a:ext cx="40750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CUÁNDO</a:t>
            </a:r>
            <a:endParaRPr lang="en-US" sz="1050" dirty="0"/>
          </a:p>
        </p:txBody>
      </p:sp>
      <p:sp>
        <p:nvSpPr>
          <p:cNvPr id="10" name="Shape 8"/>
          <p:cNvSpPr/>
          <p:nvPr/>
        </p:nvSpPr>
        <p:spPr>
          <a:xfrm>
            <a:off x="502920" y="2240280"/>
            <a:ext cx="2743200" cy="566928"/>
          </a:xfrm>
          <a:prstGeom prst="rect">
            <a:avLst/>
          </a:prstGeom>
          <a:solidFill>
            <a:srgbClr val="151515"/>
          </a:solidFill>
          <a:ln w="12700">
            <a:solidFill>
              <a:srgbClr val="242424"/>
            </a:solidFill>
            <a:prstDash val="solid"/>
          </a:ln>
        </p:spPr>
      </p:sp>
      <p:sp>
        <p:nvSpPr>
          <p:cNvPr id="11" name="Text 9"/>
          <p:cNvSpPr/>
          <p:nvPr/>
        </p:nvSpPr>
        <p:spPr>
          <a:xfrm>
            <a:off x="576072" y="2240280"/>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NBIRTH/DBIRTH</a:t>
            </a:r>
            <a:endParaRPr lang="en-US" sz="1150" dirty="0"/>
          </a:p>
        </p:txBody>
      </p:sp>
      <p:sp>
        <p:nvSpPr>
          <p:cNvPr id="12" name="Shape 10"/>
          <p:cNvSpPr/>
          <p:nvPr/>
        </p:nvSpPr>
        <p:spPr>
          <a:xfrm>
            <a:off x="3246120" y="2240280"/>
            <a:ext cx="4221328" cy="566928"/>
          </a:xfrm>
          <a:prstGeom prst="rect">
            <a:avLst/>
          </a:prstGeom>
          <a:solidFill>
            <a:srgbClr val="151515"/>
          </a:solidFill>
          <a:ln w="12700">
            <a:solidFill>
              <a:srgbClr val="242424"/>
            </a:solidFill>
            <a:prstDash val="solid"/>
          </a:ln>
        </p:spPr>
      </p:sp>
      <p:sp>
        <p:nvSpPr>
          <p:cNvPr id="13" name="Text 11"/>
          <p:cNvSpPr/>
          <p:nvPr/>
        </p:nvSpPr>
        <p:spPr>
          <a:xfrm>
            <a:off x="3319272" y="2240280"/>
            <a:ext cx="40750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Nodo/dispositivo</a:t>
            </a:r>
            <a:endParaRPr lang="en-US" sz="1100" dirty="0"/>
          </a:p>
        </p:txBody>
      </p:sp>
      <p:sp>
        <p:nvSpPr>
          <p:cNvPr id="14" name="Shape 12"/>
          <p:cNvSpPr/>
          <p:nvPr/>
        </p:nvSpPr>
        <p:spPr>
          <a:xfrm>
            <a:off x="7467448" y="2240280"/>
            <a:ext cx="4221328" cy="566928"/>
          </a:xfrm>
          <a:prstGeom prst="rect">
            <a:avLst/>
          </a:prstGeom>
          <a:solidFill>
            <a:srgbClr val="151515"/>
          </a:solidFill>
          <a:ln w="12700">
            <a:solidFill>
              <a:srgbClr val="242424"/>
            </a:solidFill>
            <a:prstDash val="solid"/>
          </a:ln>
        </p:spPr>
      </p:sp>
      <p:sp>
        <p:nvSpPr>
          <p:cNvPr id="15" name="Text 13"/>
          <p:cNvSpPr/>
          <p:nvPr/>
        </p:nvSpPr>
        <p:spPr>
          <a:xfrm>
            <a:off x="7540600" y="2240280"/>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Al conectarse</a:t>
            </a:r>
            <a:endParaRPr lang="en-US" sz="1100" dirty="0"/>
          </a:p>
        </p:txBody>
      </p:sp>
      <p:sp>
        <p:nvSpPr>
          <p:cNvPr id="16" name="Shape 14"/>
          <p:cNvSpPr/>
          <p:nvPr/>
        </p:nvSpPr>
        <p:spPr>
          <a:xfrm>
            <a:off x="502920" y="2807208"/>
            <a:ext cx="27432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NDATA/DDATA</a:t>
            </a:r>
            <a:endParaRPr lang="en-US" sz="1150" dirty="0"/>
          </a:p>
        </p:txBody>
      </p:sp>
      <p:sp>
        <p:nvSpPr>
          <p:cNvPr id="18" name="Shape 16"/>
          <p:cNvSpPr/>
          <p:nvPr/>
        </p:nvSpPr>
        <p:spPr>
          <a:xfrm>
            <a:off x="3246120" y="2807208"/>
            <a:ext cx="4221328" cy="566928"/>
          </a:xfrm>
          <a:prstGeom prst="rect">
            <a:avLst/>
          </a:prstGeom>
          <a:solidFill>
            <a:srgbClr val="0B0B0B"/>
          </a:solidFill>
          <a:ln w="12700">
            <a:solidFill>
              <a:srgbClr val="242424"/>
            </a:solidFill>
            <a:prstDash val="solid"/>
          </a:ln>
        </p:spPr>
      </p:sp>
      <p:sp>
        <p:nvSpPr>
          <p:cNvPr id="19" name="Text 17"/>
          <p:cNvSpPr/>
          <p:nvPr/>
        </p:nvSpPr>
        <p:spPr>
          <a:xfrm>
            <a:off x="3319272" y="2807208"/>
            <a:ext cx="40750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Nodo/dispositivo</a:t>
            </a:r>
            <a:endParaRPr lang="en-US" sz="1100" dirty="0"/>
          </a:p>
        </p:txBody>
      </p:sp>
      <p:sp>
        <p:nvSpPr>
          <p:cNvPr id="20" name="Shape 18"/>
          <p:cNvSpPr/>
          <p:nvPr/>
        </p:nvSpPr>
        <p:spPr>
          <a:xfrm>
            <a:off x="7467448" y="2807208"/>
            <a:ext cx="4221328" cy="566928"/>
          </a:xfrm>
          <a:prstGeom prst="rect">
            <a:avLst/>
          </a:prstGeom>
          <a:solidFill>
            <a:srgbClr val="0B0B0B"/>
          </a:solidFill>
          <a:ln w="12700">
            <a:solidFill>
              <a:srgbClr val="242424"/>
            </a:solidFill>
            <a:prstDash val="solid"/>
          </a:ln>
        </p:spPr>
      </p:sp>
      <p:sp>
        <p:nvSpPr>
          <p:cNvPr id="21" name="Text 19"/>
          <p:cNvSpPr/>
          <p:nvPr/>
        </p:nvSpPr>
        <p:spPr>
          <a:xfrm>
            <a:off x="7540600" y="2807208"/>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Al cambiar un valor</a:t>
            </a:r>
            <a:endParaRPr lang="en-US" sz="1100" dirty="0"/>
          </a:p>
        </p:txBody>
      </p:sp>
      <p:sp>
        <p:nvSpPr>
          <p:cNvPr id="22" name="Shape 20"/>
          <p:cNvSpPr/>
          <p:nvPr/>
        </p:nvSpPr>
        <p:spPr>
          <a:xfrm>
            <a:off x="502920" y="3374136"/>
            <a:ext cx="27432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NDEATH/DDEATH</a:t>
            </a:r>
            <a:endParaRPr lang="en-US" sz="1150" dirty="0"/>
          </a:p>
        </p:txBody>
      </p:sp>
      <p:sp>
        <p:nvSpPr>
          <p:cNvPr id="24" name="Shape 22"/>
          <p:cNvSpPr/>
          <p:nvPr/>
        </p:nvSpPr>
        <p:spPr>
          <a:xfrm>
            <a:off x="3246120" y="3374136"/>
            <a:ext cx="4221328" cy="566928"/>
          </a:xfrm>
          <a:prstGeom prst="rect">
            <a:avLst/>
          </a:prstGeom>
          <a:solidFill>
            <a:srgbClr val="151515"/>
          </a:solidFill>
          <a:ln w="12700">
            <a:solidFill>
              <a:srgbClr val="242424"/>
            </a:solidFill>
            <a:prstDash val="solid"/>
          </a:ln>
        </p:spPr>
      </p:sp>
      <p:sp>
        <p:nvSpPr>
          <p:cNvPr id="25" name="Text 23"/>
          <p:cNvSpPr/>
          <p:nvPr/>
        </p:nvSpPr>
        <p:spPr>
          <a:xfrm>
            <a:off x="3319272" y="3374136"/>
            <a:ext cx="407502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Broker (last will)</a:t>
            </a:r>
            <a:endParaRPr lang="en-US" sz="1100" dirty="0"/>
          </a:p>
        </p:txBody>
      </p:sp>
      <p:sp>
        <p:nvSpPr>
          <p:cNvPr id="26" name="Shape 24"/>
          <p:cNvSpPr/>
          <p:nvPr/>
        </p:nvSpPr>
        <p:spPr>
          <a:xfrm>
            <a:off x="7467448" y="3374136"/>
            <a:ext cx="4221328" cy="566928"/>
          </a:xfrm>
          <a:prstGeom prst="rect">
            <a:avLst/>
          </a:prstGeom>
          <a:solidFill>
            <a:srgbClr val="151515"/>
          </a:solidFill>
          <a:ln w="12700">
            <a:solidFill>
              <a:srgbClr val="242424"/>
            </a:solidFill>
            <a:prstDash val="solid"/>
          </a:ln>
        </p:spPr>
      </p:sp>
      <p:sp>
        <p:nvSpPr>
          <p:cNvPr id="27" name="Text 25"/>
          <p:cNvSpPr/>
          <p:nvPr/>
        </p:nvSpPr>
        <p:spPr>
          <a:xfrm>
            <a:off x="7540600" y="3374136"/>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Al desconectarse</a:t>
            </a:r>
            <a:endParaRPr lang="en-US" sz="1100" dirty="0"/>
          </a:p>
        </p:txBody>
      </p:sp>
      <p:sp>
        <p:nvSpPr>
          <p:cNvPr id="28" name="Shape 26"/>
          <p:cNvSpPr/>
          <p:nvPr/>
        </p:nvSpPr>
        <p:spPr>
          <a:xfrm>
            <a:off x="502920" y="3941064"/>
            <a:ext cx="27432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STATE</a:t>
            </a:r>
            <a:endParaRPr lang="en-US" sz="1150" dirty="0"/>
          </a:p>
        </p:txBody>
      </p:sp>
      <p:sp>
        <p:nvSpPr>
          <p:cNvPr id="30" name="Shape 28"/>
          <p:cNvSpPr/>
          <p:nvPr/>
        </p:nvSpPr>
        <p:spPr>
          <a:xfrm>
            <a:off x="3246120" y="3941064"/>
            <a:ext cx="4221328" cy="566928"/>
          </a:xfrm>
          <a:prstGeom prst="rect">
            <a:avLst/>
          </a:prstGeom>
          <a:solidFill>
            <a:srgbClr val="0B0B0B"/>
          </a:solidFill>
          <a:ln w="12700">
            <a:solidFill>
              <a:srgbClr val="242424"/>
            </a:solidFill>
            <a:prstDash val="solid"/>
          </a:ln>
        </p:spPr>
      </p:sp>
      <p:sp>
        <p:nvSpPr>
          <p:cNvPr id="31" name="Text 29"/>
          <p:cNvSpPr/>
          <p:nvPr/>
        </p:nvSpPr>
        <p:spPr>
          <a:xfrm>
            <a:off x="3319272" y="3941064"/>
            <a:ext cx="407502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Primary host</a:t>
            </a:r>
            <a:endParaRPr lang="en-US" sz="1100" dirty="0"/>
          </a:p>
        </p:txBody>
      </p:sp>
      <p:sp>
        <p:nvSpPr>
          <p:cNvPr id="32" name="Shape 30"/>
          <p:cNvSpPr/>
          <p:nvPr/>
        </p:nvSpPr>
        <p:spPr>
          <a:xfrm>
            <a:off x="7467448" y="3941064"/>
            <a:ext cx="4221328" cy="566928"/>
          </a:xfrm>
          <a:prstGeom prst="rect">
            <a:avLst/>
          </a:prstGeom>
          <a:solidFill>
            <a:srgbClr val="0B0B0B"/>
          </a:solidFill>
          <a:ln w="12700">
            <a:solidFill>
              <a:srgbClr val="242424"/>
            </a:solidFill>
            <a:prstDash val="solid"/>
          </a:ln>
        </p:spPr>
      </p:sp>
      <p:sp>
        <p:nvSpPr>
          <p:cNvPr id="33" name="Text 31"/>
          <p:cNvSpPr/>
          <p:nvPr/>
        </p:nvSpPr>
        <p:spPr>
          <a:xfrm>
            <a:off x="7540600" y="3941064"/>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Estado de infraestructura</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45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03</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UNIFIED NAMESPACE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Una única fuente de verdad en tiempo real</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45</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16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UNS FRENTE A DATA LAKE</a:t>
            </a:r>
            <a:endParaRPr lang="en-US" sz="3300" dirty="0"/>
          </a:p>
        </p:txBody>
      </p:sp>
      <p:sp>
        <p:nvSpPr>
          <p:cNvPr id="4" name="Shape 2"/>
          <p:cNvSpPr/>
          <p:nvPr/>
        </p:nvSpPr>
        <p:spPr>
          <a:xfrm>
            <a:off x="502920" y="1783080"/>
            <a:ext cx="5364328" cy="3986784"/>
          </a:xfrm>
          <a:prstGeom prst="roundRect">
            <a:avLst>
              <a:gd name="adj" fmla="val 1147"/>
            </a:avLst>
          </a:prstGeom>
          <a:solidFill>
            <a:srgbClr val="151515"/>
          </a:solidFill>
          <a:ln w="15875">
            <a:solidFill>
              <a:srgbClr val="C6FF00"/>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UNIFIED NAMESPACE</a:t>
            </a:r>
            <a:endParaRPr lang="en-US" sz="1500" dirty="0"/>
          </a:p>
        </p:txBody>
      </p:sp>
      <p:sp>
        <p:nvSpPr>
          <p:cNvPr id="6" name="Text 4"/>
          <p:cNvSpPr/>
          <p:nvPr/>
        </p:nvSpPr>
        <p:spPr>
          <a:xfrm>
            <a:off x="704088"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Estado ACTUAL en tiempo real</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Event-driven (push)</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Estructura semántica ISA-95</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Fuente de verdad operativa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Consumo inmediato</a:t>
            </a:r>
            <a:endParaRPr lang="en-US" sz="1200" dirty="0"/>
          </a:p>
        </p:txBody>
      </p:sp>
      <p:sp>
        <p:nvSpPr>
          <p:cNvPr id="7" name="Shape 5"/>
          <p:cNvSpPr/>
          <p:nvPr/>
        </p:nvSpPr>
        <p:spPr>
          <a:xfrm>
            <a:off x="6324448" y="1783080"/>
            <a:ext cx="5364328" cy="3986784"/>
          </a:xfrm>
          <a:prstGeom prst="roundRect">
            <a:avLst>
              <a:gd name="adj" fmla="val 1147"/>
            </a:avLst>
          </a:prstGeom>
          <a:solidFill>
            <a:srgbClr val="151515"/>
          </a:solidFill>
          <a:ln w="15875">
            <a:solidFill>
              <a:srgbClr val="27E5E5"/>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27E5E5"/>
                </a:solidFill>
                <a:latin typeface="Arial Black" pitchFamily="34" charset="0"/>
                <a:ea typeface="Arial Black" pitchFamily="34" charset="-122"/>
                <a:cs typeface="Arial Black" pitchFamily="34" charset="-120"/>
              </a:rPr>
              <a:t>DATA LAKE / WAREHOUSE</a:t>
            </a:r>
            <a:endParaRPr lang="en-US" sz="1500" dirty="0"/>
          </a:p>
        </p:txBody>
      </p:sp>
      <p:sp>
        <p:nvSpPr>
          <p:cNvPr id="9" name="Text 7"/>
          <p:cNvSpPr/>
          <p:nvPr/>
        </p:nvSpPr>
        <p:spPr>
          <a:xfrm>
            <a:off x="6525616"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Datos HISTÓRICOS acumulados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Consulta bajo demanda (pull)</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Esquema para analítica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Fuente para BI e IA batch</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Consumo diferido</a:t>
            </a:r>
            <a:endParaRPr lang="en-US" sz="1200" dirty="0"/>
          </a:p>
        </p:txBody>
      </p:sp>
      <p:sp>
        <p:nvSpPr>
          <p:cNvPr id="10" name="Text 8"/>
          <p:cNvSpPr/>
          <p:nvPr/>
        </p:nvSpPr>
        <p:spPr>
          <a:xfrm>
            <a:off x="502920" y="5861304"/>
            <a:ext cx="11185855" cy="36576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a:t>
            </a:r>
            <a:pPr indent="0" marL="0">
              <a:buNone/>
            </a:pPr>
            <a:r>
              <a:rPr lang="en-US" sz="1100" dirty="0">
                <a:solidFill>
                  <a:srgbClr val="8C8C8C"/>
                </a:solidFill>
                <a:latin typeface="Courier New" pitchFamily="34" charset="0"/>
                <a:ea typeface="Courier New" pitchFamily="34" charset="-122"/>
                <a:cs typeface="Courier New" pitchFamily="34" charset="-120"/>
              </a:rPr>
              <a:t>No compiten: el UNS alimenta el data lake. Tiempo real (UNS) e histórico (lake) son complementarios.</a:t>
            </a:r>
            <a:endParaRPr lang="en-US" sz="1100" dirty="0"/>
          </a:p>
        </p:txBody>
      </p:sp>
      <p:sp>
        <p:nvSpPr>
          <p:cNvPr id="11" name="Text 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2" name="Text 1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3" name="Text 1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45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17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ES EL UNS</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IDEA</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Un único espacio de nombres, en tiempo real, donde vive el estado actual de toda la empresa.</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Fuente única de verdad</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EVENT-DRIVEN</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Todo sistema publica su estado y consume el que necesita, vía el broker.</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Pub/sub central</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SEMÁNTICA ISA-95</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La jerarquía (empresa/planta/área/línea/celda) da estructura al namespace.</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ISA-95 como mapa</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El UNS (Walker) es una arquitectura, no un producto: un espacio de nombres central, en tiempo real y con estructura semántica, que se vuelve la única fuente de verdad del estado de la empresa.</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45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18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POR QUÉ EL UNS APLANA LA PIRÁMIDE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UNS reemplaza las integraciones punto a punto por un hub central.</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ANTES (PUNTO A PUNTO)</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sistema se conecta con cada otro: N×N integraciones frágiles.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CON UNS (HUB)</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sistema se conecta solo al UNS: N integraciones, no N×N.</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TIEMPO REAL</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estado está disponible al instante, no tras subir por la pirámide.</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ESCALABLE</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Añadir un sistema = una conexión al UNS, sin tocar los demás.</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22 / 45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19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DISEÑAR LA JERARQUÍA DEL UNS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La estructura del namespace es su decisión más importante.</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EMPRESA</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Nivel raíz: la organización.</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SITIO / PLANTA</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Ubicación física.</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ÁREA</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Zona funcional de la planta.</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LÍNEA / CELDA</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Línea de producción o celda.</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MÁQUINA / EQUIPO</a:t>
            </a:r>
            <a:endParaRPr lang="en-US" sz="13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Activo individual.</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ISA-95</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Esta jerarquía es directamente la de ISA-95 (S07).</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23 / 45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20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GOBIERNO DEL UNIFIED NAMESPACE</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GOBIERNO DEL DATO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QUIÉN MANDA EN EL NAMESPACE</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El UNS solo funciona si su estructura es consistente y gobernada: quién define la jerarquía, quién autoriza publicar en cada rama, cómo se nombran las métricas, quién es dueño de cada dato. Sin gobierno, el UNS degenera en otro silo desordenado. Con gobierno, es la columna vertebral del dato del CPPS.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DECISIONES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Jerarquía · nomenclatura · propiedad · acceso</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SE PROFUNDIZA EN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Gobierno de datos (S13)</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24 / 45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21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UNS COMO ESTRATEGIA DE DATOS</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500" dirty="0">
                <a:solidFill>
                  <a:srgbClr val="C6FF00"/>
                </a:solidFill>
                <a:latin typeface="Arial Black" pitchFamily="34" charset="0"/>
                <a:ea typeface="Arial Black" pitchFamily="34" charset="-122"/>
                <a:cs typeface="Arial Black" pitchFamily="34" charset="-120"/>
              </a:rPr>
              <a:t>DESACOPLA</a:t>
            </a:r>
            <a:endParaRPr lang="en-US" sz="35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sistemas independientes del proveedor de cada aplicación</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2600" dirty="0">
                <a:solidFill>
                  <a:srgbClr val="27E5E5"/>
                </a:solidFill>
                <a:latin typeface="Arial Black" pitchFamily="34" charset="0"/>
                <a:ea typeface="Arial Black" pitchFamily="34" charset="-122"/>
                <a:cs typeface="Arial Black" pitchFamily="34" charset="-120"/>
              </a:rPr>
              <a:t>ANTI LOCK-IN</a:t>
            </a:r>
            <a:endParaRPr lang="en-US" sz="26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cambiar una app no rompe las demás: solo se reconecta al UNS</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2900" dirty="0">
                <a:solidFill>
                  <a:srgbClr val="FFB000"/>
                </a:solidFill>
                <a:latin typeface="Arial Black" pitchFamily="34" charset="0"/>
                <a:ea typeface="Arial Black" pitchFamily="34" charset="-122"/>
                <a:cs typeface="Arial Black" pitchFamily="34" charset="-120"/>
              </a:rPr>
              <a:t>HABILITA IA</a:t>
            </a:r>
            <a:endParaRPr lang="en-US" sz="29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todo el dato en tiempo real y con contexto para analítica y gemelos</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UNS es más que técnica: es una estrategia de datos que reduce el lock-in, acelera la integración y habilita la analítica. Por eso adoptarlo es una decisión de gobierno de arquitectura (APO03) con impacto de largo plazo.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45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22  UNS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BUENAS PRÁCTICAS DE NOMENCLATURA</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Un namespace consistente es un namespace útil.</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JERARQUÍA ISA-95</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empresa/sitio/área/línea/celda/máquina/métrica.</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NOMBRES ESTABLES</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Evitar renombrar; los consumidores dependen de la ruta.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MINÚSCULAS Y SIN ESPACIOS</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Convención uniforme para evitar errores.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METADATOS</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Unidad, tipo y calidad junto al valor.</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45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04</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OPC UA Y MQTT — CÓMO CONVIVEN</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No es 'uno u otro'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45</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23  COMBINAR</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CUÁNDO CADA UNO</a:t>
            </a:r>
            <a:endParaRPr lang="en-US" sz="3300" dirty="0"/>
          </a:p>
        </p:txBody>
      </p:sp>
      <p:sp>
        <p:nvSpPr>
          <p:cNvPr id="4" name="Shape 2"/>
          <p:cNvSpPr/>
          <p:nvPr/>
        </p:nvSpPr>
        <p:spPr>
          <a:xfrm>
            <a:off x="502920" y="1783080"/>
            <a:ext cx="5364328" cy="3986784"/>
          </a:xfrm>
          <a:prstGeom prst="roundRect">
            <a:avLst>
              <a:gd name="adj" fmla="val 1147"/>
            </a:avLst>
          </a:prstGeom>
          <a:solidFill>
            <a:srgbClr val="151515"/>
          </a:solidFill>
          <a:ln w="15875">
            <a:solidFill>
              <a:srgbClr val="27E5E5"/>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27E5E5"/>
                </a:solidFill>
                <a:latin typeface="Arial Black" pitchFamily="34" charset="0"/>
                <a:ea typeface="Arial Black" pitchFamily="34" charset="-122"/>
                <a:cs typeface="Arial Black" pitchFamily="34" charset="-120"/>
              </a:rPr>
              <a:t>OPC UA — MEJOR PARA</a:t>
            </a:r>
            <a:endParaRPr lang="en-US" sz="1500" dirty="0"/>
          </a:p>
        </p:txBody>
      </p:sp>
      <p:sp>
        <p:nvSpPr>
          <p:cNvPr id="6" name="Text 4"/>
          <p:cNvSpPr/>
          <p:nvPr/>
        </p:nvSpPr>
        <p:spPr>
          <a:xfrm>
            <a:off x="704088"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Servidor–máquina (SCADA)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Modelado semántico rico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Seguridad y auditoría fuertes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Interfaz de dispositivo estándar</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Consulta y navegación de estructura</a:t>
            </a:r>
            <a:endParaRPr lang="en-US" sz="1200" dirty="0"/>
          </a:p>
        </p:txBody>
      </p:sp>
      <p:sp>
        <p:nvSpPr>
          <p:cNvPr id="7" name="Shape 5"/>
          <p:cNvSpPr/>
          <p:nvPr/>
        </p:nvSpPr>
        <p:spPr>
          <a:xfrm>
            <a:off x="6324448" y="1783080"/>
            <a:ext cx="5364328" cy="3986784"/>
          </a:xfrm>
          <a:prstGeom prst="roundRect">
            <a:avLst>
              <a:gd name="adj" fmla="val 1147"/>
            </a:avLst>
          </a:prstGeom>
          <a:solidFill>
            <a:srgbClr val="151515"/>
          </a:solidFill>
          <a:ln w="15875">
            <a:solidFill>
              <a:srgbClr val="C6FF00"/>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MQTT — MEJOR PARA</a:t>
            </a:r>
            <a:endParaRPr lang="en-US" sz="1500" dirty="0"/>
          </a:p>
        </p:txBody>
      </p:sp>
      <p:sp>
        <p:nvSpPr>
          <p:cNvPr id="9" name="Text 7"/>
          <p:cNvSpPr/>
          <p:nvPr/>
        </p:nvSpPr>
        <p:spPr>
          <a:xfrm>
            <a:off x="6525616"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Telemetría masiva a la nube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Muchos a muchos desacoplado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Redes pobres o intermitentes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Arquitectura UNS event-driven</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Ligereza y escalabilidad</a:t>
            </a:r>
            <a:endParaRPr lang="en-US" sz="1200" dirty="0"/>
          </a:p>
        </p:txBody>
      </p:sp>
      <p:sp>
        <p:nvSpPr>
          <p:cNvPr id="10" name="Text 8"/>
          <p:cNvSpPr/>
          <p:nvPr/>
        </p:nvSpPr>
        <p:spPr>
          <a:xfrm>
            <a:off x="502920" y="5861304"/>
            <a:ext cx="11185855" cy="36576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a:t>
            </a:r>
            <a:pPr indent="0" marL="0">
              <a:buNone/>
            </a:pPr>
            <a:r>
              <a:rPr lang="en-US" sz="1100" dirty="0">
                <a:solidFill>
                  <a:srgbClr val="8C8C8C"/>
                </a:solidFill>
                <a:latin typeface="Courier New" pitchFamily="34" charset="0"/>
                <a:ea typeface="Courier New" pitchFamily="34" charset="-122"/>
                <a:cs typeface="Courier New" pitchFamily="34" charset="-120"/>
              </a:rPr>
              <a:t>Patrón común: OPC UA de la máquina al borde; MQTT/Sparkplug del borde al UNS y la nube.</a:t>
            </a:r>
            <a:endParaRPr lang="en-US" sz="1100" dirty="0"/>
          </a:p>
        </p:txBody>
      </p:sp>
      <p:sp>
        <p:nvSpPr>
          <p:cNvPr id="11" name="Text 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2" name="Text 1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3" name="Text 1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28 / 45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24  COMBINAR</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CASO — PLANTA DE BEBIDAS CON UNS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Cómo se ve la convivencia en la práctica.</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MÁQUINAS (OPC UA)</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Llenadora, etiquetadora y paletizador exponen OPC UA.</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BORDE (GATEWAY)</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Lee OPC UA y publica en el UNS vía MQTT/Sparkplug.</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UNS (MQTT)</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Jerarquía ISA-95: planta/linea/maquina/metrica.</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CONSUMIDORES</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Grafana (OEE), MES, IA de calidad y ERP consumen del UNS.</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45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25  COMBINAR</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ARQUITECTURA DE REFERENCIA COMBINADA</a:t>
            </a:r>
            <a:endParaRPr lang="en-US" sz="30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PATRÓN</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OPC UA + MQTT + UNS</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Un patrón muy usado: las máquinas exponen OPC UA; un gateway de borde lee OPC UA y publica en MQTT/Sparkplug hacia el UNS; las aplicaciones (tableros, IA, MES, ERP) consumen del UNS. Se combina la semántica y seguridad de OPC UA con la escalabilidad y el desacople de MQTT.</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FLUJO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Máquina (OPC UA) → borde → MQTT/Sparkplug → UNS → apps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RESULTADO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Semántica + escala + desacople</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30 / 45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26  COMBINAR</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DECISIONES DE ARQUITECTURA DE DATOS</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Lo que el gobierno debe definir.</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PROTOCOLOS</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OPC UA para máquina, MQTT/Sparkplug para el UNS. Estándares abiertos.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JERARQUÍA UNS</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Estructura semántica basada en ISA-95, gobernada.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SEGURIDAD</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TLS/certificados en ambos; segmentación de red.</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PROPIEDAD DEL DATO</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Quién publica y quién es dueño de cada rama del namespace.</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31 / 45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27  COMBINAR</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EL DATO BIEN ARQUITECTURADO ES EL ACTIVO</a:t>
            </a:r>
            <a:endParaRPr lang="en-US" sz="30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UNA VEZ</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el dato se estructura una vez y sirve a muchas aplicaciones</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FUTURO</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IA, gemelos y optimización dependen de esta base</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GOBIERNO</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la arquitectura de datos es una inversión estratégica, no un detalle</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OPC UA, MQTT/Sparkplug y el UNS son las piezas para construir la arquitectura de datos del CPPS. Bien diseñada y gobernada, se convierte en el activo que habilita toda la inteligencia futura: analítica, gemelos y optimización (S12–S13).</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32 / 45</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05</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LABORATORIO — CADENA DE DATOS COMPLETA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Del sensor simulado al tablero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45</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45</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28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PUBLICAR Y SUSCRIBIR CON MQTT</a:t>
            </a:r>
            <a:endParaRPr lang="en-US" sz="3300" dirty="0"/>
          </a:p>
        </p:txBody>
      </p:sp>
      <p:sp>
        <p:nvSpPr>
          <p:cNvPr id="4" name="Shape 2"/>
          <p:cNvSpPr/>
          <p:nvPr/>
        </p:nvSpPr>
        <p:spPr>
          <a:xfrm>
            <a:off x="502920" y="1783080"/>
            <a:ext cx="11185855" cy="2788920"/>
          </a:xfrm>
          <a:prstGeom prst="roundRect">
            <a:avLst>
              <a:gd name="adj" fmla="val 1639"/>
            </a:avLst>
          </a:prstGeom>
          <a:solidFill>
            <a:srgbClr val="0A0A0A"/>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Shape 3"/>
          <p:cNvSpPr/>
          <p:nvPr/>
        </p:nvSpPr>
        <p:spPr>
          <a:xfrm>
            <a:off x="502920" y="1783080"/>
            <a:ext cx="11185855" cy="365760"/>
          </a:xfrm>
          <a:prstGeom prst="rect">
            <a:avLst/>
          </a:prstGeom>
          <a:solidFill>
            <a:srgbClr val="1E1E1E"/>
          </a:solidFill>
          <a:ln w="12700">
            <a:solidFill>
              <a:srgbClr val="333333"/>
            </a:solidFill>
            <a:prstDash val="solid"/>
          </a:ln>
        </p:spPr>
      </p:sp>
      <p:sp>
        <p:nvSpPr>
          <p:cNvPr id="6" name="Shape 4"/>
          <p:cNvSpPr/>
          <p:nvPr/>
        </p:nvSpPr>
        <p:spPr>
          <a:xfrm>
            <a:off x="704088" y="1911096"/>
            <a:ext cx="118872" cy="118872"/>
          </a:xfrm>
          <a:prstGeom prst="ellipse">
            <a:avLst/>
          </a:prstGeom>
          <a:solidFill>
            <a:srgbClr val="FF5F56"/>
          </a:solidFill>
          <a:ln/>
        </p:spPr>
      </p:sp>
      <p:sp>
        <p:nvSpPr>
          <p:cNvPr id="7" name="Shape 5"/>
          <p:cNvSpPr/>
          <p:nvPr/>
        </p:nvSpPr>
        <p:spPr>
          <a:xfrm>
            <a:off x="960120" y="1911096"/>
            <a:ext cx="118872" cy="118872"/>
          </a:xfrm>
          <a:prstGeom prst="ellipse">
            <a:avLst/>
          </a:prstGeom>
          <a:solidFill>
            <a:srgbClr val="FFBD2E"/>
          </a:solidFill>
          <a:ln/>
        </p:spPr>
      </p:sp>
      <p:sp>
        <p:nvSpPr>
          <p:cNvPr id="8" name="Shape 6"/>
          <p:cNvSpPr/>
          <p:nvPr/>
        </p:nvSpPr>
        <p:spPr>
          <a:xfrm>
            <a:off x="1216152" y="1911096"/>
            <a:ext cx="118872" cy="118872"/>
          </a:xfrm>
          <a:prstGeom prst="ellipse">
            <a:avLst/>
          </a:prstGeom>
          <a:solidFill>
            <a:srgbClr val="27C93F"/>
          </a:solidFill>
          <a:ln/>
        </p:spPr>
      </p:sp>
      <p:sp>
        <p:nvSpPr>
          <p:cNvPr id="9" name="Text 7"/>
          <p:cNvSpPr/>
          <p:nvPr/>
        </p:nvSpPr>
        <p:spPr>
          <a:xfrm>
            <a:off x="1691640" y="1783080"/>
            <a:ext cx="9814255" cy="365760"/>
          </a:xfrm>
          <a:prstGeom prst="rect">
            <a:avLst/>
          </a:prstGeom>
          <a:noFill/>
          <a:ln/>
        </p:spPr>
        <p:txBody>
          <a:bodyPr wrap="square" lIns="0" tIns="0" rIns="0" bIns="0" rtlCol="0" anchor="ctr"/>
          <a:lstStyle/>
          <a:p>
            <a:pPr indent="0" marL="0">
              <a:buNone/>
            </a:pPr>
            <a:r>
              <a:rPr lang="en-US" sz="950" dirty="0">
                <a:solidFill>
                  <a:srgbClr val="8C8C8C"/>
                </a:solidFill>
                <a:latin typeface="Courier New" pitchFamily="34" charset="0"/>
                <a:ea typeface="Courier New" pitchFamily="34" charset="-122"/>
                <a:cs typeface="Courier New" pitchFamily="34" charset="-120"/>
              </a:rPr>
              <a:t>mosquitto</a:t>
            </a:r>
            <a:endParaRPr lang="en-US" sz="950" dirty="0"/>
          </a:p>
        </p:txBody>
      </p:sp>
      <p:sp>
        <p:nvSpPr>
          <p:cNvPr id="10" name="Text 8"/>
          <p:cNvSpPr/>
          <p:nvPr/>
        </p:nvSpPr>
        <p:spPr>
          <a:xfrm>
            <a:off x="777240" y="2286000"/>
            <a:ext cx="10637215" cy="2148840"/>
          </a:xfrm>
          <a:prstGeom prst="rect">
            <a:avLst/>
          </a:prstGeom>
          <a:noFill/>
          <a:ln/>
        </p:spPr>
        <p:txBody>
          <a:bodyPr wrap="square" lIns="0" tIns="0" rIns="0" bIns="0" rtlCol="0" anchor="t"/>
          <a:lstStyle/>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Broker MQTT local (Eclipse Mosquitto)</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 mosquitto -v</a:t>
            </a:r>
            <a:endParaRPr lang="en-US" sz="1150" dirty="0"/>
          </a:p>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Suscribirse a toda la línea 3</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 mosquitto_sub -t 'planta1/linea3/#' -v</a:t>
            </a:r>
            <a:endParaRPr lang="en-US" sz="1150" dirty="0"/>
          </a:p>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En otra terminal: publicar una lectura</a:t>
            </a:r>
            <a:endParaRPr lang="en-US" sz="1150" dirty="0"/>
          </a:p>
          <a:p>
            <a:pPr indent="0" marL="0">
              <a:lnSpc>
                <a:spcPct val="112000"/>
              </a:lnSpc>
              <a:buNone/>
            </a:pPr>
            <a:r>
              <a:rPr lang="en-US" sz="1150" dirty="0">
                <a:solidFill>
                  <a:srgbClr val="C6FF00"/>
                </a:solidFill>
                <a:latin typeface="Courier New" pitchFamily="34" charset="0"/>
                <a:ea typeface="Courier New" pitchFamily="34" charset="-122"/>
                <a:cs typeface="Courier New" pitchFamily="34" charset="-120"/>
              </a:rPr>
              <a:t>$ mosquitto_pub -t 'planta1/linea3/llenadora/temp' -m '72.4'</a:t>
            </a:r>
            <a:endParaRPr lang="en-US" sz="1150" dirty="0"/>
          </a:p>
          <a:p>
            <a:pPr indent="0" marL="0">
              <a:lnSpc>
                <a:spcPct val="112000"/>
              </a:lnSpc>
              <a:buNone/>
            </a:pPr>
            <a:r>
              <a:rPr lang="en-US" sz="1150" dirty="0">
                <a:solidFill>
                  <a:srgbClr val="22E06B"/>
                </a:solidFill>
                <a:latin typeface="Courier New" pitchFamily="34" charset="0"/>
                <a:ea typeface="Courier New" pitchFamily="34" charset="-122"/>
                <a:cs typeface="Courier New" pitchFamily="34" charset="-120"/>
              </a:rPr>
              <a:t>planta1/linea3/llenadora/temp 72.4</a:t>
            </a:r>
            <a:endParaRPr lang="en-US" sz="1150" dirty="0"/>
          </a:p>
          <a:p>
            <a:pPr indent="0" marL="0">
              <a:lnSpc>
                <a:spcPct val="112000"/>
              </a:lnSpc>
              <a:buNone/>
            </a:pPr>
            <a:r>
              <a:rPr lang="en-US" sz="1150" dirty="0">
                <a:solidFill>
                  <a:srgbClr val="5A5A5A"/>
                </a:solidFill>
                <a:latin typeface="Courier New" pitchFamily="34" charset="0"/>
                <a:ea typeface="Courier New" pitchFamily="34" charset="-122"/>
                <a:cs typeface="Courier New" pitchFamily="34" charset="-120"/>
              </a:rPr>
              <a:t># El suscriptor recibe el mensaje al instante</a:t>
            </a:r>
            <a:endParaRPr lang="en-US" sz="1150" dirty="0"/>
          </a:p>
        </p:txBody>
      </p:sp>
      <p:sp>
        <p:nvSpPr>
          <p:cNvPr id="11" name="Text 9"/>
          <p:cNvSpPr/>
          <p:nvPr/>
        </p:nvSpPr>
        <p:spPr>
          <a:xfrm>
            <a:off x="502920" y="4773168"/>
            <a:ext cx="11185855" cy="1097280"/>
          </a:xfrm>
          <a:prstGeom prst="rect">
            <a:avLst/>
          </a:prstGeom>
          <a:noFill/>
          <a:ln/>
        </p:spPr>
        <p:txBody>
          <a:bodyPr wrap="square" lIns="0" tIns="0" rIns="0" bIns="0" rtlCol="0" anchor="t"/>
          <a:lstStyle/>
          <a:p>
            <a:pPr indent="0" marL="0">
              <a:lnSpc>
                <a:spcPct val="110000"/>
              </a:lnSpc>
              <a:buNone/>
            </a:pPr>
            <a:r>
              <a:rPr lang="en-US" sz="1250" b="1" dirty="0">
                <a:solidFill>
                  <a:srgbClr val="C6FF00"/>
                </a:solidFill>
                <a:latin typeface="Arial" pitchFamily="34" charset="0"/>
                <a:ea typeface="Arial" pitchFamily="34" charset="-122"/>
                <a:cs typeface="Arial" pitchFamily="34" charset="-120"/>
              </a:rPr>
              <a:t>LAB 6  </a:t>
            </a:r>
            <a:pPr indent="0" marL="0">
              <a:lnSpc>
                <a:spcPct val="110000"/>
              </a:lnSpc>
              <a:buNone/>
            </a:pPr>
            <a:r>
              <a:rPr lang="en-US" sz="1250" dirty="0">
                <a:solidFill>
                  <a:srgbClr val="F4F4F4"/>
                </a:solidFill>
                <a:latin typeface="Arial" pitchFamily="34" charset="0"/>
                <a:ea typeface="Arial" pitchFamily="34" charset="-122"/>
                <a:cs typeface="Arial" pitchFamily="34" charset="-120"/>
              </a:rPr>
              <a:t>El laboratorio construye la cadena completa: simulador de proceso → MQTT (Mosquitto) → Node-RED → base de series de tiempo (InfluxDB) → tablero (Grafana). Toda la pila es abierta.</a:t>
            </a:r>
            <a:endParaRPr lang="en-US" sz="1250" dirty="0"/>
          </a:p>
        </p:txBody>
      </p:sp>
      <p:sp>
        <p:nvSpPr>
          <p:cNvPr id="12" name="Text 10"/>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3" name="Text 11"/>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4" name="Text 12"/>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29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PARÁMETROS MQTT QUE VERÁS EN EL LAB</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Configuraciones a observar durante la práctica.</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TÓPICO</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ruta jerárquica del mensaje.</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QOS</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0, 1 o 2 según la garantía requerida.</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RETAIN</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Guardar el último valor para nuevos suscriptores.</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LAST WILL</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Mensaje si un cliente cae (base del DEATH).</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CLIENT ID</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Identidad del cliente en el broker.</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TLS</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Cifrado y autenticación en producción.</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35 / 45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30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CADENA DE DATOS DEL LAB 6</a:t>
            </a:r>
            <a:endParaRPr lang="en-US" sz="3300" dirty="0"/>
          </a:p>
        </p:txBody>
      </p:sp>
      <p:sp>
        <p:nvSpPr>
          <p:cNvPr id="4" name="Shape 2"/>
          <p:cNvSpPr/>
          <p:nvPr/>
        </p:nvSpPr>
        <p:spPr>
          <a:xfrm>
            <a:off x="502920" y="1783080"/>
            <a:ext cx="2054291"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FF6B35"/>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SIMULADOR</a:t>
            </a:r>
            <a:endParaRPr lang="en-US" sz="1100" dirty="0"/>
          </a:p>
        </p:txBody>
      </p:sp>
      <p:sp>
        <p:nvSpPr>
          <p:cNvPr id="7" name="Text 5"/>
          <p:cNvSpPr/>
          <p:nvPr/>
        </p:nvSpPr>
        <p:spPr>
          <a:xfrm>
            <a:off x="649224"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Genera señales.</a:t>
            </a:r>
            <a:endParaRPr lang="en-US" sz="1000" dirty="0"/>
          </a:p>
        </p:txBody>
      </p:sp>
      <p:sp>
        <p:nvSpPr>
          <p:cNvPr id="8" name="Shape 6"/>
          <p:cNvSpPr/>
          <p:nvPr/>
        </p:nvSpPr>
        <p:spPr>
          <a:xfrm>
            <a:off x="2785811" y="1783080"/>
            <a:ext cx="2054291"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2932115"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2932115"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MQTT</a:t>
            </a:r>
            <a:endParaRPr lang="en-US" sz="1100" dirty="0"/>
          </a:p>
        </p:txBody>
      </p:sp>
      <p:sp>
        <p:nvSpPr>
          <p:cNvPr id="11" name="Text 9"/>
          <p:cNvSpPr/>
          <p:nvPr/>
        </p:nvSpPr>
        <p:spPr>
          <a:xfrm>
            <a:off x="2932115"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Mosquitto/Sparkplug.</a:t>
            </a:r>
            <a:endParaRPr lang="en-US" sz="1000" dirty="0"/>
          </a:p>
        </p:txBody>
      </p:sp>
      <p:sp>
        <p:nvSpPr>
          <p:cNvPr id="12" name="Shape 10"/>
          <p:cNvSpPr/>
          <p:nvPr/>
        </p:nvSpPr>
        <p:spPr>
          <a:xfrm>
            <a:off x="5068702" y="1783080"/>
            <a:ext cx="2054291"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5215006" y="18928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5215006"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NODE-RED</a:t>
            </a:r>
            <a:endParaRPr lang="en-US" sz="1100" dirty="0"/>
          </a:p>
        </p:txBody>
      </p:sp>
      <p:sp>
        <p:nvSpPr>
          <p:cNvPr id="15" name="Text 13"/>
          <p:cNvSpPr/>
          <p:nvPr/>
        </p:nvSpPr>
        <p:spPr>
          <a:xfrm>
            <a:off x="5215006"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Orquesta y transforma.</a:t>
            </a:r>
            <a:endParaRPr lang="en-US" sz="1000" dirty="0"/>
          </a:p>
        </p:txBody>
      </p:sp>
      <p:sp>
        <p:nvSpPr>
          <p:cNvPr id="16" name="Shape 14"/>
          <p:cNvSpPr/>
          <p:nvPr/>
        </p:nvSpPr>
        <p:spPr>
          <a:xfrm>
            <a:off x="7351593" y="1783080"/>
            <a:ext cx="2054291"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7497897"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7497897"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INFLUXDB</a:t>
            </a:r>
            <a:endParaRPr lang="en-US" sz="1100" dirty="0"/>
          </a:p>
        </p:txBody>
      </p:sp>
      <p:sp>
        <p:nvSpPr>
          <p:cNvPr id="19" name="Text 17"/>
          <p:cNvSpPr/>
          <p:nvPr/>
        </p:nvSpPr>
        <p:spPr>
          <a:xfrm>
            <a:off x="7497897"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Series de tiempo.</a:t>
            </a:r>
            <a:endParaRPr lang="en-US" sz="1000" dirty="0"/>
          </a:p>
        </p:txBody>
      </p:sp>
      <p:sp>
        <p:nvSpPr>
          <p:cNvPr id="20" name="Shape 18"/>
          <p:cNvSpPr/>
          <p:nvPr/>
        </p:nvSpPr>
        <p:spPr>
          <a:xfrm>
            <a:off x="9634484" y="1783080"/>
            <a:ext cx="2054291"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9780788"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05</a:t>
            </a:r>
            <a:endParaRPr lang="en-US" sz="2200" dirty="0"/>
          </a:p>
        </p:txBody>
      </p:sp>
      <p:sp>
        <p:nvSpPr>
          <p:cNvPr id="22" name="Text 20"/>
          <p:cNvSpPr/>
          <p:nvPr/>
        </p:nvSpPr>
        <p:spPr>
          <a:xfrm>
            <a:off x="9780788"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GRAFANA</a:t>
            </a:r>
            <a:endParaRPr lang="en-US" sz="1100" dirty="0"/>
          </a:p>
        </p:txBody>
      </p:sp>
      <p:sp>
        <p:nvSpPr>
          <p:cNvPr id="23" name="Text 21"/>
          <p:cNvSpPr/>
          <p:nvPr/>
        </p:nvSpPr>
        <p:spPr>
          <a:xfrm>
            <a:off x="9780788"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Tablero.</a:t>
            </a:r>
            <a:endParaRPr lang="en-US" sz="1000" dirty="0"/>
          </a:p>
        </p:txBody>
      </p:sp>
      <p:sp>
        <p:nvSpPr>
          <p:cNvPr id="24" name="Text 2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5" name="Text 2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6" name="Text 2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36 / 45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31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HERRAMIENTAS DEL LABORATORIO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Pila abierta de datos IIoT.</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MOSQUITTO / EMQX</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Broker MQTT.</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NODE-RED</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Orquestación visual de flujos de datos.</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INFLUXDB / TIMESCALE</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Base de datos de series de tiempo.</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GRAFANA</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Tableros y visualización.</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MQTT EXPLORER</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Ver la jerarquía de tópicos en vivo.</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SPARKPLUG</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Librerías para BIRTH/DEATH y payload tipado.</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45</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32  LAB</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GUÍA DEL LAB 6</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SEGUIMIENTO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CONSTRUIR LA CADENA DE DATOS</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1) Levanta Mosquitto y diseña una jerarquía de tópicos ISA-95 para tu proceso. 2) Publica señales simuladas. 3) En Node-RED, enruta y transforma hacia InfluxDB. 4) Crea un tablero en Grafana con OEE o una variable clave. Entregable: diagrama de la cadena + captura del tablero funcionando.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HERRAMIENTAS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Mosquitto · Node-RED · InfluxDB · Grafana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ALIMENTA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Entregable 2 (semana 13)</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38 / 45</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06</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CIERRE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Síntesis, glosario y referencias</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45</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45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33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PUNTOS CLAVE PARA RECORDAR</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MQTT</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Pub/sub ligero y desacoplado vía broker y tópicos.</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SPARKPLUG B</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Estructura, estado (BIRTH/DEATH) y tipos sobre MQTT.</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UNS</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Fuente única de verdad, event-driven, con semántica ISA-95.</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OPC UA + MQTT</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Máquina con OPC UA; UNS y nube con MQTT.</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GOBIERNO DEL DATO</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La jerarquía del namespace debe gobernarse.</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45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34  CIERRE</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EL UNS SIN GOBIERNO ES OTRO SILO</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El Unified Namespace promete una fuente única de verdad, pero sin gobierno de datos degenera: nomenclaturas inconsistentes, ramas huérfanas y métricas duplicadas.</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Antes de publicar el primer tópico hay que decidir la jerarquía, la nomenclatura, la propiedad de cada rama y las reglas de acceso. La arquitectura de datos es tan buena como su gobierno (S13).</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Una fuente de verdad sin gobierno es solo una nueva forma de desorden.</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45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35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DÓNDE VAMOS — UNIDAD 3</a:t>
            </a:r>
            <a:endParaRPr lang="en-US" sz="33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S10</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OPC UA</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Interoperabilidad.</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S11</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MQTT / UNS</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Datos en tiempo real · hoy.</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S12</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GEMELOS DIGITALES</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Simulación y réplica.</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S13</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DATOS / OEE</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Gobierno de datos y analítica.</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45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36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GLOSARIO ESENCIAL</a:t>
            </a:r>
            <a:endParaRPr lang="en-US" sz="3300" dirty="0"/>
          </a:p>
        </p:txBody>
      </p:sp>
      <p:sp>
        <p:nvSpPr>
          <p:cNvPr id="4" name="Shape 2"/>
          <p:cNvSpPr/>
          <p:nvPr/>
        </p:nvSpPr>
        <p:spPr>
          <a:xfrm>
            <a:off x="502920" y="1783080"/>
            <a:ext cx="5364328" cy="786384"/>
          </a:xfrm>
          <a:prstGeom prst="roundRect">
            <a:avLst>
              <a:gd name="adj" fmla="val 4651"/>
            </a:avLst>
          </a:prstGeom>
          <a:solidFill>
            <a:srgbClr val="151515"/>
          </a:solidFill>
          <a:ln w="12700">
            <a:solidFill>
              <a:srgbClr val="242424"/>
            </a:solidFill>
            <a:prstDash val="solid"/>
          </a:ln>
        </p:spPr>
      </p:sp>
      <p:sp>
        <p:nvSpPr>
          <p:cNvPr id="5" name="Text 3"/>
          <p:cNvSpPr/>
          <p:nvPr/>
        </p:nvSpPr>
        <p:spPr>
          <a:xfrm>
            <a:off x="667512"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MQTT</a:t>
            </a:r>
            <a:endParaRPr lang="en-US" sz="1200" dirty="0"/>
          </a:p>
        </p:txBody>
      </p:sp>
      <p:sp>
        <p:nvSpPr>
          <p:cNvPr id="6" name="Text 4"/>
          <p:cNvSpPr/>
          <p:nvPr/>
        </p:nvSpPr>
        <p:spPr>
          <a:xfrm>
            <a:off x="667512"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Protocolo de mensajería pub/sub ligero (ISO 20922).</a:t>
            </a:r>
            <a:endParaRPr lang="en-US" sz="1050" dirty="0"/>
          </a:p>
        </p:txBody>
      </p:sp>
      <p:sp>
        <p:nvSpPr>
          <p:cNvPr id="7" name="Shape 5"/>
          <p:cNvSpPr/>
          <p:nvPr/>
        </p:nvSpPr>
        <p:spPr>
          <a:xfrm>
            <a:off x="6324448" y="1783080"/>
            <a:ext cx="5364328" cy="786384"/>
          </a:xfrm>
          <a:prstGeom prst="roundRect">
            <a:avLst>
              <a:gd name="adj" fmla="val 4651"/>
            </a:avLst>
          </a:prstGeom>
          <a:solidFill>
            <a:srgbClr val="151515"/>
          </a:solidFill>
          <a:ln w="12700">
            <a:solidFill>
              <a:srgbClr val="242424"/>
            </a:solidFill>
            <a:prstDash val="solid"/>
          </a:ln>
        </p:spPr>
      </p:sp>
      <p:sp>
        <p:nvSpPr>
          <p:cNvPr id="8" name="Text 6"/>
          <p:cNvSpPr/>
          <p:nvPr/>
        </p:nvSpPr>
        <p:spPr>
          <a:xfrm>
            <a:off x="6489040"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Broker</a:t>
            </a:r>
            <a:endParaRPr lang="en-US" sz="1200" dirty="0"/>
          </a:p>
        </p:txBody>
      </p:sp>
      <p:sp>
        <p:nvSpPr>
          <p:cNvPr id="9" name="Text 7"/>
          <p:cNvSpPr/>
          <p:nvPr/>
        </p:nvSpPr>
        <p:spPr>
          <a:xfrm>
            <a:off x="6489040"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Intermediario que reparte mensajes por tópico.</a:t>
            </a:r>
            <a:endParaRPr lang="en-US" sz="1050" dirty="0"/>
          </a:p>
        </p:txBody>
      </p:sp>
      <p:sp>
        <p:nvSpPr>
          <p:cNvPr id="10" name="Shape 8"/>
          <p:cNvSpPr/>
          <p:nvPr/>
        </p:nvSpPr>
        <p:spPr>
          <a:xfrm>
            <a:off x="502920" y="2697480"/>
            <a:ext cx="5364328" cy="786384"/>
          </a:xfrm>
          <a:prstGeom prst="roundRect">
            <a:avLst>
              <a:gd name="adj" fmla="val 4651"/>
            </a:avLst>
          </a:prstGeom>
          <a:solidFill>
            <a:srgbClr val="151515"/>
          </a:solidFill>
          <a:ln w="12700">
            <a:solidFill>
              <a:srgbClr val="242424"/>
            </a:solidFill>
            <a:prstDash val="solid"/>
          </a:ln>
        </p:spPr>
      </p:sp>
      <p:sp>
        <p:nvSpPr>
          <p:cNvPr id="11" name="Text 9"/>
          <p:cNvSpPr/>
          <p:nvPr/>
        </p:nvSpPr>
        <p:spPr>
          <a:xfrm>
            <a:off x="667512"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Tópico</a:t>
            </a:r>
            <a:endParaRPr lang="en-US" sz="1200" dirty="0"/>
          </a:p>
        </p:txBody>
      </p:sp>
      <p:sp>
        <p:nvSpPr>
          <p:cNvPr id="12" name="Text 10"/>
          <p:cNvSpPr/>
          <p:nvPr/>
        </p:nvSpPr>
        <p:spPr>
          <a:xfrm>
            <a:off x="667512"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Ruta jerárquica de un mensaje MQTT.</a:t>
            </a:r>
            <a:endParaRPr lang="en-US" sz="1050" dirty="0"/>
          </a:p>
        </p:txBody>
      </p:sp>
      <p:sp>
        <p:nvSpPr>
          <p:cNvPr id="13" name="Shape 11"/>
          <p:cNvSpPr/>
          <p:nvPr/>
        </p:nvSpPr>
        <p:spPr>
          <a:xfrm>
            <a:off x="6324448" y="2697480"/>
            <a:ext cx="5364328" cy="786384"/>
          </a:xfrm>
          <a:prstGeom prst="roundRect">
            <a:avLst>
              <a:gd name="adj" fmla="val 4651"/>
            </a:avLst>
          </a:prstGeom>
          <a:solidFill>
            <a:srgbClr val="151515"/>
          </a:solidFill>
          <a:ln w="12700">
            <a:solidFill>
              <a:srgbClr val="242424"/>
            </a:solidFill>
            <a:prstDash val="solid"/>
          </a:ln>
        </p:spPr>
      </p:sp>
      <p:sp>
        <p:nvSpPr>
          <p:cNvPr id="14" name="Text 12"/>
          <p:cNvSpPr/>
          <p:nvPr/>
        </p:nvSpPr>
        <p:spPr>
          <a:xfrm>
            <a:off x="6489040"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QoS</a:t>
            </a:r>
            <a:endParaRPr lang="en-US" sz="1200" dirty="0"/>
          </a:p>
        </p:txBody>
      </p:sp>
      <p:sp>
        <p:nvSpPr>
          <p:cNvPr id="15" name="Text 13"/>
          <p:cNvSpPr/>
          <p:nvPr/>
        </p:nvSpPr>
        <p:spPr>
          <a:xfrm>
            <a:off x="6489040"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Calidad de servicio de entrega (0, 1, 2).</a:t>
            </a:r>
            <a:endParaRPr lang="en-US" sz="1050" dirty="0"/>
          </a:p>
        </p:txBody>
      </p:sp>
      <p:sp>
        <p:nvSpPr>
          <p:cNvPr id="16" name="Shape 14"/>
          <p:cNvSpPr/>
          <p:nvPr/>
        </p:nvSpPr>
        <p:spPr>
          <a:xfrm>
            <a:off x="502920" y="3611880"/>
            <a:ext cx="5364328" cy="786384"/>
          </a:xfrm>
          <a:prstGeom prst="roundRect">
            <a:avLst>
              <a:gd name="adj" fmla="val 4651"/>
            </a:avLst>
          </a:prstGeom>
          <a:solidFill>
            <a:srgbClr val="151515"/>
          </a:solidFill>
          <a:ln w="12700">
            <a:solidFill>
              <a:srgbClr val="242424"/>
            </a:solidFill>
            <a:prstDash val="solid"/>
          </a:ln>
        </p:spPr>
      </p:sp>
      <p:sp>
        <p:nvSpPr>
          <p:cNvPr id="17" name="Text 15"/>
          <p:cNvSpPr/>
          <p:nvPr/>
        </p:nvSpPr>
        <p:spPr>
          <a:xfrm>
            <a:off x="667512"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Sparkplug B</a:t>
            </a:r>
            <a:endParaRPr lang="en-US" sz="1200" dirty="0"/>
          </a:p>
        </p:txBody>
      </p:sp>
      <p:sp>
        <p:nvSpPr>
          <p:cNvPr id="18" name="Text 16"/>
          <p:cNvSpPr/>
          <p:nvPr/>
        </p:nvSpPr>
        <p:spPr>
          <a:xfrm>
            <a:off x="667512"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Especificación de estructura/estado sobre MQTT.</a:t>
            </a:r>
            <a:endParaRPr lang="en-US" sz="1050" dirty="0"/>
          </a:p>
        </p:txBody>
      </p:sp>
      <p:sp>
        <p:nvSpPr>
          <p:cNvPr id="19" name="Shape 17"/>
          <p:cNvSpPr/>
          <p:nvPr/>
        </p:nvSpPr>
        <p:spPr>
          <a:xfrm>
            <a:off x="6324448" y="3611880"/>
            <a:ext cx="5364328" cy="786384"/>
          </a:xfrm>
          <a:prstGeom prst="roundRect">
            <a:avLst>
              <a:gd name="adj" fmla="val 4651"/>
            </a:avLst>
          </a:prstGeom>
          <a:solidFill>
            <a:srgbClr val="151515"/>
          </a:solidFill>
          <a:ln w="12700">
            <a:solidFill>
              <a:srgbClr val="242424"/>
            </a:solidFill>
            <a:prstDash val="solid"/>
          </a:ln>
        </p:spPr>
      </p:sp>
      <p:sp>
        <p:nvSpPr>
          <p:cNvPr id="20" name="Text 18"/>
          <p:cNvSpPr/>
          <p:nvPr/>
        </p:nvSpPr>
        <p:spPr>
          <a:xfrm>
            <a:off x="6489040"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BIRTH / DEATH</a:t>
            </a:r>
            <a:endParaRPr lang="en-US" sz="1200" dirty="0"/>
          </a:p>
        </p:txBody>
      </p:sp>
      <p:sp>
        <p:nvSpPr>
          <p:cNvPr id="21" name="Text 19"/>
          <p:cNvSpPr/>
          <p:nvPr/>
        </p:nvSpPr>
        <p:spPr>
          <a:xfrm>
            <a:off x="6489040"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Mensajes de vida/muerte de un dispositivo.</a:t>
            </a:r>
            <a:endParaRPr lang="en-US" sz="1050" dirty="0"/>
          </a:p>
        </p:txBody>
      </p:sp>
      <p:sp>
        <p:nvSpPr>
          <p:cNvPr id="22" name="Shape 20"/>
          <p:cNvSpPr/>
          <p:nvPr/>
        </p:nvSpPr>
        <p:spPr>
          <a:xfrm>
            <a:off x="502920" y="4526280"/>
            <a:ext cx="5364328" cy="786384"/>
          </a:xfrm>
          <a:prstGeom prst="roundRect">
            <a:avLst>
              <a:gd name="adj" fmla="val 4651"/>
            </a:avLst>
          </a:prstGeom>
          <a:solidFill>
            <a:srgbClr val="151515"/>
          </a:solidFill>
          <a:ln w="12700">
            <a:solidFill>
              <a:srgbClr val="242424"/>
            </a:solidFill>
            <a:prstDash val="solid"/>
          </a:ln>
        </p:spPr>
      </p:sp>
      <p:sp>
        <p:nvSpPr>
          <p:cNvPr id="23" name="Text 21"/>
          <p:cNvSpPr/>
          <p:nvPr/>
        </p:nvSpPr>
        <p:spPr>
          <a:xfrm>
            <a:off x="667512"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UNS</a:t>
            </a:r>
            <a:endParaRPr lang="en-US" sz="1200" dirty="0"/>
          </a:p>
        </p:txBody>
      </p:sp>
      <p:sp>
        <p:nvSpPr>
          <p:cNvPr id="24" name="Text 22"/>
          <p:cNvSpPr/>
          <p:nvPr/>
        </p:nvSpPr>
        <p:spPr>
          <a:xfrm>
            <a:off x="667512"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Unified Namespace: fuente única de verdad.</a:t>
            </a:r>
            <a:endParaRPr lang="en-US" sz="1050" dirty="0"/>
          </a:p>
        </p:txBody>
      </p:sp>
      <p:sp>
        <p:nvSpPr>
          <p:cNvPr id="25" name="Shape 23"/>
          <p:cNvSpPr/>
          <p:nvPr/>
        </p:nvSpPr>
        <p:spPr>
          <a:xfrm>
            <a:off x="6324448" y="4526280"/>
            <a:ext cx="5364328" cy="786384"/>
          </a:xfrm>
          <a:prstGeom prst="roundRect">
            <a:avLst>
              <a:gd name="adj" fmla="val 4651"/>
            </a:avLst>
          </a:prstGeom>
          <a:solidFill>
            <a:srgbClr val="151515"/>
          </a:solidFill>
          <a:ln w="12700">
            <a:solidFill>
              <a:srgbClr val="242424"/>
            </a:solidFill>
            <a:prstDash val="solid"/>
          </a:ln>
        </p:spPr>
      </p:sp>
      <p:sp>
        <p:nvSpPr>
          <p:cNvPr id="26" name="Text 24"/>
          <p:cNvSpPr/>
          <p:nvPr/>
        </p:nvSpPr>
        <p:spPr>
          <a:xfrm>
            <a:off x="6489040"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Report by exception</a:t>
            </a:r>
            <a:endParaRPr lang="en-US" sz="1200" dirty="0"/>
          </a:p>
        </p:txBody>
      </p:sp>
      <p:sp>
        <p:nvSpPr>
          <p:cNvPr id="27" name="Text 25"/>
          <p:cNvSpPr/>
          <p:nvPr/>
        </p:nvSpPr>
        <p:spPr>
          <a:xfrm>
            <a:off x="6489040"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Publicar solo los cambios.</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45</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37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REFERENCIAS Y RECURSOS</a:t>
            </a:r>
            <a:endParaRPr lang="en-US" sz="3300" dirty="0"/>
          </a:p>
        </p:txBody>
      </p:sp>
      <p:sp>
        <p:nvSpPr>
          <p:cNvPr id="4" name="Text 2"/>
          <p:cNvSpPr/>
          <p:nvPr/>
        </p:nvSpPr>
        <p:spPr>
          <a:xfrm>
            <a:off x="502920" y="1517904"/>
            <a:ext cx="11185855" cy="457200"/>
          </a:xfrm>
          <a:prstGeom prst="rect">
            <a:avLst/>
          </a:prstGeom>
          <a:noFill/>
          <a:ln/>
        </p:spPr>
        <p:txBody>
          <a:bodyPr wrap="square" lIns="0" tIns="0" rIns="0" bIns="0" rtlCol="0" anchor="t"/>
          <a:lstStyle/>
          <a:p>
            <a:pPr algn="l" indent="0" marL="0">
              <a:buNone/>
            </a:pPr>
            <a:r>
              <a:rPr lang="en-US" sz="1350" dirty="0">
                <a:solidFill>
                  <a:srgbClr val="8C8C8C"/>
                </a:solidFill>
                <a:latin typeface="Arial" pitchFamily="34" charset="0"/>
                <a:ea typeface="Arial" pitchFamily="34" charset="-122"/>
                <a:cs typeface="Arial" pitchFamily="34" charset="-120"/>
              </a:rPr>
              <a:t>Toca el enlace para abrir la fuente · libre = acceso gratuito · de pago = compra o biblioteca</a:t>
            </a:r>
            <a:endParaRPr lang="en-US" sz="1350" dirty="0"/>
          </a:p>
        </p:txBody>
      </p:sp>
      <p:sp>
        <p:nvSpPr>
          <p:cNvPr id="5" name="Shape 3"/>
          <p:cNvSpPr/>
          <p:nvPr/>
        </p:nvSpPr>
        <p:spPr>
          <a:xfrm>
            <a:off x="502920" y="1783080"/>
            <a:ext cx="11185855" cy="4489704"/>
          </a:xfrm>
          <a:prstGeom prst="roundRect">
            <a:avLst>
              <a:gd name="adj" fmla="val 101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822960" y="1984248"/>
            <a:ext cx="10545775" cy="4123944"/>
          </a:xfrm>
          <a:prstGeom prst="rect">
            <a:avLst/>
          </a:prstGeom>
          <a:noFill/>
          <a:ln/>
        </p:spPr>
        <p:txBody>
          <a:bodyPr wrap="square" lIns="0" tIns="0" rIns="0" bIns="0" rtlCol="0" anchor="t"/>
          <a:lstStyle/>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OASIS — MQTT v5.0 (especificación oficial, gratis)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https://docs.oasis-open.org/mqtt/mqtt/v5.0/mqtt-v5.0.html</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Eclipse — Sparkplug B (especificación)</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https://sparkplug.eclipse.org/</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Reynolds, Walker — Unified Namespace (introducción)</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https://learn.umh.app/lesson/chapter-2-the-rise-of-the-unified-namespace/</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Eclipse Mosquitto — broker MQTT (docs)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https://mosquitto.org/</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Node-RED — orquestación de flujos (docs)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https://nodered.org/docs/</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HiveMQ / EMQX — MQTT industrial y Sparkplug (recursos)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buNone/>
            </a:pPr>
            <a:r>
              <a:rPr lang="en-US" sz="850" u="sng" dirty="0">
                <a:solidFill>
                  <a:srgbClr val="27E5E5"/>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https://www.hivemq.com/mqtt/</a:t>
            </a:r>
            <a:endParaRPr lang="en-US" sz="115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44 / 45</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1188720"/>
            <a:ext cx="11185855" cy="548640"/>
          </a:xfrm>
          <a:prstGeom prst="rect">
            <a:avLst/>
          </a:prstGeom>
          <a:noFill/>
          <a:ln/>
        </p:spPr>
        <p:txBody>
          <a:bodyPr wrap="square" lIns="0" tIns="0" rIns="0" bIns="0" rtlCol="0" anchor="ctr"/>
          <a:lstStyle/>
          <a:p>
            <a:pPr indent="0" marL="0">
              <a:buNone/>
            </a:pPr>
            <a:r>
              <a:rPr lang="en-US" sz="1500" spc="200" kern="0" dirty="0">
                <a:solidFill>
                  <a:srgbClr val="8C8C8C"/>
                </a:solidFill>
                <a:latin typeface="Courier New" pitchFamily="34" charset="0"/>
                <a:ea typeface="Courier New" pitchFamily="34" charset="-122"/>
                <a:cs typeface="Courier New" pitchFamily="34" charset="-120"/>
              </a:rPr>
              <a:t>FIN SESIÓN 11</a:t>
            </a:r>
            <a:endParaRPr lang="en-US" sz="1500" dirty="0"/>
          </a:p>
        </p:txBody>
      </p:sp>
      <p:sp>
        <p:nvSpPr>
          <p:cNvPr id="3" name="Text 1"/>
          <p:cNvSpPr/>
          <p:nvPr/>
        </p:nvSpPr>
        <p:spPr>
          <a:xfrm>
            <a:off x="502920" y="2011680"/>
            <a:ext cx="11185855" cy="457200"/>
          </a:xfrm>
          <a:prstGeom prst="rect">
            <a:avLst/>
          </a:prstGeom>
          <a:noFill/>
          <a:ln/>
        </p:spPr>
        <p:txBody>
          <a:bodyPr wrap="square" lIns="0" tIns="0" rIns="0" bIns="0" rtlCol="0" anchor="ctr"/>
          <a:lstStyle/>
          <a:p>
            <a:pPr indent="0" marL="0">
              <a:buNone/>
            </a:pPr>
            <a:r>
              <a:rPr lang="en-US" sz="1300" b="1" spc="200" kern="0" dirty="0">
                <a:solidFill>
                  <a:srgbClr val="C6FF00"/>
                </a:solidFill>
                <a:latin typeface="Courier New" pitchFamily="34" charset="0"/>
                <a:ea typeface="Courier New" pitchFamily="34" charset="-122"/>
                <a:cs typeface="Courier New" pitchFamily="34" charset="-120"/>
              </a:rPr>
              <a:t>PRÓXIMA</a:t>
            </a:r>
            <a:endParaRPr lang="en-US" sz="1300" dirty="0"/>
          </a:p>
        </p:txBody>
      </p:sp>
      <p:sp>
        <p:nvSpPr>
          <p:cNvPr id="4" name="Text 2"/>
          <p:cNvSpPr/>
          <p:nvPr/>
        </p:nvSpPr>
        <p:spPr>
          <a:xfrm>
            <a:off x="502920" y="2377440"/>
            <a:ext cx="11185855" cy="1188720"/>
          </a:xfrm>
          <a:prstGeom prst="rect">
            <a:avLst/>
          </a:prstGeom>
          <a:noFill/>
          <a:ln/>
        </p:spPr>
        <p:txBody>
          <a:bodyPr wrap="square" lIns="0" tIns="0" rIns="0" bIns="0" rtlCol="0" anchor="t"/>
          <a:lstStyle/>
          <a:p>
            <a:pPr indent="0" marL="0">
              <a:buNone/>
            </a:pPr>
            <a:r>
              <a:rPr lang="en-US" sz="4600" dirty="0">
                <a:solidFill>
                  <a:srgbClr val="F4F4F4"/>
                </a:solidFill>
                <a:latin typeface="Arial Black" pitchFamily="34" charset="0"/>
                <a:ea typeface="Arial Black" pitchFamily="34" charset="-122"/>
                <a:cs typeface="Arial Black" pitchFamily="34" charset="-120"/>
              </a:rPr>
              <a:t>SESIÓN 12</a:t>
            </a:r>
            <a:endParaRPr lang="en-US" sz="4600" dirty="0"/>
          </a:p>
        </p:txBody>
      </p:sp>
      <p:sp>
        <p:nvSpPr>
          <p:cNvPr id="5" name="Text 3"/>
          <p:cNvSpPr/>
          <p:nvPr/>
        </p:nvSpPr>
        <p:spPr>
          <a:xfrm>
            <a:off x="502920" y="3657600"/>
            <a:ext cx="11185855" cy="548640"/>
          </a:xfrm>
          <a:prstGeom prst="rect">
            <a:avLst/>
          </a:prstGeom>
          <a:noFill/>
          <a:ln/>
        </p:spPr>
        <p:txBody>
          <a:bodyPr wrap="square" lIns="0" tIns="0" rIns="0" bIns="0" rtlCol="0" anchor="t"/>
          <a:lstStyle/>
          <a:p>
            <a:pPr indent="0" marL="0">
              <a:buNone/>
            </a:pPr>
            <a:r>
              <a:rPr lang="en-US" sz="1500" b="1" dirty="0">
                <a:solidFill>
                  <a:srgbClr val="C6FF00"/>
                </a:solidFill>
                <a:latin typeface="Courier New" pitchFamily="34" charset="0"/>
                <a:ea typeface="Courier New" pitchFamily="34" charset="-122"/>
                <a:cs typeface="Courier New" pitchFamily="34" charset="-120"/>
              </a:rPr>
              <a:t>&gt; </a:t>
            </a:r>
            <a:pPr indent="0" marL="0">
              <a:buNone/>
            </a:pPr>
            <a:r>
              <a:rPr lang="en-US" sz="1500" dirty="0">
                <a:solidFill>
                  <a:srgbClr val="F4F4F4"/>
                </a:solidFill>
                <a:latin typeface="Courier New" pitchFamily="34" charset="0"/>
                <a:ea typeface="Courier New" pitchFamily="34" charset="-122"/>
                <a:cs typeface="Courier New" pitchFamily="34" charset="-120"/>
              </a:rPr>
              <a:t>GEMELOS DIGITALES</a:t>
            </a:r>
            <a:endParaRPr lang="en-US" sz="1500" dirty="0"/>
          </a:p>
        </p:txBody>
      </p:sp>
      <p:sp>
        <p:nvSpPr>
          <p:cNvPr id="6" name="Text 4"/>
          <p:cNvSpPr/>
          <p:nvPr/>
        </p:nvSpPr>
        <p:spPr>
          <a:xfrm>
            <a:off x="502920" y="4160520"/>
            <a:ext cx="11185855" cy="822960"/>
          </a:xfrm>
          <a:prstGeom prst="rect">
            <a:avLst/>
          </a:prstGeom>
          <a:noFill/>
          <a:ln/>
        </p:spPr>
        <p:txBody>
          <a:bodyPr wrap="square" lIns="0" tIns="0" rIns="0" bIns="0" rtlCol="0" anchor="t"/>
          <a:lstStyle/>
          <a:p>
            <a:pPr indent="0" marL="0">
              <a:lnSpc>
                <a:spcPct val="110000"/>
              </a:lnSpc>
              <a:buNone/>
            </a:pPr>
            <a:r>
              <a:rPr lang="en-US" sz="1300" dirty="0">
                <a:solidFill>
                  <a:srgbClr val="8C8C8C"/>
                </a:solidFill>
                <a:latin typeface="Arial" pitchFamily="34" charset="0"/>
                <a:ea typeface="Arial" pitchFamily="34" charset="-122"/>
                <a:cs typeface="Arial" pitchFamily="34" charset="-120"/>
              </a:rPr>
              <a:t>Modelo, sombra y gemelo digital; ciclo de vida, casos de uso y gobierno de la fidelidad del modelo.</a:t>
            </a:r>
            <a:endParaRPr lang="en-US" sz="1300" dirty="0"/>
          </a:p>
        </p:txBody>
      </p:sp>
      <p:sp>
        <p:nvSpPr>
          <p:cNvPr id="7" name="Text 5"/>
          <p:cNvSpPr/>
          <p:nvPr/>
        </p:nvSpPr>
        <p:spPr>
          <a:xfrm>
            <a:off x="502920" y="5303520"/>
            <a:ext cx="11185855" cy="457200"/>
          </a:xfrm>
          <a:prstGeom prst="rect">
            <a:avLst/>
          </a:prstGeom>
          <a:noFill/>
          <a:ln/>
        </p:spPr>
        <p:txBody>
          <a:bodyPr wrap="square" lIns="0" tIns="0" rIns="0" bIns="0" rtlCol="0" anchor="ctr"/>
          <a:lstStyle/>
          <a:p>
            <a:pPr indent="0" marL="0">
              <a:buNone/>
            </a:pPr>
            <a:r>
              <a:rPr lang="en-US" sz="1400" dirty="0">
                <a:solidFill>
                  <a:srgbClr val="C6FF00"/>
                </a:solidFill>
                <a:latin typeface="Courier New" pitchFamily="34" charset="0"/>
                <a:ea typeface="Courier New" pitchFamily="34" charset="-122"/>
                <a:cs typeface="Courier New" pitchFamily="34" charset="-120"/>
              </a:rPr>
              <a:t>root@planta:~# next --session 12 _</a:t>
            </a:r>
            <a:endParaRPr lang="en-US" sz="14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S11 · MQTT · UNS</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45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Universidad de San Buenaventura — Medellín (Bello)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TI Y SISTEMAS CIBER-FÍSICOS DE PRODUCCIÓN · 2026-2</dc:title>
  <dc:subject>PptxGenJS Presentation</dc:subject>
  <dc:creator>Jorge Andrés Dapena — MSc.</dc:creator>
  <cp:lastModifiedBy>Jorge Andrés Dapena — MSc.</cp:lastModifiedBy>
  <cp:revision>1</cp:revision>
  <dcterms:created xsi:type="dcterms:W3CDTF">2026-09-18T01:20:52Z</dcterms:created>
  <dcterms:modified xsi:type="dcterms:W3CDTF">2026-09-18T01:20:52Z</dcterms:modified>
</cp:coreProperties>
</file>