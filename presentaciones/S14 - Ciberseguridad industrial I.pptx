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la Unidad 4. La seguridad OT no es la seguridad IT. Aquí se protege el proceso físico, donde un ataque puede dañar equipos y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por qué OT es distinta a cómo se protege (Purdue, 62443, modelado de amenazas).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gran diferencia: en OT la prioridad CIA se invierte y los activos viven 20 años sin poder parchearse en caliente.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central: entender que la seguridad OT es un problema propio con soluciones propias.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central de la Unidad 4. La inversión de prioridades explica por qué las soluciones IT no se copian a 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A-I-C en vez de C-I-A. Es la idea más importante de la seguridad OT. Repetirla.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restricciones obligan a controles compensatorios: si no puedo parchear, segmento y monitoreo. Base de Purdue.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convergencia IT/OT (que dio el valor de las unidades 2-3) es también la que creó el problema de seguridad.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Desmontar el mito del air gap. Stuxnet lo demostró. El aislamiento no es una estrategia de seguridad válida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Stuxnet es el caso fundacional. Demostró que un ciberataque puede causar daño físico. Sofisticado y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Industroyer (red eléctrica) y TRITON (sistemas de seguridad) muestran la escalada: de datos a vidas. TRITON es especialmente grave.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Colonial y Norsk Hydro: no atacaron OT directamente; el ransomware IT bastó. Argumento clave para la segmentación.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común justifica la arquitectura Purdue (sección 3): controlar la frontera IT/OT.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perfil de amenaza (factor de diseño F5 de COBIT) determina contra quién nos defendemos. En OT conectada, es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escalada histórica: de daño a equipos (2010) a amenaza a vidas (2017) y ransomware masivo (2021). La tendencia es creciente.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exposición en Shodan es real y común. El control básico: nada de OT accesible desde internet. Base de la segmentación.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Purdue (PERA) organiza la seguridad por niveles, como la pirámide ISA-95 (S07). La DMZ 3.5 es la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DMZ 3.5 es la pieza defensiva más importante. Rompe el movimiento lateral IT→OT. Concepto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Zonas y conductos es el modelo de segmentación de 62443. Formaliza y refina el Purdue. Base del diseño de red 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Defensa en profundidad: capas que compensan la imposibilidad de parchear. Si una falla, otra contiene. Se ve el monitoreo y la respuesta en S15.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central: la segmentación es el control de mayor impacto. Conecta con gobierno (APO03, EDM03).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controles concretos de segmentación. El diodo de datos es el más estricto: garantiza que nada entre a OT. El jump server controla el acceso.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62443-2-1 es el 'programa de gobierno' de la seguridad OT. Conecta con el CSF (S15) y con COBIT. La seguridad es un programa, no un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serie se organiza por audiencia: operador, integrador, fabricante. La seguridad es responsabilidad compartida.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SL 1-4 escalan con la sofisticación del atacante. El SL objetivo de una zona es una decisión de gobierno de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7 FR estructuran los requisitos de seguridad. Nótese que 'disponibilidad de recursos' es un requisito propio, reflejando la prioridad 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de capas otra vez: COBIT gobierna, 62443 implementa en OT. NIST CSF (S15) articula. Coherencia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seguridad OT es compartida. El operador puede exigir 62443 en compras: gobierno vía adquisición (principio 3 de 38500).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STRIDE (Microsoft) da una lista sistemática para buscar amenazas en cada componente. En OT, DoS y Tampering son las más críticas.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modelado de amenazas es una actividad concreta. Parte del diagrama de arquitectura del proyecto. Se practica en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práctica de la sesión. Los estudiantes modelan amenazas de una celda antes del Lab 9 de S15.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MITRE ATT&amp;CK for ICS es el catálogo de referencia de técnicas reales. Se combina con STRIDE (modelado) y CVE/ICS-CERT (vulnerabilidades conocidas).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Orientaciones para el proyecto. La evaluación de riesgo IT/OT (Lab 9) se hace en S15.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Verificar la inversión de la triada y el papel de la segmentación.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S15 completa la ciberseguridad con gestión de riesgo, cumplimiento (normativa colombiana) y continuidad.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mitos son barreras culturales. Desmontarlos es parte del gobierno de la seguridad (cultura, componente de COBIT).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ciberseguridad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ciberseguridad industrial e incidentes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S15 completa la seguridad con gestión de riesgo, cumplimiento y continuidad, y el Lab 9 de evaluación de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csrc.nist.gov/pubs/sp/800/82/r3/final" TargetMode="External"/><Relationship Id="rId2" Type="http://schemas.openxmlformats.org/officeDocument/2006/relationships/hyperlink" Target="https://attack.mitre.org/matrices/ics/" TargetMode="External"/><Relationship Id="rId3" Type="http://schemas.openxmlformats.org/officeDocument/2006/relationships/hyperlink" Target="https://www.langner.com/to-kill-a-centrifuge/" TargetMode="External"/><Relationship Id="rId4" Type="http://schemas.openxmlformats.org/officeDocument/2006/relationships/hyperlink" Target="https://www.dragos.com/resources/" TargetMode="External"/><Relationship Id="rId5" Type="http://schemas.openxmlformats.org/officeDocument/2006/relationships/hyperlink" Target="https://en.wikipedia.org/wiki/Purdue_Enterprise_Reference_Architecture" TargetMode="External"/><Relationship Id="rId6" Type="http://schemas.openxmlformats.org/officeDocument/2006/relationships/hyperlink" Target="https://webstore.iec.ch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CIBERSEGURIDAD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INDUSTRIAL 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Amenazas al proceso físico, modelo Purdue e IEC 62443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 · Riesgo ciber-físico    ·    SEMANA 14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no es 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seguridad industrial es distinta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 e incidentes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Stuxnet, Industroyer, TRITON, Colonial, Norsk Hydro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Purdue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Zonas, conductos y DMZ industrial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62443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norma de ciberseguridad industrial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de amenazas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aplicado a una arquitectura OT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CIBEROT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CIBERSEGURIDAD OT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A-I-C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 INVERTIDA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62443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 IEC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 1-4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 DE SEGURIDAD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años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 DE VIDA OT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 OT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&gt; Integridad &gt; Confidencialidad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62443 (serie)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GUÍA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800-82 (S15)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/ IEC 62443 zonas y conductos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Legado no parcheable, cero paradas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APO13, DSS05, EDM03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CIBEROT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seguridad OT invierte las prioridades de la seguridad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 reales de ciberseguridad industrial.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Purdue para segmentar una arquitectura IT/OT.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y los niveles de seguridad de IEC 62443.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modelado de amenazas STRIDE sobre un sistema OT.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SEGURIDAD OT NO ES LA SEGURIDAD 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Prioridades, restricciones y consecuencias invertidas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OTVSIT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FRENTE A OT EN SEGURIDAD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27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Prioridad: Confidencialidad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Parcheo frecuente, reinicios ok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3–5 años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 datos y dinero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es rutina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FF3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Prioridad: Disponibilidad y seguridad física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parchea en caliente; cero paradas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15–25 años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 equipos, ambiente y personas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puede detener la producción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prioridad CIA se invierte: en OT, primero que no pare y no se altere; la confidencialidad va después.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OTVSIT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TRIADA, INVERTIDA EN OT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primero: la producción no puede parar. Una parada cuesta y puede ser peligrosa.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 #1 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INTEGRIDAD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debe operar como se diseñó; un dato o comando alterado puede dañar.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 #2 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CONFIDENCIALIDAD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Importa, pero va después: no sirve un secreto perfecto si la planta explota.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 #3 OT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IT el orden es C-I-A; en OT es A-I-C. Esta inversión cambia todo: qué se protege primero, qué riesgos se aceptan y cómo se responde a un incidente.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OTVSIT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RESTRICCIONES PROPIAS DE 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no se puede 'asegurar OT como IT'.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de 15–20 años con sistemas operativos y protocolos sin seguridad.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PARCHEABLE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Parchear exige parar la línea; a veces el fabricante ya no da soporte.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antivirus o cifrado no puede añadir latencia al control.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FÍSICA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fallo de seguridad puede herir personas o dañar el ambiente.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OTVSIT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CONVERGENCIA QUE CREÓ EL PROBLEMA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 YA NO ESTÁ AISLADA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décadas, OT estuvo 'air-gapped' (aislada). La Industria 4.0 (Unidades 2-3) la conectó a IT y a la nube para obtener datos y valor. Esa conexión trajo el valor... y las amenazas de IT al proceso físico. La seguridad OT es la respuesta a esa convergencia: proteger lo físico ahora que está conectado.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aislada (air gap)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AHORA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conectada = OT expuesta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OTVSIT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MITO DEL AIR GAP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'nuestra planta está aislada, no necesita seguridad'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REALIDAD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USB, laptops de mantenimiento, acceso remoto y IIoT rompen el aislamiento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STUXNET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saltó un air gap real vía USB: el aislamiento no es una defensa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plantas creen estar aisladas, pero el air gap casi nunca es real: memorias USB, portátiles de proveedores, acceso remoto de fabricantes y sensores IIoT abren brechas. Confiar en el aislamiento es una de las causas más comunes de compromiso OT.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AMENAZAS E INCIDENTES REALES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ya pasó en el mundo físico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INCIDENTES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STUXNET (2010)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PRIMERO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MALWARE QUE ROMPIÓ MÁQUINAS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gusano dirigido a los PLC de las centrifugadoras de enriquecimiento de uranio en Irán. Saltó un air gap vía USB, se propagó y alteró la velocidad de las centrifugadoras mientras mostraba a los operadores valores normales. Demostró que el software puede destruir equipo físico: el nacimiento de la guerra ciber-física.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LECCIÓN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air gap no protege; el software daña lo físico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AFECTÓ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y disponibilidad física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INCIDENTES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INDUSTROYER Y TRITON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 CRÍTICA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APAGONES Y SISTEMAS DE SEGURIDAD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Industroyer/CrashOverride (2016) causó un apagón en Ucrania atacando directamente los protocolos de la red eléctrica. TRITON/TRISIS (2017) fue más allá: atacó los Sistemas Instrumentados de Seguridad (SIS) de una planta petroquímica, los que evitan explosiones. Apuntar al SIS significa apuntar a la vida humana.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LECCIÓN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atacantes van por el control y la seguridad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AFECTÓ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y seguridad de personas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INCIDENTES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COLONIAL PIPELINE Y NORSK HYDRO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RANSOMWARE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CUANDO IT TUMBA OT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ambos, el ataque golpeó IT (ransomware), pero detuvo OT: Colonial Pipeline (2021) paró el mayor oleoducto de combustible de EE. UU. por precaución; Norsk Hydro (2019) operó plantas en modo manual. No hubo que hackear el PLC: bastó con cifrar IT y romper la confianza en la frontera IT/OT.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LECCIÓN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Segmentar IT/OT es vital; el ransomware IT para 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AFECTÓ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la producción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INCIDENTES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ENSEÑAN LOS INCIDENTES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que se repiten.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FÍSICO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fin no es robar datos, es alterar o detener el proceso físico.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 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entrada suele ser IT (correo, USB, remoto), no OT directamente.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MOVIMIENTO LATERAL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atacante cruza de IT a OT por falta de segmentación.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SIGILO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ataques dirigidos (APT) son pacientes y ocultan su presencia.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INCIDENTES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ACTORES DE AMENAZA EN 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ataca la infraestructura industrial.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ESTADO-NACIÓN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con recursos: sabotaje, espionaje (Stuxnet, TRITON).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CIBERCRIMEN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por lucro (Colonial, Norsk Hydro).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HACKTIVISTA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ideológica contra infraestructura.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 o proveedor con acceso, malicioso o negligente.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OPORTUNISTA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 masivo que encuentra OT expuesta en internet (Shodan).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PROVEEDOR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de la cadena de suministro o del acceso remoto.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INCIDENTES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LÍNEA DE TIEMPO DE INCIDENTES OT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67448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0600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Stuxnet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67448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0600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Daño físico a centrifugadoras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2015-16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Industroyer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7448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0600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Apagón en Ucrania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TRITON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67448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0600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 a sistemas de seguridad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2019-21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Norsk / Colonial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67448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0600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Ransomware detiene producción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INCIDENTES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 EXPUESTA EN INTERNET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no es teórico: hay OT accesible desde la red.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SHODAN / CENSYS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Buscadores que indexan dispositivos OT expuestos en internet.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PROTOCOLOS ABIERTOS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y HMI con Modbus/etc. accesibles sin autenticación.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ACCESO REMOTO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Conexiones de mantenimiento mal aseguradas.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LECCIÓN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exponer OT directamente a internet; usar VPN y DMZ.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PURDUE Y SEGMENTACIÓN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defensiva del piso de planta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PURDUE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NIVELES DEL MODELO PURDUE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0-1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PROCESO/CONTROL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Sensores, PLC, DCS.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SCADA, HMI.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MES, historiador.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 INDUSTRIAL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desmilitarizada IT/OT.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EMPRESA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ERP, IT corporativa.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0—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del perímetro.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PURDUE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DMZ INDUSTRIAL (NIVEL 3.5)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FRONTERA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NINGÚN TRÁFICO DIRECTO IT↔OT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zona desmilitarizada industrial es la frontera controlada entre IT (niveles 4-5) y OT (niveles 0-3). Ningún tráfico cruza directamente: pasa por servidores intermedios (historiador espejo, jump server) en la DMZ. Así, un compromiso de IT no llega directo a OT. Es la defensa que faltó en Colonial y Norsk Hydro.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cruza IT↔OT sin pasar por la DMZ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ransomware IT alcance 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PURDUE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ZONAS Y CONDUCTOS (IEC 62443)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formal de segmentación de IEC 62443.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Agrupación de activos con iguales requisitos de seguridad.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CONDUCTO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controlado de comunicación entre zonas.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zonas por criticidad y controlar todo conducto entre ellas.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MICROSEGMENTAR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más granularidad, menor movimiento lateral posible.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PURDUE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DEFENSA EN PROFUNDIDAD 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capa basta; se apilan.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PERÍMETRO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Firewalls entre zonas y hacia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y conductos; DMZ industrial.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DE ACCESO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Identidad, mínimo privilegio, MFA para remoto.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MONITOREO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intrusiones específica de OT (IDS OT).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ENDURECIMIENTO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Deshabilitar servicios, cambiar credenciales por defecto.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RESPUESTA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respuesta a incidentes OT (S15).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PURDUE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SEGMENTACIÓN ES LA DECISIÓN #1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MAYOR IMPACTO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segmentar IT/OT es el control que más reduce el riesgo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de segmentación es una decisión de gobierno, no solo de 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Colonial y Norsk Hydro fallaron en la frontera IT/OT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hubiera que elegir un solo control de seguridad OT, sería la segmentación IT/OT con DMZ. Es lo que impide que un problema de IT se convierta en una parada de producción. Diseñarla es una decisión de gobierno de arquitectura (APO03) y de riesgo (EDM03).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PURDUE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CONTROLES DE RED 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implementa la segmentación en la práctica.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FIREWALLS 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Cortafuegos entre zonas, con reglas de mínimo privilegio.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DIODOS DE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unidireccional: el dato sale de OT sin que nada entre.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JUMP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 punto controlado para acceso a OT desde la DMZ.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VLAN / MICROSEG.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Segmentar hasta el nivel de celda.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MONITOREO PASIVO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OT que observan sin interferir el proceso.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VPN + MFA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remoto cifrado y con doble factor.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IEC 62443 — LA NORMA DE CIBERSEGURIDAD INDUSTRIAL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marco de referencia del mundo 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IEC62443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PROGRAMA DE SEGURIDAD DEL OPERADOR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62443-2-1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MÁS QUE TECNOLOGÍA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62443-2-1 exige al operador (asset owner) un programa de seguridad (CSMS): política, roles, gestión de riesgo, gestión de parches (cuando se pueda), respuesta a incidentes y mejora continua. Es el equivalente OT de un SGSI (ISO 27001). La seguridad no es comprar un firewall: es un programa gobernado.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INCLUYE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· roles · riesgo · parches · respuesta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ALINEA CON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27001, NIST CSF (S15)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45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IEC62443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 LA SERIE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62443 es una familia de normas por audiencia.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GENERAL (1-X)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Conceptos, terminología y modelos comunes.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POLÍTICAS (2-X)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seguridad del operador (asset owner).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(3-X)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de seguridad del sistema (3-2 riesgo, 3-3 requisitos).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 (4-X)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seguro (4-1) y requisitos de componentes (4-2).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IEC62443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NIVELES DE SEGURIDAD (SL)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contra violaciones casuales o accidentales.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Errores, curiosos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ataques intencionales con medios y motivación bajos.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Cibercrimen genérico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 3 Y 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ataques con medios sofisticados (SL3) y recursos extendidos, tipo estado-nación (SL4).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62443 define niveles de seguridad (SL 1-4) según la sofisticación del atacante del que hay que protegerse. El SL objetivo de cada zona se decide por su criticidad y el perfil de amenaza.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IEC62443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SIETE REQUISITOS FUNDAMENTALES (FR)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siete categorías de requisitos de seguridad de 62443.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DE ACCESO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Identificación, autenticación y control de uso.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de sistemas y datos.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56432"/>
            <a:ext cx="5464912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602736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CONFIDENCIALIDAD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059936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la información.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456432"/>
            <a:ext cx="5464912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602736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RESTRINGIDO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059936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y control del flujo de datos.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992624"/>
            <a:ext cx="5464912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5138928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RESPUESTA OPORTUNA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596128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y respuesta a eventos.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3864" y="4992624"/>
            <a:ext cx="5464912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6744" y="5138928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6744" y="5596128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recursos (lo primero en OT).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45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IEC62443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62443 Y COBIT — CÓMO SE CONECTAN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+ TÉCNICA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POLÍTICA AL CONTROL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(APO13, DSS05, EDM03) gobierna la seguridad: fija el apetito de riesgo, asigna responsabilidad y exige un programa. IEC 62443 aporta el 'cómo' técnico específico de OT: zonas, conductos, niveles de seguridad y requisitos. NIST CSF (S15) los articula. Juntos cubren de la sala de juntas al PLC.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GOBIERNA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Apetito, responsabilidad, programa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62443 IMPLEMENTA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Zonas, SL, requisitos técnicos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45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IEC62443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SEGURIDAD COMO RESPONSABILIDAD COMPARTIDA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OPERADOR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zonas, SL objetivo y opera el programa de seguridad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INTEGRADOR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 e implementa el sistema cumpliendo los SL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FABRICANTE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componentes con desarrollo seguro (62443-4-1)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62443 reparte la responsabilidad: el operador la gobierna, el integrador la construye y el fabricante entrega componentes seguros. En las compras, el operador puede EXIGIR cumplimiento de 62443 al integrador y al fabricante: gobierno por contrato.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45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MODELADO DE AMENAZAS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Pensar como el atacante, antes que el atacante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45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STRIDE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STRIDE APLICADO A 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categorías de amenaza para revisar cada componente.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SPOOFING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Suplantar un dispositivo o usuario (falso PLC).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TAMPERING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Alterar datos o comandos (cambiar un setpoint).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REPUDIATION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Negar una acción sin trazabilidad (sin logs).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 DISCLOSURE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Fuga de recetas o datos de proceso.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DENIAL OF 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el proceso (lo más grave en OT).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ELEVATION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privilegios en el sistema de control.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STRIDE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MODELAR AMENAZAS DE UN SISTEMA 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CUATRO PASOS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Dibuja la arquitectura y sus flujos (usa ISA-95/Purdue). 2) Identifica activos críticos y fronteras de confianza. 3) Aplica STRIDE a cada componente y flujo: ¿es vulnerable a cada letra? 4) Prioriza por impacto (físico primero) y define controles. El resultado alimenta el registro de riesgos (APO12) y el diseño de seguridad.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arquitectura (S07-08)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 priorizadas y controles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STRIDE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ACTIVIDAD EN CLASE — MODELAR UNA CELDA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guiado sobre una arquitectura 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SISTEMA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celda: PLC, HMI, sensor IIoT, acceso remoto de proveedor.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FRONTERAS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dónde el atacante podría cruzar (remoto, USB, red).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componente: ¿spoofing del sensor? ¿DoS del PLC? ¿tampering del setpoint?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Proponer segmentación, autenticación, monitoreo por amenaza.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45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STRIDE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HERRAMIENTAS Y CATÁLOGOS DE AMENAZAS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para el modelado y el análisis.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MITRE ATT&amp;CK 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tácticas y técnicas reales de ataque a 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 de seis categorías para el modelado.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DFD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flujo de datos para ubicar fronteras de confianza.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ATAQUE-ÁRBOL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Descomponer un objetivo del atacante en pasos.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CVE / ICS-CERT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conocidas de productos OT (CISA).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KILL CHAIN 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las etapas de un ataque industrial.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45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STRIDE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IDEAS PARA EL PROYECTO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INVIERTE LA TRIADA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OT, primero disponibilidad e integridad.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CONFÍES EN EL AIR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Asume que la frontera IT/OT es porosa.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 industrial y zonas/conductos (62443).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EXIGE 62443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compras de sistemas y componentes OT.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 AMENAZAS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sobre tu arquitectura antes de diseñar controles.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45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45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 ≠ 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prioridad CIA se invierte: A-I-C.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Stuxnet, TRITON, Colonial: el software daña lo físico.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PURDUE / DMZ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segmentación IT/OT es el control #1.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IEC 62443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Zonas, conductos, SL 1-4; responsabilidad compartida.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para hallar amenazas antes que el atacante.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45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UNIDAD 4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/ OEE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U3.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 OT 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 y arquitectura · hoy.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 OT II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Riesgo, cumplimiento, continuidad.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NEGOCIO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 · cierre del curso.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45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MITOS DE LA SEGURIDAD 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peligrosas que conviene desmontar.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'ESTAMOS AISLADOS'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air gap casi nunca es real (USB, remoto, IIoT).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'NADIE NOS ATACARÍA'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ransomware y el escaneo son oportunistas, no dirigidos.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'ES COSA DE TI'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OT es responsabilidad de planta y de gobierno.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'UN FIREWALL BASTA'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necesita defensa en profundidad y un programa.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45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 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 de la tecnología de operación.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A-I-C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OT: disponibilidad, integridad, confidencialidad.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gap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físico de la red (a menudo ilusorio).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Purdue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referencia por niveles (PERA).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 industrial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 frontera controlada IT/OT (nivel 3.5).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 / conducto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de IEC 62443.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 1-4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 seguridad de IEC 62443.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modelado de amenazas (6 categorías).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45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800-82 Rev.3 — OT Security (equivale a 62443 en la práctica)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https://csrc.nist.gov/pubs/sp/800/82/r3/final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for ICS — tácticas y técnicas en OT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https://attack.mitre.org/matrices/ics/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Langner — To Kill a Centrifuge (análisis de Stuxnet)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https://www.langner.com/to-kill-a-centrifuge/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Dragos — informes de amenazas OT (TRITON, Industroyer)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https://www.dragos.com/resources/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— Purdue Enterprise Reference Architecture (PERA)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https://en.wikipedia.org/wiki/Purdue_Enterprise_Reference_Architecture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62443 — serie de ciberseguridad industrial (texto normativo)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https://webstore.iec.ch/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45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15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CIBERSEGURIDAD INDUSTRIAL II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2.0, evaluación de riesgo IT/OT, marco legal colombiano y continuidad del negocio.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15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S14 · CIBER OT 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